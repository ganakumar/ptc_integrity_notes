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18" r:id="rId1"/>
  </p:sldMasterIdLst>
  <p:notesMasterIdLst>
    <p:notesMasterId r:id="rId60"/>
  </p:notesMasterIdLst>
  <p:handoutMasterIdLst>
    <p:handoutMasterId r:id="rId61"/>
  </p:handoutMasterIdLst>
  <p:sldIdLst>
    <p:sldId id="655" r:id="rId2"/>
    <p:sldId id="256395" r:id="rId3"/>
    <p:sldId id="256398" r:id="rId4"/>
    <p:sldId id="256388" r:id="rId5"/>
    <p:sldId id="256382" r:id="rId6"/>
    <p:sldId id="256381" r:id="rId7"/>
    <p:sldId id="256351" r:id="rId8"/>
    <p:sldId id="256524" r:id="rId9"/>
    <p:sldId id="256399" r:id="rId10"/>
    <p:sldId id="256400" r:id="rId11"/>
    <p:sldId id="256401" r:id="rId12"/>
    <p:sldId id="256390" r:id="rId13"/>
    <p:sldId id="256383" r:id="rId14"/>
    <p:sldId id="256402" r:id="rId15"/>
    <p:sldId id="256403" r:id="rId16"/>
    <p:sldId id="256405" r:id="rId17"/>
    <p:sldId id="256406" r:id="rId18"/>
    <p:sldId id="256407" r:id="rId19"/>
    <p:sldId id="256408" r:id="rId20"/>
    <p:sldId id="256409" r:id="rId21"/>
    <p:sldId id="256410" r:id="rId22"/>
    <p:sldId id="256411" r:id="rId23"/>
    <p:sldId id="256412" r:id="rId24"/>
    <p:sldId id="256413" r:id="rId25"/>
    <p:sldId id="256404" r:id="rId26"/>
    <p:sldId id="256414" r:id="rId27"/>
    <p:sldId id="256415" r:id="rId28"/>
    <p:sldId id="256416" r:id="rId29"/>
    <p:sldId id="256417" r:id="rId30"/>
    <p:sldId id="256418" r:id="rId31"/>
    <p:sldId id="256419" r:id="rId32"/>
    <p:sldId id="256420" r:id="rId33"/>
    <p:sldId id="256421" r:id="rId34"/>
    <p:sldId id="256422" r:id="rId35"/>
    <p:sldId id="256377" r:id="rId36"/>
    <p:sldId id="256432" r:id="rId37"/>
    <p:sldId id="256535" r:id="rId38"/>
    <p:sldId id="256536" r:id="rId39"/>
    <p:sldId id="256537" r:id="rId40"/>
    <p:sldId id="256538" r:id="rId41"/>
    <p:sldId id="256539" r:id="rId42"/>
    <p:sldId id="256540" r:id="rId43"/>
    <p:sldId id="256541" r:id="rId44"/>
    <p:sldId id="256528" r:id="rId45"/>
    <p:sldId id="256543" r:id="rId46"/>
    <p:sldId id="256544" r:id="rId47"/>
    <p:sldId id="256547" r:id="rId48"/>
    <p:sldId id="256548" r:id="rId49"/>
    <p:sldId id="256545" r:id="rId50"/>
    <p:sldId id="256546" r:id="rId51"/>
    <p:sldId id="256542" r:id="rId52"/>
    <p:sldId id="256533" r:id="rId53"/>
    <p:sldId id="256549" r:id="rId54"/>
    <p:sldId id="256550" r:id="rId55"/>
    <p:sldId id="256551" r:id="rId56"/>
    <p:sldId id="256552" r:id="rId57"/>
    <p:sldId id="256553" r:id="rId58"/>
    <p:sldId id="2116"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B463E9-5E63-4073-870A-9514A832B032}">
          <p14:sldIdLst>
            <p14:sldId id="655"/>
            <p14:sldId id="256395"/>
            <p14:sldId id="256398"/>
            <p14:sldId id="256388"/>
            <p14:sldId id="256382"/>
            <p14:sldId id="256381"/>
            <p14:sldId id="256351"/>
            <p14:sldId id="256524"/>
            <p14:sldId id="256399"/>
            <p14:sldId id="256400"/>
            <p14:sldId id="256401"/>
            <p14:sldId id="256390"/>
            <p14:sldId id="256383"/>
            <p14:sldId id="256402"/>
            <p14:sldId id="256403"/>
            <p14:sldId id="256405"/>
            <p14:sldId id="256406"/>
            <p14:sldId id="256407"/>
            <p14:sldId id="256408"/>
            <p14:sldId id="256409"/>
            <p14:sldId id="256410"/>
            <p14:sldId id="256411"/>
            <p14:sldId id="256412"/>
            <p14:sldId id="256413"/>
            <p14:sldId id="256404"/>
            <p14:sldId id="256414"/>
            <p14:sldId id="256415"/>
            <p14:sldId id="256416"/>
            <p14:sldId id="256417"/>
            <p14:sldId id="256418"/>
            <p14:sldId id="256419"/>
            <p14:sldId id="256420"/>
            <p14:sldId id="256421"/>
            <p14:sldId id="256422"/>
            <p14:sldId id="256377"/>
            <p14:sldId id="256432"/>
            <p14:sldId id="256535"/>
            <p14:sldId id="256536"/>
            <p14:sldId id="256537"/>
            <p14:sldId id="256538"/>
            <p14:sldId id="256539"/>
            <p14:sldId id="256540"/>
            <p14:sldId id="256541"/>
            <p14:sldId id="256528"/>
            <p14:sldId id="256543"/>
            <p14:sldId id="256544"/>
            <p14:sldId id="256547"/>
            <p14:sldId id="256548"/>
            <p14:sldId id="256545"/>
            <p14:sldId id="256546"/>
            <p14:sldId id="256542"/>
            <p14:sldId id="256533"/>
            <p14:sldId id="256549"/>
            <p14:sldId id="256550"/>
            <p14:sldId id="256551"/>
            <p14:sldId id="256552"/>
            <p14:sldId id="256553"/>
            <p14:sldId id="211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rgess, Racheal" initials="BR" lastIdx="7" clrIdx="0">
    <p:extLst>
      <p:ext uri="{19B8F6BF-5375-455C-9EA6-DF929625EA0E}">
        <p15:presenceInfo xmlns:p15="http://schemas.microsoft.com/office/powerpoint/2012/main" userId="S::racheal.burgess@carrier.com::a40fa4f9-4a51-4e13-8913-963b9cf6da52" providerId="AD"/>
      </p:ext>
    </p:extLst>
  </p:cmAuthor>
  <p:cmAuthor id="2" name="Pillutla Kamala" initials="PK" lastIdx="2" clrIdx="1">
    <p:extLst>
      <p:ext uri="{19B8F6BF-5375-455C-9EA6-DF929625EA0E}">
        <p15:presenceInfo xmlns:p15="http://schemas.microsoft.com/office/powerpoint/2012/main" userId="S::Pillutla.Kamala@Ltts.com::0a24237b-08fd-45f8-b1b9-6fd2937f44a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D2FF"/>
    <a:srgbClr val="8DEBC5"/>
    <a:srgbClr val="0077BD"/>
    <a:srgbClr val="404040"/>
    <a:srgbClr val="FFCC29"/>
    <a:srgbClr val="C9E5FE"/>
    <a:srgbClr val="A2D2FB"/>
    <a:srgbClr val="0556CD"/>
    <a:srgbClr val="9BBB59"/>
    <a:srgbClr val="2C3E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25" autoAdjust="0"/>
    <p:restoredTop sz="93506" autoAdjust="0"/>
  </p:normalViewPr>
  <p:slideViewPr>
    <p:cSldViewPr snapToGrid="0">
      <p:cViewPr varScale="1">
        <p:scale>
          <a:sx n="68" d="100"/>
          <a:sy n="68" d="100"/>
        </p:scale>
        <p:origin x="888" y="48"/>
      </p:cViewPr>
      <p:guideLst/>
    </p:cSldViewPr>
  </p:slideViewPr>
  <p:outlineViewPr>
    <p:cViewPr>
      <p:scale>
        <a:sx n="33" d="100"/>
        <a:sy n="33" d="100"/>
      </p:scale>
      <p:origin x="0" y="0"/>
    </p:cViewPr>
  </p:outlineViewPr>
  <p:notesTextViewPr>
    <p:cViewPr>
      <p:scale>
        <a:sx n="115" d="100"/>
        <a:sy n="115" d="100"/>
      </p:scale>
      <p:origin x="0" y="0"/>
    </p:cViewPr>
  </p:notesTextViewPr>
  <p:sorterViewPr>
    <p:cViewPr>
      <p:scale>
        <a:sx n="100" d="100"/>
        <a:sy n="100" d="100"/>
      </p:scale>
      <p:origin x="0" y="-1086"/>
    </p:cViewPr>
  </p:sorterViewPr>
  <p:notesViewPr>
    <p:cSldViewPr snapToGrid="0">
      <p:cViewPr varScale="1">
        <p:scale>
          <a:sx n="52" d="100"/>
          <a:sy n="52" d="100"/>
        </p:scale>
        <p:origin x="286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60A521-0E72-45B9-950F-A2764DD61E0E}" type="datetimeFigureOut">
              <a:rPr lang="en-US" smtClean="0"/>
              <a:t>2020-07-30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B7C5E9-34F9-417E-B562-B134DAF934B5}" type="slidenum">
              <a:rPr lang="en-US" smtClean="0"/>
              <a:t>‹#›</a:t>
            </a:fld>
            <a:endParaRPr lang="en-US" dirty="0"/>
          </a:p>
        </p:txBody>
      </p:sp>
    </p:spTree>
    <p:extLst>
      <p:ext uri="{BB962C8B-B14F-4D97-AF65-F5344CB8AC3E}">
        <p14:creationId xmlns:p14="http://schemas.microsoft.com/office/powerpoint/2010/main" val="2296448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B5499C-BD3B-421D-BB06-A028370BE70B}" type="datetimeFigureOut">
              <a:rPr lang="en-US" smtClean="0"/>
              <a:t>2020-07-30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277D60-B07B-46CA-B624-432B4D316F12}" type="slidenum">
              <a:rPr lang="en-US" smtClean="0"/>
              <a:t>‹#›</a:t>
            </a:fld>
            <a:endParaRPr lang="en-US" dirty="0"/>
          </a:p>
        </p:txBody>
      </p:sp>
    </p:spTree>
    <p:extLst>
      <p:ext uri="{BB962C8B-B14F-4D97-AF65-F5344CB8AC3E}">
        <p14:creationId xmlns:p14="http://schemas.microsoft.com/office/powerpoint/2010/main" val="987227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6" name="Title 1"/>
          <p:cNvSpPr>
            <a:spLocks noGrp="1"/>
          </p:cNvSpPr>
          <p:nvPr userDrawn="1">
            <p:ph type="title" hasCustomPrompt="1"/>
          </p:nvPr>
        </p:nvSpPr>
        <p:spPr bwMode="gray">
          <a:xfrm>
            <a:off x="420914" y="29029"/>
            <a:ext cx="11379200" cy="673820"/>
          </a:xfrm>
          <a:prstGeom prst="rect">
            <a:avLst/>
          </a:prstGeom>
        </p:spPr>
        <p:txBody>
          <a:bodyPr anchor="ctr">
            <a:normAutofit/>
          </a:bodyPr>
          <a:lstStyle>
            <a:lvl1pPr>
              <a:defRPr sz="2400">
                <a:latin typeface="Calibri" charset="0"/>
                <a:ea typeface="Calibri" charset="0"/>
                <a:cs typeface="Calibri" charset="0"/>
              </a:defRPr>
            </a:lvl1pPr>
          </a:lstStyle>
          <a:p>
            <a:r>
              <a:rPr lang="en-US" dirty="0"/>
              <a:t>Click to edit Title Text</a:t>
            </a:r>
          </a:p>
        </p:txBody>
      </p:sp>
    </p:spTree>
    <p:extLst>
      <p:ext uri="{BB962C8B-B14F-4D97-AF65-F5344CB8AC3E}">
        <p14:creationId xmlns:p14="http://schemas.microsoft.com/office/powerpoint/2010/main" val="2262113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Content Slide">
    <p:spTree>
      <p:nvGrpSpPr>
        <p:cNvPr id="1" name=""/>
        <p:cNvGrpSpPr/>
        <p:nvPr/>
      </p:nvGrpSpPr>
      <p:grpSpPr>
        <a:xfrm>
          <a:off x="0" y="0"/>
          <a:ext cx="0" cy="0"/>
          <a:chOff x="0" y="0"/>
          <a:chExt cx="0" cy="0"/>
        </a:xfrm>
      </p:grpSpPr>
      <p:sp>
        <p:nvSpPr>
          <p:cNvPr id="6" name="Title 1"/>
          <p:cNvSpPr>
            <a:spLocks noGrp="1"/>
          </p:cNvSpPr>
          <p:nvPr userDrawn="1">
            <p:ph type="title" hasCustomPrompt="1"/>
          </p:nvPr>
        </p:nvSpPr>
        <p:spPr bwMode="gray">
          <a:xfrm>
            <a:off x="420914" y="29028"/>
            <a:ext cx="11379200" cy="1103735"/>
          </a:xfrm>
          <a:prstGeom prst="rect">
            <a:avLst/>
          </a:prstGeom>
        </p:spPr>
        <p:txBody>
          <a:bodyPr anchor="ctr">
            <a:normAutofit/>
          </a:bodyPr>
          <a:lstStyle>
            <a:lvl1pPr>
              <a:defRPr sz="2400">
                <a:latin typeface="Calibri" charset="0"/>
                <a:ea typeface="Calibri" charset="0"/>
                <a:cs typeface="Calibri" charset="0"/>
              </a:defRPr>
            </a:lvl1pPr>
          </a:lstStyle>
          <a:p>
            <a:r>
              <a:rPr lang="en-US" dirty="0"/>
              <a:t>Click to edit Title Text</a:t>
            </a:r>
            <a:br>
              <a:rPr lang="en-US" dirty="0"/>
            </a:br>
            <a:r>
              <a:rPr lang="en-US" dirty="0"/>
              <a:t>Line 2</a:t>
            </a:r>
          </a:p>
        </p:txBody>
      </p:sp>
      <p:sp>
        <p:nvSpPr>
          <p:cNvPr id="3" name="Rectangle: Rounded Corners 2"/>
          <p:cNvSpPr/>
          <p:nvPr userDrawn="1"/>
        </p:nvSpPr>
        <p:spPr>
          <a:xfrm>
            <a:off x="578564" y="928326"/>
            <a:ext cx="1393371" cy="48768"/>
          </a:xfrm>
          <a:prstGeom prst="roundRect">
            <a:avLst/>
          </a:prstGeom>
          <a:solidFill>
            <a:srgbClr val="FFCC2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Calibri"/>
              <a:ea typeface="+mn-ea"/>
              <a:cs typeface="+mn-cs"/>
            </a:endParaRPr>
          </a:p>
        </p:txBody>
      </p:sp>
      <p:sp>
        <p:nvSpPr>
          <p:cNvPr id="4" name="TextBox 3"/>
          <p:cNvSpPr txBox="1"/>
          <p:nvPr userDrawn="1"/>
        </p:nvSpPr>
        <p:spPr>
          <a:xfrm>
            <a:off x="3973680" y="6581003"/>
            <a:ext cx="4273668" cy="276997"/>
          </a:xfrm>
          <a:prstGeom prst="rect">
            <a:avLst/>
          </a:prstGeom>
          <a:noFill/>
        </p:spPr>
        <p:txBody>
          <a:bodyPr wrap="none" lIns="91439" tIns="45719" rIns="91439" bIns="45719" rtlCol="0">
            <a:spAutoFit/>
          </a:bodyPr>
          <a:lstStyle/>
          <a:p>
            <a:pPr algn="ctr" defTabSz="914354">
              <a:defRPr/>
            </a:pPr>
            <a:r>
              <a:rPr lang="en-US" sz="1200" dirty="0">
                <a:solidFill>
                  <a:schemeClr val="tx1">
                    <a:lumMod val="75000"/>
                    <a:lumOff val="25000"/>
                  </a:schemeClr>
                </a:solidFill>
                <a:latin typeface="+mn-lt"/>
              </a:rPr>
              <a:t>Restricted Circulation | L&amp;T Technology Services | www.LTTS.com</a:t>
            </a:r>
          </a:p>
        </p:txBody>
      </p:sp>
      <p:sp>
        <p:nvSpPr>
          <p:cNvPr id="7" name="TextBox 6"/>
          <p:cNvSpPr txBox="1"/>
          <p:nvPr userDrawn="1"/>
        </p:nvSpPr>
        <p:spPr>
          <a:xfrm>
            <a:off x="11437495" y="6581379"/>
            <a:ext cx="614596" cy="276997"/>
          </a:xfrm>
          <a:prstGeom prst="rect">
            <a:avLst/>
          </a:prstGeom>
          <a:noFill/>
        </p:spPr>
        <p:txBody>
          <a:bodyPr wrap="square" lIns="91439" tIns="45719" rIns="91439" bIns="45719" rtlCol="0">
            <a:spAutoFit/>
          </a:bodyPr>
          <a:lstStyle/>
          <a:p>
            <a:pPr algn="r" defTabSz="914354"/>
            <a:fld id="{D1AD548E-8EA6-684F-9B89-4E9F5DC57BB8}" type="slidenum">
              <a:rPr lang="en-US" sz="1200" smtClean="0">
                <a:solidFill>
                  <a:schemeClr val="tx1">
                    <a:lumMod val="75000"/>
                    <a:lumOff val="25000"/>
                  </a:schemeClr>
                </a:solidFill>
                <a:latin typeface="Calibri"/>
              </a:rPr>
              <a:pPr algn="r" defTabSz="914354"/>
              <a:t>‹#›</a:t>
            </a:fld>
            <a:endParaRPr lang="en-US" sz="1200" dirty="0">
              <a:solidFill>
                <a:schemeClr val="tx1">
                  <a:lumMod val="75000"/>
                  <a:lumOff val="25000"/>
                </a:schemeClr>
              </a:solidFill>
              <a:latin typeface="Calibri"/>
            </a:endParaRPr>
          </a:p>
        </p:txBody>
      </p:sp>
    </p:spTree>
    <p:extLst>
      <p:ext uri="{BB962C8B-B14F-4D97-AF65-F5344CB8AC3E}">
        <p14:creationId xmlns:p14="http://schemas.microsoft.com/office/powerpoint/2010/main" val="3271502430"/>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ular Data Slide">
    <p:spTree>
      <p:nvGrpSpPr>
        <p:cNvPr id="1" name=""/>
        <p:cNvGrpSpPr/>
        <p:nvPr/>
      </p:nvGrpSpPr>
      <p:grpSpPr>
        <a:xfrm>
          <a:off x="0" y="0"/>
          <a:ext cx="0" cy="0"/>
          <a:chOff x="0" y="0"/>
          <a:chExt cx="0" cy="0"/>
        </a:xfrm>
      </p:grpSpPr>
      <p:grpSp>
        <p:nvGrpSpPr>
          <p:cNvPr id="295" name="Group 294"/>
          <p:cNvGrpSpPr/>
          <p:nvPr userDrawn="1"/>
        </p:nvGrpSpPr>
        <p:grpSpPr bwMode="gray">
          <a:xfrm>
            <a:off x="-1" y="795868"/>
            <a:ext cx="12183353" cy="5833533"/>
            <a:chOff x="-1" y="596901"/>
            <a:chExt cx="9137515" cy="4375150"/>
          </a:xfrm>
        </p:grpSpPr>
        <p:cxnSp>
          <p:nvCxnSpPr>
            <p:cNvPr id="296" name="Straight Connector 295"/>
            <p:cNvCxnSpPr/>
            <p:nvPr userDrawn="1"/>
          </p:nvCxnSpPr>
          <p:spPr bwMode="gray">
            <a:xfrm rot="5400000">
              <a:off x="4568757" y="-3971857"/>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p:cNvCxnSpPr/>
            <p:nvPr userDrawn="1"/>
          </p:nvCxnSpPr>
          <p:spPr bwMode="gray">
            <a:xfrm rot="5400000">
              <a:off x="4568757" y="-3821224"/>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bwMode="gray">
            <a:xfrm rot="5400000">
              <a:off x="4568757" y="-3670591"/>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userDrawn="1"/>
          </p:nvCxnSpPr>
          <p:spPr bwMode="gray">
            <a:xfrm rot="5400000">
              <a:off x="4568757" y="-3519958"/>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bwMode="gray">
            <a:xfrm rot="5400000">
              <a:off x="4568757" y="-3369325"/>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p:cNvCxnSpPr/>
            <p:nvPr userDrawn="1"/>
          </p:nvCxnSpPr>
          <p:spPr bwMode="gray">
            <a:xfrm rot="5400000">
              <a:off x="4568757" y="-3218692"/>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bwMode="gray">
            <a:xfrm rot="5400000">
              <a:off x="4568757" y="-3068059"/>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p:cNvCxnSpPr/>
            <p:nvPr userDrawn="1"/>
          </p:nvCxnSpPr>
          <p:spPr bwMode="gray">
            <a:xfrm rot="5400000">
              <a:off x="4568757" y="-2917426"/>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bwMode="gray">
            <a:xfrm rot="5400000">
              <a:off x="4568757" y="-2766793"/>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p:cNvCxnSpPr/>
            <p:nvPr userDrawn="1"/>
          </p:nvCxnSpPr>
          <p:spPr bwMode="gray">
            <a:xfrm rot="5400000">
              <a:off x="4568757" y="-2616160"/>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bwMode="gray">
            <a:xfrm rot="5400000">
              <a:off x="4568757" y="-2465527"/>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userDrawn="1"/>
          </p:nvCxnSpPr>
          <p:spPr bwMode="gray">
            <a:xfrm rot="5400000">
              <a:off x="4568757" y="-2314894"/>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bwMode="gray">
            <a:xfrm rot="5400000">
              <a:off x="4568757" y="-2164261"/>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p:cNvCxnSpPr/>
            <p:nvPr userDrawn="1"/>
          </p:nvCxnSpPr>
          <p:spPr bwMode="gray">
            <a:xfrm rot="5400000">
              <a:off x="4568757" y="-2013628"/>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bwMode="gray">
            <a:xfrm rot="5400000">
              <a:off x="4568757" y="-1862995"/>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userDrawn="1"/>
          </p:nvCxnSpPr>
          <p:spPr bwMode="gray">
            <a:xfrm rot="5400000">
              <a:off x="4568757" y="-1712362"/>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userDrawn="1"/>
          </p:nvCxnSpPr>
          <p:spPr bwMode="gray">
            <a:xfrm rot="5400000">
              <a:off x="4568757" y="-1561729"/>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p:cNvCxnSpPr/>
            <p:nvPr userDrawn="1"/>
          </p:nvCxnSpPr>
          <p:spPr bwMode="gray">
            <a:xfrm rot="5400000">
              <a:off x="4568757" y="-1411096"/>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p:cNvCxnSpPr/>
            <p:nvPr userDrawn="1"/>
          </p:nvCxnSpPr>
          <p:spPr bwMode="gray">
            <a:xfrm rot="5400000">
              <a:off x="4568757" y="-1260463"/>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p:cNvCxnSpPr/>
            <p:nvPr userDrawn="1"/>
          </p:nvCxnSpPr>
          <p:spPr bwMode="gray">
            <a:xfrm rot="5400000">
              <a:off x="4568757" y="-1109830"/>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p:cNvCxnSpPr/>
            <p:nvPr userDrawn="1"/>
          </p:nvCxnSpPr>
          <p:spPr bwMode="gray">
            <a:xfrm rot="5400000">
              <a:off x="4568757" y="-959197"/>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p:cNvCxnSpPr/>
            <p:nvPr userDrawn="1"/>
          </p:nvCxnSpPr>
          <p:spPr bwMode="gray">
            <a:xfrm rot="5400000">
              <a:off x="4568757" y="-808564"/>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p:cNvCxnSpPr/>
            <p:nvPr userDrawn="1"/>
          </p:nvCxnSpPr>
          <p:spPr bwMode="gray">
            <a:xfrm rot="5400000">
              <a:off x="4568757" y="-657931"/>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9" name="Straight Connector 318"/>
            <p:cNvCxnSpPr/>
            <p:nvPr userDrawn="1"/>
          </p:nvCxnSpPr>
          <p:spPr bwMode="gray">
            <a:xfrm rot="5400000">
              <a:off x="4568757" y="-507298"/>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p:cNvCxnSpPr/>
            <p:nvPr userDrawn="1"/>
          </p:nvCxnSpPr>
          <p:spPr bwMode="gray">
            <a:xfrm rot="5400000">
              <a:off x="4568757" y="-356665"/>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p:cNvCxnSpPr/>
            <p:nvPr userDrawn="1"/>
          </p:nvCxnSpPr>
          <p:spPr bwMode="gray">
            <a:xfrm rot="5400000">
              <a:off x="4568757" y="-206032"/>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p:cNvCxnSpPr/>
            <p:nvPr userDrawn="1"/>
          </p:nvCxnSpPr>
          <p:spPr bwMode="gray">
            <a:xfrm rot="5400000">
              <a:off x="4568757" y="-55399"/>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p:cNvCxnSpPr/>
            <p:nvPr userDrawn="1"/>
          </p:nvCxnSpPr>
          <p:spPr bwMode="gray">
            <a:xfrm rot="5400000">
              <a:off x="4568757" y="95234"/>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p:cNvCxnSpPr/>
            <p:nvPr userDrawn="1"/>
          </p:nvCxnSpPr>
          <p:spPr bwMode="gray">
            <a:xfrm rot="5400000">
              <a:off x="4568757" y="245867"/>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p:cNvCxnSpPr/>
            <p:nvPr userDrawn="1"/>
          </p:nvCxnSpPr>
          <p:spPr bwMode="gray">
            <a:xfrm rot="5400000">
              <a:off x="4568757" y="396913"/>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p:cNvCxnSpPr/>
            <p:nvPr userDrawn="1"/>
          </p:nvCxnSpPr>
          <p:spPr bwMode="gray">
            <a:xfrm>
              <a:off x="14257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p:cNvCxnSpPr/>
            <p:nvPr userDrawn="1"/>
          </p:nvCxnSpPr>
          <p:spPr bwMode="gray">
            <a:xfrm>
              <a:off x="29530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p:cNvCxnSpPr/>
            <p:nvPr userDrawn="1"/>
          </p:nvCxnSpPr>
          <p:spPr bwMode="gray">
            <a:xfrm>
              <a:off x="44802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p:cNvCxnSpPr/>
            <p:nvPr userDrawn="1"/>
          </p:nvCxnSpPr>
          <p:spPr bwMode="gray">
            <a:xfrm>
              <a:off x="60075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p:cNvCxnSpPr/>
            <p:nvPr userDrawn="1"/>
          </p:nvCxnSpPr>
          <p:spPr bwMode="gray">
            <a:xfrm>
              <a:off x="75348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p:cNvCxnSpPr/>
            <p:nvPr userDrawn="1"/>
          </p:nvCxnSpPr>
          <p:spPr bwMode="gray">
            <a:xfrm>
              <a:off x="90621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p:cNvCxnSpPr/>
            <p:nvPr userDrawn="1"/>
          </p:nvCxnSpPr>
          <p:spPr bwMode="gray">
            <a:xfrm>
              <a:off x="105894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p:cNvCxnSpPr/>
            <p:nvPr userDrawn="1"/>
          </p:nvCxnSpPr>
          <p:spPr bwMode="gray">
            <a:xfrm>
              <a:off x="121167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p:cNvCxnSpPr/>
            <p:nvPr userDrawn="1"/>
          </p:nvCxnSpPr>
          <p:spPr bwMode="gray">
            <a:xfrm>
              <a:off x="136440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p:cNvCxnSpPr/>
            <p:nvPr userDrawn="1"/>
          </p:nvCxnSpPr>
          <p:spPr bwMode="gray">
            <a:xfrm>
              <a:off x="151713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p:cNvCxnSpPr/>
            <p:nvPr userDrawn="1"/>
          </p:nvCxnSpPr>
          <p:spPr bwMode="gray">
            <a:xfrm>
              <a:off x="166986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p:cNvCxnSpPr/>
            <p:nvPr userDrawn="1"/>
          </p:nvCxnSpPr>
          <p:spPr bwMode="gray">
            <a:xfrm>
              <a:off x="182259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p:cNvCxnSpPr/>
            <p:nvPr userDrawn="1"/>
          </p:nvCxnSpPr>
          <p:spPr bwMode="gray">
            <a:xfrm>
              <a:off x="197532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p:cNvCxnSpPr/>
            <p:nvPr userDrawn="1"/>
          </p:nvCxnSpPr>
          <p:spPr bwMode="gray">
            <a:xfrm>
              <a:off x="212805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p:cNvCxnSpPr/>
            <p:nvPr userDrawn="1"/>
          </p:nvCxnSpPr>
          <p:spPr bwMode="gray">
            <a:xfrm>
              <a:off x="228078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p:cNvCxnSpPr/>
            <p:nvPr userDrawn="1"/>
          </p:nvCxnSpPr>
          <p:spPr bwMode="gray">
            <a:xfrm>
              <a:off x="243351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2" name="Straight Connector 341"/>
            <p:cNvCxnSpPr/>
            <p:nvPr userDrawn="1"/>
          </p:nvCxnSpPr>
          <p:spPr bwMode="gray">
            <a:xfrm>
              <a:off x="258624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p:cNvCxnSpPr/>
            <p:nvPr userDrawn="1"/>
          </p:nvCxnSpPr>
          <p:spPr bwMode="gray">
            <a:xfrm>
              <a:off x="273897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4" name="Straight Connector 343"/>
            <p:cNvCxnSpPr/>
            <p:nvPr userDrawn="1"/>
          </p:nvCxnSpPr>
          <p:spPr bwMode="gray">
            <a:xfrm>
              <a:off x="289170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p:cNvCxnSpPr/>
            <p:nvPr userDrawn="1"/>
          </p:nvCxnSpPr>
          <p:spPr bwMode="gray">
            <a:xfrm>
              <a:off x="304443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6" name="Straight Connector 345"/>
            <p:cNvCxnSpPr/>
            <p:nvPr userDrawn="1"/>
          </p:nvCxnSpPr>
          <p:spPr bwMode="gray">
            <a:xfrm>
              <a:off x="319716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7" name="Straight Connector 346"/>
            <p:cNvCxnSpPr/>
            <p:nvPr userDrawn="1"/>
          </p:nvCxnSpPr>
          <p:spPr bwMode="gray">
            <a:xfrm>
              <a:off x="334989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p:cNvCxnSpPr/>
            <p:nvPr userDrawn="1"/>
          </p:nvCxnSpPr>
          <p:spPr bwMode="gray">
            <a:xfrm>
              <a:off x="350262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p:cNvCxnSpPr/>
            <p:nvPr userDrawn="1"/>
          </p:nvCxnSpPr>
          <p:spPr bwMode="gray">
            <a:xfrm>
              <a:off x="365535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p:cNvCxnSpPr/>
            <p:nvPr userDrawn="1"/>
          </p:nvCxnSpPr>
          <p:spPr bwMode="gray">
            <a:xfrm>
              <a:off x="380808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p:cNvCxnSpPr/>
            <p:nvPr userDrawn="1"/>
          </p:nvCxnSpPr>
          <p:spPr bwMode="gray">
            <a:xfrm>
              <a:off x="396081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p:cNvCxnSpPr/>
            <p:nvPr userDrawn="1"/>
          </p:nvCxnSpPr>
          <p:spPr bwMode="gray">
            <a:xfrm>
              <a:off x="411354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p:cNvCxnSpPr/>
            <p:nvPr userDrawn="1"/>
          </p:nvCxnSpPr>
          <p:spPr bwMode="gray">
            <a:xfrm>
              <a:off x="426626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p:cNvCxnSpPr/>
            <p:nvPr userDrawn="1"/>
          </p:nvCxnSpPr>
          <p:spPr bwMode="gray">
            <a:xfrm>
              <a:off x="441899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p:cNvCxnSpPr/>
            <p:nvPr userDrawn="1"/>
          </p:nvCxnSpPr>
          <p:spPr bwMode="gray">
            <a:xfrm>
              <a:off x="457172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p:cNvCxnSpPr/>
            <p:nvPr userDrawn="1"/>
          </p:nvCxnSpPr>
          <p:spPr bwMode="gray">
            <a:xfrm>
              <a:off x="472445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p:cNvCxnSpPr/>
            <p:nvPr userDrawn="1"/>
          </p:nvCxnSpPr>
          <p:spPr bwMode="gray">
            <a:xfrm>
              <a:off x="487718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p:cNvCxnSpPr/>
            <p:nvPr userDrawn="1"/>
          </p:nvCxnSpPr>
          <p:spPr bwMode="gray">
            <a:xfrm>
              <a:off x="502991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p:cNvCxnSpPr/>
            <p:nvPr userDrawn="1"/>
          </p:nvCxnSpPr>
          <p:spPr bwMode="gray">
            <a:xfrm>
              <a:off x="518264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0" name="Straight Connector 359"/>
            <p:cNvCxnSpPr/>
            <p:nvPr userDrawn="1"/>
          </p:nvCxnSpPr>
          <p:spPr bwMode="gray">
            <a:xfrm>
              <a:off x="533537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p:cNvCxnSpPr/>
            <p:nvPr userDrawn="1"/>
          </p:nvCxnSpPr>
          <p:spPr bwMode="gray">
            <a:xfrm>
              <a:off x="548810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p:cNvCxnSpPr/>
            <p:nvPr userDrawn="1"/>
          </p:nvCxnSpPr>
          <p:spPr bwMode="gray">
            <a:xfrm>
              <a:off x="564083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p:cNvCxnSpPr/>
            <p:nvPr userDrawn="1"/>
          </p:nvCxnSpPr>
          <p:spPr bwMode="gray">
            <a:xfrm>
              <a:off x="579356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p:cNvCxnSpPr/>
            <p:nvPr userDrawn="1"/>
          </p:nvCxnSpPr>
          <p:spPr bwMode="gray">
            <a:xfrm>
              <a:off x="594629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p:cNvCxnSpPr/>
            <p:nvPr userDrawn="1"/>
          </p:nvCxnSpPr>
          <p:spPr bwMode="gray">
            <a:xfrm>
              <a:off x="609902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p:cNvCxnSpPr/>
            <p:nvPr userDrawn="1"/>
          </p:nvCxnSpPr>
          <p:spPr bwMode="gray">
            <a:xfrm>
              <a:off x="625175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p:cNvCxnSpPr/>
            <p:nvPr userDrawn="1"/>
          </p:nvCxnSpPr>
          <p:spPr bwMode="gray">
            <a:xfrm>
              <a:off x="640448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8" name="Straight Connector 367"/>
            <p:cNvCxnSpPr/>
            <p:nvPr userDrawn="1"/>
          </p:nvCxnSpPr>
          <p:spPr bwMode="gray">
            <a:xfrm>
              <a:off x="655721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p:cNvCxnSpPr/>
            <p:nvPr userDrawn="1"/>
          </p:nvCxnSpPr>
          <p:spPr bwMode="gray">
            <a:xfrm>
              <a:off x="670994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p:cNvCxnSpPr/>
            <p:nvPr userDrawn="1"/>
          </p:nvCxnSpPr>
          <p:spPr bwMode="gray">
            <a:xfrm>
              <a:off x="686267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1" name="Straight Connector 370"/>
            <p:cNvCxnSpPr/>
            <p:nvPr userDrawn="1"/>
          </p:nvCxnSpPr>
          <p:spPr bwMode="gray">
            <a:xfrm>
              <a:off x="701540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2" name="Straight Connector 371"/>
            <p:cNvCxnSpPr/>
            <p:nvPr userDrawn="1"/>
          </p:nvCxnSpPr>
          <p:spPr bwMode="gray">
            <a:xfrm>
              <a:off x="716813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p:cNvCxnSpPr/>
            <p:nvPr userDrawn="1"/>
          </p:nvCxnSpPr>
          <p:spPr bwMode="gray">
            <a:xfrm>
              <a:off x="732086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p:cNvCxnSpPr/>
            <p:nvPr userDrawn="1"/>
          </p:nvCxnSpPr>
          <p:spPr bwMode="gray">
            <a:xfrm>
              <a:off x="747359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5" name="Straight Connector 374"/>
            <p:cNvCxnSpPr/>
            <p:nvPr userDrawn="1"/>
          </p:nvCxnSpPr>
          <p:spPr bwMode="gray">
            <a:xfrm>
              <a:off x="762632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p:cNvCxnSpPr/>
            <p:nvPr userDrawn="1"/>
          </p:nvCxnSpPr>
          <p:spPr bwMode="gray">
            <a:xfrm>
              <a:off x="777905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p:cNvCxnSpPr/>
            <p:nvPr userDrawn="1"/>
          </p:nvCxnSpPr>
          <p:spPr bwMode="gray">
            <a:xfrm>
              <a:off x="793178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p:cNvCxnSpPr/>
            <p:nvPr userDrawn="1"/>
          </p:nvCxnSpPr>
          <p:spPr bwMode="gray">
            <a:xfrm>
              <a:off x="808450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p:cNvCxnSpPr/>
            <p:nvPr userDrawn="1"/>
          </p:nvCxnSpPr>
          <p:spPr bwMode="gray">
            <a:xfrm>
              <a:off x="823723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p:cNvCxnSpPr/>
            <p:nvPr userDrawn="1"/>
          </p:nvCxnSpPr>
          <p:spPr bwMode="gray">
            <a:xfrm>
              <a:off x="838996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1" name="Straight Connector 380"/>
            <p:cNvCxnSpPr/>
            <p:nvPr userDrawn="1"/>
          </p:nvCxnSpPr>
          <p:spPr bwMode="gray">
            <a:xfrm>
              <a:off x="854269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p:cNvCxnSpPr/>
            <p:nvPr userDrawn="1"/>
          </p:nvCxnSpPr>
          <p:spPr bwMode="gray">
            <a:xfrm>
              <a:off x="869542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p:cNvCxnSpPr/>
            <p:nvPr userDrawn="1"/>
          </p:nvCxnSpPr>
          <p:spPr bwMode="gray">
            <a:xfrm>
              <a:off x="884815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4" name="Straight Connector 383"/>
            <p:cNvCxnSpPr/>
            <p:nvPr userDrawn="1"/>
          </p:nvCxnSpPr>
          <p:spPr bwMode="gray">
            <a:xfrm>
              <a:off x="900088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6" name="Title 1"/>
          <p:cNvSpPr>
            <a:spLocks noGrp="1"/>
          </p:cNvSpPr>
          <p:nvPr>
            <p:ph type="title" hasCustomPrompt="1"/>
          </p:nvPr>
        </p:nvSpPr>
        <p:spPr bwMode="gray">
          <a:xfrm>
            <a:off x="406400" y="1"/>
            <a:ext cx="11379200" cy="673820"/>
          </a:xfrm>
          <a:prstGeom prst="rect">
            <a:avLst/>
          </a:prstGeom>
        </p:spPr>
        <p:txBody>
          <a:bodyPr anchor="ctr">
            <a:normAutofit/>
          </a:bodyPr>
          <a:lstStyle>
            <a:lvl1pPr>
              <a:defRPr sz="2400" baseline="0">
                <a:latin typeface="Calibri" charset="0"/>
                <a:ea typeface="Calibri" charset="0"/>
                <a:cs typeface="Calibri" charset="0"/>
              </a:defRPr>
            </a:lvl1pPr>
          </a:lstStyle>
          <a:p>
            <a:r>
              <a:rPr lang="en-US" dirty="0"/>
              <a:t>Tabular Data Slide</a:t>
            </a:r>
          </a:p>
        </p:txBody>
      </p:sp>
      <p:sp>
        <p:nvSpPr>
          <p:cNvPr id="8" name="Picture Placeholder 7"/>
          <p:cNvSpPr>
            <a:spLocks noGrp="1"/>
          </p:cNvSpPr>
          <p:nvPr>
            <p:ph type="pic" sz="quarter" idx="10"/>
          </p:nvPr>
        </p:nvSpPr>
        <p:spPr bwMode="gray">
          <a:xfrm>
            <a:off x="385767" y="1789889"/>
            <a:ext cx="2689021" cy="1305667"/>
          </a:xfrm>
          <a:prstGeom prst="homePlate">
            <a:avLst>
              <a:gd name="adj" fmla="val 25515"/>
            </a:avLst>
          </a:prstGeom>
          <a:solidFill>
            <a:schemeClr val="bg1">
              <a:lumMod val="50000"/>
            </a:schemeClr>
          </a:solidFill>
        </p:spPr>
        <p:txBody>
          <a:bodyPr anchor="ctr">
            <a:normAutofit/>
          </a:bodyPr>
          <a:lstStyle>
            <a:lvl1pPr marL="0" indent="0" algn="ctr">
              <a:buNone/>
              <a:defRPr sz="2133">
                <a:solidFill>
                  <a:schemeClr val="bg1"/>
                </a:solidFill>
              </a:defRPr>
            </a:lvl1pPr>
          </a:lstStyle>
          <a:p>
            <a:endParaRPr lang="en-IN" dirty="0"/>
          </a:p>
        </p:txBody>
      </p:sp>
      <p:sp>
        <p:nvSpPr>
          <p:cNvPr id="13" name="Picture Placeholder 7"/>
          <p:cNvSpPr>
            <a:spLocks noGrp="1"/>
          </p:cNvSpPr>
          <p:nvPr>
            <p:ph type="pic" sz="quarter" idx="11"/>
          </p:nvPr>
        </p:nvSpPr>
        <p:spPr bwMode="gray">
          <a:xfrm>
            <a:off x="385767" y="3432784"/>
            <a:ext cx="2689021" cy="1305667"/>
          </a:xfrm>
          <a:prstGeom prst="homePlate">
            <a:avLst>
              <a:gd name="adj" fmla="val 25515"/>
            </a:avLst>
          </a:prstGeom>
          <a:solidFill>
            <a:schemeClr val="bg1">
              <a:lumMod val="50000"/>
            </a:schemeClr>
          </a:solidFill>
        </p:spPr>
        <p:txBody>
          <a:bodyPr anchor="ctr">
            <a:normAutofit/>
          </a:bodyPr>
          <a:lstStyle>
            <a:lvl1pPr marL="0" indent="0" algn="ctr">
              <a:buNone/>
              <a:defRPr sz="2133">
                <a:solidFill>
                  <a:schemeClr val="bg1"/>
                </a:solidFill>
              </a:defRPr>
            </a:lvl1pPr>
          </a:lstStyle>
          <a:p>
            <a:endParaRPr lang="en-IN" dirty="0"/>
          </a:p>
        </p:txBody>
      </p:sp>
      <p:sp>
        <p:nvSpPr>
          <p:cNvPr id="14" name="Picture Placeholder 7"/>
          <p:cNvSpPr>
            <a:spLocks noGrp="1"/>
          </p:cNvSpPr>
          <p:nvPr>
            <p:ph type="pic" sz="quarter" idx="12"/>
          </p:nvPr>
        </p:nvSpPr>
        <p:spPr bwMode="gray">
          <a:xfrm>
            <a:off x="385767" y="5075679"/>
            <a:ext cx="2689021" cy="1305667"/>
          </a:xfrm>
          <a:prstGeom prst="homePlate">
            <a:avLst>
              <a:gd name="adj" fmla="val 25515"/>
            </a:avLst>
          </a:prstGeom>
          <a:solidFill>
            <a:schemeClr val="bg1">
              <a:lumMod val="50000"/>
            </a:schemeClr>
          </a:solidFill>
        </p:spPr>
        <p:txBody>
          <a:bodyPr anchor="ctr">
            <a:normAutofit/>
          </a:bodyPr>
          <a:lstStyle>
            <a:lvl1pPr marL="0" indent="0" algn="ctr">
              <a:buNone/>
              <a:defRPr sz="2133">
                <a:solidFill>
                  <a:schemeClr val="bg1"/>
                </a:solidFill>
              </a:defRPr>
            </a:lvl1pPr>
          </a:lstStyle>
          <a:p>
            <a:endParaRPr lang="en-IN" dirty="0"/>
          </a:p>
        </p:txBody>
      </p:sp>
      <p:sp>
        <p:nvSpPr>
          <p:cNvPr id="10" name="Text Placeholder 9"/>
          <p:cNvSpPr>
            <a:spLocks noGrp="1"/>
          </p:cNvSpPr>
          <p:nvPr>
            <p:ph type="body" sz="quarter" idx="13"/>
          </p:nvPr>
        </p:nvSpPr>
        <p:spPr bwMode="gray">
          <a:xfrm>
            <a:off x="411708" y="864682"/>
            <a:ext cx="11368587" cy="458236"/>
          </a:xfrm>
          <a:prstGeom prst="parallelogram">
            <a:avLst/>
          </a:prstGeom>
          <a:solidFill>
            <a:srgbClr val="0077BD"/>
          </a:solidFill>
        </p:spPr>
        <p:txBody>
          <a:bodyPr anchor="ctr">
            <a:noAutofit/>
          </a:bodyPr>
          <a:lstStyle>
            <a:lvl1pPr marL="0" indent="0" algn="ctr">
              <a:buFont typeface="Arial" panose="020B0604020202020204" pitchFamily="34" charset="0"/>
              <a:buNone/>
              <a:defRPr sz="2400">
                <a:solidFill>
                  <a:schemeClr val="bg1"/>
                </a:solidFill>
              </a:defRPr>
            </a:lvl1pPr>
          </a:lstStyle>
          <a:p>
            <a:pPr lvl="0"/>
            <a:endParaRPr lang="en-IN" dirty="0"/>
          </a:p>
        </p:txBody>
      </p:sp>
      <p:sp>
        <p:nvSpPr>
          <p:cNvPr id="17" name="Text Placeholder 9"/>
          <p:cNvSpPr>
            <a:spLocks noGrp="1"/>
          </p:cNvSpPr>
          <p:nvPr>
            <p:ph type="body" sz="quarter" idx="14"/>
          </p:nvPr>
        </p:nvSpPr>
        <p:spPr bwMode="gray">
          <a:xfrm>
            <a:off x="3762175" y="1426680"/>
            <a:ext cx="3656787" cy="285389"/>
          </a:xfrm>
          <a:prstGeom prst="parallelogram">
            <a:avLst/>
          </a:prstGeom>
          <a:solidFill>
            <a:schemeClr val="tx1">
              <a:lumMod val="65000"/>
              <a:lumOff val="35000"/>
            </a:schemeClr>
          </a:solidFill>
        </p:spPr>
        <p:txBody>
          <a:bodyPr anchor="ctr">
            <a:noAutofit/>
          </a:bodyPr>
          <a:lstStyle>
            <a:lvl1pPr marL="0" indent="0" algn="ctr">
              <a:buFont typeface="Arial" panose="020B0604020202020204" pitchFamily="34" charset="0"/>
              <a:buNone/>
              <a:defRPr sz="1600">
                <a:solidFill>
                  <a:schemeClr val="bg1"/>
                </a:solidFill>
              </a:defRPr>
            </a:lvl1pPr>
          </a:lstStyle>
          <a:p>
            <a:pPr lvl="0"/>
            <a:endParaRPr lang="en-IN" dirty="0"/>
          </a:p>
        </p:txBody>
      </p:sp>
      <p:sp>
        <p:nvSpPr>
          <p:cNvPr id="20" name="Text Placeholder 9"/>
          <p:cNvSpPr>
            <a:spLocks noGrp="1"/>
          </p:cNvSpPr>
          <p:nvPr>
            <p:ph type="body" sz="quarter" idx="15"/>
          </p:nvPr>
        </p:nvSpPr>
        <p:spPr bwMode="gray">
          <a:xfrm>
            <a:off x="7981816" y="1426680"/>
            <a:ext cx="3656787" cy="285389"/>
          </a:xfrm>
          <a:prstGeom prst="parallelogram">
            <a:avLst/>
          </a:prstGeom>
          <a:solidFill>
            <a:schemeClr val="tx1">
              <a:lumMod val="65000"/>
              <a:lumOff val="35000"/>
            </a:schemeClr>
          </a:solidFill>
        </p:spPr>
        <p:txBody>
          <a:bodyPr anchor="ctr">
            <a:noAutofit/>
          </a:bodyPr>
          <a:lstStyle>
            <a:lvl1pPr marL="0" indent="0" algn="ctr">
              <a:buFont typeface="Arial" panose="020B0604020202020204" pitchFamily="34" charset="0"/>
              <a:buNone/>
              <a:defRPr sz="1600">
                <a:solidFill>
                  <a:schemeClr val="bg1"/>
                </a:solidFill>
              </a:defRPr>
            </a:lvl1pPr>
          </a:lstStyle>
          <a:p>
            <a:pPr lvl="0"/>
            <a:endParaRPr lang="en-IN" dirty="0"/>
          </a:p>
        </p:txBody>
      </p:sp>
      <p:sp>
        <p:nvSpPr>
          <p:cNvPr id="12" name="Text Placeholder 11"/>
          <p:cNvSpPr>
            <a:spLocks noGrp="1"/>
          </p:cNvSpPr>
          <p:nvPr>
            <p:ph type="body" sz="quarter" idx="16"/>
          </p:nvPr>
        </p:nvSpPr>
        <p:spPr bwMode="gray">
          <a:xfrm>
            <a:off x="3814234" y="1841860"/>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Text Placeholder 11"/>
          <p:cNvSpPr>
            <a:spLocks noGrp="1"/>
          </p:cNvSpPr>
          <p:nvPr>
            <p:ph type="body" sz="quarter" idx="17"/>
          </p:nvPr>
        </p:nvSpPr>
        <p:spPr bwMode="gray">
          <a:xfrm>
            <a:off x="8016582" y="1841860"/>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2" name="Text Placeholder 11"/>
          <p:cNvSpPr>
            <a:spLocks noGrp="1"/>
          </p:cNvSpPr>
          <p:nvPr>
            <p:ph type="body" sz="quarter" idx="18"/>
          </p:nvPr>
        </p:nvSpPr>
        <p:spPr bwMode="gray">
          <a:xfrm>
            <a:off x="3814234" y="3476105"/>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Text Placeholder 11"/>
          <p:cNvSpPr>
            <a:spLocks noGrp="1"/>
          </p:cNvSpPr>
          <p:nvPr>
            <p:ph type="body" sz="quarter" idx="19"/>
          </p:nvPr>
        </p:nvSpPr>
        <p:spPr bwMode="gray">
          <a:xfrm>
            <a:off x="8016582" y="3476105"/>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11"/>
          <p:cNvSpPr>
            <a:spLocks noGrp="1"/>
          </p:cNvSpPr>
          <p:nvPr>
            <p:ph type="body" sz="quarter" idx="20"/>
          </p:nvPr>
        </p:nvSpPr>
        <p:spPr bwMode="gray">
          <a:xfrm>
            <a:off x="3814234" y="5119000"/>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Text Placeholder 11"/>
          <p:cNvSpPr>
            <a:spLocks noGrp="1"/>
          </p:cNvSpPr>
          <p:nvPr>
            <p:ph type="body" sz="quarter" idx="21"/>
          </p:nvPr>
        </p:nvSpPr>
        <p:spPr bwMode="gray">
          <a:xfrm>
            <a:off x="8016582" y="5119000"/>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11"/>
          <p:cNvSpPr>
            <a:spLocks noGrp="1"/>
          </p:cNvSpPr>
          <p:nvPr>
            <p:ph type="body" sz="quarter" idx="22" hasCustomPrompt="1"/>
          </p:nvPr>
        </p:nvSpPr>
        <p:spPr bwMode="gray">
          <a:xfrm>
            <a:off x="437513" y="2741039"/>
            <a:ext cx="2153055" cy="328488"/>
          </a:xfrm>
          <a:prstGeom prst="rect">
            <a:avLst/>
          </a:prstGeom>
        </p:spPr>
        <p:txBody>
          <a:bodyPr>
            <a:noAutofit/>
          </a:bodyPr>
          <a:lstStyle>
            <a:lvl1pPr marL="0" indent="0" algn="ctr">
              <a:buFont typeface="Arial" panose="020B0604020202020204" pitchFamily="34" charset="0"/>
              <a:buNone/>
              <a:defRPr sz="1333" b="1">
                <a:solidFill>
                  <a:schemeClr val="bg1"/>
                </a:solidFill>
              </a:defRPr>
            </a:lvl1pPr>
            <a:lvl2pPr marL="457177" indent="0">
              <a:buFont typeface="Arial" panose="020B0604020202020204" pitchFamily="34" charset="0"/>
              <a:buNone/>
              <a:defRPr sz="1333"/>
            </a:lvl2pPr>
            <a:lvl3pPr marL="914353" indent="0">
              <a:buFont typeface="Arial" panose="020B0604020202020204" pitchFamily="34" charset="0"/>
              <a:buNone/>
              <a:defRPr sz="1333"/>
            </a:lvl3pPr>
            <a:lvl4pPr marL="1371531" indent="0">
              <a:buFont typeface="Arial" panose="020B0604020202020204" pitchFamily="34" charset="0"/>
              <a:buNone/>
              <a:defRPr sz="1333"/>
            </a:lvl4pPr>
            <a:lvl5pPr marL="1828709" indent="0">
              <a:buFont typeface="Arial" panose="020B0604020202020204" pitchFamily="34" charset="0"/>
              <a:buNone/>
              <a:defRPr sz="1333"/>
            </a:lvl5pPr>
          </a:lstStyle>
          <a:p>
            <a:pPr lvl="0"/>
            <a:r>
              <a:rPr lang="en-US" dirty="0"/>
              <a:t>Add Text Here</a:t>
            </a:r>
            <a:endParaRPr lang="en-IN" dirty="0"/>
          </a:p>
        </p:txBody>
      </p:sp>
      <p:sp>
        <p:nvSpPr>
          <p:cNvPr id="28" name="Text Placeholder 11"/>
          <p:cNvSpPr>
            <a:spLocks noGrp="1"/>
          </p:cNvSpPr>
          <p:nvPr>
            <p:ph type="body" sz="quarter" idx="23" hasCustomPrompt="1"/>
          </p:nvPr>
        </p:nvSpPr>
        <p:spPr bwMode="gray">
          <a:xfrm>
            <a:off x="437513" y="4409872"/>
            <a:ext cx="2153055" cy="328488"/>
          </a:xfrm>
          <a:prstGeom prst="rect">
            <a:avLst/>
          </a:prstGeom>
        </p:spPr>
        <p:txBody>
          <a:bodyPr>
            <a:noAutofit/>
          </a:bodyPr>
          <a:lstStyle>
            <a:lvl1pPr marL="0" indent="0" algn="ctr">
              <a:buFont typeface="Arial" panose="020B0604020202020204" pitchFamily="34" charset="0"/>
              <a:buNone/>
              <a:defRPr sz="1333" b="1">
                <a:solidFill>
                  <a:schemeClr val="bg1"/>
                </a:solidFill>
              </a:defRPr>
            </a:lvl1pPr>
            <a:lvl2pPr marL="457177" indent="0">
              <a:buFont typeface="Arial" panose="020B0604020202020204" pitchFamily="34" charset="0"/>
              <a:buNone/>
              <a:defRPr sz="1333"/>
            </a:lvl2pPr>
            <a:lvl3pPr marL="914353" indent="0">
              <a:buFont typeface="Arial" panose="020B0604020202020204" pitchFamily="34" charset="0"/>
              <a:buNone/>
              <a:defRPr sz="1333"/>
            </a:lvl3pPr>
            <a:lvl4pPr marL="1371531" indent="0">
              <a:buFont typeface="Arial" panose="020B0604020202020204" pitchFamily="34" charset="0"/>
              <a:buNone/>
              <a:defRPr sz="1333"/>
            </a:lvl4pPr>
            <a:lvl5pPr marL="1828709" indent="0">
              <a:buFont typeface="Arial" panose="020B0604020202020204" pitchFamily="34" charset="0"/>
              <a:buNone/>
              <a:defRPr sz="1333"/>
            </a:lvl5pPr>
          </a:lstStyle>
          <a:p>
            <a:pPr lvl="0"/>
            <a:r>
              <a:rPr lang="en-US" dirty="0"/>
              <a:t>Add Text Here</a:t>
            </a:r>
            <a:endParaRPr lang="en-IN" dirty="0"/>
          </a:p>
        </p:txBody>
      </p:sp>
      <p:sp>
        <p:nvSpPr>
          <p:cNvPr id="29" name="Text Placeholder 11"/>
          <p:cNvSpPr>
            <a:spLocks noGrp="1"/>
          </p:cNvSpPr>
          <p:nvPr>
            <p:ph type="body" sz="quarter" idx="24" hasCustomPrompt="1"/>
          </p:nvPr>
        </p:nvSpPr>
        <p:spPr bwMode="gray">
          <a:xfrm>
            <a:off x="437513" y="6035472"/>
            <a:ext cx="2153055" cy="328488"/>
          </a:xfrm>
          <a:prstGeom prst="rect">
            <a:avLst/>
          </a:prstGeom>
        </p:spPr>
        <p:txBody>
          <a:bodyPr>
            <a:noAutofit/>
          </a:bodyPr>
          <a:lstStyle>
            <a:lvl1pPr marL="0" indent="0" algn="ctr">
              <a:buFont typeface="Arial" panose="020B0604020202020204" pitchFamily="34" charset="0"/>
              <a:buNone/>
              <a:defRPr sz="1333" b="1">
                <a:solidFill>
                  <a:schemeClr val="bg1"/>
                </a:solidFill>
              </a:defRPr>
            </a:lvl1pPr>
            <a:lvl2pPr marL="457177" indent="0">
              <a:buFont typeface="Arial" panose="020B0604020202020204" pitchFamily="34" charset="0"/>
              <a:buNone/>
              <a:defRPr sz="1333"/>
            </a:lvl2pPr>
            <a:lvl3pPr marL="914353" indent="0">
              <a:buFont typeface="Arial" panose="020B0604020202020204" pitchFamily="34" charset="0"/>
              <a:buNone/>
              <a:defRPr sz="1333"/>
            </a:lvl3pPr>
            <a:lvl4pPr marL="1371531" indent="0">
              <a:buFont typeface="Arial" panose="020B0604020202020204" pitchFamily="34" charset="0"/>
              <a:buNone/>
              <a:defRPr sz="1333"/>
            </a:lvl4pPr>
            <a:lvl5pPr marL="1828709" indent="0">
              <a:buFont typeface="Arial" panose="020B0604020202020204" pitchFamily="34" charset="0"/>
              <a:buNone/>
              <a:defRPr sz="1333"/>
            </a:lvl5pPr>
          </a:lstStyle>
          <a:p>
            <a:pPr lvl="0"/>
            <a:r>
              <a:rPr lang="en-US" dirty="0"/>
              <a:t>Add Text Here</a:t>
            </a:r>
            <a:endParaRPr lang="en-IN" dirty="0"/>
          </a:p>
        </p:txBody>
      </p:sp>
    </p:spTree>
    <p:extLst>
      <p:ext uri="{BB962C8B-B14F-4D97-AF65-F5344CB8AC3E}">
        <p14:creationId xmlns:p14="http://schemas.microsoft.com/office/powerpoint/2010/main" val="4166098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21" name="Picture 2" descr="D:\Abhinav\L&amp;T - PPT Design Guidelines\_Slides_Work\grid-01.pn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0" y="0"/>
            <a:ext cx="12192000" cy="6556787"/>
          </a:xfrm>
          <a:prstGeom prst="rect">
            <a:avLst/>
          </a:prstGeom>
          <a:solidFill>
            <a:schemeClr val="bg1"/>
          </a:solidFill>
        </p:spPr>
      </p:pic>
      <p:sp>
        <p:nvSpPr>
          <p:cNvPr id="22" name="Rectangle 21"/>
          <p:cNvSpPr/>
          <p:nvPr userDrawn="1"/>
        </p:nvSpPr>
        <p:spPr>
          <a:xfrm>
            <a:off x="0" y="0"/>
            <a:ext cx="12192000" cy="6556787"/>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2" name="Title 1"/>
          <p:cNvSpPr>
            <a:spLocks noGrp="1"/>
          </p:cNvSpPr>
          <p:nvPr>
            <p:ph type="title" hasCustomPrompt="1"/>
          </p:nvPr>
        </p:nvSpPr>
        <p:spPr>
          <a:xfrm>
            <a:off x="1968474" y="1323939"/>
            <a:ext cx="3528087" cy="1325563"/>
          </a:xfrm>
          <a:prstGeom prst="rect">
            <a:avLst/>
          </a:prstGeom>
        </p:spPr>
        <p:txBody>
          <a:bodyPr anchor="ctr"/>
          <a:lstStyle>
            <a:lvl1pPr algn="ctr">
              <a:defRPr sz="4267"/>
            </a:lvl1pPr>
          </a:lstStyle>
          <a:p>
            <a:r>
              <a:rPr lang="en-US" dirty="0"/>
              <a:t>Thank you</a:t>
            </a:r>
            <a:endParaRPr lang="en-IN" dirty="0"/>
          </a:p>
        </p:txBody>
      </p:sp>
      <p:sp>
        <p:nvSpPr>
          <p:cNvPr id="17" name="Freeform 17"/>
          <p:cNvSpPr>
            <a:spLocks/>
          </p:cNvSpPr>
          <p:nvPr userDrawn="1"/>
        </p:nvSpPr>
        <p:spPr bwMode="auto">
          <a:xfrm>
            <a:off x="1" y="3530451"/>
            <a:ext cx="3210233" cy="767632"/>
          </a:xfrm>
          <a:custGeom>
            <a:avLst/>
            <a:gdLst/>
            <a:ahLst/>
            <a:cxnLst/>
            <a:rect l="l" t="t" r="r" b="b"/>
            <a:pathLst>
              <a:path w="2402984" h="575724">
                <a:moveTo>
                  <a:pt x="0" y="0"/>
                </a:moveTo>
                <a:lnTo>
                  <a:pt x="2402984" y="0"/>
                </a:lnTo>
                <a:lnTo>
                  <a:pt x="2052676" y="575724"/>
                </a:lnTo>
                <a:lnTo>
                  <a:pt x="0" y="575724"/>
                </a:lnTo>
                <a:close/>
              </a:path>
            </a:pathLst>
          </a:custGeom>
          <a:solidFill>
            <a:srgbClr val="002060"/>
          </a:solidFill>
          <a:ln>
            <a:noFill/>
          </a:ln>
        </p:spPr>
        <p:txBody>
          <a:bodyPr vert="horz" wrap="square" lIns="121920" tIns="60960" rIns="121920" bIns="60960" numCol="1" anchor="t" anchorCtr="0" compatLnSpc="1">
            <a:prstTxWarp prst="textNoShape">
              <a:avLst/>
            </a:prstTxWarp>
          </a:bodyPr>
          <a:lstStyle/>
          <a:p>
            <a:endParaRPr lang="en-IN" sz="2400" dirty="0"/>
          </a:p>
        </p:txBody>
      </p:sp>
      <p:grpSp>
        <p:nvGrpSpPr>
          <p:cNvPr id="18" name="Group 5"/>
          <p:cNvGrpSpPr>
            <a:grpSpLocks noChangeAspect="1"/>
          </p:cNvGrpSpPr>
          <p:nvPr userDrawn="1"/>
        </p:nvGrpSpPr>
        <p:grpSpPr bwMode="auto">
          <a:xfrm>
            <a:off x="150620" y="3719371"/>
            <a:ext cx="2592000" cy="389157"/>
            <a:chOff x="119" y="2341"/>
            <a:chExt cx="1805" cy="271"/>
          </a:xfrm>
        </p:grpSpPr>
        <p:sp>
          <p:nvSpPr>
            <p:cNvPr id="19" name="Freeform 6"/>
            <p:cNvSpPr>
              <a:spLocks noEditPoints="1"/>
            </p:cNvSpPr>
            <p:nvPr userDrawn="1"/>
          </p:nvSpPr>
          <p:spPr bwMode="auto">
            <a:xfrm>
              <a:off x="119" y="2341"/>
              <a:ext cx="270" cy="271"/>
            </a:xfrm>
            <a:custGeom>
              <a:avLst/>
              <a:gdLst>
                <a:gd name="T0" fmla="*/ 57 w 114"/>
                <a:gd name="T1" fmla="*/ 0 h 115"/>
                <a:gd name="T2" fmla="*/ 114 w 114"/>
                <a:gd name="T3" fmla="*/ 58 h 115"/>
                <a:gd name="T4" fmla="*/ 57 w 114"/>
                <a:gd name="T5" fmla="*/ 115 h 115"/>
                <a:gd name="T6" fmla="*/ 0 w 114"/>
                <a:gd name="T7" fmla="*/ 58 h 115"/>
                <a:gd name="T8" fmla="*/ 57 w 114"/>
                <a:gd name="T9" fmla="*/ 0 h 115"/>
                <a:gd name="T10" fmla="*/ 49 w 114"/>
                <a:gd name="T11" fmla="*/ 107 h 115"/>
                <a:gd name="T12" fmla="*/ 73 w 114"/>
                <a:gd name="T13" fmla="*/ 65 h 115"/>
                <a:gd name="T14" fmla="*/ 57 w 114"/>
                <a:gd name="T15" fmla="*/ 65 h 115"/>
                <a:gd name="T16" fmla="*/ 65 w 114"/>
                <a:gd name="T17" fmla="*/ 51 h 115"/>
                <a:gd name="T18" fmla="*/ 104 w 114"/>
                <a:gd name="T19" fmla="*/ 51 h 115"/>
                <a:gd name="T20" fmla="*/ 96 w 114"/>
                <a:gd name="T21" fmla="*/ 65 h 115"/>
                <a:gd name="T22" fmla="*/ 82 w 114"/>
                <a:gd name="T23" fmla="*/ 65 h 115"/>
                <a:gd name="T24" fmla="*/ 57 w 114"/>
                <a:gd name="T25" fmla="*/ 108 h 115"/>
                <a:gd name="T26" fmla="*/ 107 w 114"/>
                <a:gd name="T27" fmla="*/ 58 h 115"/>
                <a:gd name="T28" fmla="*/ 57 w 114"/>
                <a:gd name="T29" fmla="*/ 8 h 115"/>
                <a:gd name="T30" fmla="*/ 51 w 114"/>
                <a:gd name="T31" fmla="*/ 8 h 115"/>
                <a:gd name="T32" fmla="*/ 26 w 114"/>
                <a:gd name="T33" fmla="*/ 51 h 115"/>
                <a:gd name="T34" fmla="*/ 57 w 114"/>
                <a:gd name="T35" fmla="*/ 51 h 115"/>
                <a:gd name="T36" fmla="*/ 49 w 114"/>
                <a:gd name="T37" fmla="*/ 65 h 115"/>
                <a:gd name="T38" fmla="*/ 10 w 114"/>
                <a:gd name="T39" fmla="*/ 65 h 115"/>
                <a:gd name="T40" fmla="*/ 41 w 114"/>
                <a:gd name="T41" fmla="*/ 10 h 115"/>
                <a:gd name="T42" fmla="*/ 7 w 114"/>
                <a:gd name="T43" fmla="*/ 58 h 115"/>
                <a:gd name="T44" fmla="*/ 49 w 114"/>
                <a:gd name="T45" fmla="*/ 10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4" h="115">
                  <a:moveTo>
                    <a:pt x="57" y="0"/>
                  </a:moveTo>
                  <a:cubicBezTo>
                    <a:pt x="88" y="0"/>
                    <a:pt x="114" y="26"/>
                    <a:pt x="114" y="58"/>
                  </a:cubicBezTo>
                  <a:cubicBezTo>
                    <a:pt x="114" y="89"/>
                    <a:pt x="88" y="115"/>
                    <a:pt x="57" y="115"/>
                  </a:cubicBezTo>
                  <a:cubicBezTo>
                    <a:pt x="25" y="115"/>
                    <a:pt x="0" y="89"/>
                    <a:pt x="0" y="58"/>
                  </a:cubicBezTo>
                  <a:cubicBezTo>
                    <a:pt x="0" y="26"/>
                    <a:pt x="25" y="0"/>
                    <a:pt x="57" y="0"/>
                  </a:cubicBezTo>
                  <a:moveTo>
                    <a:pt x="49" y="107"/>
                  </a:moveTo>
                  <a:cubicBezTo>
                    <a:pt x="73" y="65"/>
                    <a:pt x="73" y="65"/>
                    <a:pt x="73" y="65"/>
                  </a:cubicBezTo>
                  <a:cubicBezTo>
                    <a:pt x="57" y="65"/>
                    <a:pt x="57" y="65"/>
                    <a:pt x="57" y="65"/>
                  </a:cubicBezTo>
                  <a:cubicBezTo>
                    <a:pt x="65" y="51"/>
                    <a:pt x="65" y="51"/>
                    <a:pt x="65" y="51"/>
                  </a:cubicBezTo>
                  <a:cubicBezTo>
                    <a:pt x="104" y="51"/>
                    <a:pt x="104" y="51"/>
                    <a:pt x="104" y="51"/>
                  </a:cubicBezTo>
                  <a:cubicBezTo>
                    <a:pt x="96" y="65"/>
                    <a:pt x="96" y="65"/>
                    <a:pt x="96" y="65"/>
                  </a:cubicBezTo>
                  <a:cubicBezTo>
                    <a:pt x="82" y="65"/>
                    <a:pt x="82" y="65"/>
                    <a:pt x="82" y="65"/>
                  </a:cubicBezTo>
                  <a:cubicBezTo>
                    <a:pt x="57" y="108"/>
                    <a:pt x="57" y="108"/>
                    <a:pt x="57" y="108"/>
                  </a:cubicBezTo>
                  <a:cubicBezTo>
                    <a:pt x="84" y="108"/>
                    <a:pt x="107" y="85"/>
                    <a:pt x="107" y="58"/>
                  </a:cubicBezTo>
                  <a:cubicBezTo>
                    <a:pt x="107" y="30"/>
                    <a:pt x="84" y="8"/>
                    <a:pt x="57" y="8"/>
                  </a:cubicBezTo>
                  <a:cubicBezTo>
                    <a:pt x="55" y="8"/>
                    <a:pt x="53" y="8"/>
                    <a:pt x="51" y="8"/>
                  </a:cubicBezTo>
                  <a:cubicBezTo>
                    <a:pt x="26" y="51"/>
                    <a:pt x="26" y="51"/>
                    <a:pt x="26" y="51"/>
                  </a:cubicBezTo>
                  <a:cubicBezTo>
                    <a:pt x="57" y="51"/>
                    <a:pt x="57" y="51"/>
                    <a:pt x="57" y="51"/>
                  </a:cubicBezTo>
                  <a:cubicBezTo>
                    <a:pt x="49" y="65"/>
                    <a:pt x="49" y="65"/>
                    <a:pt x="49" y="65"/>
                  </a:cubicBezTo>
                  <a:cubicBezTo>
                    <a:pt x="10" y="65"/>
                    <a:pt x="10" y="65"/>
                    <a:pt x="10" y="65"/>
                  </a:cubicBezTo>
                  <a:cubicBezTo>
                    <a:pt x="41" y="10"/>
                    <a:pt x="41" y="10"/>
                    <a:pt x="41" y="10"/>
                  </a:cubicBezTo>
                  <a:cubicBezTo>
                    <a:pt x="21" y="17"/>
                    <a:pt x="7" y="36"/>
                    <a:pt x="7" y="58"/>
                  </a:cubicBezTo>
                  <a:cubicBezTo>
                    <a:pt x="7" y="83"/>
                    <a:pt x="25" y="103"/>
                    <a:pt x="49" y="10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2400" dirty="0"/>
            </a:p>
          </p:txBody>
        </p:sp>
        <p:sp>
          <p:nvSpPr>
            <p:cNvPr id="20" name="Freeform 7"/>
            <p:cNvSpPr>
              <a:spLocks noEditPoints="1"/>
            </p:cNvSpPr>
            <p:nvPr userDrawn="1"/>
          </p:nvSpPr>
          <p:spPr bwMode="auto">
            <a:xfrm>
              <a:off x="457" y="2426"/>
              <a:ext cx="1467" cy="125"/>
            </a:xfrm>
            <a:custGeom>
              <a:avLst/>
              <a:gdLst>
                <a:gd name="T0" fmla="*/ 55 w 621"/>
                <a:gd name="T1" fmla="*/ 34 h 53"/>
                <a:gd name="T2" fmla="*/ 53 w 621"/>
                <a:gd name="T3" fmla="*/ 18 h 53"/>
                <a:gd name="T4" fmla="*/ 35 w 621"/>
                <a:gd name="T5" fmla="*/ 7 h 53"/>
                <a:gd name="T6" fmla="*/ 29 w 621"/>
                <a:gd name="T7" fmla="*/ 38 h 53"/>
                <a:gd name="T8" fmla="*/ 45 w 621"/>
                <a:gd name="T9" fmla="*/ 35 h 53"/>
                <a:gd name="T10" fmla="*/ 40 w 621"/>
                <a:gd name="T11" fmla="*/ 24 h 53"/>
                <a:gd name="T12" fmla="*/ 42 w 621"/>
                <a:gd name="T13" fmla="*/ 9 h 53"/>
                <a:gd name="T14" fmla="*/ 81 w 621"/>
                <a:gd name="T15" fmla="*/ 9 h 53"/>
                <a:gd name="T16" fmla="*/ 139 w 621"/>
                <a:gd name="T17" fmla="*/ 9 h 53"/>
                <a:gd name="T18" fmla="*/ 144 w 621"/>
                <a:gd name="T19" fmla="*/ 13 h 53"/>
                <a:gd name="T20" fmla="*/ 155 w 621"/>
                <a:gd name="T21" fmla="*/ 40 h 53"/>
                <a:gd name="T22" fmla="*/ 145 w 621"/>
                <a:gd name="T23" fmla="*/ 18 h 53"/>
                <a:gd name="T24" fmla="*/ 174 w 621"/>
                <a:gd name="T25" fmla="*/ 13 h 53"/>
                <a:gd name="T26" fmla="*/ 182 w 621"/>
                <a:gd name="T27" fmla="*/ 35 h 53"/>
                <a:gd name="T28" fmla="*/ 181 w 621"/>
                <a:gd name="T29" fmla="*/ 18 h 53"/>
                <a:gd name="T30" fmla="*/ 205 w 621"/>
                <a:gd name="T31" fmla="*/ 18 h 53"/>
                <a:gd name="T32" fmla="*/ 217 w 621"/>
                <a:gd name="T33" fmla="*/ 21 h 53"/>
                <a:gd name="T34" fmla="*/ 187 w 621"/>
                <a:gd name="T35" fmla="*/ 41 h 53"/>
                <a:gd name="T36" fmla="*/ 243 w 621"/>
                <a:gd name="T37" fmla="*/ 22 h 53"/>
                <a:gd name="T38" fmla="*/ 241 w 621"/>
                <a:gd name="T39" fmla="*/ 12 h 53"/>
                <a:gd name="T40" fmla="*/ 269 w 621"/>
                <a:gd name="T41" fmla="*/ 36 h 53"/>
                <a:gd name="T42" fmla="*/ 276 w 621"/>
                <a:gd name="T43" fmla="*/ 20 h 53"/>
                <a:gd name="T44" fmla="*/ 260 w 621"/>
                <a:gd name="T45" fmla="*/ 17 h 53"/>
                <a:gd name="T46" fmla="*/ 284 w 621"/>
                <a:gd name="T47" fmla="*/ 19 h 53"/>
                <a:gd name="T48" fmla="*/ 314 w 621"/>
                <a:gd name="T49" fmla="*/ 35 h 53"/>
                <a:gd name="T50" fmla="*/ 326 w 621"/>
                <a:gd name="T51" fmla="*/ 22 h 53"/>
                <a:gd name="T52" fmla="*/ 305 w 621"/>
                <a:gd name="T53" fmla="*/ 22 h 53"/>
                <a:gd name="T54" fmla="*/ 330 w 621"/>
                <a:gd name="T55" fmla="*/ 15 h 53"/>
                <a:gd name="T56" fmla="*/ 367 w 621"/>
                <a:gd name="T57" fmla="*/ 17 h 53"/>
                <a:gd name="T58" fmla="*/ 340 w 621"/>
                <a:gd name="T59" fmla="*/ 19 h 53"/>
                <a:gd name="T60" fmla="*/ 357 w 621"/>
                <a:gd name="T61" fmla="*/ 36 h 53"/>
                <a:gd name="T62" fmla="*/ 358 w 621"/>
                <a:gd name="T63" fmla="*/ 24 h 53"/>
                <a:gd name="T64" fmla="*/ 346 w 621"/>
                <a:gd name="T65" fmla="*/ 23 h 53"/>
                <a:gd name="T66" fmla="*/ 373 w 621"/>
                <a:gd name="T67" fmla="*/ 47 h 53"/>
                <a:gd name="T68" fmla="*/ 383 w 621"/>
                <a:gd name="T69" fmla="*/ 45 h 53"/>
                <a:gd name="T70" fmla="*/ 430 w 621"/>
                <a:gd name="T71" fmla="*/ 2 h 53"/>
                <a:gd name="T72" fmla="*/ 433 w 621"/>
                <a:gd name="T73" fmla="*/ 27 h 53"/>
                <a:gd name="T74" fmla="*/ 420 w 621"/>
                <a:gd name="T75" fmla="*/ 41 h 53"/>
                <a:gd name="T76" fmla="*/ 433 w 621"/>
                <a:gd name="T77" fmla="*/ 18 h 53"/>
                <a:gd name="T78" fmla="*/ 443 w 621"/>
                <a:gd name="T79" fmla="*/ 10 h 53"/>
                <a:gd name="T80" fmla="*/ 449 w 621"/>
                <a:gd name="T81" fmla="*/ 19 h 53"/>
                <a:gd name="T82" fmla="*/ 466 w 621"/>
                <a:gd name="T83" fmla="*/ 36 h 53"/>
                <a:gd name="T84" fmla="*/ 466 w 621"/>
                <a:gd name="T85" fmla="*/ 19 h 53"/>
                <a:gd name="T86" fmla="*/ 492 w 621"/>
                <a:gd name="T87" fmla="*/ 20 h 53"/>
                <a:gd name="T88" fmla="*/ 488 w 621"/>
                <a:gd name="T89" fmla="*/ 18 h 53"/>
                <a:gd name="T90" fmla="*/ 511 w 621"/>
                <a:gd name="T91" fmla="*/ 33 h 53"/>
                <a:gd name="T92" fmla="*/ 535 w 621"/>
                <a:gd name="T93" fmla="*/ 8 h 53"/>
                <a:gd name="T94" fmla="*/ 546 w 621"/>
                <a:gd name="T95" fmla="*/ 23 h 53"/>
                <a:gd name="T96" fmla="*/ 558 w 621"/>
                <a:gd name="T97" fmla="*/ 36 h 53"/>
                <a:gd name="T98" fmla="*/ 567 w 621"/>
                <a:gd name="T99" fmla="*/ 19 h 53"/>
                <a:gd name="T100" fmla="*/ 571 w 621"/>
                <a:gd name="T101" fmla="*/ 19 h 53"/>
                <a:gd name="T102" fmla="*/ 588 w 621"/>
                <a:gd name="T103" fmla="*/ 36 h 53"/>
                <a:gd name="T104" fmla="*/ 588 w 621"/>
                <a:gd name="T105" fmla="*/ 19 h 53"/>
                <a:gd name="T106" fmla="*/ 604 w 621"/>
                <a:gd name="T107" fmla="*/ 15 h 53"/>
                <a:gd name="T108" fmla="*/ 609 w 621"/>
                <a:gd name="T109" fmla="*/ 36 h 53"/>
                <a:gd name="T110" fmla="*/ 613 w 621"/>
                <a:gd name="T111" fmla="*/ 40 h 53"/>
                <a:gd name="T112" fmla="*/ 609 w 621"/>
                <a:gd name="T113" fmla="*/ 1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21" h="53">
                  <a:moveTo>
                    <a:pt x="0" y="41"/>
                  </a:moveTo>
                  <a:cubicBezTo>
                    <a:pt x="22" y="41"/>
                    <a:pt x="22" y="41"/>
                    <a:pt x="22" y="41"/>
                  </a:cubicBezTo>
                  <a:cubicBezTo>
                    <a:pt x="24" y="35"/>
                    <a:pt x="24" y="35"/>
                    <a:pt x="24" y="35"/>
                  </a:cubicBezTo>
                  <a:cubicBezTo>
                    <a:pt x="9" y="35"/>
                    <a:pt x="9" y="35"/>
                    <a:pt x="9" y="35"/>
                  </a:cubicBezTo>
                  <a:cubicBezTo>
                    <a:pt x="16" y="3"/>
                    <a:pt x="16" y="3"/>
                    <a:pt x="16" y="3"/>
                  </a:cubicBezTo>
                  <a:cubicBezTo>
                    <a:pt x="8" y="3"/>
                    <a:pt x="8" y="3"/>
                    <a:pt x="8" y="3"/>
                  </a:cubicBezTo>
                  <a:lnTo>
                    <a:pt x="0" y="41"/>
                  </a:lnTo>
                  <a:close/>
                  <a:moveTo>
                    <a:pt x="51" y="41"/>
                  </a:moveTo>
                  <a:cubicBezTo>
                    <a:pt x="59" y="41"/>
                    <a:pt x="59" y="41"/>
                    <a:pt x="59" y="41"/>
                  </a:cubicBezTo>
                  <a:cubicBezTo>
                    <a:pt x="55" y="34"/>
                    <a:pt x="55" y="34"/>
                    <a:pt x="55" y="34"/>
                  </a:cubicBezTo>
                  <a:cubicBezTo>
                    <a:pt x="56" y="33"/>
                    <a:pt x="57" y="32"/>
                    <a:pt x="58" y="30"/>
                  </a:cubicBezTo>
                  <a:cubicBezTo>
                    <a:pt x="59" y="29"/>
                    <a:pt x="60" y="27"/>
                    <a:pt x="60" y="25"/>
                  </a:cubicBezTo>
                  <a:cubicBezTo>
                    <a:pt x="61" y="24"/>
                    <a:pt x="61" y="22"/>
                    <a:pt x="61" y="20"/>
                  </a:cubicBezTo>
                  <a:cubicBezTo>
                    <a:pt x="55" y="20"/>
                    <a:pt x="55" y="20"/>
                    <a:pt x="55" y="20"/>
                  </a:cubicBezTo>
                  <a:cubicBezTo>
                    <a:pt x="55" y="21"/>
                    <a:pt x="55" y="22"/>
                    <a:pt x="54" y="23"/>
                  </a:cubicBezTo>
                  <a:cubicBezTo>
                    <a:pt x="54" y="24"/>
                    <a:pt x="54" y="25"/>
                    <a:pt x="53" y="26"/>
                  </a:cubicBezTo>
                  <a:cubicBezTo>
                    <a:pt x="53" y="27"/>
                    <a:pt x="52" y="28"/>
                    <a:pt x="51" y="29"/>
                  </a:cubicBezTo>
                  <a:cubicBezTo>
                    <a:pt x="46" y="21"/>
                    <a:pt x="46" y="21"/>
                    <a:pt x="46" y="21"/>
                  </a:cubicBezTo>
                  <a:cubicBezTo>
                    <a:pt x="47" y="21"/>
                    <a:pt x="48" y="20"/>
                    <a:pt x="50" y="20"/>
                  </a:cubicBezTo>
                  <a:cubicBezTo>
                    <a:pt x="51" y="19"/>
                    <a:pt x="52" y="18"/>
                    <a:pt x="53" y="18"/>
                  </a:cubicBezTo>
                  <a:cubicBezTo>
                    <a:pt x="54" y="17"/>
                    <a:pt x="55" y="16"/>
                    <a:pt x="55" y="15"/>
                  </a:cubicBezTo>
                  <a:cubicBezTo>
                    <a:pt x="56" y="14"/>
                    <a:pt x="56" y="12"/>
                    <a:pt x="56" y="11"/>
                  </a:cubicBezTo>
                  <a:cubicBezTo>
                    <a:pt x="56" y="10"/>
                    <a:pt x="56" y="8"/>
                    <a:pt x="55" y="7"/>
                  </a:cubicBezTo>
                  <a:cubicBezTo>
                    <a:pt x="55" y="7"/>
                    <a:pt x="54" y="6"/>
                    <a:pt x="53" y="5"/>
                  </a:cubicBezTo>
                  <a:cubicBezTo>
                    <a:pt x="53" y="4"/>
                    <a:pt x="52" y="4"/>
                    <a:pt x="51" y="3"/>
                  </a:cubicBezTo>
                  <a:cubicBezTo>
                    <a:pt x="50" y="3"/>
                    <a:pt x="49" y="3"/>
                    <a:pt x="48" y="2"/>
                  </a:cubicBezTo>
                  <a:cubicBezTo>
                    <a:pt x="47" y="2"/>
                    <a:pt x="46" y="2"/>
                    <a:pt x="45" y="2"/>
                  </a:cubicBezTo>
                  <a:cubicBezTo>
                    <a:pt x="44" y="2"/>
                    <a:pt x="42" y="2"/>
                    <a:pt x="41" y="3"/>
                  </a:cubicBezTo>
                  <a:cubicBezTo>
                    <a:pt x="40" y="3"/>
                    <a:pt x="39" y="4"/>
                    <a:pt x="37" y="4"/>
                  </a:cubicBezTo>
                  <a:cubicBezTo>
                    <a:pt x="36" y="5"/>
                    <a:pt x="35" y="6"/>
                    <a:pt x="35" y="7"/>
                  </a:cubicBezTo>
                  <a:cubicBezTo>
                    <a:pt x="34" y="9"/>
                    <a:pt x="34" y="10"/>
                    <a:pt x="34" y="12"/>
                  </a:cubicBezTo>
                  <a:cubicBezTo>
                    <a:pt x="34" y="13"/>
                    <a:pt x="34" y="14"/>
                    <a:pt x="34" y="15"/>
                  </a:cubicBezTo>
                  <a:cubicBezTo>
                    <a:pt x="34" y="15"/>
                    <a:pt x="35" y="16"/>
                    <a:pt x="35" y="17"/>
                  </a:cubicBezTo>
                  <a:cubicBezTo>
                    <a:pt x="36" y="17"/>
                    <a:pt x="36" y="18"/>
                    <a:pt x="37" y="19"/>
                  </a:cubicBezTo>
                  <a:cubicBezTo>
                    <a:pt x="35" y="19"/>
                    <a:pt x="34" y="20"/>
                    <a:pt x="33" y="21"/>
                  </a:cubicBezTo>
                  <a:cubicBezTo>
                    <a:pt x="31" y="21"/>
                    <a:pt x="30" y="22"/>
                    <a:pt x="29" y="23"/>
                  </a:cubicBezTo>
                  <a:cubicBezTo>
                    <a:pt x="28" y="24"/>
                    <a:pt x="27" y="25"/>
                    <a:pt x="27" y="26"/>
                  </a:cubicBezTo>
                  <a:cubicBezTo>
                    <a:pt x="26" y="28"/>
                    <a:pt x="26" y="29"/>
                    <a:pt x="26" y="31"/>
                  </a:cubicBezTo>
                  <a:cubicBezTo>
                    <a:pt x="26" y="32"/>
                    <a:pt x="26" y="34"/>
                    <a:pt x="27" y="35"/>
                  </a:cubicBezTo>
                  <a:cubicBezTo>
                    <a:pt x="27" y="36"/>
                    <a:pt x="28" y="37"/>
                    <a:pt x="29" y="38"/>
                  </a:cubicBezTo>
                  <a:cubicBezTo>
                    <a:pt x="30" y="39"/>
                    <a:pt x="31" y="39"/>
                    <a:pt x="32" y="40"/>
                  </a:cubicBezTo>
                  <a:cubicBezTo>
                    <a:pt x="33" y="41"/>
                    <a:pt x="34" y="41"/>
                    <a:pt x="35" y="41"/>
                  </a:cubicBezTo>
                  <a:cubicBezTo>
                    <a:pt x="37" y="41"/>
                    <a:pt x="38" y="42"/>
                    <a:pt x="39" y="42"/>
                  </a:cubicBezTo>
                  <a:cubicBezTo>
                    <a:pt x="40" y="42"/>
                    <a:pt x="41" y="42"/>
                    <a:pt x="42" y="41"/>
                  </a:cubicBezTo>
                  <a:cubicBezTo>
                    <a:pt x="43" y="41"/>
                    <a:pt x="44" y="41"/>
                    <a:pt x="45" y="41"/>
                  </a:cubicBezTo>
                  <a:cubicBezTo>
                    <a:pt x="46" y="41"/>
                    <a:pt x="47" y="40"/>
                    <a:pt x="48" y="40"/>
                  </a:cubicBezTo>
                  <a:cubicBezTo>
                    <a:pt x="48" y="40"/>
                    <a:pt x="49" y="39"/>
                    <a:pt x="50" y="39"/>
                  </a:cubicBezTo>
                  <a:lnTo>
                    <a:pt x="51" y="41"/>
                  </a:lnTo>
                  <a:close/>
                  <a:moveTo>
                    <a:pt x="47" y="34"/>
                  </a:moveTo>
                  <a:cubicBezTo>
                    <a:pt x="46" y="34"/>
                    <a:pt x="45" y="35"/>
                    <a:pt x="45" y="35"/>
                  </a:cubicBezTo>
                  <a:cubicBezTo>
                    <a:pt x="44" y="35"/>
                    <a:pt x="43" y="36"/>
                    <a:pt x="42" y="36"/>
                  </a:cubicBezTo>
                  <a:cubicBezTo>
                    <a:pt x="42" y="36"/>
                    <a:pt x="41" y="36"/>
                    <a:pt x="40" y="36"/>
                  </a:cubicBezTo>
                  <a:cubicBezTo>
                    <a:pt x="39" y="36"/>
                    <a:pt x="38" y="36"/>
                    <a:pt x="38" y="36"/>
                  </a:cubicBezTo>
                  <a:cubicBezTo>
                    <a:pt x="37" y="35"/>
                    <a:pt x="36" y="35"/>
                    <a:pt x="35" y="35"/>
                  </a:cubicBezTo>
                  <a:cubicBezTo>
                    <a:pt x="35" y="34"/>
                    <a:pt x="34" y="34"/>
                    <a:pt x="34" y="33"/>
                  </a:cubicBezTo>
                  <a:cubicBezTo>
                    <a:pt x="34" y="32"/>
                    <a:pt x="33" y="31"/>
                    <a:pt x="33" y="30"/>
                  </a:cubicBezTo>
                  <a:cubicBezTo>
                    <a:pt x="33" y="29"/>
                    <a:pt x="34" y="29"/>
                    <a:pt x="34" y="28"/>
                  </a:cubicBezTo>
                  <a:cubicBezTo>
                    <a:pt x="34" y="27"/>
                    <a:pt x="35" y="27"/>
                    <a:pt x="35" y="26"/>
                  </a:cubicBezTo>
                  <a:cubicBezTo>
                    <a:pt x="36" y="25"/>
                    <a:pt x="37" y="25"/>
                    <a:pt x="37" y="25"/>
                  </a:cubicBezTo>
                  <a:cubicBezTo>
                    <a:pt x="38" y="24"/>
                    <a:pt x="39" y="24"/>
                    <a:pt x="40" y="24"/>
                  </a:cubicBezTo>
                  <a:lnTo>
                    <a:pt x="47" y="34"/>
                  </a:lnTo>
                  <a:close/>
                  <a:moveTo>
                    <a:pt x="50" y="11"/>
                  </a:moveTo>
                  <a:cubicBezTo>
                    <a:pt x="50" y="12"/>
                    <a:pt x="49" y="12"/>
                    <a:pt x="49" y="13"/>
                  </a:cubicBezTo>
                  <a:cubicBezTo>
                    <a:pt x="48" y="14"/>
                    <a:pt x="48" y="14"/>
                    <a:pt x="47" y="15"/>
                  </a:cubicBezTo>
                  <a:cubicBezTo>
                    <a:pt x="47" y="15"/>
                    <a:pt x="46" y="16"/>
                    <a:pt x="45" y="16"/>
                  </a:cubicBezTo>
                  <a:cubicBezTo>
                    <a:pt x="44" y="16"/>
                    <a:pt x="44" y="17"/>
                    <a:pt x="43" y="17"/>
                  </a:cubicBezTo>
                  <a:cubicBezTo>
                    <a:pt x="43" y="16"/>
                    <a:pt x="42" y="16"/>
                    <a:pt x="42" y="15"/>
                  </a:cubicBezTo>
                  <a:cubicBezTo>
                    <a:pt x="42" y="15"/>
                    <a:pt x="41" y="14"/>
                    <a:pt x="41" y="14"/>
                  </a:cubicBezTo>
                  <a:cubicBezTo>
                    <a:pt x="41" y="13"/>
                    <a:pt x="41" y="12"/>
                    <a:pt x="41" y="12"/>
                  </a:cubicBezTo>
                  <a:cubicBezTo>
                    <a:pt x="41" y="11"/>
                    <a:pt x="41" y="10"/>
                    <a:pt x="42" y="9"/>
                  </a:cubicBezTo>
                  <a:cubicBezTo>
                    <a:pt x="42" y="9"/>
                    <a:pt x="43" y="8"/>
                    <a:pt x="43" y="8"/>
                  </a:cubicBezTo>
                  <a:cubicBezTo>
                    <a:pt x="44" y="8"/>
                    <a:pt x="45" y="7"/>
                    <a:pt x="46" y="7"/>
                  </a:cubicBezTo>
                  <a:cubicBezTo>
                    <a:pt x="46" y="7"/>
                    <a:pt x="47" y="7"/>
                    <a:pt x="48" y="8"/>
                  </a:cubicBezTo>
                  <a:cubicBezTo>
                    <a:pt x="48" y="8"/>
                    <a:pt x="49" y="8"/>
                    <a:pt x="49" y="9"/>
                  </a:cubicBezTo>
                  <a:cubicBezTo>
                    <a:pt x="49" y="9"/>
                    <a:pt x="50" y="10"/>
                    <a:pt x="50" y="11"/>
                  </a:cubicBezTo>
                  <a:moveTo>
                    <a:pt x="62" y="9"/>
                  </a:moveTo>
                  <a:cubicBezTo>
                    <a:pt x="73" y="9"/>
                    <a:pt x="73" y="9"/>
                    <a:pt x="73" y="9"/>
                  </a:cubicBezTo>
                  <a:cubicBezTo>
                    <a:pt x="66" y="41"/>
                    <a:pt x="66" y="41"/>
                    <a:pt x="66" y="41"/>
                  </a:cubicBezTo>
                  <a:cubicBezTo>
                    <a:pt x="74" y="41"/>
                    <a:pt x="74" y="41"/>
                    <a:pt x="74" y="41"/>
                  </a:cubicBezTo>
                  <a:cubicBezTo>
                    <a:pt x="81" y="9"/>
                    <a:pt x="81" y="9"/>
                    <a:pt x="81" y="9"/>
                  </a:cubicBezTo>
                  <a:cubicBezTo>
                    <a:pt x="92" y="9"/>
                    <a:pt x="92" y="9"/>
                    <a:pt x="92" y="9"/>
                  </a:cubicBezTo>
                  <a:cubicBezTo>
                    <a:pt x="93" y="3"/>
                    <a:pt x="93" y="3"/>
                    <a:pt x="93" y="3"/>
                  </a:cubicBezTo>
                  <a:cubicBezTo>
                    <a:pt x="64" y="3"/>
                    <a:pt x="64" y="3"/>
                    <a:pt x="64" y="3"/>
                  </a:cubicBezTo>
                  <a:lnTo>
                    <a:pt x="62" y="9"/>
                  </a:lnTo>
                  <a:close/>
                  <a:moveTo>
                    <a:pt x="109" y="9"/>
                  </a:moveTo>
                  <a:cubicBezTo>
                    <a:pt x="120" y="9"/>
                    <a:pt x="120" y="9"/>
                    <a:pt x="120" y="9"/>
                  </a:cubicBezTo>
                  <a:cubicBezTo>
                    <a:pt x="113" y="41"/>
                    <a:pt x="113" y="41"/>
                    <a:pt x="113" y="41"/>
                  </a:cubicBezTo>
                  <a:cubicBezTo>
                    <a:pt x="121" y="41"/>
                    <a:pt x="121" y="41"/>
                    <a:pt x="121" y="41"/>
                  </a:cubicBezTo>
                  <a:cubicBezTo>
                    <a:pt x="128" y="9"/>
                    <a:pt x="128" y="9"/>
                    <a:pt x="128" y="9"/>
                  </a:cubicBezTo>
                  <a:cubicBezTo>
                    <a:pt x="139" y="9"/>
                    <a:pt x="139" y="9"/>
                    <a:pt x="139" y="9"/>
                  </a:cubicBezTo>
                  <a:cubicBezTo>
                    <a:pt x="140" y="3"/>
                    <a:pt x="140" y="3"/>
                    <a:pt x="140" y="3"/>
                  </a:cubicBezTo>
                  <a:cubicBezTo>
                    <a:pt x="111" y="3"/>
                    <a:pt x="111" y="3"/>
                    <a:pt x="111" y="3"/>
                  </a:cubicBezTo>
                  <a:lnTo>
                    <a:pt x="109" y="9"/>
                  </a:lnTo>
                  <a:close/>
                  <a:moveTo>
                    <a:pt x="160" y="29"/>
                  </a:moveTo>
                  <a:cubicBezTo>
                    <a:pt x="160" y="28"/>
                    <a:pt x="160" y="27"/>
                    <a:pt x="160" y="26"/>
                  </a:cubicBezTo>
                  <a:cubicBezTo>
                    <a:pt x="160" y="25"/>
                    <a:pt x="160" y="24"/>
                    <a:pt x="160" y="23"/>
                  </a:cubicBezTo>
                  <a:cubicBezTo>
                    <a:pt x="160" y="20"/>
                    <a:pt x="160" y="18"/>
                    <a:pt x="159" y="17"/>
                  </a:cubicBezTo>
                  <a:cubicBezTo>
                    <a:pt x="158" y="15"/>
                    <a:pt x="157" y="14"/>
                    <a:pt x="155" y="13"/>
                  </a:cubicBezTo>
                  <a:cubicBezTo>
                    <a:pt x="153" y="12"/>
                    <a:pt x="151" y="12"/>
                    <a:pt x="149" y="12"/>
                  </a:cubicBezTo>
                  <a:cubicBezTo>
                    <a:pt x="147" y="12"/>
                    <a:pt x="145" y="12"/>
                    <a:pt x="144" y="13"/>
                  </a:cubicBezTo>
                  <a:cubicBezTo>
                    <a:pt x="142" y="14"/>
                    <a:pt x="141" y="14"/>
                    <a:pt x="139" y="16"/>
                  </a:cubicBezTo>
                  <a:cubicBezTo>
                    <a:pt x="138" y="17"/>
                    <a:pt x="137" y="18"/>
                    <a:pt x="136" y="19"/>
                  </a:cubicBezTo>
                  <a:cubicBezTo>
                    <a:pt x="135" y="21"/>
                    <a:pt x="134" y="22"/>
                    <a:pt x="134" y="24"/>
                  </a:cubicBezTo>
                  <a:cubicBezTo>
                    <a:pt x="133" y="26"/>
                    <a:pt x="133" y="27"/>
                    <a:pt x="133" y="29"/>
                  </a:cubicBezTo>
                  <a:cubicBezTo>
                    <a:pt x="133" y="31"/>
                    <a:pt x="133" y="33"/>
                    <a:pt x="134" y="35"/>
                  </a:cubicBezTo>
                  <a:cubicBezTo>
                    <a:pt x="134" y="36"/>
                    <a:pt x="135" y="38"/>
                    <a:pt x="137" y="39"/>
                  </a:cubicBezTo>
                  <a:cubicBezTo>
                    <a:pt x="138" y="40"/>
                    <a:pt x="139" y="40"/>
                    <a:pt x="141" y="41"/>
                  </a:cubicBezTo>
                  <a:cubicBezTo>
                    <a:pt x="143" y="41"/>
                    <a:pt x="144" y="42"/>
                    <a:pt x="146" y="42"/>
                  </a:cubicBezTo>
                  <a:cubicBezTo>
                    <a:pt x="148" y="42"/>
                    <a:pt x="149" y="41"/>
                    <a:pt x="151" y="41"/>
                  </a:cubicBezTo>
                  <a:cubicBezTo>
                    <a:pt x="153" y="41"/>
                    <a:pt x="154" y="40"/>
                    <a:pt x="155" y="40"/>
                  </a:cubicBezTo>
                  <a:cubicBezTo>
                    <a:pt x="156" y="34"/>
                    <a:pt x="156" y="34"/>
                    <a:pt x="156" y="34"/>
                  </a:cubicBezTo>
                  <a:cubicBezTo>
                    <a:pt x="155" y="35"/>
                    <a:pt x="154" y="35"/>
                    <a:pt x="152" y="36"/>
                  </a:cubicBezTo>
                  <a:cubicBezTo>
                    <a:pt x="151" y="36"/>
                    <a:pt x="149" y="36"/>
                    <a:pt x="148" y="36"/>
                  </a:cubicBezTo>
                  <a:cubicBezTo>
                    <a:pt x="146" y="36"/>
                    <a:pt x="145" y="36"/>
                    <a:pt x="143" y="36"/>
                  </a:cubicBezTo>
                  <a:cubicBezTo>
                    <a:pt x="142" y="35"/>
                    <a:pt x="141" y="34"/>
                    <a:pt x="141" y="33"/>
                  </a:cubicBezTo>
                  <a:cubicBezTo>
                    <a:pt x="140" y="32"/>
                    <a:pt x="140" y="31"/>
                    <a:pt x="140" y="29"/>
                  </a:cubicBezTo>
                  <a:lnTo>
                    <a:pt x="160" y="29"/>
                  </a:lnTo>
                  <a:close/>
                  <a:moveTo>
                    <a:pt x="141" y="24"/>
                  </a:moveTo>
                  <a:cubicBezTo>
                    <a:pt x="141" y="23"/>
                    <a:pt x="142" y="22"/>
                    <a:pt x="143" y="21"/>
                  </a:cubicBezTo>
                  <a:cubicBezTo>
                    <a:pt x="143" y="20"/>
                    <a:pt x="144" y="19"/>
                    <a:pt x="145" y="18"/>
                  </a:cubicBezTo>
                  <a:cubicBezTo>
                    <a:pt x="146" y="18"/>
                    <a:pt x="147" y="17"/>
                    <a:pt x="149" y="17"/>
                  </a:cubicBezTo>
                  <a:cubicBezTo>
                    <a:pt x="150" y="17"/>
                    <a:pt x="151" y="18"/>
                    <a:pt x="152" y="19"/>
                  </a:cubicBezTo>
                  <a:cubicBezTo>
                    <a:pt x="153" y="19"/>
                    <a:pt x="153" y="21"/>
                    <a:pt x="153" y="22"/>
                  </a:cubicBezTo>
                  <a:cubicBezTo>
                    <a:pt x="153" y="22"/>
                    <a:pt x="153" y="23"/>
                    <a:pt x="153" y="23"/>
                  </a:cubicBezTo>
                  <a:cubicBezTo>
                    <a:pt x="153" y="23"/>
                    <a:pt x="153" y="24"/>
                    <a:pt x="153" y="24"/>
                  </a:cubicBezTo>
                  <a:lnTo>
                    <a:pt x="141" y="24"/>
                  </a:lnTo>
                  <a:close/>
                  <a:moveTo>
                    <a:pt x="188" y="13"/>
                  </a:moveTo>
                  <a:cubicBezTo>
                    <a:pt x="187" y="13"/>
                    <a:pt x="186" y="13"/>
                    <a:pt x="184" y="12"/>
                  </a:cubicBezTo>
                  <a:cubicBezTo>
                    <a:pt x="183" y="12"/>
                    <a:pt x="182" y="12"/>
                    <a:pt x="180" y="12"/>
                  </a:cubicBezTo>
                  <a:cubicBezTo>
                    <a:pt x="178" y="12"/>
                    <a:pt x="176" y="12"/>
                    <a:pt x="174" y="13"/>
                  </a:cubicBezTo>
                  <a:cubicBezTo>
                    <a:pt x="172" y="14"/>
                    <a:pt x="170" y="15"/>
                    <a:pt x="168" y="17"/>
                  </a:cubicBezTo>
                  <a:cubicBezTo>
                    <a:pt x="167" y="19"/>
                    <a:pt x="166" y="20"/>
                    <a:pt x="165" y="23"/>
                  </a:cubicBezTo>
                  <a:cubicBezTo>
                    <a:pt x="164" y="25"/>
                    <a:pt x="164" y="27"/>
                    <a:pt x="164" y="29"/>
                  </a:cubicBezTo>
                  <a:cubicBezTo>
                    <a:pt x="164" y="32"/>
                    <a:pt x="164" y="34"/>
                    <a:pt x="165" y="36"/>
                  </a:cubicBezTo>
                  <a:cubicBezTo>
                    <a:pt x="166" y="38"/>
                    <a:pt x="168" y="39"/>
                    <a:pt x="169" y="40"/>
                  </a:cubicBezTo>
                  <a:cubicBezTo>
                    <a:pt x="171" y="41"/>
                    <a:pt x="173" y="42"/>
                    <a:pt x="176" y="42"/>
                  </a:cubicBezTo>
                  <a:cubicBezTo>
                    <a:pt x="177" y="42"/>
                    <a:pt x="178" y="41"/>
                    <a:pt x="179" y="41"/>
                  </a:cubicBezTo>
                  <a:cubicBezTo>
                    <a:pt x="181" y="41"/>
                    <a:pt x="182" y="41"/>
                    <a:pt x="183" y="40"/>
                  </a:cubicBezTo>
                  <a:cubicBezTo>
                    <a:pt x="184" y="34"/>
                    <a:pt x="184" y="34"/>
                    <a:pt x="184" y="34"/>
                  </a:cubicBezTo>
                  <a:cubicBezTo>
                    <a:pt x="183" y="35"/>
                    <a:pt x="182" y="35"/>
                    <a:pt x="182" y="35"/>
                  </a:cubicBezTo>
                  <a:cubicBezTo>
                    <a:pt x="181" y="35"/>
                    <a:pt x="180" y="36"/>
                    <a:pt x="180" y="36"/>
                  </a:cubicBezTo>
                  <a:cubicBezTo>
                    <a:pt x="179" y="36"/>
                    <a:pt x="178" y="36"/>
                    <a:pt x="178" y="36"/>
                  </a:cubicBezTo>
                  <a:cubicBezTo>
                    <a:pt x="176" y="36"/>
                    <a:pt x="175" y="36"/>
                    <a:pt x="175" y="35"/>
                  </a:cubicBezTo>
                  <a:cubicBezTo>
                    <a:pt x="174" y="35"/>
                    <a:pt x="173" y="34"/>
                    <a:pt x="173" y="34"/>
                  </a:cubicBezTo>
                  <a:cubicBezTo>
                    <a:pt x="172" y="33"/>
                    <a:pt x="172" y="32"/>
                    <a:pt x="172" y="31"/>
                  </a:cubicBezTo>
                  <a:cubicBezTo>
                    <a:pt x="172" y="30"/>
                    <a:pt x="171" y="29"/>
                    <a:pt x="171" y="29"/>
                  </a:cubicBezTo>
                  <a:cubicBezTo>
                    <a:pt x="171" y="27"/>
                    <a:pt x="172" y="26"/>
                    <a:pt x="172" y="25"/>
                  </a:cubicBezTo>
                  <a:cubicBezTo>
                    <a:pt x="172" y="23"/>
                    <a:pt x="173" y="22"/>
                    <a:pt x="174" y="21"/>
                  </a:cubicBezTo>
                  <a:cubicBezTo>
                    <a:pt x="175" y="20"/>
                    <a:pt x="176" y="19"/>
                    <a:pt x="177" y="19"/>
                  </a:cubicBezTo>
                  <a:cubicBezTo>
                    <a:pt x="178" y="18"/>
                    <a:pt x="179" y="18"/>
                    <a:pt x="181" y="18"/>
                  </a:cubicBezTo>
                  <a:cubicBezTo>
                    <a:pt x="182" y="18"/>
                    <a:pt x="183" y="18"/>
                    <a:pt x="184" y="18"/>
                  </a:cubicBezTo>
                  <a:cubicBezTo>
                    <a:pt x="184" y="18"/>
                    <a:pt x="185" y="19"/>
                    <a:pt x="186" y="19"/>
                  </a:cubicBezTo>
                  <a:lnTo>
                    <a:pt x="188" y="13"/>
                  </a:lnTo>
                  <a:close/>
                  <a:moveTo>
                    <a:pt x="187" y="41"/>
                  </a:moveTo>
                  <a:cubicBezTo>
                    <a:pt x="194" y="41"/>
                    <a:pt x="194" y="41"/>
                    <a:pt x="194" y="41"/>
                  </a:cubicBezTo>
                  <a:cubicBezTo>
                    <a:pt x="197" y="27"/>
                    <a:pt x="197" y="27"/>
                    <a:pt x="197" y="27"/>
                  </a:cubicBezTo>
                  <a:cubicBezTo>
                    <a:pt x="198" y="26"/>
                    <a:pt x="198" y="25"/>
                    <a:pt x="198" y="24"/>
                  </a:cubicBezTo>
                  <a:cubicBezTo>
                    <a:pt x="199" y="22"/>
                    <a:pt x="199" y="22"/>
                    <a:pt x="200" y="21"/>
                  </a:cubicBezTo>
                  <a:cubicBezTo>
                    <a:pt x="200" y="20"/>
                    <a:pt x="201" y="19"/>
                    <a:pt x="202" y="19"/>
                  </a:cubicBezTo>
                  <a:cubicBezTo>
                    <a:pt x="203" y="18"/>
                    <a:pt x="204" y="18"/>
                    <a:pt x="205" y="18"/>
                  </a:cubicBezTo>
                  <a:cubicBezTo>
                    <a:pt x="206" y="18"/>
                    <a:pt x="207" y="18"/>
                    <a:pt x="207" y="18"/>
                  </a:cubicBezTo>
                  <a:cubicBezTo>
                    <a:pt x="208" y="19"/>
                    <a:pt x="208" y="19"/>
                    <a:pt x="209" y="20"/>
                  </a:cubicBezTo>
                  <a:cubicBezTo>
                    <a:pt x="209" y="20"/>
                    <a:pt x="209" y="21"/>
                    <a:pt x="209" y="22"/>
                  </a:cubicBezTo>
                  <a:cubicBezTo>
                    <a:pt x="209" y="23"/>
                    <a:pt x="209" y="24"/>
                    <a:pt x="209" y="25"/>
                  </a:cubicBezTo>
                  <a:cubicBezTo>
                    <a:pt x="209" y="26"/>
                    <a:pt x="209" y="27"/>
                    <a:pt x="208" y="28"/>
                  </a:cubicBezTo>
                  <a:cubicBezTo>
                    <a:pt x="206" y="41"/>
                    <a:pt x="206" y="41"/>
                    <a:pt x="206" y="41"/>
                  </a:cubicBezTo>
                  <a:cubicBezTo>
                    <a:pt x="213" y="41"/>
                    <a:pt x="213" y="41"/>
                    <a:pt x="213" y="41"/>
                  </a:cubicBezTo>
                  <a:cubicBezTo>
                    <a:pt x="216" y="27"/>
                    <a:pt x="216" y="27"/>
                    <a:pt x="216" y="27"/>
                  </a:cubicBezTo>
                  <a:cubicBezTo>
                    <a:pt x="216" y="26"/>
                    <a:pt x="216" y="25"/>
                    <a:pt x="217" y="24"/>
                  </a:cubicBezTo>
                  <a:cubicBezTo>
                    <a:pt x="217" y="23"/>
                    <a:pt x="217" y="22"/>
                    <a:pt x="217" y="21"/>
                  </a:cubicBezTo>
                  <a:cubicBezTo>
                    <a:pt x="217" y="19"/>
                    <a:pt x="217" y="18"/>
                    <a:pt x="216" y="16"/>
                  </a:cubicBezTo>
                  <a:cubicBezTo>
                    <a:pt x="215" y="15"/>
                    <a:pt x="214" y="14"/>
                    <a:pt x="213" y="13"/>
                  </a:cubicBezTo>
                  <a:cubicBezTo>
                    <a:pt x="211" y="12"/>
                    <a:pt x="210" y="12"/>
                    <a:pt x="208" y="12"/>
                  </a:cubicBezTo>
                  <a:cubicBezTo>
                    <a:pt x="207" y="12"/>
                    <a:pt x="206" y="12"/>
                    <a:pt x="205" y="13"/>
                  </a:cubicBezTo>
                  <a:cubicBezTo>
                    <a:pt x="204" y="13"/>
                    <a:pt x="203" y="13"/>
                    <a:pt x="202" y="14"/>
                  </a:cubicBezTo>
                  <a:cubicBezTo>
                    <a:pt x="201" y="14"/>
                    <a:pt x="200" y="15"/>
                    <a:pt x="200" y="15"/>
                  </a:cubicBezTo>
                  <a:cubicBezTo>
                    <a:pt x="200" y="15"/>
                    <a:pt x="200" y="15"/>
                    <a:pt x="200" y="15"/>
                  </a:cubicBezTo>
                  <a:cubicBezTo>
                    <a:pt x="203" y="0"/>
                    <a:pt x="203" y="0"/>
                    <a:pt x="203" y="0"/>
                  </a:cubicBezTo>
                  <a:cubicBezTo>
                    <a:pt x="196" y="0"/>
                    <a:pt x="196" y="0"/>
                    <a:pt x="196" y="0"/>
                  </a:cubicBezTo>
                  <a:lnTo>
                    <a:pt x="187" y="41"/>
                  </a:lnTo>
                  <a:close/>
                  <a:moveTo>
                    <a:pt x="221" y="41"/>
                  </a:moveTo>
                  <a:cubicBezTo>
                    <a:pt x="228" y="41"/>
                    <a:pt x="228" y="41"/>
                    <a:pt x="228" y="41"/>
                  </a:cubicBezTo>
                  <a:cubicBezTo>
                    <a:pt x="231" y="27"/>
                    <a:pt x="231" y="27"/>
                    <a:pt x="231" y="27"/>
                  </a:cubicBezTo>
                  <a:cubicBezTo>
                    <a:pt x="231" y="26"/>
                    <a:pt x="231" y="25"/>
                    <a:pt x="232" y="24"/>
                  </a:cubicBezTo>
                  <a:cubicBezTo>
                    <a:pt x="232" y="22"/>
                    <a:pt x="233" y="22"/>
                    <a:pt x="233" y="21"/>
                  </a:cubicBezTo>
                  <a:cubicBezTo>
                    <a:pt x="234" y="20"/>
                    <a:pt x="235" y="19"/>
                    <a:pt x="236" y="19"/>
                  </a:cubicBezTo>
                  <a:cubicBezTo>
                    <a:pt x="236" y="18"/>
                    <a:pt x="237" y="18"/>
                    <a:pt x="239" y="18"/>
                  </a:cubicBezTo>
                  <a:cubicBezTo>
                    <a:pt x="240" y="18"/>
                    <a:pt x="240" y="18"/>
                    <a:pt x="241" y="18"/>
                  </a:cubicBezTo>
                  <a:cubicBezTo>
                    <a:pt x="241" y="19"/>
                    <a:pt x="242" y="19"/>
                    <a:pt x="242" y="20"/>
                  </a:cubicBezTo>
                  <a:cubicBezTo>
                    <a:pt x="243" y="20"/>
                    <a:pt x="243" y="21"/>
                    <a:pt x="243" y="22"/>
                  </a:cubicBezTo>
                  <a:cubicBezTo>
                    <a:pt x="243" y="23"/>
                    <a:pt x="243" y="24"/>
                    <a:pt x="242" y="25"/>
                  </a:cubicBezTo>
                  <a:cubicBezTo>
                    <a:pt x="242" y="26"/>
                    <a:pt x="242" y="27"/>
                    <a:pt x="242" y="28"/>
                  </a:cubicBezTo>
                  <a:cubicBezTo>
                    <a:pt x="239" y="41"/>
                    <a:pt x="239" y="41"/>
                    <a:pt x="239" y="41"/>
                  </a:cubicBezTo>
                  <a:cubicBezTo>
                    <a:pt x="247" y="41"/>
                    <a:pt x="247" y="41"/>
                    <a:pt x="247" y="41"/>
                  </a:cubicBezTo>
                  <a:cubicBezTo>
                    <a:pt x="249" y="27"/>
                    <a:pt x="249" y="27"/>
                    <a:pt x="249" y="27"/>
                  </a:cubicBezTo>
                  <a:cubicBezTo>
                    <a:pt x="250" y="26"/>
                    <a:pt x="250" y="25"/>
                    <a:pt x="250" y="24"/>
                  </a:cubicBezTo>
                  <a:cubicBezTo>
                    <a:pt x="250" y="23"/>
                    <a:pt x="250" y="22"/>
                    <a:pt x="250" y="21"/>
                  </a:cubicBezTo>
                  <a:cubicBezTo>
                    <a:pt x="250" y="19"/>
                    <a:pt x="250" y="18"/>
                    <a:pt x="249" y="16"/>
                  </a:cubicBezTo>
                  <a:cubicBezTo>
                    <a:pt x="249" y="15"/>
                    <a:pt x="247" y="14"/>
                    <a:pt x="246" y="13"/>
                  </a:cubicBezTo>
                  <a:cubicBezTo>
                    <a:pt x="245" y="12"/>
                    <a:pt x="243" y="12"/>
                    <a:pt x="241" y="12"/>
                  </a:cubicBezTo>
                  <a:cubicBezTo>
                    <a:pt x="240" y="12"/>
                    <a:pt x="239" y="12"/>
                    <a:pt x="238" y="13"/>
                  </a:cubicBezTo>
                  <a:cubicBezTo>
                    <a:pt x="237" y="13"/>
                    <a:pt x="236" y="13"/>
                    <a:pt x="235" y="14"/>
                  </a:cubicBezTo>
                  <a:cubicBezTo>
                    <a:pt x="235" y="14"/>
                    <a:pt x="234" y="15"/>
                    <a:pt x="233" y="15"/>
                  </a:cubicBezTo>
                  <a:cubicBezTo>
                    <a:pt x="233" y="15"/>
                    <a:pt x="233" y="15"/>
                    <a:pt x="233" y="15"/>
                  </a:cubicBezTo>
                  <a:cubicBezTo>
                    <a:pt x="234" y="13"/>
                    <a:pt x="234" y="13"/>
                    <a:pt x="234" y="13"/>
                  </a:cubicBezTo>
                  <a:cubicBezTo>
                    <a:pt x="226" y="13"/>
                    <a:pt x="226" y="13"/>
                    <a:pt x="226" y="13"/>
                  </a:cubicBezTo>
                  <a:cubicBezTo>
                    <a:pt x="226" y="13"/>
                    <a:pt x="226" y="14"/>
                    <a:pt x="226" y="14"/>
                  </a:cubicBezTo>
                  <a:cubicBezTo>
                    <a:pt x="226" y="15"/>
                    <a:pt x="226" y="16"/>
                    <a:pt x="226" y="17"/>
                  </a:cubicBezTo>
                  <a:lnTo>
                    <a:pt x="221" y="41"/>
                  </a:lnTo>
                  <a:close/>
                  <a:moveTo>
                    <a:pt x="269" y="36"/>
                  </a:moveTo>
                  <a:cubicBezTo>
                    <a:pt x="267" y="36"/>
                    <a:pt x="266" y="36"/>
                    <a:pt x="265" y="35"/>
                  </a:cubicBezTo>
                  <a:cubicBezTo>
                    <a:pt x="264" y="34"/>
                    <a:pt x="264" y="34"/>
                    <a:pt x="263" y="33"/>
                  </a:cubicBezTo>
                  <a:cubicBezTo>
                    <a:pt x="263" y="32"/>
                    <a:pt x="263" y="30"/>
                    <a:pt x="263" y="29"/>
                  </a:cubicBezTo>
                  <a:cubicBezTo>
                    <a:pt x="263" y="28"/>
                    <a:pt x="263" y="27"/>
                    <a:pt x="263" y="26"/>
                  </a:cubicBezTo>
                  <a:cubicBezTo>
                    <a:pt x="263" y="25"/>
                    <a:pt x="264" y="24"/>
                    <a:pt x="264" y="23"/>
                  </a:cubicBezTo>
                  <a:cubicBezTo>
                    <a:pt x="265" y="22"/>
                    <a:pt x="265" y="21"/>
                    <a:pt x="266" y="20"/>
                  </a:cubicBezTo>
                  <a:cubicBezTo>
                    <a:pt x="267" y="20"/>
                    <a:pt x="267" y="19"/>
                    <a:pt x="268" y="18"/>
                  </a:cubicBezTo>
                  <a:cubicBezTo>
                    <a:pt x="269" y="18"/>
                    <a:pt x="270" y="18"/>
                    <a:pt x="271" y="18"/>
                  </a:cubicBezTo>
                  <a:cubicBezTo>
                    <a:pt x="273" y="18"/>
                    <a:pt x="273" y="18"/>
                    <a:pt x="274" y="18"/>
                  </a:cubicBezTo>
                  <a:cubicBezTo>
                    <a:pt x="275" y="19"/>
                    <a:pt x="275" y="19"/>
                    <a:pt x="276" y="20"/>
                  </a:cubicBezTo>
                  <a:cubicBezTo>
                    <a:pt x="276" y="20"/>
                    <a:pt x="277" y="21"/>
                    <a:pt x="277" y="22"/>
                  </a:cubicBezTo>
                  <a:cubicBezTo>
                    <a:pt x="277" y="23"/>
                    <a:pt x="277" y="24"/>
                    <a:pt x="277" y="24"/>
                  </a:cubicBezTo>
                  <a:cubicBezTo>
                    <a:pt x="277" y="25"/>
                    <a:pt x="277" y="26"/>
                    <a:pt x="277" y="28"/>
                  </a:cubicBezTo>
                  <a:cubicBezTo>
                    <a:pt x="277" y="29"/>
                    <a:pt x="276" y="30"/>
                    <a:pt x="276" y="31"/>
                  </a:cubicBezTo>
                  <a:cubicBezTo>
                    <a:pt x="275" y="32"/>
                    <a:pt x="275" y="32"/>
                    <a:pt x="274" y="33"/>
                  </a:cubicBezTo>
                  <a:cubicBezTo>
                    <a:pt x="273" y="34"/>
                    <a:pt x="273" y="35"/>
                    <a:pt x="272" y="35"/>
                  </a:cubicBezTo>
                  <a:cubicBezTo>
                    <a:pt x="271" y="36"/>
                    <a:pt x="270" y="36"/>
                    <a:pt x="269" y="36"/>
                  </a:cubicBezTo>
                  <a:moveTo>
                    <a:pt x="272" y="12"/>
                  </a:moveTo>
                  <a:cubicBezTo>
                    <a:pt x="269" y="12"/>
                    <a:pt x="267" y="12"/>
                    <a:pt x="265" y="13"/>
                  </a:cubicBezTo>
                  <a:cubicBezTo>
                    <a:pt x="263" y="14"/>
                    <a:pt x="261" y="15"/>
                    <a:pt x="260" y="17"/>
                  </a:cubicBezTo>
                  <a:cubicBezTo>
                    <a:pt x="258" y="18"/>
                    <a:pt x="257" y="20"/>
                    <a:pt x="256" y="22"/>
                  </a:cubicBezTo>
                  <a:cubicBezTo>
                    <a:pt x="256" y="24"/>
                    <a:pt x="255" y="26"/>
                    <a:pt x="255" y="29"/>
                  </a:cubicBezTo>
                  <a:cubicBezTo>
                    <a:pt x="255" y="31"/>
                    <a:pt x="256" y="34"/>
                    <a:pt x="257" y="36"/>
                  </a:cubicBezTo>
                  <a:cubicBezTo>
                    <a:pt x="258" y="37"/>
                    <a:pt x="259" y="39"/>
                    <a:pt x="261" y="40"/>
                  </a:cubicBezTo>
                  <a:cubicBezTo>
                    <a:pt x="263" y="41"/>
                    <a:pt x="265" y="42"/>
                    <a:pt x="268" y="42"/>
                  </a:cubicBezTo>
                  <a:cubicBezTo>
                    <a:pt x="270" y="42"/>
                    <a:pt x="273" y="41"/>
                    <a:pt x="275" y="40"/>
                  </a:cubicBezTo>
                  <a:cubicBezTo>
                    <a:pt x="277" y="39"/>
                    <a:pt x="279" y="38"/>
                    <a:pt x="280" y="37"/>
                  </a:cubicBezTo>
                  <a:cubicBezTo>
                    <a:pt x="282" y="35"/>
                    <a:pt x="283" y="33"/>
                    <a:pt x="284" y="31"/>
                  </a:cubicBezTo>
                  <a:cubicBezTo>
                    <a:pt x="284" y="29"/>
                    <a:pt x="285" y="27"/>
                    <a:pt x="285" y="24"/>
                  </a:cubicBezTo>
                  <a:cubicBezTo>
                    <a:pt x="285" y="22"/>
                    <a:pt x="284" y="21"/>
                    <a:pt x="284" y="19"/>
                  </a:cubicBezTo>
                  <a:cubicBezTo>
                    <a:pt x="283" y="18"/>
                    <a:pt x="282" y="16"/>
                    <a:pt x="281" y="15"/>
                  </a:cubicBezTo>
                  <a:cubicBezTo>
                    <a:pt x="280" y="14"/>
                    <a:pt x="279" y="13"/>
                    <a:pt x="277" y="13"/>
                  </a:cubicBezTo>
                  <a:cubicBezTo>
                    <a:pt x="275" y="12"/>
                    <a:pt x="274" y="12"/>
                    <a:pt x="272" y="12"/>
                  </a:cubicBezTo>
                  <a:moveTo>
                    <a:pt x="287" y="41"/>
                  </a:moveTo>
                  <a:cubicBezTo>
                    <a:pt x="295" y="41"/>
                    <a:pt x="295" y="41"/>
                    <a:pt x="295" y="41"/>
                  </a:cubicBezTo>
                  <a:cubicBezTo>
                    <a:pt x="304" y="0"/>
                    <a:pt x="304" y="0"/>
                    <a:pt x="304" y="0"/>
                  </a:cubicBezTo>
                  <a:cubicBezTo>
                    <a:pt x="296" y="0"/>
                    <a:pt x="296" y="0"/>
                    <a:pt x="296" y="0"/>
                  </a:cubicBezTo>
                  <a:lnTo>
                    <a:pt x="287" y="41"/>
                  </a:lnTo>
                  <a:close/>
                  <a:moveTo>
                    <a:pt x="317" y="36"/>
                  </a:moveTo>
                  <a:cubicBezTo>
                    <a:pt x="316" y="36"/>
                    <a:pt x="315" y="36"/>
                    <a:pt x="314" y="35"/>
                  </a:cubicBezTo>
                  <a:cubicBezTo>
                    <a:pt x="313" y="34"/>
                    <a:pt x="312" y="34"/>
                    <a:pt x="312" y="33"/>
                  </a:cubicBezTo>
                  <a:cubicBezTo>
                    <a:pt x="312" y="32"/>
                    <a:pt x="311" y="30"/>
                    <a:pt x="311" y="29"/>
                  </a:cubicBezTo>
                  <a:cubicBezTo>
                    <a:pt x="311" y="28"/>
                    <a:pt x="312" y="27"/>
                    <a:pt x="312" y="26"/>
                  </a:cubicBezTo>
                  <a:cubicBezTo>
                    <a:pt x="312" y="25"/>
                    <a:pt x="312" y="24"/>
                    <a:pt x="313" y="23"/>
                  </a:cubicBezTo>
                  <a:cubicBezTo>
                    <a:pt x="313" y="22"/>
                    <a:pt x="314" y="21"/>
                    <a:pt x="315" y="20"/>
                  </a:cubicBezTo>
                  <a:cubicBezTo>
                    <a:pt x="315" y="20"/>
                    <a:pt x="316" y="19"/>
                    <a:pt x="317" y="18"/>
                  </a:cubicBezTo>
                  <a:cubicBezTo>
                    <a:pt x="318" y="18"/>
                    <a:pt x="319" y="18"/>
                    <a:pt x="320" y="18"/>
                  </a:cubicBezTo>
                  <a:cubicBezTo>
                    <a:pt x="321" y="18"/>
                    <a:pt x="322" y="18"/>
                    <a:pt x="323" y="18"/>
                  </a:cubicBezTo>
                  <a:cubicBezTo>
                    <a:pt x="324" y="19"/>
                    <a:pt x="324" y="19"/>
                    <a:pt x="325" y="20"/>
                  </a:cubicBezTo>
                  <a:cubicBezTo>
                    <a:pt x="325" y="20"/>
                    <a:pt x="325" y="21"/>
                    <a:pt x="326" y="22"/>
                  </a:cubicBezTo>
                  <a:cubicBezTo>
                    <a:pt x="326" y="23"/>
                    <a:pt x="326" y="24"/>
                    <a:pt x="326" y="24"/>
                  </a:cubicBezTo>
                  <a:cubicBezTo>
                    <a:pt x="326" y="25"/>
                    <a:pt x="326" y="26"/>
                    <a:pt x="325" y="28"/>
                  </a:cubicBezTo>
                  <a:cubicBezTo>
                    <a:pt x="325" y="29"/>
                    <a:pt x="325" y="30"/>
                    <a:pt x="324" y="31"/>
                  </a:cubicBezTo>
                  <a:cubicBezTo>
                    <a:pt x="324" y="32"/>
                    <a:pt x="323" y="32"/>
                    <a:pt x="323" y="33"/>
                  </a:cubicBezTo>
                  <a:cubicBezTo>
                    <a:pt x="322" y="34"/>
                    <a:pt x="321" y="35"/>
                    <a:pt x="320" y="35"/>
                  </a:cubicBezTo>
                  <a:cubicBezTo>
                    <a:pt x="319" y="36"/>
                    <a:pt x="318" y="36"/>
                    <a:pt x="317" y="36"/>
                  </a:cubicBezTo>
                  <a:moveTo>
                    <a:pt x="321" y="12"/>
                  </a:moveTo>
                  <a:cubicBezTo>
                    <a:pt x="318" y="12"/>
                    <a:pt x="316" y="12"/>
                    <a:pt x="314" y="13"/>
                  </a:cubicBezTo>
                  <a:cubicBezTo>
                    <a:pt x="312" y="14"/>
                    <a:pt x="310" y="15"/>
                    <a:pt x="309" y="17"/>
                  </a:cubicBezTo>
                  <a:cubicBezTo>
                    <a:pt x="307" y="18"/>
                    <a:pt x="306" y="20"/>
                    <a:pt x="305" y="22"/>
                  </a:cubicBezTo>
                  <a:cubicBezTo>
                    <a:pt x="304" y="24"/>
                    <a:pt x="304" y="26"/>
                    <a:pt x="304" y="29"/>
                  </a:cubicBezTo>
                  <a:cubicBezTo>
                    <a:pt x="304" y="31"/>
                    <a:pt x="304" y="34"/>
                    <a:pt x="305" y="36"/>
                  </a:cubicBezTo>
                  <a:cubicBezTo>
                    <a:pt x="306" y="37"/>
                    <a:pt x="308" y="39"/>
                    <a:pt x="310" y="40"/>
                  </a:cubicBezTo>
                  <a:cubicBezTo>
                    <a:pt x="312" y="41"/>
                    <a:pt x="314" y="42"/>
                    <a:pt x="317" y="42"/>
                  </a:cubicBezTo>
                  <a:cubicBezTo>
                    <a:pt x="319" y="42"/>
                    <a:pt x="321" y="41"/>
                    <a:pt x="323" y="40"/>
                  </a:cubicBezTo>
                  <a:cubicBezTo>
                    <a:pt x="326" y="39"/>
                    <a:pt x="327" y="38"/>
                    <a:pt x="329" y="37"/>
                  </a:cubicBezTo>
                  <a:cubicBezTo>
                    <a:pt x="330" y="35"/>
                    <a:pt x="331" y="33"/>
                    <a:pt x="332" y="31"/>
                  </a:cubicBezTo>
                  <a:cubicBezTo>
                    <a:pt x="333" y="29"/>
                    <a:pt x="333" y="27"/>
                    <a:pt x="333" y="24"/>
                  </a:cubicBezTo>
                  <a:cubicBezTo>
                    <a:pt x="333" y="22"/>
                    <a:pt x="333" y="21"/>
                    <a:pt x="332" y="19"/>
                  </a:cubicBezTo>
                  <a:cubicBezTo>
                    <a:pt x="332" y="18"/>
                    <a:pt x="331" y="16"/>
                    <a:pt x="330" y="15"/>
                  </a:cubicBezTo>
                  <a:cubicBezTo>
                    <a:pt x="329" y="14"/>
                    <a:pt x="327" y="13"/>
                    <a:pt x="326" y="13"/>
                  </a:cubicBezTo>
                  <a:cubicBezTo>
                    <a:pt x="324" y="12"/>
                    <a:pt x="322" y="12"/>
                    <a:pt x="321" y="12"/>
                  </a:cubicBezTo>
                  <a:moveTo>
                    <a:pt x="335" y="51"/>
                  </a:moveTo>
                  <a:cubicBezTo>
                    <a:pt x="337" y="52"/>
                    <a:pt x="339" y="52"/>
                    <a:pt x="341" y="53"/>
                  </a:cubicBezTo>
                  <a:cubicBezTo>
                    <a:pt x="343" y="53"/>
                    <a:pt x="345" y="53"/>
                    <a:pt x="347" y="53"/>
                  </a:cubicBezTo>
                  <a:cubicBezTo>
                    <a:pt x="349" y="53"/>
                    <a:pt x="351" y="53"/>
                    <a:pt x="353" y="52"/>
                  </a:cubicBezTo>
                  <a:cubicBezTo>
                    <a:pt x="355" y="51"/>
                    <a:pt x="357" y="50"/>
                    <a:pt x="358" y="49"/>
                  </a:cubicBezTo>
                  <a:cubicBezTo>
                    <a:pt x="359" y="48"/>
                    <a:pt x="360" y="46"/>
                    <a:pt x="361" y="44"/>
                  </a:cubicBezTo>
                  <a:cubicBezTo>
                    <a:pt x="362" y="42"/>
                    <a:pt x="362" y="40"/>
                    <a:pt x="363" y="38"/>
                  </a:cubicBezTo>
                  <a:cubicBezTo>
                    <a:pt x="367" y="17"/>
                    <a:pt x="367" y="17"/>
                    <a:pt x="367" y="17"/>
                  </a:cubicBezTo>
                  <a:cubicBezTo>
                    <a:pt x="367" y="16"/>
                    <a:pt x="368" y="15"/>
                    <a:pt x="368" y="14"/>
                  </a:cubicBezTo>
                  <a:cubicBezTo>
                    <a:pt x="368" y="14"/>
                    <a:pt x="368" y="13"/>
                    <a:pt x="368" y="13"/>
                  </a:cubicBezTo>
                  <a:cubicBezTo>
                    <a:pt x="361" y="13"/>
                    <a:pt x="361" y="13"/>
                    <a:pt x="361" y="13"/>
                  </a:cubicBezTo>
                  <a:cubicBezTo>
                    <a:pt x="360" y="17"/>
                    <a:pt x="360" y="17"/>
                    <a:pt x="360" y="17"/>
                  </a:cubicBezTo>
                  <a:cubicBezTo>
                    <a:pt x="360" y="16"/>
                    <a:pt x="359" y="15"/>
                    <a:pt x="358" y="14"/>
                  </a:cubicBezTo>
                  <a:cubicBezTo>
                    <a:pt x="357" y="14"/>
                    <a:pt x="356" y="13"/>
                    <a:pt x="355" y="13"/>
                  </a:cubicBezTo>
                  <a:cubicBezTo>
                    <a:pt x="354" y="12"/>
                    <a:pt x="353" y="12"/>
                    <a:pt x="352" y="12"/>
                  </a:cubicBezTo>
                  <a:cubicBezTo>
                    <a:pt x="350" y="12"/>
                    <a:pt x="348" y="12"/>
                    <a:pt x="347" y="13"/>
                  </a:cubicBezTo>
                  <a:cubicBezTo>
                    <a:pt x="345" y="14"/>
                    <a:pt x="344" y="14"/>
                    <a:pt x="343" y="16"/>
                  </a:cubicBezTo>
                  <a:cubicBezTo>
                    <a:pt x="341" y="17"/>
                    <a:pt x="341" y="18"/>
                    <a:pt x="340" y="19"/>
                  </a:cubicBezTo>
                  <a:cubicBezTo>
                    <a:pt x="339" y="21"/>
                    <a:pt x="338" y="22"/>
                    <a:pt x="338" y="24"/>
                  </a:cubicBezTo>
                  <a:cubicBezTo>
                    <a:pt x="338" y="26"/>
                    <a:pt x="337" y="27"/>
                    <a:pt x="337" y="29"/>
                  </a:cubicBezTo>
                  <a:cubicBezTo>
                    <a:pt x="337" y="31"/>
                    <a:pt x="338" y="32"/>
                    <a:pt x="338" y="33"/>
                  </a:cubicBezTo>
                  <a:cubicBezTo>
                    <a:pt x="338" y="35"/>
                    <a:pt x="339" y="36"/>
                    <a:pt x="340" y="37"/>
                  </a:cubicBezTo>
                  <a:cubicBezTo>
                    <a:pt x="340" y="38"/>
                    <a:pt x="341" y="39"/>
                    <a:pt x="343" y="40"/>
                  </a:cubicBezTo>
                  <a:cubicBezTo>
                    <a:pt x="344" y="41"/>
                    <a:pt x="345" y="41"/>
                    <a:pt x="347" y="41"/>
                  </a:cubicBezTo>
                  <a:cubicBezTo>
                    <a:pt x="349" y="41"/>
                    <a:pt x="350" y="41"/>
                    <a:pt x="351" y="40"/>
                  </a:cubicBezTo>
                  <a:cubicBezTo>
                    <a:pt x="352" y="40"/>
                    <a:pt x="353" y="39"/>
                    <a:pt x="354" y="38"/>
                  </a:cubicBezTo>
                  <a:cubicBezTo>
                    <a:pt x="355" y="38"/>
                    <a:pt x="356" y="37"/>
                    <a:pt x="357" y="36"/>
                  </a:cubicBezTo>
                  <a:cubicBezTo>
                    <a:pt x="357" y="36"/>
                    <a:pt x="357" y="36"/>
                    <a:pt x="357" y="36"/>
                  </a:cubicBezTo>
                  <a:cubicBezTo>
                    <a:pt x="356" y="37"/>
                    <a:pt x="356" y="38"/>
                    <a:pt x="356" y="39"/>
                  </a:cubicBezTo>
                  <a:cubicBezTo>
                    <a:pt x="355" y="40"/>
                    <a:pt x="355" y="41"/>
                    <a:pt x="354" y="42"/>
                  </a:cubicBezTo>
                  <a:cubicBezTo>
                    <a:pt x="354" y="43"/>
                    <a:pt x="353" y="44"/>
                    <a:pt x="353" y="45"/>
                  </a:cubicBezTo>
                  <a:cubicBezTo>
                    <a:pt x="352" y="46"/>
                    <a:pt x="351" y="46"/>
                    <a:pt x="350" y="47"/>
                  </a:cubicBezTo>
                  <a:cubicBezTo>
                    <a:pt x="349" y="47"/>
                    <a:pt x="348" y="47"/>
                    <a:pt x="346" y="47"/>
                  </a:cubicBezTo>
                  <a:cubicBezTo>
                    <a:pt x="345" y="47"/>
                    <a:pt x="344" y="47"/>
                    <a:pt x="343" y="47"/>
                  </a:cubicBezTo>
                  <a:cubicBezTo>
                    <a:pt x="342" y="47"/>
                    <a:pt x="341" y="47"/>
                    <a:pt x="340" y="46"/>
                  </a:cubicBezTo>
                  <a:cubicBezTo>
                    <a:pt x="339" y="46"/>
                    <a:pt x="338" y="46"/>
                    <a:pt x="337" y="45"/>
                  </a:cubicBezTo>
                  <a:lnTo>
                    <a:pt x="335" y="51"/>
                  </a:lnTo>
                  <a:close/>
                  <a:moveTo>
                    <a:pt x="358" y="24"/>
                  </a:moveTo>
                  <a:cubicBezTo>
                    <a:pt x="358" y="25"/>
                    <a:pt x="358" y="26"/>
                    <a:pt x="358" y="27"/>
                  </a:cubicBezTo>
                  <a:cubicBezTo>
                    <a:pt x="357" y="28"/>
                    <a:pt x="357" y="29"/>
                    <a:pt x="357" y="30"/>
                  </a:cubicBezTo>
                  <a:cubicBezTo>
                    <a:pt x="356" y="31"/>
                    <a:pt x="356" y="32"/>
                    <a:pt x="355" y="33"/>
                  </a:cubicBezTo>
                  <a:cubicBezTo>
                    <a:pt x="354" y="33"/>
                    <a:pt x="354" y="34"/>
                    <a:pt x="353" y="35"/>
                  </a:cubicBezTo>
                  <a:cubicBezTo>
                    <a:pt x="352" y="35"/>
                    <a:pt x="351" y="35"/>
                    <a:pt x="350" y="35"/>
                  </a:cubicBezTo>
                  <a:cubicBezTo>
                    <a:pt x="349" y="35"/>
                    <a:pt x="348" y="35"/>
                    <a:pt x="347" y="34"/>
                  </a:cubicBezTo>
                  <a:cubicBezTo>
                    <a:pt x="346" y="34"/>
                    <a:pt x="346" y="33"/>
                    <a:pt x="345" y="32"/>
                  </a:cubicBezTo>
                  <a:cubicBezTo>
                    <a:pt x="345" y="31"/>
                    <a:pt x="345" y="30"/>
                    <a:pt x="345" y="29"/>
                  </a:cubicBezTo>
                  <a:cubicBezTo>
                    <a:pt x="345" y="28"/>
                    <a:pt x="345" y="27"/>
                    <a:pt x="345" y="26"/>
                  </a:cubicBezTo>
                  <a:cubicBezTo>
                    <a:pt x="345" y="25"/>
                    <a:pt x="346" y="24"/>
                    <a:pt x="346" y="23"/>
                  </a:cubicBezTo>
                  <a:cubicBezTo>
                    <a:pt x="347" y="22"/>
                    <a:pt x="347" y="21"/>
                    <a:pt x="348" y="20"/>
                  </a:cubicBezTo>
                  <a:cubicBezTo>
                    <a:pt x="348" y="20"/>
                    <a:pt x="349" y="19"/>
                    <a:pt x="350" y="18"/>
                  </a:cubicBezTo>
                  <a:cubicBezTo>
                    <a:pt x="351" y="18"/>
                    <a:pt x="352" y="18"/>
                    <a:pt x="353" y="18"/>
                  </a:cubicBezTo>
                  <a:cubicBezTo>
                    <a:pt x="354" y="18"/>
                    <a:pt x="355" y="18"/>
                    <a:pt x="356" y="19"/>
                  </a:cubicBezTo>
                  <a:cubicBezTo>
                    <a:pt x="356" y="19"/>
                    <a:pt x="357" y="20"/>
                    <a:pt x="357" y="21"/>
                  </a:cubicBezTo>
                  <a:cubicBezTo>
                    <a:pt x="358" y="22"/>
                    <a:pt x="358" y="23"/>
                    <a:pt x="358" y="24"/>
                  </a:cubicBezTo>
                  <a:moveTo>
                    <a:pt x="372" y="13"/>
                  </a:moveTo>
                  <a:cubicBezTo>
                    <a:pt x="377" y="42"/>
                    <a:pt x="377" y="42"/>
                    <a:pt x="377" y="42"/>
                  </a:cubicBezTo>
                  <a:cubicBezTo>
                    <a:pt x="376" y="44"/>
                    <a:pt x="375" y="45"/>
                    <a:pt x="375" y="45"/>
                  </a:cubicBezTo>
                  <a:cubicBezTo>
                    <a:pt x="374" y="46"/>
                    <a:pt x="373" y="47"/>
                    <a:pt x="373" y="47"/>
                  </a:cubicBezTo>
                  <a:cubicBezTo>
                    <a:pt x="372" y="47"/>
                    <a:pt x="371" y="47"/>
                    <a:pt x="371" y="47"/>
                  </a:cubicBezTo>
                  <a:cubicBezTo>
                    <a:pt x="370" y="47"/>
                    <a:pt x="369" y="47"/>
                    <a:pt x="369" y="47"/>
                  </a:cubicBezTo>
                  <a:cubicBezTo>
                    <a:pt x="368" y="47"/>
                    <a:pt x="368" y="47"/>
                    <a:pt x="367" y="47"/>
                  </a:cubicBezTo>
                  <a:cubicBezTo>
                    <a:pt x="366" y="52"/>
                    <a:pt x="366" y="52"/>
                    <a:pt x="366" y="52"/>
                  </a:cubicBezTo>
                  <a:cubicBezTo>
                    <a:pt x="367" y="53"/>
                    <a:pt x="368" y="53"/>
                    <a:pt x="369" y="53"/>
                  </a:cubicBezTo>
                  <a:cubicBezTo>
                    <a:pt x="369" y="53"/>
                    <a:pt x="370" y="53"/>
                    <a:pt x="371" y="53"/>
                  </a:cubicBezTo>
                  <a:cubicBezTo>
                    <a:pt x="373" y="53"/>
                    <a:pt x="374" y="53"/>
                    <a:pt x="375" y="52"/>
                  </a:cubicBezTo>
                  <a:cubicBezTo>
                    <a:pt x="377" y="52"/>
                    <a:pt x="378" y="51"/>
                    <a:pt x="378" y="51"/>
                  </a:cubicBezTo>
                  <a:cubicBezTo>
                    <a:pt x="379" y="50"/>
                    <a:pt x="380" y="49"/>
                    <a:pt x="381" y="48"/>
                  </a:cubicBezTo>
                  <a:cubicBezTo>
                    <a:pt x="381" y="47"/>
                    <a:pt x="382" y="46"/>
                    <a:pt x="383" y="45"/>
                  </a:cubicBezTo>
                  <a:cubicBezTo>
                    <a:pt x="402" y="13"/>
                    <a:pt x="402" y="13"/>
                    <a:pt x="402" y="13"/>
                  </a:cubicBezTo>
                  <a:cubicBezTo>
                    <a:pt x="394" y="13"/>
                    <a:pt x="394" y="13"/>
                    <a:pt x="394" y="13"/>
                  </a:cubicBezTo>
                  <a:cubicBezTo>
                    <a:pt x="382" y="34"/>
                    <a:pt x="382" y="34"/>
                    <a:pt x="382" y="34"/>
                  </a:cubicBezTo>
                  <a:cubicBezTo>
                    <a:pt x="382" y="34"/>
                    <a:pt x="382" y="34"/>
                    <a:pt x="382" y="34"/>
                  </a:cubicBezTo>
                  <a:cubicBezTo>
                    <a:pt x="380" y="13"/>
                    <a:pt x="380" y="13"/>
                    <a:pt x="380" y="13"/>
                  </a:cubicBezTo>
                  <a:lnTo>
                    <a:pt x="372" y="13"/>
                  </a:lnTo>
                  <a:close/>
                  <a:moveTo>
                    <a:pt x="445" y="4"/>
                  </a:moveTo>
                  <a:cubicBezTo>
                    <a:pt x="443" y="3"/>
                    <a:pt x="441" y="3"/>
                    <a:pt x="440" y="2"/>
                  </a:cubicBezTo>
                  <a:cubicBezTo>
                    <a:pt x="438" y="2"/>
                    <a:pt x="436" y="2"/>
                    <a:pt x="435" y="2"/>
                  </a:cubicBezTo>
                  <a:cubicBezTo>
                    <a:pt x="433" y="2"/>
                    <a:pt x="432" y="2"/>
                    <a:pt x="430" y="2"/>
                  </a:cubicBezTo>
                  <a:cubicBezTo>
                    <a:pt x="429" y="3"/>
                    <a:pt x="428" y="3"/>
                    <a:pt x="426" y="4"/>
                  </a:cubicBezTo>
                  <a:cubicBezTo>
                    <a:pt x="425" y="4"/>
                    <a:pt x="424" y="5"/>
                    <a:pt x="423" y="6"/>
                  </a:cubicBezTo>
                  <a:cubicBezTo>
                    <a:pt x="422" y="7"/>
                    <a:pt x="422" y="8"/>
                    <a:pt x="421" y="9"/>
                  </a:cubicBezTo>
                  <a:cubicBezTo>
                    <a:pt x="421" y="11"/>
                    <a:pt x="420" y="12"/>
                    <a:pt x="420" y="14"/>
                  </a:cubicBezTo>
                  <a:cubicBezTo>
                    <a:pt x="420" y="15"/>
                    <a:pt x="421" y="16"/>
                    <a:pt x="421" y="17"/>
                  </a:cubicBezTo>
                  <a:cubicBezTo>
                    <a:pt x="422" y="18"/>
                    <a:pt x="422" y="19"/>
                    <a:pt x="423" y="20"/>
                  </a:cubicBezTo>
                  <a:cubicBezTo>
                    <a:pt x="424" y="21"/>
                    <a:pt x="425" y="21"/>
                    <a:pt x="425" y="22"/>
                  </a:cubicBezTo>
                  <a:cubicBezTo>
                    <a:pt x="426" y="23"/>
                    <a:pt x="427" y="23"/>
                    <a:pt x="428" y="24"/>
                  </a:cubicBezTo>
                  <a:cubicBezTo>
                    <a:pt x="429" y="24"/>
                    <a:pt x="430" y="25"/>
                    <a:pt x="431" y="25"/>
                  </a:cubicBezTo>
                  <a:cubicBezTo>
                    <a:pt x="432" y="26"/>
                    <a:pt x="432" y="26"/>
                    <a:pt x="433" y="27"/>
                  </a:cubicBezTo>
                  <a:cubicBezTo>
                    <a:pt x="433" y="28"/>
                    <a:pt x="433" y="29"/>
                    <a:pt x="433" y="30"/>
                  </a:cubicBezTo>
                  <a:cubicBezTo>
                    <a:pt x="433" y="31"/>
                    <a:pt x="433" y="31"/>
                    <a:pt x="433" y="32"/>
                  </a:cubicBezTo>
                  <a:cubicBezTo>
                    <a:pt x="432" y="33"/>
                    <a:pt x="432" y="34"/>
                    <a:pt x="431" y="34"/>
                  </a:cubicBezTo>
                  <a:cubicBezTo>
                    <a:pt x="430" y="35"/>
                    <a:pt x="430" y="35"/>
                    <a:pt x="429" y="35"/>
                  </a:cubicBezTo>
                  <a:cubicBezTo>
                    <a:pt x="428" y="35"/>
                    <a:pt x="427" y="36"/>
                    <a:pt x="426" y="36"/>
                  </a:cubicBezTo>
                  <a:cubicBezTo>
                    <a:pt x="425" y="36"/>
                    <a:pt x="424" y="35"/>
                    <a:pt x="423" y="35"/>
                  </a:cubicBezTo>
                  <a:cubicBezTo>
                    <a:pt x="422" y="35"/>
                    <a:pt x="421" y="35"/>
                    <a:pt x="420" y="34"/>
                  </a:cubicBezTo>
                  <a:cubicBezTo>
                    <a:pt x="419" y="34"/>
                    <a:pt x="418" y="33"/>
                    <a:pt x="417" y="33"/>
                  </a:cubicBezTo>
                  <a:cubicBezTo>
                    <a:pt x="415" y="39"/>
                    <a:pt x="415" y="39"/>
                    <a:pt x="415" y="39"/>
                  </a:cubicBezTo>
                  <a:cubicBezTo>
                    <a:pt x="417" y="40"/>
                    <a:pt x="418" y="41"/>
                    <a:pt x="420" y="41"/>
                  </a:cubicBezTo>
                  <a:cubicBezTo>
                    <a:pt x="422" y="41"/>
                    <a:pt x="424" y="42"/>
                    <a:pt x="426" y="42"/>
                  </a:cubicBezTo>
                  <a:cubicBezTo>
                    <a:pt x="427" y="42"/>
                    <a:pt x="429" y="41"/>
                    <a:pt x="431" y="41"/>
                  </a:cubicBezTo>
                  <a:cubicBezTo>
                    <a:pt x="432" y="41"/>
                    <a:pt x="434" y="40"/>
                    <a:pt x="435" y="40"/>
                  </a:cubicBezTo>
                  <a:cubicBezTo>
                    <a:pt x="436" y="39"/>
                    <a:pt x="437" y="38"/>
                    <a:pt x="438" y="37"/>
                  </a:cubicBezTo>
                  <a:cubicBezTo>
                    <a:pt x="439" y="36"/>
                    <a:pt x="440" y="35"/>
                    <a:pt x="441" y="34"/>
                  </a:cubicBezTo>
                  <a:cubicBezTo>
                    <a:pt x="441" y="32"/>
                    <a:pt x="441" y="31"/>
                    <a:pt x="441" y="29"/>
                  </a:cubicBezTo>
                  <a:cubicBezTo>
                    <a:pt x="441" y="27"/>
                    <a:pt x="441" y="26"/>
                    <a:pt x="441" y="25"/>
                  </a:cubicBezTo>
                  <a:cubicBezTo>
                    <a:pt x="440" y="24"/>
                    <a:pt x="440" y="23"/>
                    <a:pt x="439" y="22"/>
                  </a:cubicBezTo>
                  <a:cubicBezTo>
                    <a:pt x="438" y="21"/>
                    <a:pt x="437" y="20"/>
                    <a:pt x="436" y="20"/>
                  </a:cubicBezTo>
                  <a:cubicBezTo>
                    <a:pt x="435" y="19"/>
                    <a:pt x="434" y="19"/>
                    <a:pt x="433" y="18"/>
                  </a:cubicBezTo>
                  <a:cubicBezTo>
                    <a:pt x="433" y="18"/>
                    <a:pt x="432" y="17"/>
                    <a:pt x="431" y="16"/>
                  </a:cubicBezTo>
                  <a:cubicBezTo>
                    <a:pt x="430" y="16"/>
                    <a:pt x="430" y="15"/>
                    <a:pt x="429" y="15"/>
                  </a:cubicBezTo>
                  <a:cubicBezTo>
                    <a:pt x="429" y="14"/>
                    <a:pt x="428" y="13"/>
                    <a:pt x="428" y="12"/>
                  </a:cubicBezTo>
                  <a:cubicBezTo>
                    <a:pt x="428" y="12"/>
                    <a:pt x="429" y="11"/>
                    <a:pt x="429" y="10"/>
                  </a:cubicBezTo>
                  <a:cubicBezTo>
                    <a:pt x="429" y="10"/>
                    <a:pt x="430" y="9"/>
                    <a:pt x="431" y="9"/>
                  </a:cubicBezTo>
                  <a:cubicBezTo>
                    <a:pt x="431" y="9"/>
                    <a:pt x="432" y="8"/>
                    <a:pt x="433" y="8"/>
                  </a:cubicBezTo>
                  <a:cubicBezTo>
                    <a:pt x="433" y="8"/>
                    <a:pt x="434" y="8"/>
                    <a:pt x="435" y="8"/>
                  </a:cubicBezTo>
                  <a:cubicBezTo>
                    <a:pt x="436" y="8"/>
                    <a:pt x="437" y="8"/>
                    <a:pt x="438" y="8"/>
                  </a:cubicBezTo>
                  <a:cubicBezTo>
                    <a:pt x="439" y="8"/>
                    <a:pt x="439" y="9"/>
                    <a:pt x="440" y="9"/>
                  </a:cubicBezTo>
                  <a:cubicBezTo>
                    <a:pt x="441" y="9"/>
                    <a:pt x="442" y="10"/>
                    <a:pt x="443" y="10"/>
                  </a:cubicBezTo>
                  <a:lnTo>
                    <a:pt x="445" y="4"/>
                  </a:lnTo>
                  <a:close/>
                  <a:moveTo>
                    <a:pt x="473" y="29"/>
                  </a:moveTo>
                  <a:cubicBezTo>
                    <a:pt x="474" y="28"/>
                    <a:pt x="474" y="27"/>
                    <a:pt x="474" y="26"/>
                  </a:cubicBezTo>
                  <a:cubicBezTo>
                    <a:pt x="474" y="25"/>
                    <a:pt x="474" y="24"/>
                    <a:pt x="474" y="23"/>
                  </a:cubicBezTo>
                  <a:cubicBezTo>
                    <a:pt x="474" y="20"/>
                    <a:pt x="474" y="18"/>
                    <a:pt x="473" y="17"/>
                  </a:cubicBezTo>
                  <a:cubicBezTo>
                    <a:pt x="472" y="15"/>
                    <a:pt x="470" y="14"/>
                    <a:pt x="469" y="13"/>
                  </a:cubicBezTo>
                  <a:cubicBezTo>
                    <a:pt x="467" y="12"/>
                    <a:pt x="465" y="12"/>
                    <a:pt x="462" y="12"/>
                  </a:cubicBezTo>
                  <a:cubicBezTo>
                    <a:pt x="461" y="12"/>
                    <a:pt x="459" y="12"/>
                    <a:pt x="457" y="13"/>
                  </a:cubicBezTo>
                  <a:cubicBezTo>
                    <a:pt x="456" y="14"/>
                    <a:pt x="454" y="14"/>
                    <a:pt x="453" y="16"/>
                  </a:cubicBezTo>
                  <a:cubicBezTo>
                    <a:pt x="452" y="17"/>
                    <a:pt x="450" y="18"/>
                    <a:pt x="449" y="19"/>
                  </a:cubicBezTo>
                  <a:cubicBezTo>
                    <a:pt x="448" y="21"/>
                    <a:pt x="448" y="22"/>
                    <a:pt x="447" y="24"/>
                  </a:cubicBezTo>
                  <a:cubicBezTo>
                    <a:pt x="447" y="26"/>
                    <a:pt x="446" y="27"/>
                    <a:pt x="446" y="29"/>
                  </a:cubicBezTo>
                  <a:cubicBezTo>
                    <a:pt x="446" y="31"/>
                    <a:pt x="447" y="33"/>
                    <a:pt x="447" y="35"/>
                  </a:cubicBezTo>
                  <a:cubicBezTo>
                    <a:pt x="448" y="36"/>
                    <a:pt x="449" y="38"/>
                    <a:pt x="450" y="39"/>
                  </a:cubicBezTo>
                  <a:cubicBezTo>
                    <a:pt x="451" y="40"/>
                    <a:pt x="453" y="40"/>
                    <a:pt x="454" y="41"/>
                  </a:cubicBezTo>
                  <a:cubicBezTo>
                    <a:pt x="456" y="41"/>
                    <a:pt x="458" y="42"/>
                    <a:pt x="460" y="42"/>
                  </a:cubicBezTo>
                  <a:cubicBezTo>
                    <a:pt x="462" y="42"/>
                    <a:pt x="463" y="41"/>
                    <a:pt x="465" y="41"/>
                  </a:cubicBezTo>
                  <a:cubicBezTo>
                    <a:pt x="466" y="41"/>
                    <a:pt x="468" y="40"/>
                    <a:pt x="469" y="40"/>
                  </a:cubicBezTo>
                  <a:cubicBezTo>
                    <a:pt x="470" y="34"/>
                    <a:pt x="470" y="34"/>
                    <a:pt x="470" y="34"/>
                  </a:cubicBezTo>
                  <a:cubicBezTo>
                    <a:pt x="469" y="35"/>
                    <a:pt x="467" y="35"/>
                    <a:pt x="466" y="36"/>
                  </a:cubicBezTo>
                  <a:cubicBezTo>
                    <a:pt x="464" y="36"/>
                    <a:pt x="463" y="36"/>
                    <a:pt x="461" y="36"/>
                  </a:cubicBezTo>
                  <a:cubicBezTo>
                    <a:pt x="460" y="36"/>
                    <a:pt x="458" y="36"/>
                    <a:pt x="457" y="36"/>
                  </a:cubicBezTo>
                  <a:cubicBezTo>
                    <a:pt x="456" y="35"/>
                    <a:pt x="455" y="34"/>
                    <a:pt x="454" y="33"/>
                  </a:cubicBezTo>
                  <a:cubicBezTo>
                    <a:pt x="454" y="32"/>
                    <a:pt x="453" y="31"/>
                    <a:pt x="453" y="29"/>
                  </a:cubicBezTo>
                  <a:lnTo>
                    <a:pt x="473" y="29"/>
                  </a:lnTo>
                  <a:close/>
                  <a:moveTo>
                    <a:pt x="454" y="24"/>
                  </a:moveTo>
                  <a:cubicBezTo>
                    <a:pt x="455" y="23"/>
                    <a:pt x="455" y="22"/>
                    <a:pt x="456" y="21"/>
                  </a:cubicBezTo>
                  <a:cubicBezTo>
                    <a:pt x="457" y="20"/>
                    <a:pt x="458" y="19"/>
                    <a:pt x="459" y="18"/>
                  </a:cubicBezTo>
                  <a:cubicBezTo>
                    <a:pt x="460" y="18"/>
                    <a:pt x="461" y="17"/>
                    <a:pt x="462" y="17"/>
                  </a:cubicBezTo>
                  <a:cubicBezTo>
                    <a:pt x="464" y="17"/>
                    <a:pt x="465" y="18"/>
                    <a:pt x="466" y="19"/>
                  </a:cubicBezTo>
                  <a:cubicBezTo>
                    <a:pt x="467" y="19"/>
                    <a:pt x="467" y="21"/>
                    <a:pt x="467" y="22"/>
                  </a:cubicBezTo>
                  <a:cubicBezTo>
                    <a:pt x="467" y="22"/>
                    <a:pt x="467" y="23"/>
                    <a:pt x="467" y="23"/>
                  </a:cubicBezTo>
                  <a:cubicBezTo>
                    <a:pt x="467" y="23"/>
                    <a:pt x="467" y="24"/>
                    <a:pt x="467" y="24"/>
                  </a:cubicBezTo>
                  <a:lnTo>
                    <a:pt x="454" y="24"/>
                  </a:lnTo>
                  <a:close/>
                  <a:moveTo>
                    <a:pt x="476" y="41"/>
                  </a:moveTo>
                  <a:cubicBezTo>
                    <a:pt x="484" y="41"/>
                    <a:pt x="484" y="41"/>
                    <a:pt x="484" y="41"/>
                  </a:cubicBezTo>
                  <a:cubicBezTo>
                    <a:pt x="486" y="28"/>
                    <a:pt x="486" y="28"/>
                    <a:pt x="486" y="28"/>
                  </a:cubicBezTo>
                  <a:cubicBezTo>
                    <a:pt x="487" y="27"/>
                    <a:pt x="487" y="26"/>
                    <a:pt x="487" y="25"/>
                  </a:cubicBezTo>
                  <a:cubicBezTo>
                    <a:pt x="488" y="24"/>
                    <a:pt x="488" y="23"/>
                    <a:pt x="489" y="22"/>
                  </a:cubicBezTo>
                  <a:cubicBezTo>
                    <a:pt x="490" y="21"/>
                    <a:pt x="491" y="20"/>
                    <a:pt x="492" y="20"/>
                  </a:cubicBezTo>
                  <a:cubicBezTo>
                    <a:pt x="492" y="19"/>
                    <a:pt x="494" y="19"/>
                    <a:pt x="495" y="19"/>
                  </a:cubicBezTo>
                  <a:cubicBezTo>
                    <a:pt x="495" y="19"/>
                    <a:pt x="496" y="19"/>
                    <a:pt x="496" y="19"/>
                  </a:cubicBezTo>
                  <a:cubicBezTo>
                    <a:pt x="497" y="19"/>
                    <a:pt x="497" y="19"/>
                    <a:pt x="498" y="19"/>
                  </a:cubicBezTo>
                  <a:cubicBezTo>
                    <a:pt x="499" y="12"/>
                    <a:pt x="499" y="12"/>
                    <a:pt x="499" y="12"/>
                  </a:cubicBezTo>
                  <a:cubicBezTo>
                    <a:pt x="499" y="12"/>
                    <a:pt x="498" y="12"/>
                    <a:pt x="498" y="12"/>
                  </a:cubicBezTo>
                  <a:cubicBezTo>
                    <a:pt x="497" y="12"/>
                    <a:pt x="497" y="12"/>
                    <a:pt x="496" y="12"/>
                  </a:cubicBezTo>
                  <a:cubicBezTo>
                    <a:pt x="496" y="12"/>
                    <a:pt x="495" y="12"/>
                    <a:pt x="494" y="13"/>
                  </a:cubicBezTo>
                  <a:cubicBezTo>
                    <a:pt x="493" y="13"/>
                    <a:pt x="492" y="13"/>
                    <a:pt x="492" y="14"/>
                  </a:cubicBezTo>
                  <a:cubicBezTo>
                    <a:pt x="491" y="14"/>
                    <a:pt x="490" y="15"/>
                    <a:pt x="490" y="16"/>
                  </a:cubicBezTo>
                  <a:cubicBezTo>
                    <a:pt x="489" y="16"/>
                    <a:pt x="488" y="17"/>
                    <a:pt x="488" y="18"/>
                  </a:cubicBezTo>
                  <a:cubicBezTo>
                    <a:pt x="488" y="18"/>
                    <a:pt x="488" y="18"/>
                    <a:pt x="488" y="18"/>
                  </a:cubicBezTo>
                  <a:cubicBezTo>
                    <a:pt x="489" y="13"/>
                    <a:pt x="489" y="13"/>
                    <a:pt x="489" y="13"/>
                  </a:cubicBezTo>
                  <a:cubicBezTo>
                    <a:pt x="482" y="13"/>
                    <a:pt x="482" y="13"/>
                    <a:pt x="482" y="13"/>
                  </a:cubicBezTo>
                  <a:cubicBezTo>
                    <a:pt x="482" y="14"/>
                    <a:pt x="482" y="15"/>
                    <a:pt x="481" y="16"/>
                  </a:cubicBezTo>
                  <a:lnTo>
                    <a:pt x="476" y="41"/>
                  </a:lnTo>
                  <a:close/>
                  <a:moveTo>
                    <a:pt x="505" y="41"/>
                  </a:moveTo>
                  <a:cubicBezTo>
                    <a:pt x="513" y="41"/>
                    <a:pt x="513" y="41"/>
                    <a:pt x="513" y="41"/>
                  </a:cubicBezTo>
                  <a:cubicBezTo>
                    <a:pt x="529" y="13"/>
                    <a:pt x="529" y="13"/>
                    <a:pt x="529" y="13"/>
                  </a:cubicBezTo>
                  <a:cubicBezTo>
                    <a:pt x="522" y="13"/>
                    <a:pt x="522" y="13"/>
                    <a:pt x="522" y="13"/>
                  </a:cubicBezTo>
                  <a:cubicBezTo>
                    <a:pt x="511" y="33"/>
                    <a:pt x="511" y="33"/>
                    <a:pt x="511" y="33"/>
                  </a:cubicBezTo>
                  <a:cubicBezTo>
                    <a:pt x="510" y="33"/>
                    <a:pt x="510" y="33"/>
                    <a:pt x="510" y="33"/>
                  </a:cubicBezTo>
                  <a:cubicBezTo>
                    <a:pt x="508" y="13"/>
                    <a:pt x="508" y="13"/>
                    <a:pt x="508" y="13"/>
                  </a:cubicBezTo>
                  <a:cubicBezTo>
                    <a:pt x="500" y="13"/>
                    <a:pt x="500" y="13"/>
                    <a:pt x="500" y="13"/>
                  </a:cubicBezTo>
                  <a:lnTo>
                    <a:pt x="505" y="41"/>
                  </a:lnTo>
                  <a:close/>
                  <a:moveTo>
                    <a:pt x="528" y="41"/>
                  </a:moveTo>
                  <a:cubicBezTo>
                    <a:pt x="535" y="41"/>
                    <a:pt x="535" y="41"/>
                    <a:pt x="535" y="41"/>
                  </a:cubicBezTo>
                  <a:cubicBezTo>
                    <a:pt x="541" y="13"/>
                    <a:pt x="541" y="13"/>
                    <a:pt x="541" y="13"/>
                  </a:cubicBezTo>
                  <a:cubicBezTo>
                    <a:pt x="534" y="13"/>
                    <a:pt x="534" y="13"/>
                    <a:pt x="534" y="13"/>
                  </a:cubicBezTo>
                  <a:lnTo>
                    <a:pt x="528" y="41"/>
                  </a:lnTo>
                  <a:close/>
                  <a:moveTo>
                    <a:pt x="535" y="8"/>
                  </a:moveTo>
                  <a:cubicBezTo>
                    <a:pt x="543" y="8"/>
                    <a:pt x="543" y="8"/>
                    <a:pt x="543" y="8"/>
                  </a:cubicBezTo>
                  <a:cubicBezTo>
                    <a:pt x="544" y="1"/>
                    <a:pt x="544" y="1"/>
                    <a:pt x="544" y="1"/>
                  </a:cubicBezTo>
                  <a:cubicBezTo>
                    <a:pt x="537" y="1"/>
                    <a:pt x="537" y="1"/>
                    <a:pt x="537" y="1"/>
                  </a:cubicBezTo>
                  <a:lnTo>
                    <a:pt x="535" y="8"/>
                  </a:lnTo>
                  <a:close/>
                  <a:moveTo>
                    <a:pt x="568" y="13"/>
                  </a:moveTo>
                  <a:cubicBezTo>
                    <a:pt x="567" y="13"/>
                    <a:pt x="566" y="13"/>
                    <a:pt x="565" y="12"/>
                  </a:cubicBezTo>
                  <a:cubicBezTo>
                    <a:pt x="564" y="12"/>
                    <a:pt x="562" y="12"/>
                    <a:pt x="561" y="12"/>
                  </a:cubicBezTo>
                  <a:cubicBezTo>
                    <a:pt x="559" y="12"/>
                    <a:pt x="556" y="12"/>
                    <a:pt x="554" y="13"/>
                  </a:cubicBezTo>
                  <a:cubicBezTo>
                    <a:pt x="552" y="14"/>
                    <a:pt x="550" y="15"/>
                    <a:pt x="549" y="17"/>
                  </a:cubicBezTo>
                  <a:cubicBezTo>
                    <a:pt x="547" y="19"/>
                    <a:pt x="546" y="20"/>
                    <a:pt x="546" y="23"/>
                  </a:cubicBezTo>
                  <a:cubicBezTo>
                    <a:pt x="545" y="25"/>
                    <a:pt x="544" y="27"/>
                    <a:pt x="544" y="29"/>
                  </a:cubicBezTo>
                  <a:cubicBezTo>
                    <a:pt x="544" y="32"/>
                    <a:pt x="545" y="34"/>
                    <a:pt x="546" y="36"/>
                  </a:cubicBezTo>
                  <a:cubicBezTo>
                    <a:pt x="547" y="38"/>
                    <a:pt x="548" y="39"/>
                    <a:pt x="550" y="40"/>
                  </a:cubicBezTo>
                  <a:cubicBezTo>
                    <a:pt x="552" y="41"/>
                    <a:pt x="554" y="42"/>
                    <a:pt x="556" y="42"/>
                  </a:cubicBezTo>
                  <a:cubicBezTo>
                    <a:pt x="558" y="42"/>
                    <a:pt x="559" y="41"/>
                    <a:pt x="560" y="41"/>
                  </a:cubicBezTo>
                  <a:cubicBezTo>
                    <a:pt x="561" y="41"/>
                    <a:pt x="562" y="41"/>
                    <a:pt x="563" y="40"/>
                  </a:cubicBezTo>
                  <a:cubicBezTo>
                    <a:pt x="564" y="34"/>
                    <a:pt x="564" y="34"/>
                    <a:pt x="564" y="34"/>
                  </a:cubicBezTo>
                  <a:cubicBezTo>
                    <a:pt x="564" y="35"/>
                    <a:pt x="563" y="35"/>
                    <a:pt x="562" y="35"/>
                  </a:cubicBezTo>
                  <a:cubicBezTo>
                    <a:pt x="562" y="35"/>
                    <a:pt x="561" y="36"/>
                    <a:pt x="560" y="36"/>
                  </a:cubicBezTo>
                  <a:cubicBezTo>
                    <a:pt x="560" y="36"/>
                    <a:pt x="559" y="36"/>
                    <a:pt x="558" y="36"/>
                  </a:cubicBezTo>
                  <a:cubicBezTo>
                    <a:pt x="557" y="36"/>
                    <a:pt x="556" y="36"/>
                    <a:pt x="555" y="35"/>
                  </a:cubicBezTo>
                  <a:cubicBezTo>
                    <a:pt x="554" y="35"/>
                    <a:pt x="554" y="34"/>
                    <a:pt x="553" y="34"/>
                  </a:cubicBezTo>
                  <a:cubicBezTo>
                    <a:pt x="553" y="33"/>
                    <a:pt x="553" y="32"/>
                    <a:pt x="552" y="31"/>
                  </a:cubicBezTo>
                  <a:cubicBezTo>
                    <a:pt x="552" y="30"/>
                    <a:pt x="552" y="29"/>
                    <a:pt x="552" y="29"/>
                  </a:cubicBezTo>
                  <a:cubicBezTo>
                    <a:pt x="552" y="27"/>
                    <a:pt x="552" y="26"/>
                    <a:pt x="553" y="25"/>
                  </a:cubicBezTo>
                  <a:cubicBezTo>
                    <a:pt x="553" y="23"/>
                    <a:pt x="554" y="22"/>
                    <a:pt x="554" y="21"/>
                  </a:cubicBezTo>
                  <a:cubicBezTo>
                    <a:pt x="555" y="20"/>
                    <a:pt x="556" y="19"/>
                    <a:pt x="557" y="19"/>
                  </a:cubicBezTo>
                  <a:cubicBezTo>
                    <a:pt x="558" y="18"/>
                    <a:pt x="560" y="18"/>
                    <a:pt x="561" y="18"/>
                  </a:cubicBezTo>
                  <a:cubicBezTo>
                    <a:pt x="562" y="18"/>
                    <a:pt x="563" y="18"/>
                    <a:pt x="564" y="18"/>
                  </a:cubicBezTo>
                  <a:cubicBezTo>
                    <a:pt x="565" y="18"/>
                    <a:pt x="566" y="19"/>
                    <a:pt x="567" y="19"/>
                  </a:cubicBezTo>
                  <a:lnTo>
                    <a:pt x="568" y="13"/>
                  </a:lnTo>
                  <a:close/>
                  <a:moveTo>
                    <a:pt x="595" y="29"/>
                  </a:moveTo>
                  <a:cubicBezTo>
                    <a:pt x="595" y="28"/>
                    <a:pt x="596" y="27"/>
                    <a:pt x="596" y="26"/>
                  </a:cubicBezTo>
                  <a:cubicBezTo>
                    <a:pt x="596" y="25"/>
                    <a:pt x="596" y="24"/>
                    <a:pt x="596" y="23"/>
                  </a:cubicBezTo>
                  <a:cubicBezTo>
                    <a:pt x="596" y="20"/>
                    <a:pt x="595" y="18"/>
                    <a:pt x="594" y="17"/>
                  </a:cubicBezTo>
                  <a:cubicBezTo>
                    <a:pt x="593" y="15"/>
                    <a:pt x="592" y="14"/>
                    <a:pt x="590" y="13"/>
                  </a:cubicBezTo>
                  <a:cubicBezTo>
                    <a:pt x="589" y="12"/>
                    <a:pt x="587" y="12"/>
                    <a:pt x="584" y="12"/>
                  </a:cubicBezTo>
                  <a:cubicBezTo>
                    <a:pt x="582" y="12"/>
                    <a:pt x="581" y="12"/>
                    <a:pt x="579" y="13"/>
                  </a:cubicBezTo>
                  <a:cubicBezTo>
                    <a:pt x="577" y="14"/>
                    <a:pt x="576" y="14"/>
                    <a:pt x="575" y="16"/>
                  </a:cubicBezTo>
                  <a:cubicBezTo>
                    <a:pt x="573" y="17"/>
                    <a:pt x="572" y="18"/>
                    <a:pt x="571" y="19"/>
                  </a:cubicBezTo>
                  <a:cubicBezTo>
                    <a:pt x="570" y="21"/>
                    <a:pt x="570" y="22"/>
                    <a:pt x="569" y="24"/>
                  </a:cubicBezTo>
                  <a:cubicBezTo>
                    <a:pt x="569" y="26"/>
                    <a:pt x="568" y="27"/>
                    <a:pt x="568" y="29"/>
                  </a:cubicBezTo>
                  <a:cubicBezTo>
                    <a:pt x="568" y="31"/>
                    <a:pt x="569" y="33"/>
                    <a:pt x="569" y="35"/>
                  </a:cubicBezTo>
                  <a:cubicBezTo>
                    <a:pt x="570" y="36"/>
                    <a:pt x="571" y="38"/>
                    <a:pt x="572" y="39"/>
                  </a:cubicBezTo>
                  <a:cubicBezTo>
                    <a:pt x="573" y="40"/>
                    <a:pt x="575" y="40"/>
                    <a:pt x="576" y="41"/>
                  </a:cubicBezTo>
                  <a:cubicBezTo>
                    <a:pt x="578" y="41"/>
                    <a:pt x="580" y="42"/>
                    <a:pt x="582" y="42"/>
                  </a:cubicBezTo>
                  <a:cubicBezTo>
                    <a:pt x="583" y="42"/>
                    <a:pt x="585" y="41"/>
                    <a:pt x="586" y="41"/>
                  </a:cubicBezTo>
                  <a:cubicBezTo>
                    <a:pt x="588" y="41"/>
                    <a:pt x="589" y="40"/>
                    <a:pt x="591" y="40"/>
                  </a:cubicBezTo>
                  <a:cubicBezTo>
                    <a:pt x="592" y="34"/>
                    <a:pt x="592" y="34"/>
                    <a:pt x="592" y="34"/>
                  </a:cubicBezTo>
                  <a:cubicBezTo>
                    <a:pt x="590" y="35"/>
                    <a:pt x="589" y="35"/>
                    <a:pt x="588" y="36"/>
                  </a:cubicBezTo>
                  <a:cubicBezTo>
                    <a:pt x="586" y="36"/>
                    <a:pt x="585" y="36"/>
                    <a:pt x="583" y="36"/>
                  </a:cubicBezTo>
                  <a:cubicBezTo>
                    <a:pt x="581" y="36"/>
                    <a:pt x="580" y="36"/>
                    <a:pt x="579" y="36"/>
                  </a:cubicBezTo>
                  <a:cubicBezTo>
                    <a:pt x="578" y="35"/>
                    <a:pt x="577" y="34"/>
                    <a:pt x="576" y="33"/>
                  </a:cubicBezTo>
                  <a:cubicBezTo>
                    <a:pt x="576" y="32"/>
                    <a:pt x="575" y="31"/>
                    <a:pt x="575" y="29"/>
                  </a:cubicBezTo>
                  <a:lnTo>
                    <a:pt x="595" y="29"/>
                  </a:lnTo>
                  <a:close/>
                  <a:moveTo>
                    <a:pt x="576" y="24"/>
                  </a:moveTo>
                  <a:cubicBezTo>
                    <a:pt x="577" y="23"/>
                    <a:pt x="577" y="22"/>
                    <a:pt x="578" y="21"/>
                  </a:cubicBezTo>
                  <a:cubicBezTo>
                    <a:pt x="579" y="20"/>
                    <a:pt x="579" y="19"/>
                    <a:pt x="580" y="18"/>
                  </a:cubicBezTo>
                  <a:cubicBezTo>
                    <a:pt x="581" y="18"/>
                    <a:pt x="583" y="17"/>
                    <a:pt x="584" y="17"/>
                  </a:cubicBezTo>
                  <a:cubicBezTo>
                    <a:pt x="586" y="17"/>
                    <a:pt x="587" y="18"/>
                    <a:pt x="588" y="19"/>
                  </a:cubicBezTo>
                  <a:cubicBezTo>
                    <a:pt x="588" y="19"/>
                    <a:pt x="589" y="21"/>
                    <a:pt x="589" y="22"/>
                  </a:cubicBezTo>
                  <a:cubicBezTo>
                    <a:pt x="589" y="22"/>
                    <a:pt x="589" y="23"/>
                    <a:pt x="589" y="23"/>
                  </a:cubicBezTo>
                  <a:cubicBezTo>
                    <a:pt x="589" y="23"/>
                    <a:pt x="589" y="24"/>
                    <a:pt x="589" y="24"/>
                  </a:cubicBezTo>
                  <a:lnTo>
                    <a:pt x="576" y="24"/>
                  </a:lnTo>
                  <a:close/>
                  <a:moveTo>
                    <a:pt x="621" y="13"/>
                  </a:moveTo>
                  <a:cubicBezTo>
                    <a:pt x="620" y="13"/>
                    <a:pt x="619" y="13"/>
                    <a:pt x="617" y="12"/>
                  </a:cubicBezTo>
                  <a:cubicBezTo>
                    <a:pt x="616" y="12"/>
                    <a:pt x="615" y="12"/>
                    <a:pt x="613" y="12"/>
                  </a:cubicBezTo>
                  <a:cubicBezTo>
                    <a:pt x="612" y="12"/>
                    <a:pt x="611" y="12"/>
                    <a:pt x="610" y="12"/>
                  </a:cubicBezTo>
                  <a:cubicBezTo>
                    <a:pt x="609" y="13"/>
                    <a:pt x="607" y="13"/>
                    <a:pt x="606" y="13"/>
                  </a:cubicBezTo>
                  <a:cubicBezTo>
                    <a:pt x="605" y="14"/>
                    <a:pt x="604" y="14"/>
                    <a:pt x="604" y="15"/>
                  </a:cubicBezTo>
                  <a:cubicBezTo>
                    <a:pt x="603" y="16"/>
                    <a:pt x="602" y="17"/>
                    <a:pt x="602" y="18"/>
                  </a:cubicBezTo>
                  <a:cubicBezTo>
                    <a:pt x="601" y="19"/>
                    <a:pt x="601" y="20"/>
                    <a:pt x="601" y="21"/>
                  </a:cubicBezTo>
                  <a:cubicBezTo>
                    <a:pt x="601" y="22"/>
                    <a:pt x="601" y="23"/>
                    <a:pt x="602" y="24"/>
                  </a:cubicBezTo>
                  <a:cubicBezTo>
                    <a:pt x="602" y="25"/>
                    <a:pt x="603" y="26"/>
                    <a:pt x="603" y="26"/>
                  </a:cubicBezTo>
                  <a:cubicBezTo>
                    <a:pt x="604" y="27"/>
                    <a:pt x="605" y="27"/>
                    <a:pt x="606" y="28"/>
                  </a:cubicBezTo>
                  <a:cubicBezTo>
                    <a:pt x="607" y="29"/>
                    <a:pt x="607" y="29"/>
                    <a:pt x="608" y="29"/>
                  </a:cubicBezTo>
                  <a:cubicBezTo>
                    <a:pt x="609" y="30"/>
                    <a:pt x="609" y="31"/>
                    <a:pt x="610" y="31"/>
                  </a:cubicBezTo>
                  <a:cubicBezTo>
                    <a:pt x="610" y="32"/>
                    <a:pt x="610" y="32"/>
                    <a:pt x="610" y="33"/>
                  </a:cubicBezTo>
                  <a:cubicBezTo>
                    <a:pt x="610" y="34"/>
                    <a:pt x="610" y="34"/>
                    <a:pt x="610" y="35"/>
                  </a:cubicBezTo>
                  <a:cubicBezTo>
                    <a:pt x="610" y="35"/>
                    <a:pt x="609" y="35"/>
                    <a:pt x="609" y="36"/>
                  </a:cubicBezTo>
                  <a:cubicBezTo>
                    <a:pt x="608" y="36"/>
                    <a:pt x="608" y="36"/>
                    <a:pt x="607" y="36"/>
                  </a:cubicBezTo>
                  <a:cubicBezTo>
                    <a:pt x="607" y="36"/>
                    <a:pt x="606" y="36"/>
                    <a:pt x="605" y="36"/>
                  </a:cubicBezTo>
                  <a:cubicBezTo>
                    <a:pt x="605" y="36"/>
                    <a:pt x="604" y="36"/>
                    <a:pt x="603" y="36"/>
                  </a:cubicBezTo>
                  <a:cubicBezTo>
                    <a:pt x="602" y="36"/>
                    <a:pt x="601" y="35"/>
                    <a:pt x="601" y="35"/>
                  </a:cubicBezTo>
                  <a:cubicBezTo>
                    <a:pt x="600" y="35"/>
                    <a:pt x="599" y="34"/>
                    <a:pt x="598" y="34"/>
                  </a:cubicBezTo>
                  <a:cubicBezTo>
                    <a:pt x="597" y="40"/>
                    <a:pt x="597" y="40"/>
                    <a:pt x="597" y="40"/>
                  </a:cubicBezTo>
                  <a:cubicBezTo>
                    <a:pt x="598" y="40"/>
                    <a:pt x="600" y="41"/>
                    <a:pt x="601" y="41"/>
                  </a:cubicBezTo>
                  <a:cubicBezTo>
                    <a:pt x="603" y="41"/>
                    <a:pt x="604" y="42"/>
                    <a:pt x="605" y="42"/>
                  </a:cubicBezTo>
                  <a:cubicBezTo>
                    <a:pt x="607" y="42"/>
                    <a:pt x="608" y="41"/>
                    <a:pt x="609" y="41"/>
                  </a:cubicBezTo>
                  <a:cubicBezTo>
                    <a:pt x="610" y="41"/>
                    <a:pt x="612" y="41"/>
                    <a:pt x="613" y="40"/>
                  </a:cubicBezTo>
                  <a:cubicBezTo>
                    <a:pt x="614" y="40"/>
                    <a:pt x="615" y="39"/>
                    <a:pt x="616" y="39"/>
                  </a:cubicBezTo>
                  <a:cubicBezTo>
                    <a:pt x="616" y="38"/>
                    <a:pt x="617" y="37"/>
                    <a:pt x="617" y="36"/>
                  </a:cubicBezTo>
                  <a:cubicBezTo>
                    <a:pt x="618" y="35"/>
                    <a:pt x="618" y="33"/>
                    <a:pt x="618" y="32"/>
                  </a:cubicBezTo>
                  <a:cubicBezTo>
                    <a:pt x="618" y="31"/>
                    <a:pt x="618" y="30"/>
                    <a:pt x="617" y="29"/>
                  </a:cubicBezTo>
                  <a:cubicBezTo>
                    <a:pt x="617" y="28"/>
                    <a:pt x="616" y="27"/>
                    <a:pt x="616" y="27"/>
                  </a:cubicBezTo>
                  <a:cubicBezTo>
                    <a:pt x="615" y="26"/>
                    <a:pt x="614" y="25"/>
                    <a:pt x="613" y="25"/>
                  </a:cubicBezTo>
                  <a:cubicBezTo>
                    <a:pt x="613" y="24"/>
                    <a:pt x="612" y="24"/>
                    <a:pt x="611" y="23"/>
                  </a:cubicBezTo>
                  <a:cubicBezTo>
                    <a:pt x="610" y="23"/>
                    <a:pt x="610" y="22"/>
                    <a:pt x="609" y="22"/>
                  </a:cubicBezTo>
                  <a:cubicBezTo>
                    <a:pt x="609" y="21"/>
                    <a:pt x="609" y="21"/>
                    <a:pt x="609" y="20"/>
                  </a:cubicBezTo>
                  <a:cubicBezTo>
                    <a:pt x="609" y="20"/>
                    <a:pt x="609" y="19"/>
                    <a:pt x="609" y="19"/>
                  </a:cubicBezTo>
                  <a:cubicBezTo>
                    <a:pt x="609" y="18"/>
                    <a:pt x="610" y="18"/>
                    <a:pt x="610" y="18"/>
                  </a:cubicBezTo>
                  <a:cubicBezTo>
                    <a:pt x="611" y="18"/>
                    <a:pt x="611" y="18"/>
                    <a:pt x="612" y="18"/>
                  </a:cubicBezTo>
                  <a:cubicBezTo>
                    <a:pt x="612" y="17"/>
                    <a:pt x="613" y="17"/>
                    <a:pt x="614" y="17"/>
                  </a:cubicBezTo>
                  <a:cubicBezTo>
                    <a:pt x="615" y="17"/>
                    <a:pt x="616" y="18"/>
                    <a:pt x="617" y="18"/>
                  </a:cubicBezTo>
                  <a:cubicBezTo>
                    <a:pt x="618" y="18"/>
                    <a:pt x="619" y="18"/>
                    <a:pt x="620" y="19"/>
                  </a:cubicBezTo>
                  <a:lnTo>
                    <a:pt x="621"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2400" dirty="0"/>
            </a:p>
          </p:txBody>
        </p:sp>
      </p:grpSp>
      <p:sp>
        <p:nvSpPr>
          <p:cNvPr id="23" name="Text Placeholder 1030"/>
          <p:cNvSpPr>
            <a:spLocks noGrp="1"/>
          </p:cNvSpPr>
          <p:nvPr>
            <p:ph type="body" sz="quarter" idx="10" hasCustomPrompt="1"/>
          </p:nvPr>
        </p:nvSpPr>
        <p:spPr>
          <a:xfrm>
            <a:off x="399133" y="4646313"/>
            <a:ext cx="4858623" cy="463576"/>
          </a:xfrm>
          <a:prstGeom prst="rect">
            <a:avLst/>
          </a:prstGeom>
        </p:spPr>
        <p:txBody>
          <a:bodyPr anchor="ctr"/>
          <a:lstStyle>
            <a:lvl1pPr marL="0" indent="0">
              <a:buNone/>
              <a:defRPr sz="2400"/>
            </a:lvl1pPr>
            <a:lvl2pPr marL="457177" indent="0">
              <a:buNone/>
              <a:defRPr/>
            </a:lvl2pPr>
            <a:lvl3pPr marL="914353" indent="0">
              <a:buNone/>
              <a:defRPr/>
            </a:lvl3pPr>
            <a:lvl4pPr marL="1371531" indent="0">
              <a:buNone/>
              <a:defRPr/>
            </a:lvl4pPr>
            <a:lvl5pPr marL="1828709" indent="0">
              <a:buNone/>
              <a:defRPr/>
            </a:lvl5pPr>
          </a:lstStyle>
          <a:p>
            <a:pPr lvl="0"/>
            <a:r>
              <a:rPr lang="en-US" dirty="0"/>
              <a:t>Name</a:t>
            </a:r>
            <a:endParaRPr lang="en-IN" dirty="0"/>
          </a:p>
        </p:txBody>
      </p:sp>
      <p:sp>
        <p:nvSpPr>
          <p:cNvPr id="24" name="Text Placeholder 1030"/>
          <p:cNvSpPr>
            <a:spLocks noGrp="1"/>
          </p:cNvSpPr>
          <p:nvPr>
            <p:ph type="body" sz="quarter" idx="11" hasCustomPrompt="1"/>
          </p:nvPr>
        </p:nvSpPr>
        <p:spPr>
          <a:xfrm>
            <a:off x="399133" y="5252919"/>
            <a:ext cx="4858623" cy="463576"/>
          </a:xfrm>
          <a:prstGeom prst="rect">
            <a:avLst/>
          </a:prstGeom>
        </p:spPr>
        <p:txBody>
          <a:bodyPr anchor="ctr">
            <a:normAutofit/>
          </a:bodyPr>
          <a:lstStyle>
            <a:lvl1pPr marL="0" indent="0">
              <a:buNone/>
              <a:defRPr sz="2400"/>
            </a:lvl1pPr>
            <a:lvl2pPr marL="457177" indent="0">
              <a:buNone/>
              <a:defRPr/>
            </a:lvl2pPr>
            <a:lvl3pPr marL="914353" indent="0">
              <a:buNone/>
              <a:defRPr/>
            </a:lvl3pPr>
            <a:lvl4pPr marL="1371531" indent="0">
              <a:buNone/>
              <a:defRPr/>
            </a:lvl4pPr>
            <a:lvl5pPr marL="1828709" indent="0">
              <a:buNone/>
              <a:defRPr/>
            </a:lvl5pPr>
          </a:lstStyle>
          <a:p>
            <a:pPr lvl="0"/>
            <a:r>
              <a:rPr lang="en-US" dirty="0"/>
              <a:t>Designation </a:t>
            </a:r>
            <a:endParaRPr lang="en-IN" dirty="0"/>
          </a:p>
        </p:txBody>
      </p:sp>
      <p:sp>
        <p:nvSpPr>
          <p:cNvPr id="26" name="Parallelogram 25"/>
          <p:cNvSpPr/>
          <p:nvPr userDrawn="1"/>
        </p:nvSpPr>
        <p:spPr>
          <a:xfrm>
            <a:off x="5756786" y="3518"/>
            <a:ext cx="6435213" cy="6553269"/>
          </a:xfrm>
          <a:custGeom>
            <a:avLst/>
            <a:gdLst/>
            <a:ahLst/>
            <a:cxnLst/>
            <a:rect l="l" t="t" r="r" b="b"/>
            <a:pathLst>
              <a:path w="5048250" h="5140862">
                <a:moveTo>
                  <a:pt x="3013830" y="0"/>
                </a:moveTo>
                <a:lnTo>
                  <a:pt x="5048250" y="0"/>
                </a:lnTo>
                <a:lnTo>
                  <a:pt x="5048250" y="5140862"/>
                </a:lnTo>
                <a:lnTo>
                  <a:pt x="0" y="5140862"/>
                </a:lnTo>
                <a:close/>
              </a:path>
            </a:pathLst>
          </a:custGeom>
          <a:solidFill>
            <a:schemeClr val="accent1"/>
          </a:solidFill>
          <a:ln>
            <a:noFill/>
          </a:ln>
        </p:spPr>
        <p:txBody>
          <a:bodyPr vert="horz" wrap="square" lIns="121920" tIns="60960" rIns="121920" bIns="60960" numCol="1" anchor="t" anchorCtr="0" compatLnSpc="1">
            <a:prstTxWarp prst="textNoShape">
              <a:avLst/>
            </a:prstTxWarp>
          </a:bodyPr>
          <a:lstStyle/>
          <a:p>
            <a:pPr lvl="0"/>
            <a:endParaRPr lang="en-IN" sz="2400" dirty="0">
              <a:solidFill>
                <a:schemeClr val="tx1"/>
              </a:solidFill>
            </a:endParaRPr>
          </a:p>
        </p:txBody>
      </p:sp>
      <p:sp>
        <p:nvSpPr>
          <p:cNvPr id="28" name="Picture Placeholder 3"/>
          <p:cNvSpPr>
            <a:spLocks noGrp="1"/>
          </p:cNvSpPr>
          <p:nvPr>
            <p:ph type="pic" sz="quarter" idx="14"/>
          </p:nvPr>
        </p:nvSpPr>
        <p:spPr>
          <a:xfrm>
            <a:off x="5839351" y="-1"/>
            <a:ext cx="6352651" cy="6556788"/>
          </a:xfrm>
          <a:custGeom>
            <a:avLst/>
            <a:gdLst/>
            <a:ahLst/>
            <a:cxnLst/>
            <a:rect l="l" t="t" r="r" b="b"/>
            <a:pathLst>
              <a:path w="5052943" h="5125139">
                <a:moveTo>
                  <a:pt x="3057525" y="0"/>
                </a:moveTo>
                <a:lnTo>
                  <a:pt x="5048250" y="0"/>
                </a:lnTo>
                <a:lnTo>
                  <a:pt x="5048250" y="1"/>
                </a:lnTo>
                <a:lnTo>
                  <a:pt x="5048250" y="3152775"/>
                </a:lnTo>
                <a:lnTo>
                  <a:pt x="5052943" y="3152775"/>
                </a:lnTo>
                <a:lnTo>
                  <a:pt x="5052943" y="5125138"/>
                </a:lnTo>
                <a:lnTo>
                  <a:pt x="5048250" y="5125138"/>
                </a:lnTo>
                <a:lnTo>
                  <a:pt x="3057525" y="5125138"/>
                </a:lnTo>
                <a:lnTo>
                  <a:pt x="2052619" y="5125138"/>
                </a:lnTo>
                <a:lnTo>
                  <a:pt x="2052618" y="5125139"/>
                </a:lnTo>
                <a:lnTo>
                  <a:pt x="0" y="5125139"/>
                </a:lnTo>
                <a:lnTo>
                  <a:pt x="2995632" y="1"/>
                </a:lnTo>
                <a:lnTo>
                  <a:pt x="3057525" y="1"/>
                </a:lnTo>
                <a:close/>
              </a:path>
            </a:pathLst>
          </a:custGeom>
          <a:solidFill>
            <a:schemeClr val="bg1">
              <a:lumMod val="85000"/>
            </a:schemeClr>
          </a:solidFill>
        </p:spPr>
        <p:txBody>
          <a:bodyPr lIns="0" tIns="0" rIns="0" bIns="0" anchor="ctr">
            <a:noAutofit/>
          </a:bodyPr>
          <a:lstStyle>
            <a:lvl1pPr marL="0" indent="0" algn="ctr">
              <a:buFont typeface="Arial" panose="020B0604020202020204" pitchFamily="34" charset="0"/>
              <a:buNone/>
              <a:defRPr lang="en-IN" dirty="0"/>
            </a:lvl1pPr>
          </a:lstStyle>
          <a:p>
            <a:endParaRPr lang="en-IN" dirty="0"/>
          </a:p>
        </p:txBody>
      </p:sp>
      <p:grpSp>
        <p:nvGrpSpPr>
          <p:cNvPr id="25" name="Group 24"/>
          <p:cNvGrpSpPr/>
          <p:nvPr userDrawn="1"/>
        </p:nvGrpSpPr>
        <p:grpSpPr>
          <a:xfrm>
            <a:off x="1049700" y="1007106"/>
            <a:ext cx="1065707" cy="1126383"/>
            <a:chOff x="-3330575" y="3005138"/>
            <a:chExt cx="1533526" cy="1620837"/>
          </a:xfrm>
          <a:solidFill>
            <a:srgbClr val="002060"/>
          </a:solidFill>
        </p:grpSpPr>
        <p:sp>
          <p:nvSpPr>
            <p:cNvPr id="27" name="Freeform 6"/>
            <p:cNvSpPr>
              <a:spLocks/>
            </p:cNvSpPr>
            <p:nvPr/>
          </p:nvSpPr>
          <p:spPr bwMode="auto">
            <a:xfrm>
              <a:off x="-3330575" y="3005138"/>
              <a:ext cx="1233488" cy="1620837"/>
            </a:xfrm>
            <a:custGeom>
              <a:avLst/>
              <a:gdLst>
                <a:gd name="T0" fmla="*/ 621 w 777"/>
                <a:gd name="T1" fmla="*/ 0 h 1021"/>
                <a:gd name="T2" fmla="*/ 0 w 777"/>
                <a:gd name="T3" fmla="*/ 1021 h 1021"/>
                <a:gd name="T4" fmla="*/ 621 w 777"/>
                <a:gd name="T5" fmla="*/ 1021 h 1021"/>
                <a:gd name="T6" fmla="*/ 777 w 777"/>
                <a:gd name="T7" fmla="*/ 785 h 1021"/>
                <a:gd name="T8" fmla="*/ 231 w 777"/>
                <a:gd name="T9" fmla="*/ 785 h 1021"/>
                <a:gd name="T10" fmla="*/ 699 w 777"/>
                <a:gd name="T11" fmla="*/ 0 h 1021"/>
                <a:gd name="T12" fmla="*/ 621 w 777"/>
                <a:gd name="T13" fmla="*/ 0 h 1021"/>
              </a:gdLst>
              <a:ahLst/>
              <a:cxnLst>
                <a:cxn ang="0">
                  <a:pos x="T0" y="T1"/>
                </a:cxn>
                <a:cxn ang="0">
                  <a:pos x="T2" y="T3"/>
                </a:cxn>
                <a:cxn ang="0">
                  <a:pos x="T4" y="T5"/>
                </a:cxn>
                <a:cxn ang="0">
                  <a:pos x="T6" y="T7"/>
                </a:cxn>
                <a:cxn ang="0">
                  <a:pos x="T8" y="T9"/>
                </a:cxn>
                <a:cxn ang="0">
                  <a:pos x="T10" y="T11"/>
                </a:cxn>
                <a:cxn ang="0">
                  <a:pos x="T12" y="T13"/>
                </a:cxn>
              </a:cxnLst>
              <a:rect l="0" t="0" r="r" b="b"/>
              <a:pathLst>
                <a:path w="777" h="1021">
                  <a:moveTo>
                    <a:pt x="621" y="0"/>
                  </a:moveTo>
                  <a:lnTo>
                    <a:pt x="0" y="1021"/>
                  </a:lnTo>
                  <a:lnTo>
                    <a:pt x="621" y="1021"/>
                  </a:lnTo>
                  <a:lnTo>
                    <a:pt x="777" y="785"/>
                  </a:lnTo>
                  <a:lnTo>
                    <a:pt x="231" y="785"/>
                  </a:lnTo>
                  <a:lnTo>
                    <a:pt x="699" y="0"/>
                  </a:ln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sp>
          <p:nvSpPr>
            <p:cNvPr id="29" name="Freeform 7"/>
            <p:cNvSpPr>
              <a:spLocks/>
            </p:cNvSpPr>
            <p:nvPr/>
          </p:nvSpPr>
          <p:spPr bwMode="auto">
            <a:xfrm>
              <a:off x="-2611437" y="3005138"/>
              <a:ext cx="814388" cy="1136650"/>
            </a:xfrm>
            <a:custGeom>
              <a:avLst/>
              <a:gdLst>
                <a:gd name="T0" fmla="*/ 435 w 513"/>
                <a:gd name="T1" fmla="*/ 0 h 716"/>
                <a:gd name="T2" fmla="*/ 513 w 513"/>
                <a:gd name="T3" fmla="*/ 0 h 716"/>
                <a:gd name="T4" fmla="*/ 78 w 513"/>
                <a:gd name="T5" fmla="*/ 716 h 716"/>
                <a:gd name="T6" fmla="*/ 0 w 513"/>
                <a:gd name="T7" fmla="*/ 716 h 716"/>
                <a:gd name="T8" fmla="*/ 435 w 513"/>
                <a:gd name="T9" fmla="*/ 0 h 716"/>
              </a:gdLst>
              <a:ahLst/>
              <a:cxnLst>
                <a:cxn ang="0">
                  <a:pos x="T0" y="T1"/>
                </a:cxn>
                <a:cxn ang="0">
                  <a:pos x="T2" y="T3"/>
                </a:cxn>
                <a:cxn ang="0">
                  <a:pos x="T4" y="T5"/>
                </a:cxn>
                <a:cxn ang="0">
                  <a:pos x="T6" y="T7"/>
                </a:cxn>
                <a:cxn ang="0">
                  <a:pos x="T8" y="T9"/>
                </a:cxn>
              </a:cxnLst>
              <a:rect l="0" t="0" r="r" b="b"/>
              <a:pathLst>
                <a:path w="513" h="716">
                  <a:moveTo>
                    <a:pt x="435" y="0"/>
                  </a:moveTo>
                  <a:lnTo>
                    <a:pt x="513" y="0"/>
                  </a:lnTo>
                  <a:lnTo>
                    <a:pt x="78" y="716"/>
                  </a:lnTo>
                  <a:lnTo>
                    <a:pt x="0" y="716"/>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grpSp>
      <p:grpSp>
        <p:nvGrpSpPr>
          <p:cNvPr id="30" name="Group 29"/>
          <p:cNvGrpSpPr/>
          <p:nvPr userDrawn="1"/>
        </p:nvGrpSpPr>
        <p:grpSpPr>
          <a:xfrm>
            <a:off x="5412294" y="2199399"/>
            <a:ext cx="996725" cy="1078995"/>
            <a:chOff x="2301081" y="6662108"/>
            <a:chExt cx="1500188" cy="1624012"/>
          </a:xfrm>
          <a:solidFill>
            <a:srgbClr val="002060"/>
          </a:solidFill>
        </p:grpSpPr>
        <p:sp>
          <p:nvSpPr>
            <p:cNvPr id="31" name="Freeform 8"/>
            <p:cNvSpPr>
              <a:spLocks/>
            </p:cNvSpPr>
            <p:nvPr/>
          </p:nvSpPr>
          <p:spPr bwMode="auto">
            <a:xfrm>
              <a:off x="2551906" y="6662108"/>
              <a:ext cx="1249363" cy="393700"/>
            </a:xfrm>
            <a:custGeom>
              <a:avLst/>
              <a:gdLst>
                <a:gd name="T0" fmla="*/ 402 w 787"/>
                <a:gd name="T1" fmla="*/ 248 h 248"/>
                <a:gd name="T2" fmla="*/ 633 w 787"/>
                <a:gd name="T3" fmla="*/ 248 h 248"/>
                <a:gd name="T4" fmla="*/ 787 w 787"/>
                <a:gd name="T5" fmla="*/ 0 h 248"/>
                <a:gd name="T6" fmla="*/ 151 w 787"/>
                <a:gd name="T7" fmla="*/ 0 h 248"/>
                <a:gd name="T8" fmla="*/ 0 w 787"/>
                <a:gd name="T9" fmla="*/ 246 h 248"/>
                <a:gd name="T10" fmla="*/ 402 w 787"/>
                <a:gd name="T11" fmla="*/ 248 h 248"/>
              </a:gdLst>
              <a:ahLst/>
              <a:cxnLst>
                <a:cxn ang="0">
                  <a:pos x="T0" y="T1"/>
                </a:cxn>
                <a:cxn ang="0">
                  <a:pos x="T2" y="T3"/>
                </a:cxn>
                <a:cxn ang="0">
                  <a:pos x="T4" y="T5"/>
                </a:cxn>
                <a:cxn ang="0">
                  <a:pos x="T6" y="T7"/>
                </a:cxn>
                <a:cxn ang="0">
                  <a:pos x="T8" y="T9"/>
                </a:cxn>
                <a:cxn ang="0">
                  <a:pos x="T10" y="T11"/>
                </a:cxn>
              </a:cxnLst>
              <a:rect l="0" t="0" r="r" b="b"/>
              <a:pathLst>
                <a:path w="787" h="248">
                  <a:moveTo>
                    <a:pt x="402" y="248"/>
                  </a:moveTo>
                  <a:lnTo>
                    <a:pt x="633" y="248"/>
                  </a:lnTo>
                  <a:lnTo>
                    <a:pt x="787" y="0"/>
                  </a:lnTo>
                  <a:lnTo>
                    <a:pt x="151" y="0"/>
                  </a:lnTo>
                  <a:lnTo>
                    <a:pt x="0" y="246"/>
                  </a:lnTo>
                  <a:lnTo>
                    <a:pt x="402"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sp>
          <p:nvSpPr>
            <p:cNvPr id="32" name="Freeform 9"/>
            <p:cNvSpPr>
              <a:spLocks/>
            </p:cNvSpPr>
            <p:nvPr/>
          </p:nvSpPr>
          <p:spPr bwMode="auto">
            <a:xfrm>
              <a:off x="2683669" y="7162170"/>
              <a:ext cx="809625" cy="1123950"/>
            </a:xfrm>
            <a:custGeom>
              <a:avLst/>
              <a:gdLst>
                <a:gd name="T0" fmla="*/ 435 w 510"/>
                <a:gd name="T1" fmla="*/ 0 h 708"/>
                <a:gd name="T2" fmla="*/ 510 w 510"/>
                <a:gd name="T3" fmla="*/ 0 h 708"/>
                <a:gd name="T4" fmla="*/ 78 w 510"/>
                <a:gd name="T5" fmla="*/ 708 h 708"/>
                <a:gd name="T6" fmla="*/ 0 w 510"/>
                <a:gd name="T7" fmla="*/ 708 h 708"/>
                <a:gd name="T8" fmla="*/ 435 w 510"/>
                <a:gd name="T9" fmla="*/ 0 h 708"/>
              </a:gdLst>
              <a:ahLst/>
              <a:cxnLst>
                <a:cxn ang="0">
                  <a:pos x="T0" y="T1"/>
                </a:cxn>
                <a:cxn ang="0">
                  <a:pos x="T2" y="T3"/>
                </a:cxn>
                <a:cxn ang="0">
                  <a:pos x="T4" y="T5"/>
                </a:cxn>
                <a:cxn ang="0">
                  <a:pos x="T6" y="T7"/>
                </a:cxn>
                <a:cxn ang="0">
                  <a:pos x="T8" y="T9"/>
                </a:cxn>
              </a:cxnLst>
              <a:rect l="0" t="0" r="r" b="b"/>
              <a:pathLst>
                <a:path w="510" h="708">
                  <a:moveTo>
                    <a:pt x="435" y="0"/>
                  </a:moveTo>
                  <a:lnTo>
                    <a:pt x="510" y="0"/>
                  </a:lnTo>
                  <a:lnTo>
                    <a:pt x="78" y="708"/>
                  </a:lnTo>
                  <a:lnTo>
                    <a:pt x="0" y="708"/>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sp>
          <p:nvSpPr>
            <p:cNvPr id="33" name="Freeform 10"/>
            <p:cNvSpPr>
              <a:spLocks/>
            </p:cNvSpPr>
            <p:nvPr/>
          </p:nvSpPr>
          <p:spPr bwMode="auto">
            <a:xfrm>
              <a:off x="2301081" y="7162170"/>
              <a:ext cx="803275" cy="1123950"/>
            </a:xfrm>
            <a:custGeom>
              <a:avLst/>
              <a:gdLst>
                <a:gd name="T0" fmla="*/ 430 w 506"/>
                <a:gd name="T1" fmla="*/ 0 h 708"/>
                <a:gd name="T2" fmla="*/ 506 w 506"/>
                <a:gd name="T3" fmla="*/ 0 h 708"/>
                <a:gd name="T4" fmla="*/ 76 w 506"/>
                <a:gd name="T5" fmla="*/ 708 h 708"/>
                <a:gd name="T6" fmla="*/ 0 w 506"/>
                <a:gd name="T7" fmla="*/ 708 h 708"/>
                <a:gd name="T8" fmla="*/ 430 w 506"/>
                <a:gd name="T9" fmla="*/ 0 h 708"/>
              </a:gdLst>
              <a:ahLst/>
              <a:cxnLst>
                <a:cxn ang="0">
                  <a:pos x="T0" y="T1"/>
                </a:cxn>
                <a:cxn ang="0">
                  <a:pos x="T2" y="T3"/>
                </a:cxn>
                <a:cxn ang="0">
                  <a:pos x="T4" y="T5"/>
                </a:cxn>
                <a:cxn ang="0">
                  <a:pos x="T6" y="T7"/>
                </a:cxn>
                <a:cxn ang="0">
                  <a:pos x="T8" y="T9"/>
                </a:cxn>
              </a:cxnLst>
              <a:rect l="0" t="0" r="r" b="b"/>
              <a:pathLst>
                <a:path w="506" h="708">
                  <a:moveTo>
                    <a:pt x="430" y="0"/>
                  </a:moveTo>
                  <a:lnTo>
                    <a:pt x="506" y="0"/>
                  </a:lnTo>
                  <a:lnTo>
                    <a:pt x="76" y="708"/>
                  </a:lnTo>
                  <a:lnTo>
                    <a:pt x="0" y="708"/>
                  </a:lnTo>
                  <a:lnTo>
                    <a:pt x="4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grpSp>
    </p:spTree>
    <p:extLst>
      <p:ext uri="{BB962C8B-B14F-4D97-AF65-F5344CB8AC3E}">
        <p14:creationId xmlns:p14="http://schemas.microsoft.com/office/powerpoint/2010/main" val="788100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with_Grid_BG">
    <p:spTree>
      <p:nvGrpSpPr>
        <p:cNvPr id="1" name=""/>
        <p:cNvGrpSpPr/>
        <p:nvPr/>
      </p:nvGrpSpPr>
      <p:grpSpPr>
        <a:xfrm>
          <a:off x="0" y="0"/>
          <a:ext cx="0" cy="0"/>
          <a:chOff x="0" y="0"/>
          <a:chExt cx="0" cy="0"/>
        </a:xfrm>
      </p:grpSpPr>
      <p:sp>
        <p:nvSpPr>
          <p:cNvPr id="9" name="Rectangle 8"/>
          <p:cNvSpPr/>
          <p:nvPr/>
        </p:nvSpPr>
        <p:spPr>
          <a:xfrm>
            <a:off x="0" y="6583685"/>
            <a:ext cx="12192000" cy="2743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9" tIns="45719" rIns="91439" bIns="45719"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p:cNvSpPr txBox="1"/>
          <p:nvPr/>
        </p:nvSpPr>
        <p:spPr>
          <a:xfrm>
            <a:off x="4496676" y="6581380"/>
            <a:ext cx="3228639" cy="276997"/>
          </a:xfrm>
          <a:prstGeom prst="rect">
            <a:avLst/>
          </a:prstGeom>
          <a:noFill/>
        </p:spPr>
        <p:txBody>
          <a:bodyPr wrap="none" lIns="91439" tIns="45719" rIns="91439" bIns="45719" rtlCol="0">
            <a:spAutoFit/>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Confidential | L&amp;T Technology Services | © 2017</a:t>
            </a:r>
          </a:p>
        </p:txBody>
      </p:sp>
      <p:sp>
        <p:nvSpPr>
          <p:cNvPr id="12" name="TextBox 11"/>
          <p:cNvSpPr txBox="1"/>
          <p:nvPr/>
        </p:nvSpPr>
        <p:spPr>
          <a:xfrm>
            <a:off x="11437495" y="6581379"/>
            <a:ext cx="614596" cy="276997"/>
          </a:xfrm>
          <a:prstGeom prst="rect">
            <a:avLst/>
          </a:prstGeom>
          <a:noFill/>
        </p:spPr>
        <p:txBody>
          <a:bodyPr wrap="square" lIns="91439" tIns="45719" rIns="91439" bIns="45719" rtlCol="0">
            <a:spAutoFit/>
          </a:bodyPr>
          <a:lstStyle/>
          <a:p>
            <a:pPr marL="0" marR="0" lvl="0" indent="0" algn="r" defTabSz="914332" rtl="0" eaLnBrk="1" fontAlgn="auto" latinLnBrk="0" hangingPunct="1">
              <a:lnSpc>
                <a:spcPct val="100000"/>
              </a:lnSpc>
              <a:spcBef>
                <a:spcPts val="0"/>
              </a:spcBef>
              <a:spcAft>
                <a:spcPts val="0"/>
              </a:spcAft>
              <a:buClrTx/>
              <a:buSzTx/>
              <a:buFontTx/>
              <a:buNone/>
              <a:tabLst/>
              <a:defRPr/>
            </a:pPr>
            <a:fld id="{D1AD548E-8EA6-684F-9B89-4E9F5DC57BB8}" type="slidenum">
              <a:rPr kumimoji="0" lang="en-US" sz="1200" b="0" i="0" u="none" strike="noStrike" kern="1200" cap="none" spc="0" normalizeH="0" baseline="0" noProof="0" smtClean="0">
                <a:ln>
                  <a:noFill/>
                </a:ln>
                <a:solidFill>
                  <a:srgbClr val="297FD5">
                    <a:lumMod val="75000"/>
                  </a:srgbClr>
                </a:solidFill>
                <a:effectLst/>
                <a:uLnTx/>
                <a:uFillTx/>
                <a:latin typeface="Calibri"/>
                <a:ea typeface="+mn-ea"/>
                <a:cs typeface="+mn-cs"/>
              </a:rPr>
              <a:pPr marL="0" marR="0" lvl="0" indent="0" algn="r" defTabSz="914332"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97FD5">
                  <a:lumMod val="75000"/>
                </a:srgbClr>
              </a:solidFill>
              <a:effectLst/>
              <a:uLnTx/>
              <a:uFillTx/>
              <a:latin typeface="Calibri"/>
              <a:ea typeface="+mn-ea"/>
              <a:cs typeface="+mn-cs"/>
            </a:endParaRPr>
          </a:p>
        </p:txBody>
      </p:sp>
      <p:sp>
        <p:nvSpPr>
          <p:cNvPr id="6" name="Title 1"/>
          <p:cNvSpPr>
            <a:spLocks noGrp="1"/>
          </p:cNvSpPr>
          <p:nvPr>
            <p:ph type="title"/>
          </p:nvPr>
        </p:nvSpPr>
        <p:spPr>
          <a:xfrm>
            <a:off x="650621" y="-40521"/>
            <a:ext cx="11379200" cy="673820"/>
          </a:xfrm>
        </p:spPr>
        <p:txBody>
          <a:bodyPr anchor="b">
            <a:normAutofit/>
          </a:bodyPr>
          <a:lstStyle>
            <a:lvl1pPr>
              <a:defRPr sz="2500" b="1">
                <a:solidFill>
                  <a:schemeClr val="tx1">
                    <a:lumMod val="75000"/>
                    <a:lumOff val="25000"/>
                  </a:schemeClr>
                </a:solidFill>
                <a:latin typeface="+mj-lt"/>
                <a:ea typeface="Calibri" charset="0"/>
                <a:cs typeface="Calibri" charset="0"/>
              </a:defRPr>
            </a:lvl1pPr>
          </a:lstStyle>
          <a:p>
            <a:r>
              <a:rPr lang="en-US" dirty="0"/>
              <a:t>Click to edit Master title style</a:t>
            </a:r>
          </a:p>
        </p:txBody>
      </p:sp>
      <p:sp>
        <p:nvSpPr>
          <p:cNvPr id="7" name="Content Placeholder 2"/>
          <p:cNvSpPr>
            <a:spLocks noGrp="1"/>
          </p:cNvSpPr>
          <p:nvPr>
            <p:ph idx="1"/>
          </p:nvPr>
        </p:nvSpPr>
        <p:spPr>
          <a:xfrm>
            <a:off x="406400" y="889000"/>
            <a:ext cx="11379200" cy="5588000"/>
          </a:xfrm>
        </p:spPr>
        <p:txBody>
          <a:bodyPr>
            <a:normAutofit/>
          </a:bodyPr>
          <a:lstStyle>
            <a:lvl1pPr>
              <a:defRPr sz="3200">
                <a:solidFill>
                  <a:schemeClr val="tx1">
                    <a:lumMod val="75000"/>
                    <a:lumOff val="25000"/>
                  </a:schemeClr>
                </a:solidFill>
              </a:defRPr>
            </a:lvl1pPr>
            <a:lvl2pPr>
              <a:defRPr sz="2400">
                <a:solidFill>
                  <a:schemeClr val="tx1">
                    <a:lumMod val="75000"/>
                    <a:lumOff val="25000"/>
                  </a:schemeClr>
                </a:solidFill>
              </a:defRPr>
            </a:lvl2pPr>
            <a:lvl3pPr>
              <a:defRPr sz="2133">
                <a:solidFill>
                  <a:schemeClr val="tx1">
                    <a:lumMod val="75000"/>
                    <a:lumOff val="25000"/>
                  </a:schemeClr>
                </a:solidFill>
              </a:defRPr>
            </a:lvl3pPr>
            <a:lvl4pPr>
              <a:defRPr sz="1867">
                <a:solidFill>
                  <a:schemeClr val="tx1">
                    <a:lumMod val="75000"/>
                    <a:lumOff val="25000"/>
                  </a:schemeClr>
                </a:solidFill>
              </a:defRPr>
            </a:lvl4pPr>
            <a:lvl5pPr>
              <a:defRPr sz="1867">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 name="Group 1"/>
          <p:cNvGrpSpPr/>
          <p:nvPr/>
        </p:nvGrpSpPr>
        <p:grpSpPr>
          <a:xfrm>
            <a:off x="333332" y="633676"/>
            <a:ext cx="11525339" cy="144093"/>
            <a:chOff x="249998" y="488319"/>
            <a:chExt cx="8644004" cy="108070"/>
          </a:xfrm>
        </p:grpSpPr>
        <p:sp>
          <p:nvSpPr>
            <p:cNvPr id="18" name="Parallelogram 2"/>
            <p:cNvSpPr/>
            <p:nvPr/>
          </p:nvSpPr>
          <p:spPr>
            <a:xfrm>
              <a:off x="249998" y="488320"/>
              <a:ext cx="8585221" cy="108069"/>
            </a:xfrm>
            <a:custGeom>
              <a:avLst/>
              <a:gdLst/>
              <a:ahLst/>
              <a:cxnLst/>
              <a:rect l="l" t="t" r="r" b="b"/>
              <a:pathLst>
                <a:path w="8585221" h="108069">
                  <a:moveTo>
                    <a:pt x="48252" y="0"/>
                  </a:moveTo>
                  <a:lnTo>
                    <a:pt x="79398" y="0"/>
                  </a:lnTo>
                  <a:lnTo>
                    <a:pt x="48099" y="42519"/>
                  </a:lnTo>
                  <a:lnTo>
                    <a:pt x="8554075" y="42519"/>
                  </a:lnTo>
                  <a:lnTo>
                    <a:pt x="8566173" y="42519"/>
                  </a:lnTo>
                  <a:lnTo>
                    <a:pt x="8585221" y="42519"/>
                  </a:lnTo>
                  <a:lnTo>
                    <a:pt x="8536969" y="108069"/>
                  </a:lnTo>
                  <a:lnTo>
                    <a:pt x="8505823" y="108069"/>
                  </a:lnTo>
                  <a:lnTo>
                    <a:pt x="8537122" y="65550"/>
                  </a:lnTo>
                  <a:lnTo>
                    <a:pt x="31146" y="65550"/>
                  </a:lnTo>
                  <a:lnTo>
                    <a:pt x="22248" y="65550"/>
                  </a:lnTo>
                  <a:lnTo>
                    <a:pt x="0" y="65550"/>
                  </a:lnTo>
                  <a:close/>
                </a:path>
              </a:pathLst>
            </a:custGeom>
            <a:gradFill flip="none" rotWithShape="1">
              <a:gsLst>
                <a:gs pos="0">
                  <a:srgbClr val="FFC000"/>
                </a:gs>
                <a:gs pos="100000">
                  <a:srgbClr val="4A66A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Parallelogram 2"/>
            <p:cNvSpPr/>
            <p:nvPr/>
          </p:nvSpPr>
          <p:spPr>
            <a:xfrm rot="10800000" flipH="1" flipV="1">
              <a:off x="308781" y="488319"/>
              <a:ext cx="8585221" cy="108069"/>
            </a:xfrm>
            <a:custGeom>
              <a:avLst/>
              <a:gdLst/>
              <a:ahLst/>
              <a:cxnLst/>
              <a:rect l="l" t="t" r="r" b="b"/>
              <a:pathLst>
                <a:path w="8585221" h="108069">
                  <a:moveTo>
                    <a:pt x="48252" y="0"/>
                  </a:moveTo>
                  <a:lnTo>
                    <a:pt x="79398" y="0"/>
                  </a:lnTo>
                  <a:lnTo>
                    <a:pt x="48099" y="42519"/>
                  </a:lnTo>
                  <a:lnTo>
                    <a:pt x="8554075" y="42519"/>
                  </a:lnTo>
                  <a:lnTo>
                    <a:pt x="8566173" y="42519"/>
                  </a:lnTo>
                  <a:lnTo>
                    <a:pt x="8585221" y="42519"/>
                  </a:lnTo>
                  <a:lnTo>
                    <a:pt x="8536969" y="108069"/>
                  </a:lnTo>
                  <a:lnTo>
                    <a:pt x="8505823" y="108069"/>
                  </a:lnTo>
                  <a:lnTo>
                    <a:pt x="8537122" y="65550"/>
                  </a:lnTo>
                  <a:lnTo>
                    <a:pt x="31146" y="65550"/>
                  </a:lnTo>
                  <a:lnTo>
                    <a:pt x="22248" y="65550"/>
                  </a:lnTo>
                  <a:lnTo>
                    <a:pt x="0" y="65550"/>
                  </a:lnTo>
                  <a:close/>
                </a:path>
              </a:pathLst>
            </a:custGeom>
            <a:gradFill flip="none" rotWithShape="1">
              <a:gsLst>
                <a:gs pos="0">
                  <a:srgbClr val="FFC000"/>
                </a:gs>
                <a:gs pos="100000">
                  <a:srgbClr val="4A66A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8222987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userDrawn="1"/>
        </p:nvSpPr>
        <p:spPr>
          <a:xfrm>
            <a:off x="3974168" y="6581380"/>
            <a:ext cx="4273668" cy="276997"/>
          </a:xfrm>
          <a:prstGeom prst="rect">
            <a:avLst/>
          </a:prstGeom>
          <a:noFill/>
        </p:spPr>
        <p:txBody>
          <a:bodyPr wrap="none" lIns="91439" tIns="45719" rIns="91439" bIns="45719" rtlCol="0">
            <a:spAutoFit/>
          </a:bodyPr>
          <a:lstStyle/>
          <a:p>
            <a:pPr algn="ctr" defTabSz="914354">
              <a:defRPr/>
            </a:pPr>
            <a:r>
              <a:rPr lang="en-US" sz="1200" dirty="0">
                <a:solidFill>
                  <a:schemeClr val="tx1">
                    <a:lumMod val="75000"/>
                    <a:lumOff val="25000"/>
                  </a:schemeClr>
                </a:solidFill>
                <a:latin typeface="+mn-lt"/>
              </a:rPr>
              <a:t>Restricted Circulation | L&amp;T Technology Services | www.LTTS.com</a:t>
            </a:r>
          </a:p>
        </p:txBody>
      </p:sp>
      <p:sp>
        <p:nvSpPr>
          <p:cNvPr id="12" name="TextBox 11"/>
          <p:cNvSpPr txBox="1"/>
          <p:nvPr userDrawn="1"/>
        </p:nvSpPr>
        <p:spPr>
          <a:xfrm>
            <a:off x="11437495" y="6581379"/>
            <a:ext cx="614596" cy="276997"/>
          </a:xfrm>
          <a:prstGeom prst="rect">
            <a:avLst/>
          </a:prstGeom>
          <a:noFill/>
        </p:spPr>
        <p:txBody>
          <a:bodyPr wrap="square" lIns="91439" tIns="45719" rIns="91439" bIns="45719" rtlCol="0">
            <a:spAutoFit/>
          </a:bodyPr>
          <a:lstStyle/>
          <a:p>
            <a:pPr algn="r" defTabSz="914354"/>
            <a:fld id="{D1AD548E-8EA6-684F-9B89-4E9F5DC57BB8}" type="slidenum">
              <a:rPr lang="en-US" sz="1200" smtClean="0">
                <a:solidFill>
                  <a:schemeClr val="tx1">
                    <a:lumMod val="75000"/>
                    <a:lumOff val="25000"/>
                  </a:schemeClr>
                </a:solidFill>
                <a:latin typeface="Calibri"/>
              </a:rPr>
              <a:pPr algn="r" defTabSz="914354"/>
              <a:t>‹#›</a:t>
            </a:fld>
            <a:endParaRPr lang="en-US" sz="1200" dirty="0">
              <a:solidFill>
                <a:schemeClr val="tx1">
                  <a:lumMod val="75000"/>
                  <a:lumOff val="25000"/>
                </a:schemeClr>
              </a:solidFill>
              <a:latin typeface="Calibri"/>
            </a:endParaRPr>
          </a:p>
        </p:txBody>
      </p:sp>
      <p:sp>
        <p:nvSpPr>
          <p:cNvPr id="16" name="Rectangle: Rounded Corners 15"/>
          <p:cNvSpPr/>
          <p:nvPr userDrawn="1"/>
        </p:nvSpPr>
        <p:spPr>
          <a:xfrm>
            <a:off x="578564" y="628076"/>
            <a:ext cx="1393371" cy="48768"/>
          </a:xfrm>
          <a:prstGeom prst="roundRect">
            <a:avLst/>
          </a:prstGeom>
          <a:solidFill>
            <a:srgbClr val="FFCC2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96345349"/>
      </p:ext>
    </p:extLst>
  </p:cSld>
  <p:clrMap bg1="lt1" tx1="dk1" bg2="lt2" tx2="dk2" accent1="accent1" accent2="accent2" accent3="accent3" accent4="accent4" accent5="accent5" accent6="accent6" hlink="hlink" folHlink="folHlink"/>
  <p:sldLayoutIdLst>
    <p:sldLayoutId id="2147484419" r:id="rId1"/>
    <p:sldLayoutId id="2147484442" r:id="rId2"/>
    <p:sldLayoutId id="2147484420" r:id="rId3"/>
    <p:sldLayoutId id="2147484421" r:id="rId4"/>
    <p:sldLayoutId id="2147484444" r:id="rId5"/>
  </p:sldLayoutIdLst>
  <p:hf hdr="0" ftr="0" dt="0"/>
  <p:txStyles>
    <p:titleStyle>
      <a:lvl1pPr algn="l" defTabSz="914354" rtl="0" eaLnBrk="1" latinLnBrk="0" hangingPunct="1">
        <a:lnSpc>
          <a:spcPct val="90000"/>
        </a:lnSpc>
        <a:spcBef>
          <a:spcPct val="0"/>
        </a:spcBef>
        <a:buNone/>
        <a:defRPr sz="2800" b="1" kern="1200">
          <a:solidFill>
            <a:schemeClr val="bg2"/>
          </a:solidFill>
          <a:latin typeface="+mn-lt"/>
          <a:ea typeface="+mj-ea"/>
          <a:cs typeface="+mj-cs"/>
        </a:defRPr>
      </a:lvl1pPr>
    </p:titleStyle>
    <p:bodyStyle>
      <a:lvl1pPr marL="228589" marR="0" indent="-228589" algn="l" defTabSz="914354" rtl="0" eaLnBrk="1" fontAlgn="auto" latinLnBrk="0" hangingPunct="1">
        <a:lnSpc>
          <a:spcPct val="90000"/>
        </a:lnSpc>
        <a:spcBef>
          <a:spcPts val="1000"/>
        </a:spcBef>
        <a:spcAft>
          <a:spcPts val="0"/>
        </a:spcAft>
        <a:buClrTx/>
        <a:buSzTx/>
        <a:buFontTx/>
        <a:buBlip>
          <a:blip r:embed="rId7"/>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7"/>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7"/>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7"/>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7"/>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p:bodyStyle>
    <p:otherStyle>
      <a:defPPr>
        <a:defRPr lang="en-US"/>
      </a:defPPr>
      <a:lvl1pPr marL="0" algn="l" defTabSz="914354" rtl="0" eaLnBrk="1" latinLnBrk="0" hangingPunct="1">
        <a:defRPr sz="1867" kern="1200">
          <a:solidFill>
            <a:schemeClr val="tx1"/>
          </a:solidFill>
          <a:latin typeface="+mn-lt"/>
          <a:ea typeface="+mn-ea"/>
          <a:cs typeface="+mn-cs"/>
        </a:defRPr>
      </a:lvl1pPr>
      <a:lvl2pPr marL="457178" algn="l" defTabSz="914354" rtl="0" eaLnBrk="1" latinLnBrk="0" hangingPunct="1">
        <a:defRPr sz="1867" kern="1200">
          <a:solidFill>
            <a:schemeClr val="tx1"/>
          </a:solidFill>
          <a:latin typeface="+mn-lt"/>
          <a:ea typeface="+mn-ea"/>
          <a:cs typeface="+mn-cs"/>
        </a:defRPr>
      </a:lvl2pPr>
      <a:lvl3pPr marL="914354" algn="l" defTabSz="914354" rtl="0" eaLnBrk="1" latinLnBrk="0" hangingPunct="1">
        <a:defRPr sz="1867" kern="1200">
          <a:solidFill>
            <a:schemeClr val="tx1"/>
          </a:solidFill>
          <a:latin typeface="+mn-lt"/>
          <a:ea typeface="+mn-ea"/>
          <a:cs typeface="+mn-cs"/>
        </a:defRPr>
      </a:lvl3pPr>
      <a:lvl4pPr marL="1371532" algn="l" defTabSz="914354" rtl="0" eaLnBrk="1" latinLnBrk="0" hangingPunct="1">
        <a:defRPr sz="1867" kern="1200">
          <a:solidFill>
            <a:schemeClr val="tx1"/>
          </a:solidFill>
          <a:latin typeface="+mn-lt"/>
          <a:ea typeface="+mn-ea"/>
          <a:cs typeface="+mn-cs"/>
        </a:defRPr>
      </a:lvl4pPr>
      <a:lvl5pPr marL="1828709" algn="l" defTabSz="914354" rtl="0" eaLnBrk="1" latinLnBrk="0" hangingPunct="1">
        <a:defRPr sz="1867" kern="1200">
          <a:solidFill>
            <a:schemeClr val="tx1"/>
          </a:solidFill>
          <a:latin typeface="+mn-lt"/>
          <a:ea typeface="+mn-ea"/>
          <a:cs typeface="+mn-cs"/>
        </a:defRPr>
      </a:lvl5pPr>
      <a:lvl6pPr marL="2285886" algn="l" defTabSz="914354" rtl="0" eaLnBrk="1" latinLnBrk="0" hangingPunct="1">
        <a:defRPr sz="1867" kern="1200">
          <a:solidFill>
            <a:schemeClr val="tx1"/>
          </a:solidFill>
          <a:latin typeface="+mn-lt"/>
          <a:ea typeface="+mn-ea"/>
          <a:cs typeface="+mn-cs"/>
        </a:defRPr>
      </a:lvl6pPr>
      <a:lvl7pPr marL="2743062" algn="l" defTabSz="914354" rtl="0" eaLnBrk="1" latinLnBrk="0" hangingPunct="1">
        <a:defRPr sz="1867" kern="1200">
          <a:solidFill>
            <a:schemeClr val="tx1"/>
          </a:solidFill>
          <a:latin typeface="+mn-lt"/>
          <a:ea typeface="+mn-ea"/>
          <a:cs typeface="+mn-cs"/>
        </a:defRPr>
      </a:lvl7pPr>
      <a:lvl8pPr marL="3200240" algn="l" defTabSz="914354" rtl="0" eaLnBrk="1" latinLnBrk="0" hangingPunct="1">
        <a:defRPr sz="1867" kern="1200">
          <a:solidFill>
            <a:schemeClr val="tx1"/>
          </a:solidFill>
          <a:latin typeface="+mn-lt"/>
          <a:ea typeface="+mn-ea"/>
          <a:cs typeface="+mn-cs"/>
        </a:defRPr>
      </a:lvl8pPr>
      <a:lvl9pPr marL="3657418" algn="l" defTabSz="914354" rtl="0" eaLnBrk="1" latinLnBrk="0" hangingPunct="1">
        <a:defRPr sz="18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pic>
        <p:nvPicPr>
          <p:cNvPr id="62" name="Graphic 61"/>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0" y="362269"/>
            <a:ext cx="4470400" cy="824467"/>
          </a:xfrm>
          <a:prstGeom prst="rect">
            <a:avLst/>
          </a:prstGeom>
        </p:spPr>
      </p:pic>
      <p:grpSp>
        <p:nvGrpSpPr>
          <p:cNvPr id="64" name="Group 63"/>
          <p:cNvGrpSpPr/>
          <p:nvPr/>
        </p:nvGrpSpPr>
        <p:grpSpPr bwMode="gray">
          <a:xfrm>
            <a:off x="1518776" y="1874895"/>
            <a:ext cx="801059" cy="782333"/>
            <a:chOff x="-3330575" y="3005138"/>
            <a:chExt cx="1533526" cy="1620837"/>
          </a:xfrm>
          <a:solidFill>
            <a:srgbClr val="FFCC29"/>
          </a:solidFill>
        </p:grpSpPr>
        <p:sp>
          <p:nvSpPr>
            <p:cNvPr id="65" name="Freeform 6"/>
            <p:cNvSpPr>
              <a:spLocks/>
            </p:cNvSpPr>
            <p:nvPr/>
          </p:nvSpPr>
          <p:spPr bwMode="gray">
            <a:xfrm>
              <a:off x="-3330575" y="3005138"/>
              <a:ext cx="1233488" cy="1620837"/>
            </a:xfrm>
            <a:custGeom>
              <a:avLst/>
              <a:gdLst>
                <a:gd name="T0" fmla="*/ 621 w 777"/>
                <a:gd name="T1" fmla="*/ 0 h 1021"/>
                <a:gd name="T2" fmla="*/ 0 w 777"/>
                <a:gd name="T3" fmla="*/ 1021 h 1021"/>
                <a:gd name="T4" fmla="*/ 621 w 777"/>
                <a:gd name="T5" fmla="*/ 1021 h 1021"/>
                <a:gd name="T6" fmla="*/ 777 w 777"/>
                <a:gd name="T7" fmla="*/ 785 h 1021"/>
                <a:gd name="T8" fmla="*/ 231 w 777"/>
                <a:gd name="T9" fmla="*/ 785 h 1021"/>
                <a:gd name="T10" fmla="*/ 699 w 777"/>
                <a:gd name="T11" fmla="*/ 0 h 1021"/>
                <a:gd name="T12" fmla="*/ 621 w 777"/>
                <a:gd name="T13" fmla="*/ 0 h 1021"/>
              </a:gdLst>
              <a:ahLst/>
              <a:cxnLst>
                <a:cxn ang="0">
                  <a:pos x="T0" y="T1"/>
                </a:cxn>
                <a:cxn ang="0">
                  <a:pos x="T2" y="T3"/>
                </a:cxn>
                <a:cxn ang="0">
                  <a:pos x="T4" y="T5"/>
                </a:cxn>
                <a:cxn ang="0">
                  <a:pos x="T6" y="T7"/>
                </a:cxn>
                <a:cxn ang="0">
                  <a:pos x="T8" y="T9"/>
                </a:cxn>
                <a:cxn ang="0">
                  <a:pos x="T10" y="T11"/>
                </a:cxn>
                <a:cxn ang="0">
                  <a:pos x="T12" y="T13"/>
                </a:cxn>
              </a:cxnLst>
              <a:rect l="0" t="0" r="r" b="b"/>
              <a:pathLst>
                <a:path w="777" h="1021">
                  <a:moveTo>
                    <a:pt x="621" y="0"/>
                  </a:moveTo>
                  <a:lnTo>
                    <a:pt x="0" y="1021"/>
                  </a:lnTo>
                  <a:lnTo>
                    <a:pt x="621" y="1021"/>
                  </a:lnTo>
                  <a:lnTo>
                    <a:pt x="777" y="785"/>
                  </a:lnTo>
                  <a:lnTo>
                    <a:pt x="231" y="785"/>
                  </a:lnTo>
                  <a:lnTo>
                    <a:pt x="699" y="0"/>
                  </a:ln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sp>
          <p:nvSpPr>
            <p:cNvPr id="66" name="Freeform 7"/>
            <p:cNvSpPr>
              <a:spLocks/>
            </p:cNvSpPr>
            <p:nvPr/>
          </p:nvSpPr>
          <p:spPr bwMode="gray">
            <a:xfrm>
              <a:off x="-2611437" y="3005138"/>
              <a:ext cx="814388" cy="1136650"/>
            </a:xfrm>
            <a:custGeom>
              <a:avLst/>
              <a:gdLst>
                <a:gd name="T0" fmla="*/ 435 w 513"/>
                <a:gd name="T1" fmla="*/ 0 h 716"/>
                <a:gd name="T2" fmla="*/ 513 w 513"/>
                <a:gd name="T3" fmla="*/ 0 h 716"/>
                <a:gd name="T4" fmla="*/ 78 w 513"/>
                <a:gd name="T5" fmla="*/ 716 h 716"/>
                <a:gd name="T6" fmla="*/ 0 w 513"/>
                <a:gd name="T7" fmla="*/ 716 h 716"/>
                <a:gd name="T8" fmla="*/ 435 w 513"/>
                <a:gd name="T9" fmla="*/ 0 h 716"/>
              </a:gdLst>
              <a:ahLst/>
              <a:cxnLst>
                <a:cxn ang="0">
                  <a:pos x="T0" y="T1"/>
                </a:cxn>
                <a:cxn ang="0">
                  <a:pos x="T2" y="T3"/>
                </a:cxn>
                <a:cxn ang="0">
                  <a:pos x="T4" y="T5"/>
                </a:cxn>
                <a:cxn ang="0">
                  <a:pos x="T6" y="T7"/>
                </a:cxn>
                <a:cxn ang="0">
                  <a:pos x="T8" y="T9"/>
                </a:cxn>
              </a:cxnLst>
              <a:rect l="0" t="0" r="r" b="b"/>
              <a:pathLst>
                <a:path w="513" h="716">
                  <a:moveTo>
                    <a:pt x="435" y="0"/>
                  </a:moveTo>
                  <a:lnTo>
                    <a:pt x="513" y="0"/>
                  </a:lnTo>
                  <a:lnTo>
                    <a:pt x="78" y="716"/>
                  </a:lnTo>
                  <a:lnTo>
                    <a:pt x="0" y="716"/>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grpSp>
      <p:grpSp>
        <p:nvGrpSpPr>
          <p:cNvPr id="67" name="Group 66"/>
          <p:cNvGrpSpPr/>
          <p:nvPr/>
        </p:nvGrpSpPr>
        <p:grpSpPr bwMode="gray">
          <a:xfrm>
            <a:off x="9677117" y="4056795"/>
            <a:ext cx="804544" cy="783647"/>
            <a:chOff x="2301081" y="6662108"/>
            <a:chExt cx="1500188" cy="1624012"/>
          </a:xfrm>
          <a:solidFill>
            <a:srgbClr val="FFCC29"/>
          </a:solidFill>
        </p:grpSpPr>
        <p:sp>
          <p:nvSpPr>
            <p:cNvPr id="68" name="Freeform 8"/>
            <p:cNvSpPr>
              <a:spLocks/>
            </p:cNvSpPr>
            <p:nvPr/>
          </p:nvSpPr>
          <p:spPr bwMode="gray">
            <a:xfrm>
              <a:off x="2551906" y="6662108"/>
              <a:ext cx="1249363" cy="393700"/>
            </a:xfrm>
            <a:custGeom>
              <a:avLst/>
              <a:gdLst>
                <a:gd name="T0" fmla="*/ 402 w 787"/>
                <a:gd name="T1" fmla="*/ 248 h 248"/>
                <a:gd name="T2" fmla="*/ 633 w 787"/>
                <a:gd name="T3" fmla="*/ 248 h 248"/>
                <a:gd name="T4" fmla="*/ 787 w 787"/>
                <a:gd name="T5" fmla="*/ 0 h 248"/>
                <a:gd name="T6" fmla="*/ 151 w 787"/>
                <a:gd name="T7" fmla="*/ 0 h 248"/>
                <a:gd name="T8" fmla="*/ 0 w 787"/>
                <a:gd name="T9" fmla="*/ 246 h 248"/>
                <a:gd name="T10" fmla="*/ 402 w 787"/>
                <a:gd name="T11" fmla="*/ 248 h 248"/>
              </a:gdLst>
              <a:ahLst/>
              <a:cxnLst>
                <a:cxn ang="0">
                  <a:pos x="T0" y="T1"/>
                </a:cxn>
                <a:cxn ang="0">
                  <a:pos x="T2" y="T3"/>
                </a:cxn>
                <a:cxn ang="0">
                  <a:pos x="T4" y="T5"/>
                </a:cxn>
                <a:cxn ang="0">
                  <a:pos x="T6" y="T7"/>
                </a:cxn>
                <a:cxn ang="0">
                  <a:pos x="T8" y="T9"/>
                </a:cxn>
                <a:cxn ang="0">
                  <a:pos x="T10" y="T11"/>
                </a:cxn>
              </a:cxnLst>
              <a:rect l="0" t="0" r="r" b="b"/>
              <a:pathLst>
                <a:path w="787" h="248">
                  <a:moveTo>
                    <a:pt x="402" y="248"/>
                  </a:moveTo>
                  <a:lnTo>
                    <a:pt x="633" y="248"/>
                  </a:lnTo>
                  <a:lnTo>
                    <a:pt x="787" y="0"/>
                  </a:lnTo>
                  <a:lnTo>
                    <a:pt x="151" y="0"/>
                  </a:lnTo>
                  <a:lnTo>
                    <a:pt x="0" y="246"/>
                  </a:lnTo>
                  <a:lnTo>
                    <a:pt x="402"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sp>
          <p:nvSpPr>
            <p:cNvPr id="69" name="Freeform 9"/>
            <p:cNvSpPr>
              <a:spLocks/>
            </p:cNvSpPr>
            <p:nvPr/>
          </p:nvSpPr>
          <p:spPr bwMode="gray">
            <a:xfrm>
              <a:off x="2683669" y="7162170"/>
              <a:ext cx="809625" cy="1123950"/>
            </a:xfrm>
            <a:custGeom>
              <a:avLst/>
              <a:gdLst>
                <a:gd name="T0" fmla="*/ 435 w 510"/>
                <a:gd name="T1" fmla="*/ 0 h 708"/>
                <a:gd name="T2" fmla="*/ 510 w 510"/>
                <a:gd name="T3" fmla="*/ 0 h 708"/>
                <a:gd name="T4" fmla="*/ 78 w 510"/>
                <a:gd name="T5" fmla="*/ 708 h 708"/>
                <a:gd name="T6" fmla="*/ 0 w 510"/>
                <a:gd name="T7" fmla="*/ 708 h 708"/>
                <a:gd name="T8" fmla="*/ 435 w 510"/>
                <a:gd name="T9" fmla="*/ 0 h 708"/>
              </a:gdLst>
              <a:ahLst/>
              <a:cxnLst>
                <a:cxn ang="0">
                  <a:pos x="T0" y="T1"/>
                </a:cxn>
                <a:cxn ang="0">
                  <a:pos x="T2" y="T3"/>
                </a:cxn>
                <a:cxn ang="0">
                  <a:pos x="T4" y="T5"/>
                </a:cxn>
                <a:cxn ang="0">
                  <a:pos x="T6" y="T7"/>
                </a:cxn>
                <a:cxn ang="0">
                  <a:pos x="T8" y="T9"/>
                </a:cxn>
              </a:cxnLst>
              <a:rect l="0" t="0" r="r" b="b"/>
              <a:pathLst>
                <a:path w="510" h="708">
                  <a:moveTo>
                    <a:pt x="435" y="0"/>
                  </a:moveTo>
                  <a:lnTo>
                    <a:pt x="510" y="0"/>
                  </a:lnTo>
                  <a:lnTo>
                    <a:pt x="78" y="708"/>
                  </a:lnTo>
                  <a:lnTo>
                    <a:pt x="0" y="708"/>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sp>
          <p:nvSpPr>
            <p:cNvPr id="70" name="Freeform 10"/>
            <p:cNvSpPr>
              <a:spLocks/>
            </p:cNvSpPr>
            <p:nvPr/>
          </p:nvSpPr>
          <p:spPr bwMode="gray">
            <a:xfrm>
              <a:off x="2301081" y="7162170"/>
              <a:ext cx="803275" cy="1123950"/>
            </a:xfrm>
            <a:custGeom>
              <a:avLst/>
              <a:gdLst>
                <a:gd name="T0" fmla="*/ 430 w 506"/>
                <a:gd name="T1" fmla="*/ 0 h 708"/>
                <a:gd name="T2" fmla="*/ 506 w 506"/>
                <a:gd name="T3" fmla="*/ 0 h 708"/>
                <a:gd name="T4" fmla="*/ 76 w 506"/>
                <a:gd name="T5" fmla="*/ 708 h 708"/>
                <a:gd name="T6" fmla="*/ 0 w 506"/>
                <a:gd name="T7" fmla="*/ 708 h 708"/>
                <a:gd name="T8" fmla="*/ 430 w 506"/>
                <a:gd name="T9" fmla="*/ 0 h 708"/>
              </a:gdLst>
              <a:ahLst/>
              <a:cxnLst>
                <a:cxn ang="0">
                  <a:pos x="T0" y="T1"/>
                </a:cxn>
                <a:cxn ang="0">
                  <a:pos x="T2" y="T3"/>
                </a:cxn>
                <a:cxn ang="0">
                  <a:pos x="T4" y="T5"/>
                </a:cxn>
                <a:cxn ang="0">
                  <a:pos x="T6" y="T7"/>
                </a:cxn>
                <a:cxn ang="0">
                  <a:pos x="T8" y="T9"/>
                </a:cxn>
              </a:cxnLst>
              <a:rect l="0" t="0" r="r" b="b"/>
              <a:pathLst>
                <a:path w="506" h="708">
                  <a:moveTo>
                    <a:pt x="430" y="0"/>
                  </a:moveTo>
                  <a:lnTo>
                    <a:pt x="506" y="0"/>
                  </a:lnTo>
                  <a:lnTo>
                    <a:pt x="76" y="708"/>
                  </a:lnTo>
                  <a:lnTo>
                    <a:pt x="0" y="708"/>
                  </a:lnTo>
                  <a:lnTo>
                    <a:pt x="4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grpSp>
      <p:sp>
        <p:nvSpPr>
          <p:cNvPr id="72" name="TextBox 71"/>
          <p:cNvSpPr txBox="1"/>
          <p:nvPr/>
        </p:nvSpPr>
        <p:spPr>
          <a:xfrm>
            <a:off x="2022766" y="2076048"/>
            <a:ext cx="8085144" cy="1062727"/>
          </a:xfrm>
          <a:prstGeom prst="rect">
            <a:avLst/>
          </a:prstGeom>
          <a:noFill/>
        </p:spPr>
        <p:txBody>
          <a:bodyPr wrap="square" rtlCol="0">
            <a:spAutoFit/>
          </a:bodyPr>
          <a:lstStyle/>
          <a:p>
            <a:pPr lvl="0" algn="ctr" defTabSz="171412">
              <a:lnSpc>
                <a:spcPct val="150000"/>
              </a:lnSpc>
              <a:defRPr/>
            </a:pPr>
            <a:r>
              <a:rPr lang="en-US" sz="4800" b="1" dirty="0">
                <a:solidFill>
                  <a:srgbClr val="FFFFFF"/>
                </a:solidFill>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Checklist Document</a:t>
            </a:r>
          </a:p>
        </p:txBody>
      </p:sp>
      <p:pic>
        <p:nvPicPr>
          <p:cNvPr id="5" name="Picture 4" descr="A picture containing drawing&#10;&#10;Description automatically generated">
            <a:extLst>
              <a:ext uri="{FF2B5EF4-FFF2-40B4-BE49-F238E27FC236}">
                <a16:creationId xmlns:a16="http://schemas.microsoft.com/office/drawing/2014/main" id="{E1BFF4E5-9FC6-4651-A248-3D53933358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77117" y="262872"/>
            <a:ext cx="2370236" cy="711072"/>
          </a:xfrm>
          <a:prstGeom prst="rect">
            <a:avLst/>
          </a:prstGeom>
        </p:spPr>
      </p:pic>
    </p:spTree>
    <p:extLst>
      <p:ext uri="{BB962C8B-B14F-4D97-AF65-F5344CB8AC3E}">
        <p14:creationId xmlns:p14="http://schemas.microsoft.com/office/powerpoint/2010/main" val="2451085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Definitions/Acronyms: </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Font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a:p>
            <a:pPr marL="342891" marR="0" lvl="1" indent="0" algn="l" defTabSz="685783" rtl="0" eaLnBrk="1" fontAlgn="auto" latinLnBrk="0" hangingPunct="1">
              <a:lnSpc>
                <a:spcPct val="90000"/>
              </a:lnSpc>
              <a:spcBef>
                <a:spcPts val="375"/>
              </a:spcBef>
              <a:spcAft>
                <a:spcPts val="0"/>
              </a:spcAft>
              <a:buClrTx/>
              <a:buSzTx/>
              <a:buFont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946963745"/>
              </p:ext>
            </p:extLst>
          </p:nvPr>
        </p:nvGraphicFramePr>
        <p:xfrm>
          <a:off x="513278" y="1577009"/>
          <a:ext cx="9213818" cy="3664226"/>
        </p:xfrm>
        <a:graphic>
          <a:graphicData uri="http://schemas.openxmlformats.org/drawingml/2006/table">
            <a:tbl>
              <a:tblPr firstRow="1" bandRow="1">
                <a:tableStyleId>{72833802-FEF1-4C79-8D5D-14CF1EAF98D9}</a:tableStyleId>
              </a:tblPr>
              <a:tblGrid>
                <a:gridCol w="1951626">
                  <a:extLst>
                    <a:ext uri="{9D8B030D-6E8A-4147-A177-3AD203B41FA5}">
                      <a16:colId xmlns:a16="http://schemas.microsoft.com/office/drawing/2014/main" val="1924955592"/>
                    </a:ext>
                  </a:extLst>
                </a:gridCol>
                <a:gridCol w="7262192">
                  <a:extLst>
                    <a:ext uri="{9D8B030D-6E8A-4147-A177-3AD203B41FA5}">
                      <a16:colId xmlns:a16="http://schemas.microsoft.com/office/drawing/2014/main" val="2858474719"/>
                    </a:ext>
                  </a:extLst>
                </a:gridCol>
              </a:tblGrid>
              <a:tr h="569843">
                <a:tc>
                  <a:txBody>
                    <a:bodyPr/>
                    <a:lstStyle/>
                    <a:p>
                      <a:pPr algn="ctr"/>
                      <a:r>
                        <a:rPr lang="en-US" sz="2000" dirty="0"/>
                        <a:t>Term/Acronym </a:t>
                      </a:r>
                    </a:p>
                  </a:txBody>
                  <a:tcPr/>
                </a:tc>
                <a:tc>
                  <a:txBody>
                    <a:bodyPr/>
                    <a:lstStyle/>
                    <a:p>
                      <a:pPr algn="ctr"/>
                      <a:r>
                        <a:rPr lang="en-US" sz="2000" dirty="0"/>
                        <a:t>Definition</a:t>
                      </a:r>
                    </a:p>
                  </a:txBody>
                  <a:tcPr/>
                </a:tc>
                <a:extLst>
                  <a:ext uri="{0D108BD9-81ED-4DB2-BD59-A6C34878D82A}">
                    <a16:rowId xmlns:a16="http://schemas.microsoft.com/office/drawing/2014/main" val="135878623"/>
                  </a:ext>
                </a:extLst>
              </a:tr>
              <a:tr h="516835">
                <a:tc>
                  <a:txBody>
                    <a:bodyPr/>
                    <a:lstStyle/>
                    <a:p>
                      <a:r>
                        <a:rPr lang="en-US" sz="1800" dirty="0"/>
                        <a:t>A-SPICE </a:t>
                      </a:r>
                    </a:p>
                  </a:txBody>
                  <a:tcPr/>
                </a:tc>
                <a:tc>
                  <a:txBody>
                    <a:bodyPr/>
                    <a:lstStyle/>
                    <a:p>
                      <a:r>
                        <a:rPr lang="en-US" sz="1800" dirty="0"/>
                        <a:t>Automotive Software Process Improvement and Capability Determination</a:t>
                      </a:r>
                    </a:p>
                  </a:txBody>
                  <a:tcPr/>
                </a:tc>
                <a:extLst>
                  <a:ext uri="{0D108BD9-81ED-4DB2-BD59-A6C34878D82A}">
                    <a16:rowId xmlns:a16="http://schemas.microsoft.com/office/drawing/2014/main" val="1031953701"/>
                  </a:ext>
                </a:extLst>
              </a:tr>
              <a:tr h="453887">
                <a:tc>
                  <a:txBody>
                    <a:bodyPr/>
                    <a:lstStyle/>
                    <a:p>
                      <a:r>
                        <a:rPr lang="en-US" sz="1800" dirty="0"/>
                        <a:t>SYS</a:t>
                      </a:r>
                    </a:p>
                  </a:txBody>
                  <a:tcPr/>
                </a:tc>
                <a:tc>
                  <a:txBody>
                    <a:bodyPr/>
                    <a:lstStyle/>
                    <a:p>
                      <a:r>
                        <a:rPr lang="en-US" sz="1800" dirty="0"/>
                        <a:t>System Engineering</a:t>
                      </a:r>
                    </a:p>
                  </a:txBody>
                  <a:tcPr/>
                </a:tc>
                <a:extLst>
                  <a:ext uri="{0D108BD9-81ED-4DB2-BD59-A6C34878D82A}">
                    <a16:rowId xmlns:a16="http://schemas.microsoft.com/office/drawing/2014/main" val="1963118354"/>
                  </a:ext>
                </a:extLst>
              </a:tr>
              <a:tr h="470452">
                <a:tc>
                  <a:txBody>
                    <a:bodyPr/>
                    <a:lstStyle/>
                    <a:p>
                      <a:r>
                        <a:rPr lang="en-US" sz="1800" dirty="0"/>
                        <a:t>SWE</a:t>
                      </a:r>
                    </a:p>
                  </a:txBody>
                  <a:tcPr/>
                </a:tc>
                <a:tc>
                  <a:txBody>
                    <a:bodyPr/>
                    <a:lstStyle/>
                    <a:p>
                      <a:r>
                        <a:rPr lang="en-US" sz="1800" dirty="0"/>
                        <a:t>Software Engineering </a:t>
                      </a:r>
                    </a:p>
                  </a:txBody>
                  <a:tcPr/>
                </a:tc>
                <a:extLst>
                  <a:ext uri="{0D108BD9-81ED-4DB2-BD59-A6C34878D82A}">
                    <a16:rowId xmlns:a16="http://schemas.microsoft.com/office/drawing/2014/main" val="1182131327"/>
                  </a:ext>
                </a:extLst>
              </a:tr>
              <a:tr h="738809">
                <a:tc>
                  <a:txBody>
                    <a:bodyPr/>
                    <a:lstStyle/>
                    <a:p>
                      <a:r>
                        <a:rPr lang="en-US" sz="1800" dirty="0"/>
                        <a:t>Workflow </a:t>
                      </a:r>
                    </a:p>
                  </a:txBody>
                  <a:tcPr/>
                </a:tc>
                <a:tc>
                  <a:txBody>
                    <a:bodyPr/>
                    <a:lstStyle/>
                    <a:p>
                      <a:r>
                        <a:rPr lang="en-US" sz="1800" dirty="0"/>
                        <a:t>Definition, execution and automation of business processes where tasks, information or documents are passed from one participant to another for action, according to a set of procedural rules.</a:t>
                      </a:r>
                    </a:p>
                  </a:txBody>
                  <a:tcPr/>
                </a:tc>
                <a:extLst>
                  <a:ext uri="{0D108BD9-81ED-4DB2-BD59-A6C34878D82A}">
                    <a16:rowId xmlns:a16="http://schemas.microsoft.com/office/drawing/2014/main" val="2931372868"/>
                  </a:ext>
                </a:extLst>
              </a:tr>
              <a:tr h="738809">
                <a:tc>
                  <a:txBody>
                    <a:bodyPr/>
                    <a:lstStyle/>
                    <a:p>
                      <a:r>
                        <a:rPr lang="en-US" sz="1800" dirty="0"/>
                        <a:t>Trace</a:t>
                      </a:r>
                    </a:p>
                  </a:txBody>
                  <a:tcPr/>
                </a:tc>
                <a:tc>
                  <a:txBody>
                    <a:bodyPr/>
                    <a:lstStyle/>
                    <a:p>
                      <a:r>
                        <a:rPr lang="en-US" sz="1800" dirty="0"/>
                        <a:t>Link between two meaningful contents in a document </a:t>
                      </a:r>
                    </a:p>
                  </a:txBody>
                  <a:tcPr/>
                </a:tc>
                <a:extLst>
                  <a:ext uri="{0D108BD9-81ED-4DB2-BD59-A6C34878D82A}">
                    <a16:rowId xmlns:a16="http://schemas.microsoft.com/office/drawing/2014/main" val="3937923885"/>
                  </a:ext>
                </a:extLst>
              </a:tr>
            </a:tbl>
          </a:graphicData>
        </a:graphic>
      </p:graphicFrame>
    </p:spTree>
    <p:extLst>
      <p:ext uri="{BB962C8B-B14F-4D97-AF65-F5344CB8AC3E}">
        <p14:creationId xmlns:p14="http://schemas.microsoft.com/office/powerpoint/2010/main" val="1517598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What Are Items?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6202017" y="983087"/>
            <a:ext cx="5711325" cy="6412012"/>
          </a:xfrm>
          <a:prstGeom prst="rect">
            <a:avLst/>
          </a:prstGeom>
          <a:noFill/>
        </p:spPr>
        <p:txBody>
          <a:bodyPr wrap="square">
            <a:spAutoFit/>
          </a:bodyPr>
          <a:lstStyle/>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514350" marR="0" lvl="1" indent="-28575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Items are the basic building blocks of the Integrity data model, and represent the information assets and process objects associated with software development.</a:t>
            </a:r>
          </a:p>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For example, items can represent Work items, projects, requirements, test cases, change requests, and defects.</a:t>
            </a:r>
          </a:p>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Every item is configurable and contains metadata and history about that item.</a:t>
            </a:r>
          </a:p>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Every item type has its own enforceable workflow which describes how it moves from state to state, complete with definable rules, full audit trails, and security.</a:t>
            </a:r>
          </a:p>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Escalations, conditional assignments, notifications, and external processes can all be defined and initiated as part of Integrity’s process automation</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96C4F70D-255D-4762-85AF-B1231AF763EE}"/>
              </a:ext>
            </a:extLst>
          </p:cNvPr>
          <p:cNvPicPr>
            <a:picLocks noChangeAspect="1"/>
          </p:cNvPicPr>
          <p:nvPr/>
        </p:nvPicPr>
        <p:blipFill>
          <a:blip r:embed="rId2"/>
          <a:stretch>
            <a:fillRect/>
          </a:stretch>
        </p:blipFill>
        <p:spPr>
          <a:xfrm>
            <a:off x="765727" y="1558645"/>
            <a:ext cx="4591050" cy="4152900"/>
          </a:xfrm>
          <a:prstGeom prst="rect">
            <a:avLst/>
          </a:prstGeom>
        </p:spPr>
      </p:pic>
    </p:spTree>
    <p:extLst>
      <p:ext uri="{BB962C8B-B14F-4D97-AF65-F5344CB8AC3E}">
        <p14:creationId xmlns:p14="http://schemas.microsoft.com/office/powerpoint/2010/main" val="94656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Item Details view</a:t>
            </a:r>
          </a:p>
        </p:txBody>
      </p:sp>
      <p:pic>
        <p:nvPicPr>
          <p:cNvPr id="17" name="Picture 16"/>
          <p:cNvPicPr>
            <a:picLocks noChangeAspect="1"/>
          </p:cNvPicPr>
          <p:nvPr/>
        </p:nvPicPr>
        <p:blipFill rotWithShape="1">
          <a:blip r:embed="rId2"/>
          <a:srcRect l="1095" t="4339" r="35047" b="4887"/>
          <a:stretch/>
        </p:blipFill>
        <p:spPr>
          <a:xfrm>
            <a:off x="6465885" y="4509354"/>
            <a:ext cx="1499554" cy="991608"/>
          </a:xfrm>
          <a:prstGeom prst="rect">
            <a:avLst/>
          </a:prstGeom>
          <a:solidFill>
            <a:schemeClr val="bg1"/>
          </a:solidFill>
          <a:ln w="19050">
            <a:solidFill>
              <a:schemeClr val="accent1">
                <a:shade val="50000"/>
              </a:schemeClr>
            </a:solidFill>
          </a:ln>
        </p:spPr>
      </p:pic>
      <p:sp>
        <p:nvSpPr>
          <p:cNvPr id="34" name="Oval 33">
            <a:extLst>
              <a:ext uri="{FF2B5EF4-FFF2-40B4-BE49-F238E27FC236}">
                <a16:creationId xmlns:a16="http://schemas.microsoft.com/office/drawing/2014/main" id="{4DC1545C-771E-4F68-9C80-CAC090263C98}"/>
              </a:ext>
            </a:extLst>
          </p:cNvPr>
          <p:cNvSpPr/>
          <p:nvPr/>
        </p:nvSpPr>
        <p:spPr>
          <a:xfrm>
            <a:off x="3125247" y="561083"/>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GB" sz="1000" dirty="0"/>
          </a:p>
        </p:txBody>
      </p:sp>
      <p:sp>
        <p:nvSpPr>
          <p:cNvPr id="36" name="Oval 35">
            <a:extLst>
              <a:ext uri="{FF2B5EF4-FFF2-40B4-BE49-F238E27FC236}">
                <a16:creationId xmlns:a16="http://schemas.microsoft.com/office/drawing/2014/main" id="{A3FFD76B-27FB-425F-A759-74FEEA3A5DA9}"/>
              </a:ext>
            </a:extLst>
          </p:cNvPr>
          <p:cNvSpPr/>
          <p:nvPr/>
        </p:nvSpPr>
        <p:spPr>
          <a:xfrm>
            <a:off x="4097907" y="1404178"/>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2</a:t>
            </a:r>
            <a:endParaRPr lang="en-GB" sz="1000" dirty="0"/>
          </a:p>
        </p:txBody>
      </p:sp>
      <p:sp>
        <p:nvSpPr>
          <p:cNvPr id="37" name="Oval 36">
            <a:extLst>
              <a:ext uri="{FF2B5EF4-FFF2-40B4-BE49-F238E27FC236}">
                <a16:creationId xmlns:a16="http://schemas.microsoft.com/office/drawing/2014/main" id="{54CEC4E6-5993-4D9F-BFCE-C25ADD912A7E}"/>
              </a:ext>
            </a:extLst>
          </p:cNvPr>
          <p:cNvSpPr/>
          <p:nvPr/>
        </p:nvSpPr>
        <p:spPr>
          <a:xfrm>
            <a:off x="4890958" y="2422631"/>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3</a:t>
            </a:r>
          </a:p>
        </p:txBody>
      </p:sp>
      <p:sp>
        <p:nvSpPr>
          <p:cNvPr id="38" name="Oval 37">
            <a:extLst>
              <a:ext uri="{FF2B5EF4-FFF2-40B4-BE49-F238E27FC236}">
                <a16:creationId xmlns:a16="http://schemas.microsoft.com/office/drawing/2014/main" id="{0DE2FD3E-0A0D-4FB5-9EFD-5D2459CED567}"/>
              </a:ext>
            </a:extLst>
          </p:cNvPr>
          <p:cNvSpPr/>
          <p:nvPr/>
        </p:nvSpPr>
        <p:spPr>
          <a:xfrm>
            <a:off x="7266303" y="3284280"/>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4</a:t>
            </a:r>
          </a:p>
        </p:txBody>
      </p:sp>
      <p:sp>
        <p:nvSpPr>
          <p:cNvPr id="39" name="Oval 38">
            <a:extLst>
              <a:ext uri="{FF2B5EF4-FFF2-40B4-BE49-F238E27FC236}">
                <a16:creationId xmlns:a16="http://schemas.microsoft.com/office/drawing/2014/main" id="{ADFD7514-DBA5-4559-8452-0AB4F9E23DAF}"/>
              </a:ext>
            </a:extLst>
          </p:cNvPr>
          <p:cNvSpPr/>
          <p:nvPr/>
        </p:nvSpPr>
        <p:spPr>
          <a:xfrm>
            <a:off x="8052465" y="4105249"/>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5</a:t>
            </a:r>
          </a:p>
        </p:txBody>
      </p:sp>
      <p:sp>
        <p:nvSpPr>
          <p:cNvPr id="40" name="Oval 39">
            <a:extLst>
              <a:ext uri="{FF2B5EF4-FFF2-40B4-BE49-F238E27FC236}">
                <a16:creationId xmlns:a16="http://schemas.microsoft.com/office/drawing/2014/main" id="{AF44B619-805A-4AC4-BA48-846C74F1CCEE}"/>
              </a:ext>
            </a:extLst>
          </p:cNvPr>
          <p:cNvSpPr/>
          <p:nvPr/>
        </p:nvSpPr>
        <p:spPr>
          <a:xfrm>
            <a:off x="9467913" y="4874635"/>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6</a:t>
            </a:r>
          </a:p>
        </p:txBody>
      </p:sp>
      <p:pic>
        <p:nvPicPr>
          <p:cNvPr id="10" name="Picture 9" descr="A screenshot of a computer&#10;&#10;Description automatically generated">
            <a:extLst>
              <a:ext uri="{FF2B5EF4-FFF2-40B4-BE49-F238E27FC236}">
                <a16:creationId xmlns:a16="http://schemas.microsoft.com/office/drawing/2014/main" id="{66399F6B-518C-4C91-B36C-5BB117959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141" y="822129"/>
            <a:ext cx="12095181" cy="5474787"/>
          </a:xfrm>
          <a:prstGeom prst="rect">
            <a:avLst/>
          </a:prstGeom>
        </p:spPr>
      </p:pic>
    </p:spTree>
    <p:extLst>
      <p:ext uri="{BB962C8B-B14F-4D97-AF65-F5344CB8AC3E}">
        <p14:creationId xmlns:p14="http://schemas.microsoft.com/office/powerpoint/2010/main" val="2327867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What Is a Document?</a:t>
            </a:r>
          </a:p>
        </p:txBody>
      </p:sp>
      <p:sp>
        <p:nvSpPr>
          <p:cNvPr id="23" name="TextBox 22">
            <a:extLst>
              <a:ext uri="{FF2B5EF4-FFF2-40B4-BE49-F238E27FC236}">
                <a16:creationId xmlns:a16="http://schemas.microsoft.com/office/drawing/2014/main" id="{AFAC35A9-528E-4930-9369-7923F4B5DC2B}"/>
              </a:ext>
            </a:extLst>
          </p:cNvPr>
          <p:cNvSpPr txBox="1"/>
          <p:nvPr/>
        </p:nvSpPr>
        <p:spPr>
          <a:xfrm>
            <a:off x="381552" y="995787"/>
            <a:ext cx="11086548" cy="3831818"/>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US" dirty="0"/>
              <a:t>Documents are typically used in the requirements management and test management domains.</a:t>
            </a:r>
          </a:p>
          <a:p>
            <a:pPr marL="285750" indent="-285750">
              <a:spcBef>
                <a:spcPts val="600"/>
              </a:spcBef>
              <a:spcAft>
                <a:spcPts val="600"/>
              </a:spcAft>
              <a:buFont typeface="Arial" panose="020B0604020202020204" pitchFamily="34" charset="0"/>
              <a:buChar char="•"/>
            </a:pPr>
            <a:r>
              <a:rPr lang="en-US" dirty="0"/>
              <a:t>With the applicable permissions, you can manage all aspects of document and content creation and modification, including creating relationships between content items across and between domains, called trace relationships. </a:t>
            </a:r>
          </a:p>
          <a:p>
            <a:pPr marL="285750" indent="-285750">
              <a:spcBef>
                <a:spcPts val="600"/>
              </a:spcBef>
              <a:spcAft>
                <a:spcPts val="600"/>
              </a:spcAft>
              <a:buFont typeface="Arial" panose="020B0604020202020204" pitchFamily="34" charset="0"/>
              <a:buChar char="•"/>
            </a:pPr>
            <a:r>
              <a:rPr lang="en-US" dirty="0"/>
              <a:t>For example, a requirement item could be verified by a test case and that requirement and test case pair could be connected to a larger test suite document using a relationship that collectively verifies a major software change. </a:t>
            </a:r>
          </a:p>
          <a:p>
            <a:pPr marL="285750" indent="-285750">
              <a:spcBef>
                <a:spcPts val="600"/>
              </a:spcBef>
              <a:spcAft>
                <a:spcPts val="600"/>
              </a:spcAft>
              <a:buFont typeface="Arial" panose="020B0604020202020204" pitchFamily="34" charset="0"/>
              <a:buChar char="•"/>
            </a:pPr>
            <a:r>
              <a:rPr lang="en-US" dirty="0"/>
              <a:t>The </a:t>
            </a:r>
            <a:r>
              <a:rPr lang="en-US" b="1" dirty="0"/>
              <a:t>Document view </a:t>
            </a:r>
            <a:r>
              <a:rPr lang="en-US" dirty="0"/>
              <a:t>is the interface you use to view</a:t>
            </a:r>
          </a:p>
          <a:p>
            <a:pPr>
              <a:spcBef>
                <a:spcPts val="600"/>
              </a:spcBef>
              <a:spcAft>
                <a:spcPts val="600"/>
              </a:spcAft>
            </a:pPr>
            <a:r>
              <a:rPr lang="en-US" dirty="0"/>
              <a:t>      and modify documents and content in a cohesive</a:t>
            </a:r>
          </a:p>
          <a:p>
            <a:pPr>
              <a:spcBef>
                <a:spcPts val="600"/>
              </a:spcBef>
              <a:spcAft>
                <a:spcPts val="600"/>
              </a:spcAft>
            </a:pPr>
            <a:r>
              <a:rPr lang="en-US" dirty="0"/>
              <a:t>      tree structure.</a:t>
            </a:r>
          </a:p>
          <a:p>
            <a:pPr marL="285750" indent="-285750">
              <a:spcBef>
                <a:spcPts val="600"/>
              </a:spcBef>
              <a:spcAft>
                <a:spcPts val="600"/>
              </a:spcAft>
              <a:buFont typeface="Arial" panose="020B0604020202020204" pitchFamily="34" charset="0"/>
              <a:buChar char="•"/>
            </a:pPr>
            <a:endParaRPr lang="en-US" dirty="0"/>
          </a:p>
          <a:p>
            <a:pPr marL="742950" lvl="1" indent="-285750">
              <a:buFont typeface="Arial" panose="020B0604020202020204" pitchFamily="34" charset="0"/>
              <a:buChar char="•"/>
            </a:pPr>
            <a:endParaRPr lang="en-US" sz="1600" dirty="0"/>
          </a:p>
        </p:txBody>
      </p:sp>
      <p:pic>
        <p:nvPicPr>
          <p:cNvPr id="3" name="Picture 2">
            <a:extLst>
              <a:ext uri="{FF2B5EF4-FFF2-40B4-BE49-F238E27FC236}">
                <a16:creationId xmlns:a16="http://schemas.microsoft.com/office/drawing/2014/main" id="{342C7A43-32E5-472B-90B3-8AAF79860BC3}"/>
              </a:ext>
            </a:extLst>
          </p:cNvPr>
          <p:cNvPicPr>
            <a:picLocks noChangeAspect="1"/>
          </p:cNvPicPr>
          <p:nvPr/>
        </p:nvPicPr>
        <p:blipFill>
          <a:blip r:embed="rId2"/>
          <a:stretch>
            <a:fillRect/>
          </a:stretch>
        </p:blipFill>
        <p:spPr>
          <a:xfrm>
            <a:off x="5715000" y="2759075"/>
            <a:ext cx="6477000" cy="3752850"/>
          </a:xfrm>
          <a:prstGeom prst="rect">
            <a:avLst/>
          </a:prstGeom>
        </p:spPr>
      </p:pic>
    </p:spTree>
    <p:extLst>
      <p:ext uri="{BB962C8B-B14F-4D97-AF65-F5344CB8AC3E}">
        <p14:creationId xmlns:p14="http://schemas.microsoft.com/office/powerpoint/2010/main" val="2235344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Document View</a:t>
            </a:r>
          </a:p>
        </p:txBody>
      </p:sp>
      <p:pic>
        <p:nvPicPr>
          <p:cNvPr id="4" name="Picture 3">
            <a:extLst>
              <a:ext uri="{FF2B5EF4-FFF2-40B4-BE49-F238E27FC236}">
                <a16:creationId xmlns:a16="http://schemas.microsoft.com/office/drawing/2014/main" id="{D09E09E3-FA8C-4F21-B9E5-F5EB22CE886A}"/>
              </a:ext>
            </a:extLst>
          </p:cNvPr>
          <p:cNvPicPr>
            <a:picLocks noChangeAspect="1"/>
          </p:cNvPicPr>
          <p:nvPr/>
        </p:nvPicPr>
        <p:blipFill>
          <a:blip r:embed="rId2"/>
          <a:stretch>
            <a:fillRect/>
          </a:stretch>
        </p:blipFill>
        <p:spPr>
          <a:xfrm>
            <a:off x="1285460" y="1276349"/>
            <a:ext cx="7421218" cy="4607615"/>
          </a:xfrm>
          <a:prstGeom prst="rect">
            <a:avLst/>
          </a:prstGeom>
        </p:spPr>
      </p:pic>
    </p:spTree>
    <p:extLst>
      <p:ext uri="{BB962C8B-B14F-4D97-AF65-F5344CB8AC3E}">
        <p14:creationId xmlns:p14="http://schemas.microsoft.com/office/powerpoint/2010/main" val="992669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Document Structure</a:t>
            </a:r>
          </a:p>
        </p:txBody>
      </p:sp>
      <p:sp>
        <p:nvSpPr>
          <p:cNvPr id="3" name="Rectangle 2"/>
          <p:cNvSpPr/>
          <p:nvPr/>
        </p:nvSpPr>
        <p:spPr>
          <a:xfrm>
            <a:off x="612033" y="829046"/>
            <a:ext cx="5364697" cy="4247317"/>
          </a:xfrm>
          <a:prstGeom prst="rect">
            <a:avLst/>
          </a:prstGeom>
        </p:spPr>
        <p:txBody>
          <a:bodyPr wrap="square">
            <a:spAutoFit/>
          </a:bodyPr>
          <a:lstStyle/>
          <a:p>
            <a:endParaRPr lang="en-US" dirty="0"/>
          </a:p>
          <a:p>
            <a:endParaRPr lang="en-US" dirty="0"/>
          </a:p>
          <a:p>
            <a:endParaRPr lang="en-US" dirty="0"/>
          </a:p>
          <a:p>
            <a:endParaRPr lang="en-US" dirty="0"/>
          </a:p>
          <a:p>
            <a:pPr marL="285750" indent="-285750">
              <a:buFont typeface="Arial" panose="020B0604020202020204" pitchFamily="34" charset="0"/>
              <a:buChar char="•"/>
            </a:pPr>
            <a:r>
              <a:rPr lang="en-US" b="1" dirty="0"/>
              <a:t>Segment</a:t>
            </a:r>
            <a:r>
              <a:rPr lang="en-US" dirty="0"/>
              <a:t> is a root document, the container for all content.</a:t>
            </a:r>
          </a:p>
          <a:p>
            <a:endParaRPr lang="en-US" dirty="0"/>
          </a:p>
          <a:p>
            <a:pPr marL="285750" indent="-285750">
              <a:buFont typeface="Arial" panose="020B0604020202020204" pitchFamily="34" charset="0"/>
              <a:buChar char="•"/>
            </a:pPr>
            <a:r>
              <a:rPr lang="en-US" b="1" dirty="0"/>
              <a:t>Node</a:t>
            </a:r>
            <a:r>
              <a:rPr lang="en-US" dirty="0"/>
              <a:t> is any content within that root document including individual content items and sub-segments</a:t>
            </a:r>
          </a:p>
          <a:p>
            <a:endParaRPr lang="en-US" dirty="0"/>
          </a:p>
          <a:p>
            <a:pPr marL="285750" indent="-285750">
              <a:buFont typeface="Arial" panose="020B0604020202020204" pitchFamily="34" charset="0"/>
              <a:buChar char="•"/>
            </a:pPr>
            <a:r>
              <a:rPr lang="en-US" b="1" dirty="0"/>
              <a:t>Shared item </a:t>
            </a:r>
            <a:r>
              <a:rPr lang="en-US" dirty="0"/>
              <a:t>is the shared content. </a:t>
            </a:r>
          </a:p>
          <a:p>
            <a:endParaRPr lang="en-US" dirty="0"/>
          </a:p>
          <a:p>
            <a:pPr marL="285750" indent="-285750">
              <a:buFont typeface="Arial" panose="020B0604020202020204" pitchFamily="34" charset="0"/>
              <a:buChar char="•"/>
            </a:pPr>
            <a:r>
              <a:rPr lang="en-US" dirty="0"/>
              <a:t>A </a:t>
            </a:r>
            <a:r>
              <a:rPr lang="en-US" b="1" dirty="0"/>
              <a:t>Grouped Hierarchy </a:t>
            </a:r>
            <a:r>
              <a:rPr lang="en-US" dirty="0"/>
              <a:t>of nodes in a document, for example: section 1.4 and its children, 1.4.1, 1.4.2 or section 3.4.2 and its children 3.4.2.1, 3.4.2.2.</a:t>
            </a:r>
          </a:p>
        </p:txBody>
      </p:sp>
      <p:pic>
        <p:nvPicPr>
          <p:cNvPr id="5" name="Picture 4">
            <a:extLst>
              <a:ext uri="{FF2B5EF4-FFF2-40B4-BE49-F238E27FC236}">
                <a16:creationId xmlns:a16="http://schemas.microsoft.com/office/drawing/2014/main" id="{EF944693-E821-4881-8A25-5C7EC444E63B}"/>
              </a:ext>
            </a:extLst>
          </p:cNvPr>
          <p:cNvPicPr>
            <a:picLocks noChangeAspect="1"/>
          </p:cNvPicPr>
          <p:nvPr/>
        </p:nvPicPr>
        <p:blipFill>
          <a:blip r:embed="rId2"/>
          <a:stretch>
            <a:fillRect/>
          </a:stretch>
        </p:blipFill>
        <p:spPr>
          <a:xfrm>
            <a:off x="7312767" y="1290711"/>
            <a:ext cx="4267200" cy="3409950"/>
          </a:xfrm>
          <a:prstGeom prst="rect">
            <a:avLst/>
          </a:prstGeom>
        </p:spPr>
      </p:pic>
    </p:spTree>
    <p:extLst>
      <p:ext uri="{BB962C8B-B14F-4D97-AF65-F5344CB8AC3E}">
        <p14:creationId xmlns:p14="http://schemas.microsoft.com/office/powerpoint/2010/main" val="560263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855305" y="2666308"/>
            <a:ext cx="8971838" cy="991292"/>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Finding Documents or Items               </a:t>
            </a:r>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3307021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Finding Documents or Items</a:t>
            </a:r>
          </a:p>
        </p:txBody>
      </p:sp>
      <p:sp>
        <p:nvSpPr>
          <p:cNvPr id="3" name="Rectangle 2"/>
          <p:cNvSpPr/>
          <p:nvPr/>
        </p:nvSpPr>
        <p:spPr>
          <a:xfrm>
            <a:off x="172279" y="829046"/>
            <a:ext cx="5804452" cy="3693319"/>
          </a:xfrm>
          <a:prstGeom prst="rect">
            <a:avLst/>
          </a:prstGeom>
        </p:spPr>
        <p:txBody>
          <a:bodyPr wrap="square">
            <a:spAutoFit/>
          </a:bodyPr>
          <a:lstStyle/>
          <a:p>
            <a:endParaRPr lang="en-US" dirty="0"/>
          </a:p>
          <a:p>
            <a:endParaRPr lang="en-US" dirty="0"/>
          </a:p>
          <a:p>
            <a:endParaRPr lang="en-US" dirty="0"/>
          </a:p>
          <a:p>
            <a:endParaRPr lang="en-US" dirty="0"/>
          </a:p>
          <a:p>
            <a:r>
              <a:rPr lang="en-US" dirty="0"/>
              <a:t>In order to make it easy for the users, Integrity Client has the functionality to search for documents and Items with the help of query option.</a:t>
            </a:r>
          </a:p>
          <a:p>
            <a:endParaRPr lang="en-US" dirty="0"/>
          </a:p>
          <a:p>
            <a:r>
              <a:rPr lang="en-US" dirty="0"/>
              <a:t>To find any document or item, follow the below steps: </a:t>
            </a:r>
          </a:p>
          <a:p>
            <a:endParaRPr lang="en-US" dirty="0"/>
          </a:p>
          <a:p>
            <a:pPr marL="285750" indent="-285750">
              <a:buFont typeface="Arial" panose="020B0604020202020204" pitchFamily="34" charset="0"/>
              <a:buChar char="•"/>
            </a:pPr>
            <a:r>
              <a:rPr lang="en-US" dirty="0"/>
              <a:t>Open Integrity Client.</a:t>
            </a:r>
          </a:p>
          <a:p>
            <a:pPr marL="285750" indent="-285750">
              <a:buFont typeface="Arial" panose="020B0604020202020204" pitchFamily="34" charset="0"/>
              <a:buChar char="•"/>
            </a:pPr>
            <a:r>
              <a:rPr lang="en-US" dirty="0"/>
              <a:t>Select Query in the menu..</a:t>
            </a:r>
          </a:p>
          <a:p>
            <a:pPr marL="285750" indent="-285750">
              <a:buFont typeface="Arial" panose="020B0604020202020204" pitchFamily="34" charset="0"/>
              <a:buChar char="•"/>
            </a:pPr>
            <a:r>
              <a:rPr lang="en-US" dirty="0"/>
              <a:t>In the drop down, select “Manage Queries”. </a:t>
            </a:r>
          </a:p>
        </p:txBody>
      </p:sp>
      <p:pic>
        <p:nvPicPr>
          <p:cNvPr id="4" name="Picture 3">
            <a:extLst>
              <a:ext uri="{FF2B5EF4-FFF2-40B4-BE49-F238E27FC236}">
                <a16:creationId xmlns:a16="http://schemas.microsoft.com/office/drawing/2014/main" id="{DDB500C4-6F8F-413C-A468-F6D0E5C0D9DA}"/>
              </a:ext>
            </a:extLst>
          </p:cNvPr>
          <p:cNvPicPr>
            <a:picLocks noChangeAspect="1"/>
          </p:cNvPicPr>
          <p:nvPr/>
        </p:nvPicPr>
        <p:blipFill>
          <a:blip r:embed="rId2"/>
          <a:stretch>
            <a:fillRect/>
          </a:stretch>
        </p:blipFill>
        <p:spPr>
          <a:xfrm>
            <a:off x="6285757" y="1892591"/>
            <a:ext cx="5705475" cy="2629774"/>
          </a:xfrm>
          <a:prstGeom prst="rect">
            <a:avLst/>
          </a:prstGeom>
        </p:spPr>
      </p:pic>
    </p:spTree>
    <p:extLst>
      <p:ext uri="{BB962C8B-B14F-4D97-AF65-F5344CB8AC3E}">
        <p14:creationId xmlns:p14="http://schemas.microsoft.com/office/powerpoint/2010/main" val="85495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Finding Documents or Items</a:t>
            </a:r>
          </a:p>
        </p:txBody>
      </p:sp>
      <p:sp>
        <p:nvSpPr>
          <p:cNvPr id="3" name="Rectangle 2"/>
          <p:cNvSpPr/>
          <p:nvPr/>
        </p:nvSpPr>
        <p:spPr>
          <a:xfrm>
            <a:off x="212035" y="734119"/>
            <a:ext cx="12391229" cy="923330"/>
          </a:xfrm>
          <a:prstGeom prst="rect">
            <a:avLst/>
          </a:prstGeom>
        </p:spPr>
        <p:txBody>
          <a:bodyPr wrap="square">
            <a:spAutoFit/>
          </a:bodyPr>
          <a:lstStyle/>
          <a:p>
            <a:pPr marL="285750" indent="-285750">
              <a:buFont typeface="Arial" panose="020B0604020202020204" pitchFamily="34" charset="0"/>
              <a:buChar char="•"/>
            </a:pPr>
            <a:r>
              <a:rPr lang="en-US" dirty="0"/>
              <a:t>Selecting Manage Queries will display a list of queries that will assist user in finding the documents based on types and other factors</a:t>
            </a:r>
            <a:r>
              <a:rPr lang="en-US" dirty="0">
                <a:solidFill>
                  <a:schemeClr val="tx1">
                    <a:lumMod val="75000"/>
                    <a:lumOff val="25000"/>
                  </a:schemeClr>
                </a:solidFill>
              </a:rPr>
              <a:t>. </a:t>
            </a:r>
          </a:p>
          <a:p>
            <a:pPr marL="285750" indent="-285750">
              <a:buFont typeface="Arial" panose="020B0604020202020204" pitchFamily="34" charset="0"/>
              <a:buChar char="•"/>
            </a:pPr>
            <a:r>
              <a:rPr lang="en-US" dirty="0"/>
              <a:t>For example, if the user wants to look for a System Requirements Document, he/she can search for it using the search bar. </a:t>
            </a:r>
            <a:endParaRPr lang="en-US" dirty="0">
              <a:solidFill>
                <a:schemeClr val="tx1">
                  <a:lumMod val="75000"/>
                  <a:lumOff val="25000"/>
                </a:schemeClr>
              </a:solidFill>
            </a:endParaRPr>
          </a:p>
        </p:txBody>
      </p:sp>
      <p:sp>
        <p:nvSpPr>
          <p:cNvPr id="4" name="Rectangle 3"/>
          <p:cNvSpPr/>
          <p:nvPr/>
        </p:nvSpPr>
        <p:spPr>
          <a:xfrm>
            <a:off x="344558" y="1647565"/>
            <a:ext cx="11533664" cy="2523768"/>
          </a:xfrm>
          <a:prstGeom prst="rect">
            <a:avLst/>
          </a:prstGeom>
        </p:spPr>
        <p:txBody>
          <a:bodyPr wrap="square">
            <a:spAutoFit/>
          </a:bodyPr>
          <a:lstStyle/>
          <a:p>
            <a:pPr>
              <a:spcBef>
                <a:spcPts val="600"/>
              </a:spcBef>
              <a:spcAft>
                <a:spcPts val="600"/>
              </a:spcAft>
            </a:pPr>
            <a:endParaRPr lang="en-US" b="1" dirty="0"/>
          </a:p>
          <a:p>
            <a:pPr>
              <a:spcBef>
                <a:spcPts val="600"/>
              </a:spcBef>
              <a:spcAft>
                <a:spcPts val="600"/>
              </a:spcAft>
            </a:pPr>
            <a:endParaRPr lang="en-US" b="1" dirty="0"/>
          </a:p>
          <a:p>
            <a:pPr>
              <a:spcBef>
                <a:spcPts val="600"/>
              </a:spcBef>
              <a:spcAft>
                <a:spcPts val="600"/>
              </a:spcAft>
            </a:pPr>
            <a:endParaRPr lang="en-US" b="1" dirty="0"/>
          </a:p>
          <a:p>
            <a:pPr>
              <a:spcBef>
                <a:spcPts val="600"/>
              </a:spcBef>
              <a:spcAft>
                <a:spcPts val="600"/>
              </a:spcAft>
            </a:pPr>
            <a:endParaRPr lang="en-US" dirty="0"/>
          </a:p>
          <a:p>
            <a:pPr marL="285750" indent="-285750">
              <a:spcBef>
                <a:spcPts val="600"/>
              </a:spcBef>
              <a:spcAft>
                <a:spcPts val="600"/>
              </a:spcAft>
              <a:buFont typeface="Arial" panose="020B0604020202020204" pitchFamily="34" charset="0"/>
              <a:buChar char="•"/>
            </a:pPr>
            <a:r>
              <a:rPr lang="en-US" dirty="0"/>
              <a:t>Select “All System Requirement Document” query in order to open the list of System Requirements Documents.</a:t>
            </a:r>
            <a:r>
              <a:rPr lang="en-US" b="1" dirty="0"/>
              <a:t> </a:t>
            </a:r>
            <a:endParaRPr lang="en-US" dirty="0"/>
          </a:p>
          <a:p>
            <a:pPr marL="285750" indent="-285750">
              <a:spcBef>
                <a:spcPts val="600"/>
              </a:spcBef>
              <a:spcAft>
                <a:spcPts val="600"/>
              </a:spcAft>
              <a:buFont typeface="Arial" panose="020B0604020202020204" pitchFamily="34" charset="0"/>
              <a:buChar char="•"/>
            </a:pPr>
            <a:r>
              <a:rPr lang="en-US" dirty="0"/>
              <a:t>From the displayed list of documents, select the necessary document.</a:t>
            </a:r>
          </a:p>
        </p:txBody>
      </p:sp>
      <p:pic>
        <p:nvPicPr>
          <p:cNvPr id="7" name="Picture 6">
            <a:extLst>
              <a:ext uri="{FF2B5EF4-FFF2-40B4-BE49-F238E27FC236}">
                <a16:creationId xmlns:a16="http://schemas.microsoft.com/office/drawing/2014/main" id="{5FAC0CE2-59F5-47EF-A18B-1A57935388D4}"/>
              </a:ext>
            </a:extLst>
          </p:cNvPr>
          <p:cNvPicPr>
            <a:picLocks noChangeAspect="1"/>
          </p:cNvPicPr>
          <p:nvPr/>
        </p:nvPicPr>
        <p:blipFill>
          <a:blip r:embed="rId2"/>
          <a:stretch>
            <a:fillRect/>
          </a:stretch>
        </p:blipFill>
        <p:spPr>
          <a:xfrm>
            <a:off x="536417" y="1669639"/>
            <a:ext cx="4314825" cy="1381125"/>
          </a:xfrm>
          <a:prstGeom prst="rect">
            <a:avLst/>
          </a:prstGeom>
        </p:spPr>
      </p:pic>
      <p:pic>
        <p:nvPicPr>
          <p:cNvPr id="5" name="Picture 4">
            <a:extLst>
              <a:ext uri="{FF2B5EF4-FFF2-40B4-BE49-F238E27FC236}">
                <a16:creationId xmlns:a16="http://schemas.microsoft.com/office/drawing/2014/main" id="{736F9B68-5255-4631-8046-6C971A9AB441}"/>
              </a:ext>
            </a:extLst>
          </p:cNvPr>
          <p:cNvPicPr>
            <a:picLocks noChangeAspect="1"/>
          </p:cNvPicPr>
          <p:nvPr/>
        </p:nvPicPr>
        <p:blipFill>
          <a:blip r:embed="rId3"/>
          <a:stretch>
            <a:fillRect/>
          </a:stretch>
        </p:blipFill>
        <p:spPr>
          <a:xfrm>
            <a:off x="612032" y="4196022"/>
            <a:ext cx="9372600" cy="2028825"/>
          </a:xfrm>
          <a:prstGeom prst="rect">
            <a:avLst/>
          </a:prstGeom>
        </p:spPr>
      </p:pic>
    </p:spTree>
    <p:extLst>
      <p:ext uri="{BB962C8B-B14F-4D97-AF65-F5344CB8AC3E}">
        <p14:creationId xmlns:p14="http://schemas.microsoft.com/office/powerpoint/2010/main" val="4201270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Finding Documents or Items</a:t>
            </a:r>
          </a:p>
        </p:txBody>
      </p:sp>
      <p:sp>
        <p:nvSpPr>
          <p:cNvPr id="3" name="Rectangle 2"/>
          <p:cNvSpPr/>
          <p:nvPr/>
        </p:nvSpPr>
        <p:spPr>
          <a:xfrm>
            <a:off x="212035" y="734119"/>
            <a:ext cx="12391229" cy="2031325"/>
          </a:xfrm>
          <a:prstGeom prst="rect">
            <a:avLst/>
          </a:prstGeom>
        </p:spPr>
        <p:txBody>
          <a:bodyPr wrap="square">
            <a:spAutoFit/>
          </a:bodyPr>
          <a:lstStyle/>
          <a:p>
            <a:endParaRPr lang="en-US" dirty="0"/>
          </a:p>
          <a:p>
            <a:r>
              <a:rPr lang="en-US" dirty="0"/>
              <a:t>    Integrity also provides an option wherein user can directly search for the Document/Item using its unique ID.</a:t>
            </a:r>
          </a:p>
          <a:p>
            <a:r>
              <a:rPr lang="en-US" dirty="0"/>
              <a:t>    As Item ID for every created content is unique, the search will thus open the required document/item seamlessly. </a:t>
            </a:r>
          </a:p>
          <a:p>
            <a:r>
              <a:rPr lang="en-US" dirty="0"/>
              <a:t>    To search the Document/Item using its Unique Item ID, </a:t>
            </a:r>
          </a:p>
          <a:p>
            <a:endParaRPr lang="en-US" dirty="0"/>
          </a:p>
          <a:p>
            <a:pPr marL="285750" indent="-285750">
              <a:buFont typeface="Arial" panose="020B0604020202020204" pitchFamily="34" charset="0"/>
              <a:buChar char="•"/>
            </a:pPr>
            <a:r>
              <a:rPr lang="en-US" dirty="0"/>
              <a:t>Go to the toolbar below menu.</a:t>
            </a:r>
          </a:p>
          <a:p>
            <a:endParaRPr lang="en-US" dirty="0">
              <a:solidFill>
                <a:schemeClr val="tx1">
                  <a:lumMod val="75000"/>
                  <a:lumOff val="25000"/>
                </a:schemeClr>
              </a:solidFill>
            </a:endParaRPr>
          </a:p>
        </p:txBody>
      </p:sp>
      <p:sp>
        <p:nvSpPr>
          <p:cNvPr id="4" name="Rectangle 3"/>
          <p:cNvSpPr/>
          <p:nvPr/>
        </p:nvSpPr>
        <p:spPr>
          <a:xfrm>
            <a:off x="344558" y="1647565"/>
            <a:ext cx="11533664" cy="3385542"/>
          </a:xfrm>
          <a:prstGeom prst="rect">
            <a:avLst/>
          </a:prstGeom>
        </p:spPr>
        <p:txBody>
          <a:bodyPr wrap="square">
            <a:spAutoFit/>
          </a:bodyPr>
          <a:lstStyle/>
          <a:p>
            <a:pPr>
              <a:spcBef>
                <a:spcPts val="600"/>
              </a:spcBef>
              <a:spcAft>
                <a:spcPts val="600"/>
              </a:spcAft>
            </a:pPr>
            <a:endParaRPr lang="en-US" b="1" dirty="0"/>
          </a:p>
          <a:p>
            <a:pPr>
              <a:spcBef>
                <a:spcPts val="600"/>
              </a:spcBef>
              <a:spcAft>
                <a:spcPts val="600"/>
              </a:spcAft>
            </a:pPr>
            <a:r>
              <a:rPr lang="en-US" b="1" dirty="0"/>
              <a:t>       </a:t>
            </a:r>
          </a:p>
          <a:p>
            <a:pPr>
              <a:spcBef>
                <a:spcPts val="600"/>
              </a:spcBef>
              <a:spcAft>
                <a:spcPts val="600"/>
              </a:spcAft>
            </a:pPr>
            <a:endParaRPr lang="en-US" b="1" dirty="0"/>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US" dirty="0"/>
          </a:p>
          <a:p>
            <a:pPr marL="285750" indent="-285750">
              <a:spcBef>
                <a:spcPts val="600"/>
              </a:spcBef>
              <a:spcAft>
                <a:spcPts val="600"/>
              </a:spcAft>
              <a:buFont typeface="Arial" panose="020B0604020202020204" pitchFamily="34" charset="0"/>
              <a:buChar char="•"/>
            </a:pPr>
            <a:r>
              <a:rPr lang="en-US" dirty="0"/>
              <a:t> In the search bar with the title as “Item”, type your Item ID and press Enter.</a:t>
            </a:r>
            <a:r>
              <a:rPr lang="en-US" b="1" dirty="0"/>
              <a:t> </a:t>
            </a:r>
            <a:endParaRPr lang="en-US" dirty="0"/>
          </a:p>
          <a:p>
            <a:pPr marL="285750" indent="-285750">
              <a:spcBef>
                <a:spcPts val="600"/>
              </a:spcBef>
              <a:spcAft>
                <a:spcPts val="600"/>
              </a:spcAft>
              <a:buFont typeface="Arial" panose="020B0604020202020204" pitchFamily="34" charset="0"/>
              <a:buChar char="•"/>
            </a:pPr>
            <a:r>
              <a:rPr lang="en-US" dirty="0"/>
              <a:t>The Document/Item will be displayed.</a:t>
            </a:r>
          </a:p>
        </p:txBody>
      </p:sp>
      <p:pic>
        <p:nvPicPr>
          <p:cNvPr id="5" name="Picture 4">
            <a:extLst>
              <a:ext uri="{FF2B5EF4-FFF2-40B4-BE49-F238E27FC236}">
                <a16:creationId xmlns:a16="http://schemas.microsoft.com/office/drawing/2014/main" id="{AC6C1F7C-CA33-4709-9DBF-81819EC7F548}"/>
              </a:ext>
            </a:extLst>
          </p:cNvPr>
          <p:cNvPicPr>
            <a:picLocks noChangeAspect="1"/>
          </p:cNvPicPr>
          <p:nvPr/>
        </p:nvPicPr>
        <p:blipFill>
          <a:blip r:embed="rId2"/>
          <a:stretch>
            <a:fillRect/>
          </a:stretch>
        </p:blipFill>
        <p:spPr>
          <a:xfrm>
            <a:off x="612032" y="2520578"/>
            <a:ext cx="6305603" cy="739457"/>
          </a:xfrm>
          <a:prstGeom prst="rect">
            <a:avLst/>
          </a:prstGeom>
        </p:spPr>
      </p:pic>
      <p:pic>
        <p:nvPicPr>
          <p:cNvPr id="6" name="Picture 5">
            <a:extLst>
              <a:ext uri="{FF2B5EF4-FFF2-40B4-BE49-F238E27FC236}">
                <a16:creationId xmlns:a16="http://schemas.microsoft.com/office/drawing/2014/main" id="{DA22AE0E-619E-4DD7-AF3B-C999F4F2E4E1}"/>
              </a:ext>
            </a:extLst>
          </p:cNvPr>
          <p:cNvPicPr>
            <a:picLocks noChangeAspect="1"/>
          </p:cNvPicPr>
          <p:nvPr/>
        </p:nvPicPr>
        <p:blipFill>
          <a:blip r:embed="rId3"/>
          <a:stretch>
            <a:fillRect/>
          </a:stretch>
        </p:blipFill>
        <p:spPr>
          <a:xfrm>
            <a:off x="2380422" y="3564892"/>
            <a:ext cx="1600200" cy="438150"/>
          </a:xfrm>
          <a:prstGeom prst="rect">
            <a:avLst/>
          </a:prstGeom>
        </p:spPr>
      </p:pic>
    </p:spTree>
    <p:extLst>
      <p:ext uri="{BB962C8B-B14F-4D97-AF65-F5344CB8AC3E}">
        <p14:creationId xmlns:p14="http://schemas.microsoft.com/office/powerpoint/2010/main" val="1479530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Baseline </a:t>
            </a:r>
          </a:p>
        </p:txBody>
      </p:sp>
      <p:sp>
        <p:nvSpPr>
          <p:cNvPr id="4" name="Rectangle 3"/>
          <p:cNvSpPr/>
          <p:nvPr/>
        </p:nvSpPr>
        <p:spPr>
          <a:xfrm>
            <a:off x="331304" y="1142252"/>
            <a:ext cx="10991677" cy="3754874"/>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 A Baseline is a special label that can only be added to documents. You create a document baseline to mark an important project milestone. For example, you could create document baselines for an approved design document, a legal reference document, a contract, or a bill of materials. You can use document baselines for internal records and for recording external documents. </a:t>
            </a:r>
          </a:p>
          <a:p>
            <a:pPr marL="285750" indent="-285750">
              <a:spcBef>
                <a:spcPts val="600"/>
              </a:spcBef>
              <a:spcAft>
                <a:spcPts val="600"/>
              </a:spcAft>
              <a:buFont typeface="Arial" panose="020B0604020202020204" pitchFamily="34" charset="0"/>
              <a:buChar char="•"/>
            </a:pPr>
            <a:r>
              <a:rPr lang="en-US" dirty="0"/>
              <a:t> To create the baseline, you select the individual documents that are required to represent the information for your milestone. When you baseline, Integrity creates a baseline label on each of the selected documents. Each label contains the same timestamp. </a:t>
            </a:r>
          </a:p>
          <a:p>
            <a:pPr marL="285750" indent="-285750">
              <a:spcBef>
                <a:spcPts val="600"/>
              </a:spcBef>
              <a:spcAft>
                <a:spcPts val="600"/>
              </a:spcAft>
              <a:buFont typeface="Arial" panose="020B0604020202020204" pitchFamily="34" charset="0"/>
              <a:buChar char="•"/>
            </a:pPr>
            <a:r>
              <a:rPr lang="en-US" dirty="0"/>
              <a:t>Note:  </a:t>
            </a:r>
          </a:p>
          <a:p>
            <a:pPr marL="285750" indent="-285750">
              <a:spcBef>
                <a:spcPts val="600"/>
              </a:spcBef>
              <a:spcAft>
                <a:spcPts val="600"/>
              </a:spcAft>
              <a:buFont typeface="Arial" panose="020B0604020202020204" pitchFamily="34" charset="0"/>
              <a:buChar char="•"/>
            </a:pPr>
            <a:r>
              <a:rPr lang="en-US" dirty="0"/>
              <a:t>Generally, a label may be any alphanumeric string without control characters. </a:t>
            </a:r>
          </a:p>
          <a:p>
            <a:pPr marL="285750" indent="-285750">
              <a:spcBef>
                <a:spcPts val="600"/>
              </a:spcBef>
              <a:spcAft>
                <a:spcPts val="600"/>
              </a:spcAft>
              <a:buFont typeface="Arial" panose="020B0604020202020204" pitchFamily="34" charset="0"/>
              <a:buChar char="•"/>
            </a:pPr>
            <a:r>
              <a:rPr lang="en-US" dirty="0"/>
              <a:t> Labels may also include spaces and punctuation. If versioning is enabled for  the type, the label may not use the same syntax that is used for the version  identifier (that is, </a:t>
            </a:r>
            <a:r>
              <a:rPr lang="en-US" dirty="0" err="1"/>
              <a:t>major.minor</a:t>
            </a:r>
            <a:r>
              <a:rPr lang="en-US" dirty="0"/>
              <a:t>). </a:t>
            </a:r>
          </a:p>
        </p:txBody>
      </p:sp>
    </p:spTree>
    <p:extLst>
      <p:ext uri="{BB962C8B-B14F-4D97-AF65-F5344CB8AC3E}">
        <p14:creationId xmlns:p14="http://schemas.microsoft.com/office/powerpoint/2010/main" val="3338430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Baselining a Document</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712937" cy="6093976"/>
          </a:xfrm>
          <a:prstGeom prst="rect">
            <a:avLst/>
          </a:prstGeom>
        </p:spPr>
        <p:txBody>
          <a:bodyPr wrap="square">
            <a:spAutoFit/>
          </a:bodyPr>
          <a:lstStyle/>
          <a:p>
            <a:pPr>
              <a:spcBef>
                <a:spcPts val="600"/>
              </a:spcBef>
              <a:spcAft>
                <a:spcPts val="600"/>
              </a:spcAft>
            </a:pPr>
            <a:r>
              <a:rPr lang="en-US" dirty="0"/>
              <a:t>1. For the document you want to baseline, do one of the following:</a:t>
            </a:r>
          </a:p>
          <a:p>
            <a:pPr>
              <a:spcBef>
                <a:spcPts val="600"/>
              </a:spcBef>
              <a:spcAft>
                <a:spcPts val="600"/>
              </a:spcAft>
            </a:pPr>
            <a:r>
              <a:rPr lang="en-US" dirty="0"/>
              <a:t>   •  Open the document in the Document view. </a:t>
            </a:r>
          </a:p>
          <a:p>
            <a:pPr>
              <a:spcBef>
                <a:spcPts val="600"/>
              </a:spcBef>
              <a:spcAft>
                <a:spcPts val="600"/>
              </a:spcAft>
            </a:pPr>
            <a:r>
              <a:rPr lang="en-US" dirty="0"/>
              <a:t>   • Select the document from an applicable view or field, for example, the Items view or a relationship field. </a:t>
            </a:r>
          </a:p>
          <a:p>
            <a:pPr>
              <a:spcBef>
                <a:spcPts val="600"/>
              </a:spcBef>
              <a:spcAft>
                <a:spcPts val="600"/>
              </a:spcAft>
            </a:pPr>
            <a:r>
              <a:rPr lang="en-US" dirty="0"/>
              <a:t> 2. Select Document ▶ Baseline. The Baseline dialog box displays.</a:t>
            </a:r>
          </a:p>
          <a:p>
            <a:pPr>
              <a:spcBef>
                <a:spcPts val="600"/>
              </a:spcBef>
              <a:spcAft>
                <a:spcPts val="600"/>
              </a:spcAft>
            </a:pPr>
            <a:r>
              <a:rPr lang="en-US" dirty="0"/>
              <a:t> 3. Type the name of the Label for the baseline, for example, Design 2. The specified label name must be unique (not already used for the Selected document). If the label name already exists, a red X icon displays and the name must be changed before you can complete the baseline. A green check mark icon displays when a unique label name is specified</a:t>
            </a:r>
          </a:p>
          <a:p>
            <a:pPr>
              <a:spcBef>
                <a:spcPts val="600"/>
              </a:spcBef>
              <a:spcAft>
                <a:spcPts val="600"/>
              </a:spcAft>
            </a:pPr>
            <a:r>
              <a:rPr lang="en-US" b="1" dirty="0"/>
              <a:t>TIP:</a:t>
            </a:r>
          </a:p>
          <a:p>
            <a:pPr>
              <a:spcBef>
                <a:spcPts val="600"/>
              </a:spcBef>
              <a:spcAft>
                <a:spcPts val="600"/>
              </a:spcAft>
            </a:pPr>
            <a:r>
              <a:rPr lang="en-US" dirty="0"/>
              <a:t>To make it easier to find a unique label name, </a:t>
            </a:r>
          </a:p>
          <a:p>
            <a:pPr>
              <a:spcBef>
                <a:spcPts val="600"/>
              </a:spcBef>
              <a:spcAft>
                <a:spcPts val="600"/>
              </a:spcAft>
            </a:pPr>
            <a:r>
              <a:rPr lang="en-US" dirty="0"/>
              <a:t>click the Expand to view all button to display a list of existing </a:t>
            </a:r>
          </a:p>
          <a:p>
            <a:pPr>
              <a:spcBef>
                <a:spcPts val="600"/>
              </a:spcBef>
              <a:spcAft>
                <a:spcPts val="600"/>
              </a:spcAft>
            </a:pPr>
            <a:r>
              <a:rPr lang="en-US" dirty="0"/>
              <a:t>label names as shown.</a:t>
            </a:r>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IN" dirty="0"/>
          </a:p>
        </p:txBody>
      </p:sp>
      <p:pic>
        <p:nvPicPr>
          <p:cNvPr id="11" name="Picture 10">
            <a:extLst>
              <a:ext uri="{FF2B5EF4-FFF2-40B4-BE49-F238E27FC236}">
                <a16:creationId xmlns:a16="http://schemas.microsoft.com/office/drawing/2014/main" id="{D939F6D3-7BEC-4250-88EB-8742B2523DBA}"/>
              </a:ext>
            </a:extLst>
          </p:cNvPr>
          <p:cNvPicPr>
            <a:picLocks noChangeAspect="1"/>
          </p:cNvPicPr>
          <p:nvPr/>
        </p:nvPicPr>
        <p:blipFill>
          <a:blip r:embed="rId2"/>
          <a:stretch>
            <a:fillRect/>
          </a:stretch>
        </p:blipFill>
        <p:spPr>
          <a:xfrm>
            <a:off x="6281530" y="3820208"/>
            <a:ext cx="5534373" cy="2800350"/>
          </a:xfrm>
          <a:prstGeom prst="rect">
            <a:avLst/>
          </a:prstGeom>
        </p:spPr>
      </p:pic>
    </p:spTree>
    <p:extLst>
      <p:ext uri="{BB962C8B-B14F-4D97-AF65-F5344CB8AC3E}">
        <p14:creationId xmlns:p14="http://schemas.microsoft.com/office/powerpoint/2010/main" val="3777865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Baselining a Document</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6308033" cy="5509200"/>
          </a:xfrm>
          <a:prstGeom prst="rect">
            <a:avLst/>
          </a:prstGeom>
        </p:spPr>
        <p:txBody>
          <a:bodyPr wrap="square">
            <a:spAutoFit/>
          </a:bodyPr>
          <a:lstStyle/>
          <a:p>
            <a:pPr>
              <a:spcBef>
                <a:spcPts val="600"/>
              </a:spcBef>
              <a:spcAft>
                <a:spcPts val="600"/>
              </a:spcAft>
            </a:pPr>
            <a:r>
              <a:rPr lang="en-US" dirty="0"/>
              <a:t>4. Select the applicable As Of option from the list. The default option is Now, indicating the current date and time. If you are baselining a historical item, the associated date and time displays by default in the As Of field.</a:t>
            </a:r>
          </a:p>
          <a:p>
            <a:pPr>
              <a:spcBef>
                <a:spcPts val="600"/>
              </a:spcBef>
              <a:spcAft>
                <a:spcPts val="600"/>
              </a:spcAft>
            </a:pPr>
            <a:endParaRPr lang="en-US" dirty="0"/>
          </a:p>
          <a:p>
            <a:pPr>
              <a:spcBef>
                <a:spcPts val="600"/>
              </a:spcBef>
              <a:spcAft>
                <a:spcPts val="600"/>
              </a:spcAft>
            </a:pPr>
            <a:r>
              <a:rPr lang="en-US" dirty="0"/>
              <a:t> Further, As Of field will have the following options: ₋</a:t>
            </a:r>
          </a:p>
          <a:p>
            <a:pPr>
              <a:spcBef>
                <a:spcPts val="600"/>
              </a:spcBef>
              <a:spcAft>
                <a:spcPts val="600"/>
              </a:spcAft>
            </a:pPr>
            <a:r>
              <a:rPr lang="en-US" dirty="0"/>
              <a:t>   -Now – Current Time and Date </a:t>
            </a:r>
          </a:p>
          <a:p>
            <a:pPr>
              <a:spcBef>
                <a:spcPts val="600"/>
              </a:spcBef>
              <a:spcAft>
                <a:spcPts val="600"/>
              </a:spcAft>
            </a:pPr>
            <a:r>
              <a:rPr lang="en-US" dirty="0"/>
              <a:t>   -Revision – List of revisions of the document </a:t>
            </a:r>
          </a:p>
          <a:p>
            <a:pPr>
              <a:spcBef>
                <a:spcPts val="600"/>
              </a:spcBef>
              <a:spcAft>
                <a:spcPts val="600"/>
              </a:spcAft>
            </a:pPr>
            <a:r>
              <a:rPr lang="en-US" dirty="0"/>
              <a:t>   ₋Label – List of labels (Baselines) of the document</a:t>
            </a:r>
          </a:p>
          <a:p>
            <a:pPr>
              <a:spcBef>
                <a:spcPts val="600"/>
              </a:spcBef>
              <a:spcAft>
                <a:spcPts val="600"/>
              </a:spcAft>
            </a:pPr>
            <a:r>
              <a:rPr lang="en-US" dirty="0"/>
              <a:t>   ₋Branch – List of branches of the document</a:t>
            </a:r>
          </a:p>
          <a:p>
            <a:pPr>
              <a:spcBef>
                <a:spcPts val="600"/>
              </a:spcBef>
              <a:spcAft>
                <a:spcPts val="600"/>
              </a:spcAft>
            </a:pPr>
            <a:r>
              <a:rPr lang="en-US" dirty="0"/>
              <a:t>   ₋Edit – History of all the edits with modified timestamp </a:t>
            </a:r>
          </a:p>
          <a:p>
            <a:pPr>
              <a:spcBef>
                <a:spcPts val="600"/>
              </a:spcBef>
              <a:spcAft>
                <a:spcPts val="600"/>
              </a:spcAft>
            </a:pPr>
            <a:r>
              <a:rPr lang="en-US" dirty="0"/>
              <a:t>   ₋Date – Calendar to select date of the document</a:t>
            </a:r>
          </a:p>
          <a:p>
            <a:pPr>
              <a:spcBef>
                <a:spcPts val="600"/>
              </a:spcBef>
              <a:spcAft>
                <a:spcPts val="600"/>
              </a:spcAft>
            </a:pPr>
            <a:endParaRPr lang="en-US" dirty="0"/>
          </a:p>
          <a:p>
            <a:pPr>
              <a:spcBef>
                <a:spcPts val="600"/>
              </a:spcBef>
              <a:spcAft>
                <a:spcPts val="600"/>
              </a:spcAft>
            </a:pPr>
            <a:endParaRPr lang="en-IN" dirty="0"/>
          </a:p>
        </p:txBody>
      </p:sp>
      <p:pic>
        <p:nvPicPr>
          <p:cNvPr id="5" name="Picture 4">
            <a:extLst>
              <a:ext uri="{FF2B5EF4-FFF2-40B4-BE49-F238E27FC236}">
                <a16:creationId xmlns:a16="http://schemas.microsoft.com/office/drawing/2014/main" id="{69C9634A-C551-4403-94A5-55331EA6C58A}"/>
              </a:ext>
            </a:extLst>
          </p:cNvPr>
          <p:cNvPicPr>
            <a:picLocks noChangeAspect="1"/>
          </p:cNvPicPr>
          <p:nvPr/>
        </p:nvPicPr>
        <p:blipFill>
          <a:blip r:embed="rId2"/>
          <a:stretch>
            <a:fillRect/>
          </a:stretch>
        </p:blipFill>
        <p:spPr>
          <a:xfrm>
            <a:off x="7500108" y="1352549"/>
            <a:ext cx="3991052" cy="5114511"/>
          </a:xfrm>
          <a:prstGeom prst="rect">
            <a:avLst/>
          </a:prstGeom>
        </p:spPr>
      </p:pic>
    </p:spTree>
    <p:extLst>
      <p:ext uri="{BB962C8B-B14F-4D97-AF65-F5344CB8AC3E}">
        <p14:creationId xmlns:p14="http://schemas.microsoft.com/office/powerpoint/2010/main" val="617923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As Of options for Baselining a Document </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807572157"/>
              </p:ext>
            </p:extLst>
          </p:nvPr>
        </p:nvGraphicFramePr>
        <p:xfrm>
          <a:off x="513278" y="1334771"/>
          <a:ext cx="9213818" cy="6152724"/>
        </p:xfrm>
        <a:graphic>
          <a:graphicData uri="http://schemas.openxmlformats.org/drawingml/2006/table">
            <a:tbl>
              <a:tblPr firstRow="1" bandRow="1">
                <a:tableStyleId>{72833802-FEF1-4C79-8D5D-14CF1EAF98D9}</a:tableStyleId>
              </a:tblPr>
              <a:tblGrid>
                <a:gridCol w="1951626">
                  <a:extLst>
                    <a:ext uri="{9D8B030D-6E8A-4147-A177-3AD203B41FA5}">
                      <a16:colId xmlns:a16="http://schemas.microsoft.com/office/drawing/2014/main" val="1924955592"/>
                    </a:ext>
                  </a:extLst>
                </a:gridCol>
                <a:gridCol w="7262192">
                  <a:extLst>
                    <a:ext uri="{9D8B030D-6E8A-4147-A177-3AD203B41FA5}">
                      <a16:colId xmlns:a16="http://schemas.microsoft.com/office/drawing/2014/main" val="2858474719"/>
                    </a:ext>
                  </a:extLst>
                </a:gridCol>
              </a:tblGrid>
              <a:tr h="966329">
                <a:tc>
                  <a:txBody>
                    <a:bodyPr/>
                    <a:lstStyle/>
                    <a:p>
                      <a:pPr algn="ctr"/>
                      <a:r>
                        <a:rPr lang="en-US" sz="2000" dirty="0"/>
                        <a:t>To baseline a document As Of...</a:t>
                      </a:r>
                    </a:p>
                  </a:txBody>
                  <a:tcPr/>
                </a:tc>
                <a:tc>
                  <a:txBody>
                    <a:bodyPr/>
                    <a:lstStyle/>
                    <a:p>
                      <a:pPr algn="l"/>
                      <a:r>
                        <a:rPr lang="en-US" sz="2000" dirty="0"/>
                        <a:t>Do this... </a:t>
                      </a:r>
                    </a:p>
                  </a:txBody>
                  <a:tcPr/>
                </a:tc>
                <a:extLst>
                  <a:ext uri="{0D108BD9-81ED-4DB2-BD59-A6C34878D82A}">
                    <a16:rowId xmlns:a16="http://schemas.microsoft.com/office/drawing/2014/main" val="135878623"/>
                  </a:ext>
                </a:extLst>
              </a:tr>
              <a:tr h="709788">
                <a:tc>
                  <a:txBody>
                    <a:bodyPr/>
                    <a:lstStyle/>
                    <a:p>
                      <a:r>
                        <a:rPr lang="en-US" sz="1800" dirty="0"/>
                        <a:t>Now</a:t>
                      </a:r>
                    </a:p>
                  </a:txBody>
                  <a:tcPr/>
                </a:tc>
                <a:tc>
                  <a:txBody>
                    <a:bodyPr/>
                    <a:lstStyle/>
                    <a:p>
                      <a:r>
                        <a:rPr lang="en-US" sz="1800"/>
                        <a:t>Select Now to baseline the current version of the document</a:t>
                      </a:r>
                      <a:endParaRPr lang="en-US" sz="1800" dirty="0"/>
                    </a:p>
                  </a:txBody>
                  <a:tcPr/>
                </a:tc>
                <a:extLst>
                  <a:ext uri="{0D108BD9-81ED-4DB2-BD59-A6C34878D82A}">
                    <a16:rowId xmlns:a16="http://schemas.microsoft.com/office/drawing/2014/main" val="1031953701"/>
                  </a:ext>
                </a:extLst>
              </a:tr>
              <a:tr h="709788">
                <a:tc>
                  <a:txBody>
                    <a:bodyPr/>
                    <a:lstStyle/>
                    <a:p>
                      <a:r>
                        <a:rPr lang="en-US" sz="1800" dirty="0"/>
                        <a:t>Revision </a:t>
                      </a:r>
                    </a:p>
                  </a:txBody>
                  <a:tcPr/>
                </a:tc>
                <a:tc>
                  <a:txBody>
                    <a:bodyPr/>
                    <a:lstStyle/>
                    <a:p>
                      <a:r>
                        <a:rPr lang="en-US" sz="1800" dirty="0"/>
                        <a:t>This option is only available if you are baselining a document that allows versioning. Select Revision. A list of all the labels associated with revisions displays. The labels use the format major. minor. Select the revision that corresponds to the time you want to create the baseline as of.</a:t>
                      </a:r>
                    </a:p>
                  </a:txBody>
                  <a:tcPr/>
                </a:tc>
                <a:extLst>
                  <a:ext uri="{0D108BD9-81ED-4DB2-BD59-A6C34878D82A}">
                    <a16:rowId xmlns:a16="http://schemas.microsoft.com/office/drawing/2014/main" val="1963118354"/>
                  </a:ext>
                </a:extLst>
              </a:tr>
              <a:tr h="709788">
                <a:tc>
                  <a:txBody>
                    <a:bodyPr/>
                    <a:lstStyle/>
                    <a:p>
                      <a:r>
                        <a:rPr lang="en-US" sz="1800" dirty="0"/>
                        <a:t>Label</a:t>
                      </a:r>
                    </a:p>
                  </a:txBody>
                  <a:tcPr/>
                </a:tc>
                <a:tc>
                  <a:txBody>
                    <a:bodyPr/>
                    <a:lstStyle/>
                    <a:p>
                      <a:r>
                        <a:rPr lang="en-US" sz="1800" dirty="0"/>
                        <a:t>Select Label. A list of all the labels on the document displays. Select the label that corresponds to the time you want to create the baseline as of.</a:t>
                      </a:r>
                    </a:p>
                  </a:txBody>
                  <a:tcPr/>
                </a:tc>
                <a:extLst>
                  <a:ext uri="{0D108BD9-81ED-4DB2-BD59-A6C34878D82A}">
                    <a16:rowId xmlns:a16="http://schemas.microsoft.com/office/drawing/2014/main" val="1182131327"/>
                  </a:ext>
                </a:extLst>
              </a:tr>
              <a:tr h="709788">
                <a:tc>
                  <a:txBody>
                    <a:bodyPr/>
                    <a:lstStyle/>
                    <a:p>
                      <a:r>
                        <a:rPr lang="en-US" sz="1800" dirty="0"/>
                        <a:t>Branch</a:t>
                      </a:r>
                    </a:p>
                  </a:txBody>
                  <a:tcPr/>
                </a:tc>
                <a:tc>
                  <a:txBody>
                    <a:bodyPr/>
                    <a:lstStyle/>
                    <a:p>
                      <a:r>
                        <a:rPr lang="en-US" sz="1800" dirty="0"/>
                        <a:t>Select Branch. A list of all the branches associated with the document displays. Select the branch that corresponds to the time you want to create the baseline as of.</a:t>
                      </a:r>
                    </a:p>
                  </a:txBody>
                  <a:tcPr/>
                </a:tc>
                <a:extLst>
                  <a:ext uri="{0D108BD9-81ED-4DB2-BD59-A6C34878D82A}">
                    <a16:rowId xmlns:a16="http://schemas.microsoft.com/office/drawing/2014/main" val="3313035755"/>
                  </a:ext>
                </a:extLst>
              </a:tr>
              <a:tr h="709788">
                <a:tc>
                  <a:txBody>
                    <a:bodyPr/>
                    <a:lstStyle/>
                    <a:p>
                      <a:r>
                        <a:rPr lang="en-US" sz="1800" dirty="0"/>
                        <a:t>Edit</a:t>
                      </a:r>
                    </a:p>
                  </a:txBody>
                  <a:tcPr/>
                </a:tc>
                <a:tc>
                  <a:txBody>
                    <a:bodyPr/>
                    <a:lstStyle/>
                    <a:p>
                      <a:r>
                        <a:rPr lang="en-US" sz="1800" dirty="0"/>
                        <a:t>Select Edit. A list of all the dates at which the document item was significantly modified displays. Select the date that corresponds to the time you want to baseline as of.</a:t>
                      </a:r>
                    </a:p>
                  </a:txBody>
                  <a:tcPr/>
                </a:tc>
                <a:extLst>
                  <a:ext uri="{0D108BD9-81ED-4DB2-BD59-A6C34878D82A}">
                    <a16:rowId xmlns:a16="http://schemas.microsoft.com/office/drawing/2014/main" val="3693102264"/>
                  </a:ext>
                </a:extLst>
              </a:tr>
              <a:tr h="709788">
                <a:tc>
                  <a:txBody>
                    <a:bodyPr/>
                    <a:lstStyle/>
                    <a:p>
                      <a:r>
                        <a:rPr lang="en-US" sz="1800" dirty="0"/>
                        <a:t>Date</a:t>
                      </a:r>
                    </a:p>
                  </a:txBody>
                  <a:tcPr/>
                </a:tc>
                <a:tc>
                  <a:txBody>
                    <a:bodyPr/>
                    <a:lstStyle/>
                    <a:p>
                      <a:r>
                        <a:rPr lang="en-US" sz="1800" dirty="0"/>
                        <a:t>Select Date. This option allows you to select an arbitrary date for the baseline using the calendar, select the date that corresponds.</a:t>
                      </a:r>
                    </a:p>
                  </a:txBody>
                  <a:tcPr/>
                </a:tc>
                <a:extLst>
                  <a:ext uri="{0D108BD9-81ED-4DB2-BD59-A6C34878D82A}">
                    <a16:rowId xmlns:a16="http://schemas.microsoft.com/office/drawing/2014/main" val="2072076154"/>
                  </a:ext>
                </a:extLst>
              </a:tr>
            </a:tbl>
          </a:graphicData>
        </a:graphic>
      </p:graphicFrame>
    </p:spTree>
    <p:extLst>
      <p:ext uri="{BB962C8B-B14F-4D97-AF65-F5344CB8AC3E}">
        <p14:creationId xmlns:p14="http://schemas.microsoft.com/office/powerpoint/2010/main" val="575164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Baseline multiple documents</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712937" cy="2800767"/>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 For the documents you want to baseline, select the documents from an applicable view or field, for example, the Items view or a relationship field</a:t>
            </a:r>
          </a:p>
          <a:p>
            <a:pPr marL="285750" indent="-285750">
              <a:spcBef>
                <a:spcPts val="600"/>
              </a:spcBef>
              <a:spcAft>
                <a:spcPts val="600"/>
              </a:spcAft>
              <a:buFont typeface="Arial" panose="020B0604020202020204" pitchFamily="34" charset="0"/>
              <a:buChar char="•"/>
            </a:pPr>
            <a:r>
              <a:rPr lang="en-US" dirty="0"/>
              <a:t>Select Document ▶ Baseline. The Baseline dialog box displays.</a:t>
            </a:r>
            <a:endParaRPr lang="en-US" b="1" dirty="0"/>
          </a:p>
          <a:p>
            <a:pPr marL="285750" indent="-285750">
              <a:spcBef>
                <a:spcPts val="600"/>
              </a:spcBef>
              <a:spcAft>
                <a:spcPts val="600"/>
              </a:spcAft>
              <a:buFont typeface="Arial" panose="020B0604020202020204" pitchFamily="34" charset="0"/>
              <a:buChar char="•"/>
            </a:pPr>
            <a:r>
              <a:rPr lang="en-US" dirty="0"/>
              <a:t>Type the name of the Label for the baseline, for example, Project ABC System.</a:t>
            </a:r>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IN" dirty="0"/>
          </a:p>
        </p:txBody>
      </p:sp>
      <p:pic>
        <p:nvPicPr>
          <p:cNvPr id="5" name="Picture 4">
            <a:extLst>
              <a:ext uri="{FF2B5EF4-FFF2-40B4-BE49-F238E27FC236}">
                <a16:creationId xmlns:a16="http://schemas.microsoft.com/office/drawing/2014/main" id="{F46857D3-B989-4DF6-946B-871797FF6759}"/>
              </a:ext>
            </a:extLst>
          </p:cNvPr>
          <p:cNvPicPr>
            <a:picLocks noChangeAspect="1"/>
          </p:cNvPicPr>
          <p:nvPr/>
        </p:nvPicPr>
        <p:blipFill>
          <a:blip r:embed="rId2"/>
          <a:stretch>
            <a:fillRect/>
          </a:stretch>
        </p:blipFill>
        <p:spPr>
          <a:xfrm>
            <a:off x="1736035" y="3088169"/>
            <a:ext cx="8097078" cy="2941569"/>
          </a:xfrm>
          <a:prstGeom prst="rect">
            <a:avLst/>
          </a:prstGeom>
        </p:spPr>
      </p:pic>
    </p:spTree>
    <p:extLst>
      <p:ext uri="{BB962C8B-B14F-4D97-AF65-F5344CB8AC3E}">
        <p14:creationId xmlns:p14="http://schemas.microsoft.com/office/powerpoint/2010/main" val="2206896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Baseline multiple documents</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712937" cy="1231106"/>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 Select the applicable As Of option from the list. The default option is Now, indicating the current date and time</a:t>
            </a:r>
          </a:p>
          <a:p>
            <a:pPr>
              <a:spcBef>
                <a:spcPts val="600"/>
              </a:spcBef>
              <a:spcAft>
                <a:spcPts val="600"/>
              </a:spcAft>
            </a:pPr>
            <a:endParaRPr lang="en-US" dirty="0"/>
          </a:p>
          <a:p>
            <a:pPr>
              <a:spcBef>
                <a:spcPts val="600"/>
              </a:spcBef>
              <a:spcAft>
                <a:spcPts val="600"/>
              </a:spcAft>
            </a:pPr>
            <a:endParaRPr lang="en-IN" dirty="0"/>
          </a:p>
        </p:txBody>
      </p:sp>
      <p:pic>
        <p:nvPicPr>
          <p:cNvPr id="6" name="Picture 5">
            <a:extLst>
              <a:ext uri="{FF2B5EF4-FFF2-40B4-BE49-F238E27FC236}">
                <a16:creationId xmlns:a16="http://schemas.microsoft.com/office/drawing/2014/main" id="{FC1C567D-30F1-4C54-B99C-CA044367C9EC}"/>
              </a:ext>
            </a:extLst>
          </p:cNvPr>
          <p:cNvPicPr>
            <a:picLocks noChangeAspect="1"/>
          </p:cNvPicPr>
          <p:nvPr/>
        </p:nvPicPr>
        <p:blipFill>
          <a:blip r:embed="rId2"/>
          <a:stretch>
            <a:fillRect/>
          </a:stretch>
        </p:blipFill>
        <p:spPr>
          <a:xfrm>
            <a:off x="612031" y="1788883"/>
            <a:ext cx="3443133" cy="3790282"/>
          </a:xfrm>
          <a:prstGeom prst="rect">
            <a:avLst/>
          </a:prstGeom>
        </p:spPr>
      </p:pic>
      <p:graphicFrame>
        <p:nvGraphicFramePr>
          <p:cNvPr id="7" name="Table 7">
            <a:extLst>
              <a:ext uri="{FF2B5EF4-FFF2-40B4-BE49-F238E27FC236}">
                <a16:creationId xmlns:a16="http://schemas.microsoft.com/office/drawing/2014/main" id="{B006419B-14BA-48FF-87C0-AA9E63A5C5E4}"/>
              </a:ext>
            </a:extLst>
          </p:cNvPr>
          <p:cNvGraphicFramePr>
            <a:graphicFrameLocks noGrp="1"/>
          </p:cNvGraphicFramePr>
          <p:nvPr>
            <p:extLst>
              <p:ext uri="{D42A27DB-BD31-4B8C-83A1-F6EECF244321}">
                <p14:modId xmlns:p14="http://schemas.microsoft.com/office/powerpoint/2010/main" val="4126568875"/>
              </p:ext>
            </p:extLst>
          </p:nvPr>
        </p:nvGraphicFramePr>
        <p:xfrm>
          <a:off x="4597885" y="2404436"/>
          <a:ext cx="6462644" cy="3119755"/>
        </p:xfrm>
        <a:graphic>
          <a:graphicData uri="http://schemas.openxmlformats.org/drawingml/2006/table">
            <a:tbl>
              <a:tblPr firstRow="1" bandRow="1">
                <a:tableStyleId>{72833802-FEF1-4C79-8D5D-14CF1EAF98D9}</a:tableStyleId>
              </a:tblPr>
              <a:tblGrid>
                <a:gridCol w="2120967">
                  <a:extLst>
                    <a:ext uri="{9D8B030D-6E8A-4147-A177-3AD203B41FA5}">
                      <a16:colId xmlns:a16="http://schemas.microsoft.com/office/drawing/2014/main" val="678914367"/>
                    </a:ext>
                  </a:extLst>
                </a:gridCol>
                <a:gridCol w="4341677">
                  <a:extLst>
                    <a:ext uri="{9D8B030D-6E8A-4147-A177-3AD203B41FA5}">
                      <a16:colId xmlns:a16="http://schemas.microsoft.com/office/drawing/2014/main" val="1819925855"/>
                    </a:ext>
                  </a:extLst>
                </a:gridCol>
              </a:tblGrid>
              <a:tr h="0">
                <a:tc>
                  <a:txBody>
                    <a:bodyPr/>
                    <a:lstStyle/>
                    <a:p>
                      <a:r>
                        <a:rPr lang="en-US" dirty="0"/>
                        <a:t>To baseline a document As Of... </a:t>
                      </a:r>
                    </a:p>
                  </a:txBody>
                  <a:tcPr/>
                </a:tc>
                <a:tc>
                  <a:txBody>
                    <a:bodyPr/>
                    <a:lstStyle/>
                    <a:p>
                      <a:r>
                        <a:rPr lang="en-US" dirty="0"/>
                        <a:t>Do this...</a:t>
                      </a:r>
                    </a:p>
                  </a:txBody>
                  <a:tcPr/>
                </a:tc>
                <a:extLst>
                  <a:ext uri="{0D108BD9-81ED-4DB2-BD59-A6C34878D82A}">
                    <a16:rowId xmlns:a16="http://schemas.microsoft.com/office/drawing/2014/main" val="3299837034"/>
                  </a:ext>
                </a:extLst>
              </a:tr>
              <a:tr h="370840">
                <a:tc>
                  <a:txBody>
                    <a:bodyPr/>
                    <a:lstStyle/>
                    <a:p>
                      <a:r>
                        <a:rPr lang="en-US" dirty="0"/>
                        <a:t>Now</a:t>
                      </a:r>
                    </a:p>
                  </a:txBody>
                  <a:tcPr/>
                </a:tc>
                <a:tc>
                  <a:txBody>
                    <a:bodyPr/>
                    <a:lstStyle/>
                    <a:p>
                      <a:r>
                        <a:rPr lang="en-US" dirty="0"/>
                        <a:t>Select Now to baseline the current version of the document. </a:t>
                      </a:r>
                    </a:p>
                  </a:txBody>
                  <a:tcPr/>
                </a:tc>
                <a:extLst>
                  <a:ext uri="{0D108BD9-81ED-4DB2-BD59-A6C34878D82A}">
                    <a16:rowId xmlns:a16="http://schemas.microsoft.com/office/drawing/2014/main" val="909658992"/>
                  </a:ext>
                </a:extLst>
              </a:tr>
              <a:tr h="370840">
                <a:tc>
                  <a:txBody>
                    <a:bodyPr/>
                    <a:lstStyle/>
                    <a:p>
                      <a:r>
                        <a:rPr lang="en-US" dirty="0"/>
                        <a:t>Date</a:t>
                      </a:r>
                    </a:p>
                  </a:txBody>
                  <a:tcPr/>
                </a:tc>
                <a:tc>
                  <a:txBody>
                    <a:bodyPr/>
                    <a:lstStyle/>
                    <a:p>
                      <a:r>
                        <a:rPr lang="en-US" dirty="0"/>
                        <a:t>Select Date. This option allows you to select an arbitrary date for the baseline using the calendar, select the date that corresponds. Note: The date selected must not precede the most recent created date of the selected documents.</a:t>
                      </a:r>
                    </a:p>
                  </a:txBody>
                  <a:tcPr/>
                </a:tc>
                <a:extLst>
                  <a:ext uri="{0D108BD9-81ED-4DB2-BD59-A6C34878D82A}">
                    <a16:rowId xmlns:a16="http://schemas.microsoft.com/office/drawing/2014/main" val="2011940272"/>
                  </a:ext>
                </a:extLst>
              </a:tr>
            </a:tbl>
          </a:graphicData>
        </a:graphic>
      </p:graphicFrame>
    </p:spTree>
    <p:extLst>
      <p:ext uri="{BB962C8B-B14F-4D97-AF65-F5344CB8AC3E}">
        <p14:creationId xmlns:p14="http://schemas.microsoft.com/office/powerpoint/2010/main" val="209590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Removing Baselines From Documents</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542643" cy="4616648"/>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A baseline is a special label added to documents that captures a meaningful point in the document’s history. Typically, PTC does not recommend removing a baseline; however, you may want to remove a document baseline if you want the baseline label to refer to a new date and time. </a:t>
            </a:r>
          </a:p>
          <a:p>
            <a:pPr marL="285750" indent="-285750">
              <a:spcBef>
                <a:spcPts val="600"/>
              </a:spcBef>
              <a:spcAft>
                <a:spcPts val="600"/>
              </a:spcAft>
              <a:buFont typeface="Arial" panose="020B0604020202020204" pitchFamily="34" charset="0"/>
              <a:buChar char="•"/>
            </a:pPr>
            <a:r>
              <a:rPr lang="en-US" dirty="0"/>
              <a:t>To remove a baseline, select the documents containing the baseline you want to remove. If you select more than one document, you can only remove baselines that are common to all the selected documents. This means that only baseline labels containing the same name across all the selected documents can be removed at once.</a:t>
            </a:r>
          </a:p>
          <a:p>
            <a:pPr marL="285750" indent="-285750">
              <a:spcBef>
                <a:spcPts val="600"/>
              </a:spcBef>
              <a:spcAft>
                <a:spcPts val="600"/>
              </a:spcAft>
              <a:buFont typeface="Arial" panose="020B0604020202020204" pitchFamily="34" charset="0"/>
              <a:buChar char="•"/>
            </a:pPr>
            <a:r>
              <a:rPr lang="en-US" dirty="0"/>
              <a:t>Key Considerations</a:t>
            </a:r>
          </a:p>
          <a:p>
            <a:pPr marL="742950" lvl="1" indent="-285750">
              <a:spcBef>
                <a:spcPts val="600"/>
              </a:spcBef>
              <a:spcAft>
                <a:spcPts val="600"/>
              </a:spcAft>
              <a:buFont typeface="Arial" panose="020B0604020202020204" pitchFamily="34" charset="0"/>
              <a:buChar char="•"/>
            </a:pPr>
            <a:r>
              <a:rPr lang="en-US" dirty="0"/>
              <a:t>Your Integrity administrator determines who can create baselines by configuring the rules associated with removing labels on your document type.</a:t>
            </a:r>
          </a:p>
          <a:p>
            <a:pPr marL="742950" lvl="1" indent="-285750">
              <a:spcBef>
                <a:spcPts val="600"/>
              </a:spcBef>
              <a:spcAft>
                <a:spcPts val="600"/>
              </a:spcAft>
              <a:buFont typeface="Arial" panose="020B0604020202020204" pitchFamily="34" charset="0"/>
              <a:buChar char="•"/>
            </a:pPr>
            <a:r>
              <a:rPr lang="en-US" dirty="0"/>
              <a:t>If you specify a node in the remove baseline operation, the operation is applied to the document that node is contained in.</a:t>
            </a:r>
          </a:p>
          <a:p>
            <a:pPr>
              <a:spcBef>
                <a:spcPts val="600"/>
              </a:spcBef>
              <a:spcAft>
                <a:spcPts val="600"/>
              </a:spcAft>
            </a:pPr>
            <a:endParaRPr lang="en-US" dirty="0"/>
          </a:p>
          <a:p>
            <a:pPr>
              <a:spcBef>
                <a:spcPts val="600"/>
              </a:spcBef>
              <a:spcAft>
                <a:spcPts val="600"/>
              </a:spcAft>
            </a:pPr>
            <a:endParaRPr lang="en-IN" dirty="0"/>
          </a:p>
        </p:txBody>
      </p:sp>
    </p:spTree>
    <p:extLst>
      <p:ext uri="{BB962C8B-B14F-4D97-AF65-F5344CB8AC3E}">
        <p14:creationId xmlns:p14="http://schemas.microsoft.com/office/powerpoint/2010/main" val="3708412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To remove a baseline from a document</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7" y="1173330"/>
            <a:ext cx="6149008" cy="6093976"/>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For the document you want to remove a baseline from, do one of the following: </a:t>
            </a:r>
          </a:p>
          <a:p>
            <a:pPr marL="742950" lvl="1" indent="-285750">
              <a:spcBef>
                <a:spcPts val="600"/>
              </a:spcBef>
              <a:spcAft>
                <a:spcPts val="600"/>
              </a:spcAft>
              <a:buFont typeface="Arial" panose="020B0604020202020204" pitchFamily="34" charset="0"/>
              <a:buChar char="•"/>
            </a:pPr>
            <a:r>
              <a:rPr lang="en-US" dirty="0"/>
              <a:t>Open the document in the Document view.</a:t>
            </a:r>
          </a:p>
          <a:p>
            <a:pPr marL="742950" lvl="1" indent="-285750">
              <a:spcBef>
                <a:spcPts val="600"/>
              </a:spcBef>
              <a:spcAft>
                <a:spcPts val="600"/>
              </a:spcAft>
              <a:buFont typeface="Arial" panose="020B0604020202020204" pitchFamily="34" charset="0"/>
              <a:buChar char="•"/>
            </a:pPr>
            <a:r>
              <a:rPr lang="en-US" dirty="0"/>
              <a:t>Select the document from an applicable view or field, for example, the Items view or a relationship field.</a:t>
            </a:r>
          </a:p>
          <a:p>
            <a:pPr marL="285750" indent="-285750">
              <a:spcBef>
                <a:spcPts val="600"/>
              </a:spcBef>
              <a:spcAft>
                <a:spcPts val="600"/>
              </a:spcAft>
              <a:buFont typeface="Arial" panose="020B0604020202020204" pitchFamily="34" charset="0"/>
              <a:buChar char="•"/>
            </a:pPr>
            <a:r>
              <a:rPr lang="en-US" dirty="0"/>
              <a:t>Select Document ▶ Remove Baseline.</a:t>
            </a:r>
          </a:p>
          <a:p>
            <a:pPr>
              <a:spcBef>
                <a:spcPts val="600"/>
              </a:spcBef>
              <a:spcAft>
                <a:spcPts val="600"/>
              </a:spcAft>
            </a:pPr>
            <a:r>
              <a:rPr lang="en-US" dirty="0"/>
              <a:t>    The Remove Baseline dialog box displays.</a:t>
            </a:r>
          </a:p>
          <a:p>
            <a:pPr marL="285750" indent="-285750">
              <a:spcBef>
                <a:spcPts val="600"/>
              </a:spcBef>
              <a:spcAft>
                <a:spcPts val="600"/>
              </a:spcAft>
              <a:buFont typeface="Arial" panose="020B0604020202020204" pitchFamily="34" charset="0"/>
              <a:buChar char="•"/>
            </a:pPr>
            <a:r>
              <a:rPr lang="en-US" dirty="0"/>
              <a:t>From the Labels list, select the name of </a:t>
            </a:r>
          </a:p>
          <a:p>
            <a:pPr>
              <a:spcBef>
                <a:spcPts val="600"/>
              </a:spcBef>
              <a:spcAft>
                <a:spcPts val="600"/>
              </a:spcAft>
            </a:pPr>
            <a:r>
              <a:rPr lang="en-US" dirty="0"/>
              <a:t>     the baseline label you want to remove.</a:t>
            </a:r>
          </a:p>
          <a:p>
            <a:pPr>
              <a:spcBef>
                <a:spcPts val="600"/>
              </a:spcBef>
              <a:spcAft>
                <a:spcPts val="600"/>
              </a:spcAft>
            </a:pPr>
            <a:r>
              <a:rPr lang="en-US" dirty="0"/>
              <a:t>    Only labels associated with a baseline are</a:t>
            </a:r>
          </a:p>
          <a:p>
            <a:pPr>
              <a:spcBef>
                <a:spcPts val="600"/>
              </a:spcBef>
              <a:spcAft>
                <a:spcPts val="600"/>
              </a:spcAft>
            </a:pPr>
            <a:r>
              <a:rPr lang="en-US" dirty="0"/>
              <a:t>     available for selection.</a:t>
            </a:r>
          </a:p>
          <a:p>
            <a:pPr marL="285750" indent="-285750">
              <a:spcBef>
                <a:spcPts val="600"/>
              </a:spcBef>
              <a:spcAft>
                <a:spcPts val="600"/>
              </a:spcAft>
              <a:buFont typeface="Arial" panose="020B0604020202020204" pitchFamily="34" charset="0"/>
              <a:buChar char="•"/>
            </a:pPr>
            <a:r>
              <a:rPr lang="en-US" dirty="0"/>
              <a:t>Click OK.</a:t>
            </a:r>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IN" dirty="0"/>
          </a:p>
        </p:txBody>
      </p:sp>
      <p:pic>
        <p:nvPicPr>
          <p:cNvPr id="5" name="Picture 4">
            <a:extLst>
              <a:ext uri="{FF2B5EF4-FFF2-40B4-BE49-F238E27FC236}">
                <a16:creationId xmlns:a16="http://schemas.microsoft.com/office/drawing/2014/main" id="{6840CAE0-B7C4-4700-986B-518FF9B56CA7}"/>
              </a:ext>
            </a:extLst>
          </p:cNvPr>
          <p:cNvPicPr>
            <a:picLocks noChangeAspect="1"/>
          </p:cNvPicPr>
          <p:nvPr/>
        </p:nvPicPr>
        <p:blipFill>
          <a:blip r:embed="rId2"/>
          <a:stretch>
            <a:fillRect/>
          </a:stretch>
        </p:blipFill>
        <p:spPr>
          <a:xfrm>
            <a:off x="7801258" y="1156765"/>
            <a:ext cx="3689902" cy="4955070"/>
          </a:xfrm>
          <a:prstGeom prst="rect">
            <a:avLst/>
          </a:prstGeom>
        </p:spPr>
      </p:pic>
      <p:pic>
        <p:nvPicPr>
          <p:cNvPr id="6" name="Picture 5">
            <a:extLst>
              <a:ext uri="{FF2B5EF4-FFF2-40B4-BE49-F238E27FC236}">
                <a16:creationId xmlns:a16="http://schemas.microsoft.com/office/drawing/2014/main" id="{7826013F-678C-4B90-B463-C989578CAC5A}"/>
              </a:ext>
            </a:extLst>
          </p:cNvPr>
          <p:cNvPicPr>
            <a:picLocks noChangeAspect="1"/>
          </p:cNvPicPr>
          <p:nvPr/>
        </p:nvPicPr>
        <p:blipFill>
          <a:blip r:embed="rId3"/>
          <a:stretch>
            <a:fillRect/>
          </a:stretch>
        </p:blipFill>
        <p:spPr>
          <a:xfrm>
            <a:off x="4929809" y="3248326"/>
            <a:ext cx="2623929" cy="2965487"/>
          </a:xfrm>
          <a:prstGeom prst="rect">
            <a:avLst/>
          </a:prstGeom>
        </p:spPr>
      </p:pic>
    </p:spTree>
    <p:extLst>
      <p:ext uri="{BB962C8B-B14F-4D97-AF65-F5344CB8AC3E}">
        <p14:creationId xmlns:p14="http://schemas.microsoft.com/office/powerpoint/2010/main" val="1703271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To remove a baseline from all document </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7" y="1173330"/>
            <a:ext cx="6149008" cy="5509200"/>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For the documents containing the baseline you want to remove, select the documents from an applicable view or field, for example, the Items view or a relationship field.</a:t>
            </a:r>
          </a:p>
          <a:p>
            <a:pPr marL="285750" indent="-285750">
              <a:spcBef>
                <a:spcPts val="600"/>
              </a:spcBef>
              <a:spcAft>
                <a:spcPts val="600"/>
              </a:spcAft>
              <a:buFont typeface="Arial" panose="020B0604020202020204" pitchFamily="34" charset="0"/>
              <a:buChar char="•"/>
            </a:pPr>
            <a:r>
              <a:rPr lang="en-US" dirty="0"/>
              <a:t>Select Document ▶ Remove Baseline. The Remove Baselines dialog box displays.</a:t>
            </a:r>
          </a:p>
          <a:p>
            <a:pPr marL="285750" indent="-285750">
              <a:spcBef>
                <a:spcPts val="600"/>
              </a:spcBef>
              <a:spcAft>
                <a:spcPts val="600"/>
              </a:spcAft>
              <a:buFont typeface="Arial" panose="020B0604020202020204" pitchFamily="34" charset="0"/>
              <a:buChar char="•"/>
            </a:pPr>
            <a:r>
              <a:rPr lang="en-US" dirty="0"/>
              <a:t>From the Labels list, select the name of the</a:t>
            </a:r>
          </a:p>
          <a:p>
            <a:pPr>
              <a:spcBef>
                <a:spcPts val="600"/>
              </a:spcBef>
              <a:spcAft>
                <a:spcPts val="600"/>
              </a:spcAft>
            </a:pPr>
            <a:r>
              <a:rPr lang="en-US" dirty="0"/>
              <a:t>     baseline label you want to remove. Only</a:t>
            </a:r>
          </a:p>
          <a:p>
            <a:pPr>
              <a:spcBef>
                <a:spcPts val="600"/>
              </a:spcBef>
              <a:spcAft>
                <a:spcPts val="600"/>
              </a:spcAft>
            </a:pPr>
            <a:r>
              <a:rPr lang="en-US" dirty="0"/>
              <a:t>     labels containing the same name across </a:t>
            </a:r>
          </a:p>
          <a:p>
            <a:pPr>
              <a:spcBef>
                <a:spcPts val="600"/>
              </a:spcBef>
              <a:spcAft>
                <a:spcPts val="600"/>
              </a:spcAft>
            </a:pPr>
            <a:r>
              <a:rPr lang="en-US" dirty="0"/>
              <a:t>     all selected documents are available for </a:t>
            </a:r>
          </a:p>
          <a:p>
            <a:pPr>
              <a:spcBef>
                <a:spcPts val="600"/>
              </a:spcBef>
              <a:spcAft>
                <a:spcPts val="600"/>
              </a:spcAft>
            </a:pPr>
            <a:r>
              <a:rPr lang="en-US" dirty="0"/>
              <a:t>     selection.</a:t>
            </a:r>
          </a:p>
          <a:p>
            <a:pPr marL="285750" indent="-285750">
              <a:spcBef>
                <a:spcPts val="600"/>
              </a:spcBef>
              <a:spcAft>
                <a:spcPts val="600"/>
              </a:spcAft>
              <a:buFont typeface="Arial" panose="020B0604020202020204" pitchFamily="34" charset="0"/>
              <a:buChar char="•"/>
            </a:pPr>
            <a:r>
              <a:rPr lang="en-US" dirty="0"/>
              <a:t>Click OK.</a:t>
            </a:r>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IN" dirty="0"/>
          </a:p>
        </p:txBody>
      </p:sp>
      <p:pic>
        <p:nvPicPr>
          <p:cNvPr id="6" name="Picture 5">
            <a:extLst>
              <a:ext uri="{FF2B5EF4-FFF2-40B4-BE49-F238E27FC236}">
                <a16:creationId xmlns:a16="http://schemas.microsoft.com/office/drawing/2014/main" id="{7826013F-678C-4B90-B463-C989578CAC5A}"/>
              </a:ext>
            </a:extLst>
          </p:cNvPr>
          <p:cNvPicPr>
            <a:picLocks noChangeAspect="1"/>
          </p:cNvPicPr>
          <p:nvPr/>
        </p:nvPicPr>
        <p:blipFill>
          <a:blip r:embed="rId2"/>
          <a:stretch>
            <a:fillRect/>
          </a:stretch>
        </p:blipFill>
        <p:spPr>
          <a:xfrm>
            <a:off x="4929809" y="3248326"/>
            <a:ext cx="2623929" cy="2965487"/>
          </a:xfrm>
          <a:prstGeom prst="rect">
            <a:avLst/>
          </a:prstGeom>
        </p:spPr>
      </p:pic>
      <p:pic>
        <p:nvPicPr>
          <p:cNvPr id="7" name="Picture 6">
            <a:extLst>
              <a:ext uri="{FF2B5EF4-FFF2-40B4-BE49-F238E27FC236}">
                <a16:creationId xmlns:a16="http://schemas.microsoft.com/office/drawing/2014/main" id="{078A0629-4718-427F-993D-FFD856AA59EF}"/>
              </a:ext>
            </a:extLst>
          </p:cNvPr>
          <p:cNvPicPr>
            <a:picLocks noChangeAspect="1"/>
          </p:cNvPicPr>
          <p:nvPr/>
        </p:nvPicPr>
        <p:blipFill>
          <a:blip r:embed="rId3"/>
          <a:stretch>
            <a:fillRect/>
          </a:stretch>
        </p:blipFill>
        <p:spPr>
          <a:xfrm>
            <a:off x="8041104" y="1481438"/>
            <a:ext cx="3726826" cy="4732375"/>
          </a:xfrm>
          <a:prstGeom prst="rect">
            <a:avLst/>
          </a:prstGeom>
        </p:spPr>
      </p:pic>
    </p:spTree>
    <p:extLst>
      <p:ext uri="{BB962C8B-B14F-4D97-AF65-F5344CB8AC3E}">
        <p14:creationId xmlns:p14="http://schemas.microsoft.com/office/powerpoint/2010/main" val="312008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Comparing Documents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524000"/>
            <a:ext cx="11227747" cy="4691270"/>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0" indent="0">
              <a:buNone/>
            </a:pPr>
            <a:r>
              <a:rPr lang="en-US" sz="2000" b="1" dirty="0"/>
              <a:t> </a:t>
            </a:r>
          </a:p>
          <a:p>
            <a:pPr>
              <a:buFont typeface="Wingdings" panose="05000000000000000000" pitchFamily="2" charset="2"/>
              <a:buChar char="§"/>
            </a:pPr>
            <a:r>
              <a:rPr lang="en-US" dirty="0"/>
              <a:t>Compare content and field-level differences between two document selections using the Document Difference view. </a:t>
            </a:r>
          </a:p>
          <a:p>
            <a:pPr>
              <a:buFont typeface="Wingdings" panose="05000000000000000000" pitchFamily="2" charset="2"/>
              <a:buChar char="§"/>
            </a:pPr>
            <a:r>
              <a:rPr lang="en-US" dirty="0"/>
              <a:t>For example, user can select a requirements document with two baseline labels and relevant fields of interest to see how the document has changed over time. </a:t>
            </a:r>
          </a:p>
          <a:p>
            <a:pPr>
              <a:buFont typeface="Wingdings" panose="05000000000000000000" pitchFamily="2" charset="2"/>
              <a:buChar char="§"/>
            </a:pPr>
            <a:r>
              <a:rPr lang="en-US" dirty="0"/>
              <a:t>The view presents structural and content changes side-by-side in two document panes. Item and field additions, deletions, moves, changes, as well as text differences are highlighted.</a:t>
            </a:r>
          </a:p>
          <a:p>
            <a:pPr>
              <a:buFont typeface="Wingdings" panose="05000000000000000000" pitchFamily="2" charset="2"/>
              <a:buChar char="§"/>
            </a:pPr>
            <a:r>
              <a:rPr lang="en-US" dirty="0"/>
              <a:t>User can use navigation tools to efficiently review and navigate the document differences</a:t>
            </a:r>
          </a:p>
          <a:p>
            <a:pPr>
              <a:buFont typeface="Wingdings" panose="05000000000000000000" pitchFamily="2" charset="2"/>
              <a:buChar char="§"/>
            </a:pPr>
            <a:endParaRPr lang="en-US" dirty="0"/>
          </a:p>
          <a:p>
            <a:pPr marL="342891" lvl="1" indent="0">
              <a:buNone/>
            </a:pPr>
            <a:endParaRPr lang="en-US" sz="1400" dirty="0">
              <a:solidFill>
                <a:schemeClr val="tx1"/>
              </a:solidFill>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spTree>
    <p:extLst>
      <p:ext uri="{BB962C8B-B14F-4D97-AF65-F5344CB8AC3E}">
        <p14:creationId xmlns:p14="http://schemas.microsoft.com/office/powerpoint/2010/main" val="1693433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Key Considerations for Field Selections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524000"/>
            <a:ext cx="11227747" cy="4691270"/>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0" indent="0">
              <a:buNone/>
            </a:pPr>
            <a:r>
              <a:rPr lang="en-US" sz="2000" b="1" dirty="0"/>
              <a:t> </a:t>
            </a:r>
          </a:p>
          <a:p>
            <a:pPr>
              <a:buFont typeface="Wingdings" panose="05000000000000000000" pitchFamily="2" charset="2"/>
              <a:buChar char="§"/>
            </a:pPr>
            <a:r>
              <a:rPr lang="en-US" dirty="0"/>
              <a:t>The primary text field is always compared.</a:t>
            </a:r>
          </a:p>
          <a:p>
            <a:pPr>
              <a:buFont typeface="Wingdings" panose="05000000000000000000" pitchFamily="2" charset="2"/>
              <a:buChar char="§"/>
            </a:pPr>
            <a:r>
              <a:rPr lang="en-US" dirty="0"/>
              <a:t>You can only compare content fields that are relevant to the content type for the selected document type. Supported field types for comparison include the following types: long text, rich text, short text, Picklist, attachment, category, trace relationship, integer, floating point, state, logical, date, FVA to long text, FVA to rich text, FVA to short text, FVA to picklist, FVA to attachment, FVA to integer, FVA to floating point, FVA to logical, and FVA to date. Unsupported field types may contain differences; however, the document comparison algorithm ignores differences in unsupported field types. </a:t>
            </a:r>
          </a:p>
          <a:p>
            <a:pPr>
              <a:buFont typeface="Wingdings" panose="05000000000000000000" pitchFamily="2" charset="2"/>
              <a:buChar char="§"/>
            </a:pPr>
            <a:r>
              <a:rPr lang="en-US" dirty="0"/>
              <a:t>Except for the text field, any field you do not choose to compare may contain differences; however the document comparison algorithm ignores differences in fields that are left out of the document comparison.</a:t>
            </a:r>
          </a:p>
          <a:p>
            <a:pPr marL="342891" lvl="1" indent="0">
              <a:buNone/>
            </a:pPr>
            <a:endParaRPr lang="en-US" sz="1400" dirty="0">
              <a:solidFill>
                <a:schemeClr val="tx1"/>
              </a:solidFill>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spTree>
    <p:extLst>
      <p:ext uri="{BB962C8B-B14F-4D97-AF65-F5344CB8AC3E}">
        <p14:creationId xmlns:p14="http://schemas.microsoft.com/office/powerpoint/2010/main" val="4213877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Selecting Documents to Compare</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524000"/>
            <a:ext cx="11227747" cy="4691270"/>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0" indent="0">
              <a:buNone/>
            </a:pPr>
            <a:r>
              <a:rPr lang="en-US" sz="2000" b="1" dirty="0"/>
              <a:t> </a:t>
            </a:r>
            <a:endParaRPr lang="en-US" b="1" dirty="0"/>
          </a:p>
          <a:p>
            <a:pPr lvl="1">
              <a:buFont typeface="Wingdings" panose="05000000000000000000" pitchFamily="2" charset="2"/>
              <a:buChar char="§"/>
            </a:pPr>
            <a:r>
              <a:rPr lang="en-US" sz="1800" dirty="0"/>
              <a:t>You can specify the following types of document selections:</a:t>
            </a:r>
          </a:p>
          <a:p>
            <a:pPr lvl="2">
              <a:buFont typeface="Wingdings" panose="05000000000000000000" pitchFamily="2" charset="2"/>
              <a:buChar char="§"/>
            </a:pPr>
            <a:r>
              <a:rPr lang="en-US" sz="1800" dirty="0"/>
              <a:t>One document at two different points in time.</a:t>
            </a:r>
          </a:p>
          <a:p>
            <a:pPr lvl="2">
              <a:buFont typeface="Wingdings" panose="05000000000000000000" pitchFamily="2" charset="2"/>
              <a:buChar char="§"/>
            </a:pPr>
            <a:r>
              <a:rPr lang="en-US" sz="1800" dirty="0"/>
              <a:t>Two versions of the same document (and optionally at different points in time).</a:t>
            </a:r>
          </a:p>
          <a:p>
            <a:pPr lvl="2">
              <a:buFont typeface="Wingdings" panose="05000000000000000000" pitchFamily="2" charset="2"/>
              <a:buChar char="§"/>
            </a:pPr>
            <a:r>
              <a:rPr lang="en-US" sz="1800" dirty="0"/>
              <a:t>Two branched documents that share a common branch ancestor item ID (and  optionally at different points in time). For example, you can compare a versioned document to a document that was branched. </a:t>
            </a:r>
          </a:p>
          <a:p>
            <a:pPr lvl="1">
              <a:buFont typeface="Wingdings" panose="05000000000000000000" pitchFamily="2" charset="2"/>
              <a:buChar char="§"/>
            </a:pPr>
            <a:r>
              <a:rPr lang="en-US" sz="1800" dirty="0"/>
              <a:t>To access the Document Difference view in the GUI, select Document ▶ View Differences.</a:t>
            </a:r>
          </a:p>
          <a:p>
            <a:pPr lvl="1">
              <a:buFont typeface="Wingdings" panose="05000000000000000000" pitchFamily="2" charset="2"/>
              <a:buChar char="§"/>
            </a:pPr>
            <a:r>
              <a:rPr lang="en-US" sz="1800" dirty="0"/>
              <a:t>The steps for comparing documents includes the following steps:</a:t>
            </a:r>
          </a:p>
          <a:p>
            <a:pPr lvl="2">
              <a:buFont typeface="Wingdings" panose="05000000000000000000" pitchFamily="2" charset="2"/>
              <a:buChar char="§"/>
            </a:pPr>
            <a:r>
              <a:rPr lang="en-US" sz="1800" dirty="0"/>
              <a:t>Select documents to compare.</a:t>
            </a:r>
          </a:p>
          <a:p>
            <a:pPr lvl="2">
              <a:buFont typeface="Wingdings" panose="05000000000000000000" pitchFamily="2" charset="2"/>
              <a:buChar char="§"/>
            </a:pPr>
            <a:r>
              <a:rPr lang="en-US" sz="1800" dirty="0"/>
              <a:t>Select fields to compare. </a:t>
            </a:r>
          </a:p>
          <a:p>
            <a:pPr lvl="2">
              <a:buFont typeface="Wingdings" panose="05000000000000000000" pitchFamily="2" charset="2"/>
              <a:buChar char="§"/>
            </a:pPr>
            <a:r>
              <a:rPr lang="en-US" sz="1800" dirty="0"/>
              <a:t>Filter comparison results in the view</a:t>
            </a:r>
          </a:p>
          <a:p>
            <a:pPr lvl="2">
              <a:buFont typeface="Wingdings" panose="05000000000000000000" pitchFamily="2" charset="2"/>
              <a:buChar char="§"/>
            </a:pPr>
            <a:r>
              <a:rPr lang="en-US" sz="1800" dirty="0"/>
              <a:t>Review document differences.</a:t>
            </a: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spTree>
    <p:extLst>
      <p:ext uri="{BB962C8B-B14F-4D97-AF65-F5344CB8AC3E}">
        <p14:creationId xmlns:p14="http://schemas.microsoft.com/office/powerpoint/2010/main" val="1508674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Selecting Documents to Compare</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712937" cy="3385542"/>
          </a:xfrm>
          <a:prstGeom prst="rect">
            <a:avLst/>
          </a:prstGeom>
        </p:spPr>
        <p:txBody>
          <a:bodyPr wrap="square">
            <a:spAutoFit/>
          </a:bodyPr>
          <a:lstStyle/>
          <a:p>
            <a:pPr>
              <a:spcBef>
                <a:spcPts val="600"/>
              </a:spcBef>
              <a:spcAft>
                <a:spcPts val="600"/>
              </a:spcAft>
            </a:pPr>
            <a:r>
              <a:rPr lang="en-US" b="1" dirty="0"/>
              <a:t>Selecting Fields to Compare </a:t>
            </a:r>
          </a:p>
          <a:p>
            <a:pPr marL="285750" indent="-285750">
              <a:spcBef>
                <a:spcPts val="600"/>
              </a:spcBef>
              <a:spcAft>
                <a:spcPts val="600"/>
              </a:spcAft>
              <a:buFont typeface="Arial" panose="020B0604020202020204" pitchFamily="34" charset="0"/>
              <a:buChar char="•"/>
            </a:pPr>
            <a:r>
              <a:rPr lang="en-US" dirty="0"/>
              <a:t>Expand Options and select the content fields you want to compare:</a:t>
            </a:r>
          </a:p>
          <a:p>
            <a:pPr marL="742950" lvl="1" indent="-285750">
              <a:spcBef>
                <a:spcPts val="600"/>
              </a:spcBef>
              <a:spcAft>
                <a:spcPts val="600"/>
              </a:spcAft>
              <a:buFont typeface="Arial" panose="020B0604020202020204" pitchFamily="34" charset="0"/>
              <a:buChar char="•"/>
            </a:pPr>
            <a:r>
              <a:rPr lang="en-US" dirty="0"/>
              <a:t>specifies fields to add to the Additional fields to compare list. You can filter the list of fields.</a:t>
            </a:r>
          </a:p>
          <a:p>
            <a:pPr marL="742950" lvl="1" indent="-285750">
              <a:spcBef>
                <a:spcPts val="600"/>
              </a:spcBef>
              <a:spcAft>
                <a:spcPts val="600"/>
              </a:spcAft>
              <a:buFont typeface="Arial" panose="020B0604020202020204" pitchFamily="34" charset="0"/>
              <a:buChar char="•"/>
            </a:pPr>
            <a:r>
              <a:rPr lang="en-US" dirty="0"/>
              <a:t>removes selected fields from the Additional fields to compare list.</a:t>
            </a:r>
          </a:p>
          <a:p>
            <a:pPr marL="742950" lvl="1" indent="-285750">
              <a:spcBef>
                <a:spcPts val="600"/>
              </a:spcBef>
              <a:spcAft>
                <a:spcPts val="600"/>
              </a:spcAft>
              <a:buFont typeface="Arial" panose="020B0604020202020204" pitchFamily="34" charset="0"/>
              <a:buChar char="•"/>
            </a:pPr>
            <a:r>
              <a:rPr lang="en-US" dirty="0"/>
              <a:t>adjusts the order in which the fields display in the Document Difference view.</a:t>
            </a:r>
          </a:p>
          <a:p>
            <a:pPr marL="285750" indent="-285750">
              <a:spcBef>
                <a:spcPts val="600"/>
              </a:spcBef>
              <a:spcAft>
                <a:spcPts val="600"/>
              </a:spcAft>
              <a:buFont typeface="Arial" panose="020B0604020202020204" pitchFamily="34" charset="0"/>
              <a:buChar char="•"/>
            </a:pPr>
            <a:r>
              <a:rPr lang="en-US" dirty="0"/>
              <a:t>Click OK. Your field selections are remembered the next time you compare documents of the same document type.</a:t>
            </a:r>
          </a:p>
          <a:p>
            <a:pPr>
              <a:spcBef>
                <a:spcPts val="600"/>
              </a:spcBef>
              <a:spcAft>
                <a:spcPts val="600"/>
              </a:spcAft>
            </a:pPr>
            <a:r>
              <a:rPr lang="en-US" dirty="0"/>
              <a:t>   </a:t>
            </a:r>
          </a:p>
          <a:p>
            <a:pPr>
              <a:spcBef>
                <a:spcPts val="600"/>
              </a:spcBef>
              <a:spcAft>
                <a:spcPts val="600"/>
              </a:spcAft>
            </a:pPr>
            <a:endParaRPr lang="en-IN" dirty="0"/>
          </a:p>
        </p:txBody>
      </p:sp>
      <p:pic>
        <p:nvPicPr>
          <p:cNvPr id="5" name="Picture 4">
            <a:extLst>
              <a:ext uri="{FF2B5EF4-FFF2-40B4-BE49-F238E27FC236}">
                <a16:creationId xmlns:a16="http://schemas.microsoft.com/office/drawing/2014/main" id="{CC4B6954-DAC8-4FCA-97E3-0C40D6DABB9B}"/>
              </a:ext>
            </a:extLst>
          </p:cNvPr>
          <p:cNvPicPr>
            <a:picLocks noChangeAspect="1"/>
          </p:cNvPicPr>
          <p:nvPr/>
        </p:nvPicPr>
        <p:blipFill>
          <a:blip r:embed="rId2"/>
          <a:stretch>
            <a:fillRect/>
          </a:stretch>
        </p:blipFill>
        <p:spPr>
          <a:xfrm>
            <a:off x="1563758" y="3749103"/>
            <a:ext cx="7089912" cy="2770967"/>
          </a:xfrm>
          <a:prstGeom prst="rect">
            <a:avLst/>
          </a:prstGeom>
        </p:spPr>
      </p:pic>
    </p:spTree>
    <p:extLst>
      <p:ext uri="{BB962C8B-B14F-4D97-AF65-F5344CB8AC3E}">
        <p14:creationId xmlns:p14="http://schemas.microsoft.com/office/powerpoint/2010/main" val="1192879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Types of Document Differences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937376161"/>
              </p:ext>
            </p:extLst>
          </p:nvPr>
        </p:nvGraphicFramePr>
        <p:xfrm>
          <a:off x="513278" y="1334771"/>
          <a:ext cx="9213819" cy="2194560"/>
        </p:xfrm>
        <a:graphic>
          <a:graphicData uri="http://schemas.openxmlformats.org/drawingml/2006/table">
            <a:tbl>
              <a:tblPr firstRow="1" bandRow="1">
                <a:tableStyleId>{72833802-FEF1-4C79-8D5D-14CF1EAF98D9}</a:tableStyleId>
              </a:tblPr>
              <a:tblGrid>
                <a:gridCol w="5609226">
                  <a:extLst>
                    <a:ext uri="{9D8B030D-6E8A-4147-A177-3AD203B41FA5}">
                      <a16:colId xmlns:a16="http://schemas.microsoft.com/office/drawing/2014/main" val="1924955592"/>
                    </a:ext>
                  </a:extLst>
                </a:gridCol>
                <a:gridCol w="2014331">
                  <a:extLst>
                    <a:ext uri="{9D8B030D-6E8A-4147-A177-3AD203B41FA5}">
                      <a16:colId xmlns:a16="http://schemas.microsoft.com/office/drawing/2014/main" val="2858474719"/>
                    </a:ext>
                  </a:extLst>
                </a:gridCol>
                <a:gridCol w="1590262">
                  <a:extLst>
                    <a:ext uri="{9D8B030D-6E8A-4147-A177-3AD203B41FA5}">
                      <a16:colId xmlns:a16="http://schemas.microsoft.com/office/drawing/2014/main" val="2532874485"/>
                    </a:ext>
                  </a:extLst>
                </a:gridCol>
              </a:tblGrid>
              <a:tr h="966329">
                <a:tc>
                  <a:txBody>
                    <a:bodyPr/>
                    <a:lstStyle/>
                    <a:p>
                      <a:pPr algn="ctr"/>
                      <a:r>
                        <a:rPr lang="en-US" sz="2000" dirty="0"/>
                        <a:t>Type of Document Difference</a:t>
                      </a:r>
                    </a:p>
                  </a:txBody>
                  <a:tcPr/>
                </a:tc>
                <a:tc>
                  <a:txBody>
                    <a:bodyPr/>
                    <a:lstStyle/>
                    <a:p>
                      <a:pPr algn="l"/>
                      <a:r>
                        <a:rPr lang="en-US" sz="2000" dirty="0"/>
                        <a:t>Highlight/ Connector Arrow Color</a:t>
                      </a:r>
                    </a:p>
                  </a:txBody>
                  <a:tcPr/>
                </a:tc>
                <a:tc>
                  <a:txBody>
                    <a:bodyPr/>
                    <a:lstStyle/>
                    <a:p>
                      <a:pPr algn="l"/>
                      <a:r>
                        <a:rPr lang="en-US" sz="2000" dirty="0"/>
                        <a:t>Interface Icon </a:t>
                      </a:r>
                    </a:p>
                  </a:txBody>
                  <a:tcPr/>
                </a:tc>
                <a:extLst>
                  <a:ext uri="{0D108BD9-81ED-4DB2-BD59-A6C34878D82A}">
                    <a16:rowId xmlns:a16="http://schemas.microsoft.com/office/drawing/2014/main" val="135878623"/>
                  </a:ext>
                </a:extLst>
              </a:tr>
              <a:tr h="709788">
                <a:tc>
                  <a:txBody>
                    <a:bodyPr/>
                    <a:lstStyle/>
                    <a:p>
                      <a:r>
                        <a:rPr lang="en-US" sz="1800" dirty="0"/>
                        <a:t>Added content An item that is not present in the source document but is present in the target document. A placeholder offers a visual indication of where the addition was made in the source document</a:t>
                      </a:r>
                    </a:p>
                  </a:txBody>
                  <a:tcPr/>
                </a:tc>
                <a:tc>
                  <a:txBody>
                    <a:bodyPr/>
                    <a:lstStyle/>
                    <a:p>
                      <a:r>
                        <a:rPr lang="en-US" sz="1800" dirty="0"/>
                        <a:t>Green</a:t>
                      </a:r>
                    </a:p>
                  </a:txBody>
                  <a:tcPr/>
                </a:tc>
                <a:tc>
                  <a:txBody>
                    <a:bodyPr/>
                    <a:lstStyle/>
                    <a:p>
                      <a:endParaRPr lang="en-US" sz="1800" dirty="0"/>
                    </a:p>
                  </a:txBody>
                  <a:tcPr/>
                </a:tc>
                <a:extLst>
                  <a:ext uri="{0D108BD9-81ED-4DB2-BD59-A6C34878D82A}">
                    <a16:rowId xmlns:a16="http://schemas.microsoft.com/office/drawing/2014/main" val="1031953701"/>
                  </a:ext>
                </a:extLst>
              </a:tr>
            </a:tbl>
          </a:graphicData>
        </a:graphic>
      </p:graphicFrame>
      <p:pic>
        <p:nvPicPr>
          <p:cNvPr id="6" name="Picture 5">
            <a:extLst>
              <a:ext uri="{FF2B5EF4-FFF2-40B4-BE49-F238E27FC236}">
                <a16:creationId xmlns:a16="http://schemas.microsoft.com/office/drawing/2014/main" id="{A6C80DE5-008C-4BA7-98A5-0AE2BBC0FE64}"/>
              </a:ext>
            </a:extLst>
          </p:cNvPr>
          <p:cNvPicPr>
            <a:picLocks noChangeAspect="1"/>
          </p:cNvPicPr>
          <p:nvPr/>
        </p:nvPicPr>
        <p:blipFill>
          <a:blip r:embed="rId3"/>
          <a:stretch>
            <a:fillRect/>
          </a:stretch>
        </p:blipFill>
        <p:spPr>
          <a:xfrm>
            <a:off x="8320087" y="2608442"/>
            <a:ext cx="428625" cy="381000"/>
          </a:xfrm>
          <a:prstGeom prst="rect">
            <a:avLst/>
          </a:prstGeom>
        </p:spPr>
      </p:pic>
    </p:spTree>
    <p:extLst>
      <p:ext uri="{BB962C8B-B14F-4D97-AF65-F5344CB8AC3E}">
        <p14:creationId xmlns:p14="http://schemas.microsoft.com/office/powerpoint/2010/main" val="3105658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View Differences – Comparison Indicators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65727" y="1046483"/>
            <a:ext cx="11379201" cy="892552"/>
          </a:xfrm>
          <a:prstGeom prst="rect">
            <a:avLst/>
          </a:prstGeom>
          <a:noFill/>
        </p:spPr>
        <p:txBody>
          <a:bodyPr wrap="square">
            <a:spAutoFit/>
          </a:bodyPr>
          <a:lstStyle/>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en-US" dirty="0"/>
              <a:t>Green Link indicates new content has been added compared to first document.</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5" name="Picture 4" descr="A screenshot of a social media post&#10;&#10;Description automatically generated">
            <a:extLst>
              <a:ext uri="{FF2B5EF4-FFF2-40B4-BE49-F238E27FC236}">
                <a16:creationId xmlns:a16="http://schemas.microsoft.com/office/drawing/2014/main" id="{CA8B9F25-C3C5-4682-909A-1B2FF9BB3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8044" y="2144850"/>
            <a:ext cx="8754913" cy="4123428"/>
          </a:xfrm>
          <a:prstGeom prst="rect">
            <a:avLst/>
          </a:prstGeom>
        </p:spPr>
      </p:pic>
    </p:spTree>
    <p:extLst>
      <p:ext uri="{BB962C8B-B14F-4D97-AF65-F5344CB8AC3E}">
        <p14:creationId xmlns:p14="http://schemas.microsoft.com/office/powerpoint/2010/main" val="3720408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Types of Document Differences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634105075"/>
              </p:ext>
            </p:extLst>
          </p:nvPr>
        </p:nvGraphicFramePr>
        <p:xfrm>
          <a:off x="513278" y="1334771"/>
          <a:ext cx="9213819" cy="2194560"/>
        </p:xfrm>
        <a:graphic>
          <a:graphicData uri="http://schemas.openxmlformats.org/drawingml/2006/table">
            <a:tbl>
              <a:tblPr firstRow="1" bandRow="1">
                <a:tableStyleId>{72833802-FEF1-4C79-8D5D-14CF1EAF98D9}</a:tableStyleId>
              </a:tblPr>
              <a:tblGrid>
                <a:gridCol w="5609226">
                  <a:extLst>
                    <a:ext uri="{9D8B030D-6E8A-4147-A177-3AD203B41FA5}">
                      <a16:colId xmlns:a16="http://schemas.microsoft.com/office/drawing/2014/main" val="1924955592"/>
                    </a:ext>
                  </a:extLst>
                </a:gridCol>
                <a:gridCol w="2014331">
                  <a:extLst>
                    <a:ext uri="{9D8B030D-6E8A-4147-A177-3AD203B41FA5}">
                      <a16:colId xmlns:a16="http://schemas.microsoft.com/office/drawing/2014/main" val="2858474719"/>
                    </a:ext>
                  </a:extLst>
                </a:gridCol>
                <a:gridCol w="1590262">
                  <a:extLst>
                    <a:ext uri="{9D8B030D-6E8A-4147-A177-3AD203B41FA5}">
                      <a16:colId xmlns:a16="http://schemas.microsoft.com/office/drawing/2014/main" val="2532874485"/>
                    </a:ext>
                  </a:extLst>
                </a:gridCol>
              </a:tblGrid>
              <a:tr h="966329">
                <a:tc>
                  <a:txBody>
                    <a:bodyPr/>
                    <a:lstStyle/>
                    <a:p>
                      <a:pPr algn="ctr"/>
                      <a:r>
                        <a:rPr lang="en-US" sz="2000" dirty="0"/>
                        <a:t>Type of Document Difference</a:t>
                      </a:r>
                    </a:p>
                  </a:txBody>
                  <a:tcPr/>
                </a:tc>
                <a:tc>
                  <a:txBody>
                    <a:bodyPr/>
                    <a:lstStyle/>
                    <a:p>
                      <a:pPr algn="l"/>
                      <a:r>
                        <a:rPr lang="en-US" sz="2000" dirty="0"/>
                        <a:t>Highlight/ Connector Arrow Color</a:t>
                      </a:r>
                    </a:p>
                  </a:txBody>
                  <a:tcPr/>
                </a:tc>
                <a:tc>
                  <a:txBody>
                    <a:bodyPr/>
                    <a:lstStyle/>
                    <a:p>
                      <a:pPr algn="l"/>
                      <a:r>
                        <a:rPr lang="en-US" sz="2000" dirty="0"/>
                        <a:t>Interface Icon </a:t>
                      </a:r>
                    </a:p>
                  </a:txBody>
                  <a:tcPr/>
                </a:tc>
                <a:extLst>
                  <a:ext uri="{0D108BD9-81ED-4DB2-BD59-A6C34878D82A}">
                    <a16:rowId xmlns:a16="http://schemas.microsoft.com/office/drawing/2014/main" val="135878623"/>
                  </a:ext>
                </a:extLst>
              </a:tr>
              <a:tr h="709788">
                <a:tc>
                  <a:txBody>
                    <a:bodyPr/>
                    <a:lstStyle/>
                    <a:p>
                      <a:r>
                        <a:rPr lang="en-US" sz="1800" dirty="0"/>
                        <a:t>Deleted content An item that is present in the source document but is not present in the target document. A placeholder offers a visual indication of where the deletion was made in the target document.</a:t>
                      </a:r>
                    </a:p>
                  </a:txBody>
                  <a:tcPr/>
                </a:tc>
                <a:tc>
                  <a:txBody>
                    <a:bodyPr/>
                    <a:lstStyle/>
                    <a:p>
                      <a:r>
                        <a:rPr lang="en-US" sz="1800" dirty="0"/>
                        <a:t>Red</a:t>
                      </a:r>
                    </a:p>
                  </a:txBody>
                  <a:tcPr/>
                </a:tc>
                <a:tc>
                  <a:txBody>
                    <a:bodyPr/>
                    <a:lstStyle/>
                    <a:p>
                      <a:endParaRPr lang="en-US" sz="1800" dirty="0"/>
                    </a:p>
                  </a:txBody>
                  <a:tcPr/>
                </a:tc>
                <a:extLst>
                  <a:ext uri="{0D108BD9-81ED-4DB2-BD59-A6C34878D82A}">
                    <a16:rowId xmlns:a16="http://schemas.microsoft.com/office/drawing/2014/main" val="1031953701"/>
                  </a:ext>
                </a:extLst>
              </a:tr>
            </a:tbl>
          </a:graphicData>
        </a:graphic>
      </p:graphicFrame>
      <p:pic>
        <p:nvPicPr>
          <p:cNvPr id="7" name="Picture 6">
            <a:extLst>
              <a:ext uri="{FF2B5EF4-FFF2-40B4-BE49-F238E27FC236}">
                <a16:creationId xmlns:a16="http://schemas.microsoft.com/office/drawing/2014/main" id="{A3CDF45A-9548-4116-B109-172C43777722}"/>
              </a:ext>
            </a:extLst>
          </p:cNvPr>
          <p:cNvPicPr>
            <a:picLocks noChangeAspect="1"/>
          </p:cNvPicPr>
          <p:nvPr/>
        </p:nvPicPr>
        <p:blipFill>
          <a:blip r:embed="rId3"/>
          <a:stretch>
            <a:fillRect/>
          </a:stretch>
        </p:blipFill>
        <p:spPr>
          <a:xfrm>
            <a:off x="8235812" y="2628692"/>
            <a:ext cx="438150" cy="142875"/>
          </a:xfrm>
          <a:prstGeom prst="rect">
            <a:avLst/>
          </a:prstGeom>
        </p:spPr>
      </p:pic>
    </p:spTree>
    <p:extLst>
      <p:ext uri="{BB962C8B-B14F-4D97-AF65-F5344CB8AC3E}">
        <p14:creationId xmlns:p14="http://schemas.microsoft.com/office/powerpoint/2010/main" val="2303454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View Differences – Comparison Indicators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65727" y="1046483"/>
            <a:ext cx="11379201" cy="615553"/>
          </a:xfrm>
          <a:prstGeom prst="rect">
            <a:avLst/>
          </a:prstGeom>
          <a:noFill/>
        </p:spPr>
        <p:txBody>
          <a:bodyPr wrap="square">
            <a:spAutoFit/>
          </a:bodyPr>
          <a:lstStyle/>
          <a:p>
            <a:pPr marL="228600" marR="0" lvl="1" algn="l" defTabSz="914400" rtl="0" eaLnBrk="1" fontAlgn="auto" latinLnBrk="0" hangingPunct="1">
              <a:lnSpc>
                <a:spcPct val="100000"/>
              </a:lnSpc>
              <a:spcBef>
                <a:spcPts val="375"/>
              </a:spcBef>
              <a:spcAft>
                <a:spcPts val="0"/>
              </a:spcAft>
              <a:buClrTx/>
              <a:buSzTx/>
              <a:tabLst>
                <a:tab pos="180975" algn="l"/>
              </a:tabLst>
              <a:defRPr/>
            </a:pPr>
            <a:r>
              <a:rPr lang="en-US" dirty="0"/>
              <a:t>Red Link indicates content is missing compared to first document.</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4" name="Picture 3" descr="A screenshot of a social media post&#10;&#10;Description automatically generated">
            <a:extLst>
              <a:ext uri="{FF2B5EF4-FFF2-40B4-BE49-F238E27FC236}">
                <a16:creationId xmlns:a16="http://schemas.microsoft.com/office/drawing/2014/main" id="{A1043EF0-60AE-4C42-9A36-C94C8CA86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4799" y="1662036"/>
            <a:ext cx="6895238" cy="4380955"/>
          </a:xfrm>
          <a:prstGeom prst="rect">
            <a:avLst/>
          </a:prstGeom>
        </p:spPr>
      </p:pic>
    </p:spTree>
    <p:extLst>
      <p:ext uri="{BB962C8B-B14F-4D97-AF65-F5344CB8AC3E}">
        <p14:creationId xmlns:p14="http://schemas.microsoft.com/office/powerpoint/2010/main" val="2415602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Types of Document Differences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1279365188"/>
              </p:ext>
            </p:extLst>
          </p:nvPr>
        </p:nvGraphicFramePr>
        <p:xfrm>
          <a:off x="513278" y="1334771"/>
          <a:ext cx="9213819" cy="1715628"/>
        </p:xfrm>
        <a:graphic>
          <a:graphicData uri="http://schemas.openxmlformats.org/drawingml/2006/table">
            <a:tbl>
              <a:tblPr firstRow="1" bandRow="1">
                <a:tableStyleId>{72833802-FEF1-4C79-8D5D-14CF1EAF98D9}</a:tableStyleId>
              </a:tblPr>
              <a:tblGrid>
                <a:gridCol w="5609226">
                  <a:extLst>
                    <a:ext uri="{9D8B030D-6E8A-4147-A177-3AD203B41FA5}">
                      <a16:colId xmlns:a16="http://schemas.microsoft.com/office/drawing/2014/main" val="1924955592"/>
                    </a:ext>
                  </a:extLst>
                </a:gridCol>
                <a:gridCol w="2014331">
                  <a:extLst>
                    <a:ext uri="{9D8B030D-6E8A-4147-A177-3AD203B41FA5}">
                      <a16:colId xmlns:a16="http://schemas.microsoft.com/office/drawing/2014/main" val="2858474719"/>
                    </a:ext>
                  </a:extLst>
                </a:gridCol>
                <a:gridCol w="1590262">
                  <a:extLst>
                    <a:ext uri="{9D8B030D-6E8A-4147-A177-3AD203B41FA5}">
                      <a16:colId xmlns:a16="http://schemas.microsoft.com/office/drawing/2014/main" val="2532874485"/>
                    </a:ext>
                  </a:extLst>
                </a:gridCol>
              </a:tblGrid>
              <a:tr h="966329">
                <a:tc>
                  <a:txBody>
                    <a:bodyPr/>
                    <a:lstStyle/>
                    <a:p>
                      <a:pPr algn="ctr"/>
                      <a:r>
                        <a:rPr lang="en-US" sz="2000" dirty="0"/>
                        <a:t>Type of Document Difference</a:t>
                      </a:r>
                    </a:p>
                  </a:txBody>
                  <a:tcPr/>
                </a:tc>
                <a:tc>
                  <a:txBody>
                    <a:bodyPr/>
                    <a:lstStyle/>
                    <a:p>
                      <a:pPr algn="l"/>
                      <a:r>
                        <a:rPr lang="en-US" sz="2000" dirty="0"/>
                        <a:t>Highlight/ Connector Arrow Color</a:t>
                      </a:r>
                    </a:p>
                  </a:txBody>
                  <a:tcPr/>
                </a:tc>
                <a:tc>
                  <a:txBody>
                    <a:bodyPr/>
                    <a:lstStyle/>
                    <a:p>
                      <a:pPr algn="l"/>
                      <a:r>
                        <a:rPr lang="en-US" sz="2000" dirty="0"/>
                        <a:t>Interface Icon </a:t>
                      </a:r>
                    </a:p>
                  </a:txBody>
                  <a:tcPr/>
                </a:tc>
                <a:extLst>
                  <a:ext uri="{0D108BD9-81ED-4DB2-BD59-A6C34878D82A}">
                    <a16:rowId xmlns:a16="http://schemas.microsoft.com/office/drawing/2014/main" val="135878623"/>
                  </a:ext>
                </a:extLst>
              </a:tr>
              <a:tr h="709788">
                <a:tc>
                  <a:txBody>
                    <a:bodyPr/>
                    <a:lstStyle/>
                    <a:p>
                      <a:r>
                        <a:rPr lang="en-US" sz="1800" dirty="0"/>
                        <a:t>Modified content Any non-structural change to item or field content.</a:t>
                      </a:r>
                    </a:p>
                  </a:txBody>
                  <a:tcPr/>
                </a:tc>
                <a:tc>
                  <a:txBody>
                    <a:bodyPr/>
                    <a:lstStyle/>
                    <a:p>
                      <a:r>
                        <a:rPr lang="en-US" sz="1800" dirty="0"/>
                        <a:t>Yellow</a:t>
                      </a:r>
                    </a:p>
                  </a:txBody>
                  <a:tcPr/>
                </a:tc>
                <a:tc>
                  <a:txBody>
                    <a:bodyPr/>
                    <a:lstStyle/>
                    <a:p>
                      <a:endParaRPr lang="en-US" sz="1800" dirty="0"/>
                    </a:p>
                  </a:txBody>
                  <a:tcPr/>
                </a:tc>
                <a:extLst>
                  <a:ext uri="{0D108BD9-81ED-4DB2-BD59-A6C34878D82A}">
                    <a16:rowId xmlns:a16="http://schemas.microsoft.com/office/drawing/2014/main" val="1031953701"/>
                  </a:ext>
                </a:extLst>
              </a:tr>
            </a:tbl>
          </a:graphicData>
        </a:graphic>
      </p:graphicFrame>
      <p:pic>
        <p:nvPicPr>
          <p:cNvPr id="6" name="Picture 5">
            <a:extLst>
              <a:ext uri="{FF2B5EF4-FFF2-40B4-BE49-F238E27FC236}">
                <a16:creationId xmlns:a16="http://schemas.microsoft.com/office/drawing/2014/main" id="{9CEAD596-984C-468B-BBFA-E5259F9A4C6C}"/>
              </a:ext>
            </a:extLst>
          </p:cNvPr>
          <p:cNvPicPr>
            <a:picLocks noChangeAspect="1"/>
          </p:cNvPicPr>
          <p:nvPr/>
        </p:nvPicPr>
        <p:blipFill>
          <a:blip r:embed="rId3"/>
          <a:stretch>
            <a:fillRect/>
          </a:stretch>
        </p:blipFill>
        <p:spPr>
          <a:xfrm>
            <a:off x="8355702" y="2427467"/>
            <a:ext cx="542925" cy="561975"/>
          </a:xfrm>
          <a:prstGeom prst="rect">
            <a:avLst/>
          </a:prstGeom>
        </p:spPr>
      </p:pic>
    </p:spTree>
    <p:extLst>
      <p:ext uri="{BB962C8B-B14F-4D97-AF65-F5344CB8AC3E}">
        <p14:creationId xmlns:p14="http://schemas.microsoft.com/office/powerpoint/2010/main" val="2950995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View Differences – Comparison Indicators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65727" y="1046483"/>
            <a:ext cx="11379201" cy="615553"/>
          </a:xfrm>
          <a:prstGeom prst="rect">
            <a:avLst/>
          </a:prstGeom>
          <a:noFill/>
        </p:spPr>
        <p:txBody>
          <a:bodyPr wrap="square">
            <a:spAutoFit/>
          </a:bodyPr>
          <a:lstStyle/>
          <a:p>
            <a:pPr marL="228600" marR="0" lvl="1" algn="l" defTabSz="914400" rtl="0" eaLnBrk="1" fontAlgn="auto" latinLnBrk="0" hangingPunct="1">
              <a:lnSpc>
                <a:spcPct val="100000"/>
              </a:lnSpc>
              <a:spcBef>
                <a:spcPts val="375"/>
              </a:spcBef>
              <a:spcAft>
                <a:spcPts val="0"/>
              </a:spcAft>
              <a:buClrTx/>
              <a:buSzTx/>
              <a:tabLst>
                <a:tab pos="180975" algn="l"/>
              </a:tabLst>
              <a:defRPr/>
            </a:pPr>
            <a:r>
              <a:rPr lang="en-US" dirty="0"/>
              <a:t>Yellow Link indicates that text has been changed since last edit.</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5" name="Picture 4" descr="A screenshot of a computer&#10;&#10;Description automatically generated">
            <a:extLst>
              <a:ext uri="{FF2B5EF4-FFF2-40B4-BE49-F238E27FC236}">
                <a16:creationId xmlns:a16="http://schemas.microsoft.com/office/drawing/2014/main" id="{9D7F45A1-F8A6-44B1-9626-189B1BEC33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2453" y="1557571"/>
            <a:ext cx="8230214" cy="4617942"/>
          </a:xfrm>
          <a:prstGeom prst="rect">
            <a:avLst/>
          </a:prstGeom>
        </p:spPr>
      </p:pic>
    </p:spTree>
    <p:extLst>
      <p:ext uri="{BB962C8B-B14F-4D97-AF65-F5344CB8AC3E}">
        <p14:creationId xmlns:p14="http://schemas.microsoft.com/office/powerpoint/2010/main" val="2475733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Types of Document Differences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271900194"/>
              </p:ext>
            </p:extLst>
          </p:nvPr>
        </p:nvGraphicFramePr>
        <p:xfrm>
          <a:off x="513278" y="1334770"/>
          <a:ext cx="9213819" cy="4188458"/>
        </p:xfrm>
        <a:graphic>
          <a:graphicData uri="http://schemas.openxmlformats.org/drawingml/2006/table">
            <a:tbl>
              <a:tblPr firstRow="1" bandRow="1">
                <a:tableStyleId>{72833802-FEF1-4C79-8D5D-14CF1EAF98D9}</a:tableStyleId>
              </a:tblPr>
              <a:tblGrid>
                <a:gridCol w="5609226">
                  <a:extLst>
                    <a:ext uri="{9D8B030D-6E8A-4147-A177-3AD203B41FA5}">
                      <a16:colId xmlns:a16="http://schemas.microsoft.com/office/drawing/2014/main" val="1924955592"/>
                    </a:ext>
                  </a:extLst>
                </a:gridCol>
                <a:gridCol w="2014331">
                  <a:extLst>
                    <a:ext uri="{9D8B030D-6E8A-4147-A177-3AD203B41FA5}">
                      <a16:colId xmlns:a16="http://schemas.microsoft.com/office/drawing/2014/main" val="2858474719"/>
                    </a:ext>
                  </a:extLst>
                </a:gridCol>
                <a:gridCol w="1590262">
                  <a:extLst>
                    <a:ext uri="{9D8B030D-6E8A-4147-A177-3AD203B41FA5}">
                      <a16:colId xmlns:a16="http://schemas.microsoft.com/office/drawing/2014/main" val="2532874485"/>
                    </a:ext>
                  </a:extLst>
                </a:gridCol>
              </a:tblGrid>
              <a:tr h="1052801">
                <a:tc>
                  <a:txBody>
                    <a:bodyPr/>
                    <a:lstStyle/>
                    <a:p>
                      <a:pPr algn="ctr"/>
                      <a:r>
                        <a:rPr lang="en-US" sz="2000" dirty="0"/>
                        <a:t>Type of Document Difference</a:t>
                      </a:r>
                    </a:p>
                  </a:txBody>
                  <a:tcPr/>
                </a:tc>
                <a:tc>
                  <a:txBody>
                    <a:bodyPr/>
                    <a:lstStyle/>
                    <a:p>
                      <a:pPr algn="l"/>
                      <a:r>
                        <a:rPr lang="en-US" sz="2000" dirty="0"/>
                        <a:t>Highlight/ Connector Arrow Color</a:t>
                      </a:r>
                    </a:p>
                  </a:txBody>
                  <a:tcPr/>
                </a:tc>
                <a:tc>
                  <a:txBody>
                    <a:bodyPr/>
                    <a:lstStyle/>
                    <a:p>
                      <a:pPr algn="l"/>
                      <a:r>
                        <a:rPr lang="en-US" sz="2000" dirty="0"/>
                        <a:t>Interface Icon </a:t>
                      </a:r>
                    </a:p>
                  </a:txBody>
                  <a:tcPr/>
                </a:tc>
                <a:extLst>
                  <a:ext uri="{0D108BD9-81ED-4DB2-BD59-A6C34878D82A}">
                    <a16:rowId xmlns:a16="http://schemas.microsoft.com/office/drawing/2014/main" val="135878623"/>
                  </a:ext>
                </a:extLst>
              </a:tr>
              <a:tr h="2392730">
                <a:tc>
                  <a:txBody>
                    <a:bodyPr/>
                    <a:lstStyle/>
                    <a:p>
                      <a:r>
                        <a:rPr lang="en-US" sz="1800" dirty="0"/>
                        <a:t>Moved content An item present in both the source document and target document that: </a:t>
                      </a:r>
                    </a:p>
                    <a:p>
                      <a:pPr marL="285750" indent="-285750">
                        <a:buFont typeface="Arial" panose="020B0604020202020204" pitchFamily="34" charset="0"/>
                        <a:buChar char="•"/>
                      </a:pPr>
                      <a:r>
                        <a:rPr lang="en-US" sz="1800" dirty="0"/>
                        <a:t>has a different parent</a:t>
                      </a:r>
                    </a:p>
                    <a:p>
                      <a:pPr marL="285750" indent="-285750">
                        <a:buFont typeface="Arial" panose="020B0604020202020204" pitchFamily="34" charset="0"/>
                        <a:buChar char="•"/>
                      </a:pPr>
                      <a:r>
                        <a:rPr lang="en-US" sz="1800" dirty="0"/>
                        <a:t>has the same parent but is in a different relative position  </a:t>
                      </a:r>
                    </a:p>
                    <a:p>
                      <a:pPr marL="285750" indent="-285750">
                        <a:buFont typeface="Arial" panose="020B0604020202020204" pitchFamily="34" charset="0"/>
                        <a:buChar char="•"/>
                      </a:pPr>
                      <a:r>
                        <a:rPr lang="en-US" sz="1800" dirty="0"/>
                        <a:t>has a parent that has been moved.</a:t>
                      </a:r>
                    </a:p>
                    <a:p>
                      <a:r>
                        <a:rPr lang="en-US" sz="1800" dirty="0"/>
                        <a:t>     </a:t>
                      </a:r>
                    </a:p>
                    <a:p>
                      <a:pPr marL="285750" indent="-285750">
                        <a:buFont typeface="Arial" panose="020B0604020202020204" pitchFamily="34" charset="0"/>
                        <a:buChar char="•"/>
                      </a:pPr>
                      <a:endParaRPr lang="en-US" sz="1800" dirty="0"/>
                    </a:p>
                  </a:txBody>
                  <a:tcPr/>
                </a:tc>
                <a:tc>
                  <a:txBody>
                    <a:bodyPr/>
                    <a:lstStyle/>
                    <a:p>
                      <a:r>
                        <a:rPr lang="en-US" sz="1800" dirty="0"/>
                        <a:t>Blue</a:t>
                      </a:r>
                    </a:p>
                  </a:txBody>
                  <a:tcPr/>
                </a:tc>
                <a:tc>
                  <a:txBody>
                    <a:bodyPr/>
                    <a:lstStyle/>
                    <a:p>
                      <a:endParaRPr lang="en-US" sz="1800" dirty="0"/>
                    </a:p>
                  </a:txBody>
                  <a:tcPr/>
                </a:tc>
                <a:extLst>
                  <a:ext uri="{0D108BD9-81ED-4DB2-BD59-A6C34878D82A}">
                    <a16:rowId xmlns:a16="http://schemas.microsoft.com/office/drawing/2014/main" val="1031953701"/>
                  </a:ext>
                </a:extLst>
              </a:tr>
              <a:tr h="742927">
                <a:tc>
                  <a:txBody>
                    <a:bodyPr/>
                    <a:lstStyle/>
                    <a:p>
                      <a:r>
                        <a:rPr lang="en-US" sz="1800" dirty="0"/>
                        <a:t>Moved and modified content </a:t>
                      </a:r>
                    </a:p>
                  </a:txBody>
                  <a:tcPr/>
                </a:tc>
                <a:tc>
                  <a:txBody>
                    <a:bodyPr/>
                    <a:lstStyle/>
                    <a:p>
                      <a:r>
                        <a:rPr lang="en-US" sz="1800" dirty="0"/>
                        <a:t>Blue and Pencil </a:t>
                      </a:r>
                    </a:p>
                  </a:txBody>
                  <a:tcPr/>
                </a:tc>
                <a:tc>
                  <a:txBody>
                    <a:bodyPr/>
                    <a:lstStyle/>
                    <a:p>
                      <a:endParaRPr lang="en-US" sz="1800" dirty="0"/>
                    </a:p>
                  </a:txBody>
                  <a:tcPr/>
                </a:tc>
                <a:extLst>
                  <a:ext uri="{0D108BD9-81ED-4DB2-BD59-A6C34878D82A}">
                    <a16:rowId xmlns:a16="http://schemas.microsoft.com/office/drawing/2014/main" val="2139622794"/>
                  </a:ext>
                </a:extLst>
              </a:tr>
            </a:tbl>
          </a:graphicData>
        </a:graphic>
      </p:graphicFrame>
      <p:pic>
        <p:nvPicPr>
          <p:cNvPr id="7" name="Picture 6">
            <a:extLst>
              <a:ext uri="{FF2B5EF4-FFF2-40B4-BE49-F238E27FC236}">
                <a16:creationId xmlns:a16="http://schemas.microsoft.com/office/drawing/2014/main" id="{E9E293FD-7608-4264-9497-26785DFC0556}"/>
              </a:ext>
            </a:extLst>
          </p:cNvPr>
          <p:cNvPicPr>
            <a:picLocks noChangeAspect="1"/>
          </p:cNvPicPr>
          <p:nvPr/>
        </p:nvPicPr>
        <p:blipFill>
          <a:blip r:embed="rId3"/>
          <a:stretch>
            <a:fillRect/>
          </a:stretch>
        </p:blipFill>
        <p:spPr>
          <a:xfrm>
            <a:off x="8393803" y="2575478"/>
            <a:ext cx="466725" cy="514350"/>
          </a:xfrm>
          <a:prstGeom prst="rect">
            <a:avLst/>
          </a:prstGeom>
        </p:spPr>
      </p:pic>
      <p:pic>
        <p:nvPicPr>
          <p:cNvPr id="8" name="Picture 7">
            <a:extLst>
              <a:ext uri="{FF2B5EF4-FFF2-40B4-BE49-F238E27FC236}">
                <a16:creationId xmlns:a16="http://schemas.microsoft.com/office/drawing/2014/main" id="{539817A4-1972-4677-BAEC-C155AA41B3D0}"/>
              </a:ext>
            </a:extLst>
          </p:cNvPr>
          <p:cNvPicPr>
            <a:picLocks noChangeAspect="1"/>
          </p:cNvPicPr>
          <p:nvPr/>
        </p:nvPicPr>
        <p:blipFill>
          <a:blip r:embed="rId4"/>
          <a:stretch>
            <a:fillRect/>
          </a:stretch>
        </p:blipFill>
        <p:spPr>
          <a:xfrm>
            <a:off x="8403328" y="4789388"/>
            <a:ext cx="457200" cy="790575"/>
          </a:xfrm>
          <a:prstGeom prst="rect">
            <a:avLst/>
          </a:prstGeom>
        </p:spPr>
      </p:pic>
    </p:spTree>
    <p:extLst>
      <p:ext uri="{BB962C8B-B14F-4D97-AF65-F5344CB8AC3E}">
        <p14:creationId xmlns:p14="http://schemas.microsoft.com/office/powerpoint/2010/main" val="1539976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View Differences – Comparison Indicators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65727" y="1046483"/>
            <a:ext cx="11379201" cy="615553"/>
          </a:xfrm>
          <a:prstGeom prst="rect">
            <a:avLst/>
          </a:prstGeom>
          <a:noFill/>
        </p:spPr>
        <p:txBody>
          <a:bodyPr wrap="square">
            <a:spAutoFit/>
          </a:bodyPr>
          <a:lstStyle/>
          <a:p>
            <a:pPr marL="228600" marR="0" lvl="1" algn="l" defTabSz="914400" rtl="0" eaLnBrk="1" fontAlgn="auto" latinLnBrk="0" hangingPunct="1">
              <a:lnSpc>
                <a:spcPct val="100000"/>
              </a:lnSpc>
              <a:spcBef>
                <a:spcPts val="375"/>
              </a:spcBef>
              <a:spcAft>
                <a:spcPts val="0"/>
              </a:spcAft>
              <a:buClrTx/>
              <a:buSzTx/>
              <a:tabLst>
                <a:tab pos="180975" algn="l"/>
              </a:tabLst>
              <a:defRPr/>
            </a:pPr>
            <a:r>
              <a:rPr lang="en-US" dirty="0"/>
              <a:t>Blue Link indicates that content has been moved.</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4" name="Picture 3" descr="A screenshot of a computer&#10;&#10;Description automatically generated">
            <a:extLst>
              <a:ext uri="{FF2B5EF4-FFF2-40B4-BE49-F238E27FC236}">
                <a16:creationId xmlns:a16="http://schemas.microsoft.com/office/drawing/2014/main" id="{9AD5B390-3537-44FD-83DE-AA6681DF1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4330" y="1571856"/>
            <a:ext cx="7405479" cy="4537395"/>
          </a:xfrm>
          <a:prstGeom prst="rect">
            <a:avLst/>
          </a:prstGeom>
        </p:spPr>
      </p:pic>
    </p:spTree>
    <p:extLst>
      <p:ext uri="{BB962C8B-B14F-4D97-AF65-F5344CB8AC3E}">
        <p14:creationId xmlns:p14="http://schemas.microsoft.com/office/powerpoint/2010/main" val="25653805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Navigating Document Difference</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a:buFont typeface="Wingdings" panose="05000000000000000000" pitchFamily="2" charset="2"/>
              <a:buChar char="§"/>
            </a:pPr>
            <a:r>
              <a:rPr lang="en-US" dirty="0"/>
              <a:t>You can navigate incrementally through each difference in the current document pane using View menu options, or by using the following toolbar or shortcut key options: </a:t>
            </a:r>
          </a:p>
          <a:p>
            <a:pPr lvl="1">
              <a:buFont typeface="Wingdings" panose="05000000000000000000" pitchFamily="2" charset="2"/>
              <a:buChar char="§"/>
            </a:pPr>
            <a:r>
              <a:rPr lang="en-US" sz="1800" dirty="0"/>
              <a:t>Previous difference:    or press F7</a:t>
            </a:r>
          </a:p>
          <a:p>
            <a:pPr lvl="1">
              <a:buFont typeface="Wingdings" panose="05000000000000000000" pitchFamily="2" charset="2"/>
              <a:buChar char="§"/>
            </a:pPr>
            <a:r>
              <a:rPr lang="en-US" sz="1800" dirty="0"/>
              <a:t>Next difference:    or press F8 </a:t>
            </a:r>
          </a:p>
          <a:p>
            <a:pPr lvl="1">
              <a:buFont typeface="Wingdings" panose="05000000000000000000" pitchFamily="2" charset="2"/>
              <a:buChar char="§"/>
            </a:pPr>
            <a:r>
              <a:rPr lang="en-US" sz="1800" dirty="0"/>
              <a:t>First difference:     or press CTRL+F7</a:t>
            </a:r>
          </a:p>
          <a:p>
            <a:pPr lvl="1">
              <a:buFont typeface="Wingdings" panose="05000000000000000000" pitchFamily="2" charset="2"/>
              <a:buChar char="§"/>
            </a:pPr>
            <a:r>
              <a:rPr lang="en-US" sz="1800" dirty="0"/>
              <a:t>Last difference:    or press CTRL+F8 </a:t>
            </a:r>
          </a:p>
          <a:p>
            <a:pPr>
              <a:buFont typeface="Wingdings" panose="05000000000000000000" pitchFamily="2" charset="2"/>
              <a:buChar char="§"/>
            </a:pPr>
            <a:r>
              <a:rPr lang="en-US" dirty="0"/>
              <a:t>Select View ▶ Wrap Difference Search to configure the Previous and Next difference search options to wrap to the top or bottom of the document pane.</a:t>
            </a:r>
          </a:p>
          <a:p>
            <a:pPr>
              <a:buFont typeface="Wingdings" panose="05000000000000000000" pitchFamily="2" charset="2"/>
              <a:buChar char="§"/>
            </a:pPr>
            <a:r>
              <a:rPr lang="en-US" dirty="0"/>
              <a:t>Clear the Wrap Difference Search option to stop at the beginning or end of the document pane.</a:t>
            </a:r>
          </a:p>
          <a:p>
            <a:pPr lvl="1">
              <a:buFont typeface="Wingdings" panose="05000000000000000000" pitchFamily="2" charset="2"/>
              <a:buChar char="§"/>
            </a:pPr>
            <a:endParaRPr lang="en-US" sz="1400" dirty="0">
              <a:solidFill>
                <a:schemeClr val="tx1"/>
              </a:solidFill>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pic>
        <p:nvPicPr>
          <p:cNvPr id="4" name="Picture 3">
            <a:extLst>
              <a:ext uri="{FF2B5EF4-FFF2-40B4-BE49-F238E27FC236}">
                <a16:creationId xmlns:a16="http://schemas.microsoft.com/office/drawing/2014/main" id="{C25896BA-0937-4C3D-838C-3153125EE9AB}"/>
              </a:ext>
            </a:extLst>
          </p:cNvPr>
          <p:cNvPicPr>
            <a:picLocks noChangeAspect="1"/>
          </p:cNvPicPr>
          <p:nvPr/>
        </p:nvPicPr>
        <p:blipFill>
          <a:blip r:embed="rId3"/>
          <a:stretch>
            <a:fillRect/>
          </a:stretch>
        </p:blipFill>
        <p:spPr>
          <a:xfrm>
            <a:off x="2864746" y="1760468"/>
            <a:ext cx="180975" cy="209550"/>
          </a:xfrm>
          <a:prstGeom prst="rect">
            <a:avLst/>
          </a:prstGeom>
        </p:spPr>
      </p:pic>
      <p:pic>
        <p:nvPicPr>
          <p:cNvPr id="6" name="Picture 5">
            <a:extLst>
              <a:ext uri="{FF2B5EF4-FFF2-40B4-BE49-F238E27FC236}">
                <a16:creationId xmlns:a16="http://schemas.microsoft.com/office/drawing/2014/main" id="{1F0CC81F-C4A4-4A91-A66F-2BC68389675A}"/>
              </a:ext>
            </a:extLst>
          </p:cNvPr>
          <p:cNvPicPr>
            <a:picLocks noChangeAspect="1"/>
          </p:cNvPicPr>
          <p:nvPr/>
        </p:nvPicPr>
        <p:blipFill>
          <a:blip r:embed="rId4"/>
          <a:stretch>
            <a:fillRect/>
          </a:stretch>
        </p:blipFill>
        <p:spPr>
          <a:xfrm>
            <a:off x="2524953" y="2050139"/>
            <a:ext cx="171450" cy="209550"/>
          </a:xfrm>
          <a:prstGeom prst="rect">
            <a:avLst/>
          </a:prstGeom>
        </p:spPr>
      </p:pic>
      <p:pic>
        <p:nvPicPr>
          <p:cNvPr id="7" name="Picture 6">
            <a:extLst>
              <a:ext uri="{FF2B5EF4-FFF2-40B4-BE49-F238E27FC236}">
                <a16:creationId xmlns:a16="http://schemas.microsoft.com/office/drawing/2014/main" id="{9FABE756-D60D-4CB1-80FD-00FF3A45AC5D}"/>
              </a:ext>
            </a:extLst>
          </p:cNvPr>
          <p:cNvPicPr>
            <a:picLocks noChangeAspect="1"/>
          </p:cNvPicPr>
          <p:nvPr/>
        </p:nvPicPr>
        <p:blipFill>
          <a:blip r:embed="rId5"/>
          <a:stretch>
            <a:fillRect/>
          </a:stretch>
        </p:blipFill>
        <p:spPr>
          <a:xfrm>
            <a:off x="2501140" y="2388083"/>
            <a:ext cx="219075" cy="200025"/>
          </a:xfrm>
          <a:prstGeom prst="rect">
            <a:avLst/>
          </a:prstGeom>
        </p:spPr>
      </p:pic>
      <p:pic>
        <p:nvPicPr>
          <p:cNvPr id="8" name="Picture 7">
            <a:extLst>
              <a:ext uri="{FF2B5EF4-FFF2-40B4-BE49-F238E27FC236}">
                <a16:creationId xmlns:a16="http://schemas.microsoft.com/office/drawing/2014/main" id="{028EFD00-826F-4EA7-8EF6-D81F3554F38D}"/>
              </a:ext>
            </a:extLst>
          </p:cNvPr>
          <p:cNvPicPr>
            <a:picLocks noChangeAspect="1"/>
          </p:cNvPicPr>
          <p:nvPr/>
        </p:nvPicPr>
        <p:blipFill>
          <a:blip r:embed="rId6"/>
          <a:stretch>
            <a:fillRect/>
          </a:stretch>
        </p:blipFill>
        <p:spPr>
          <a:xfrm>
            <a:off x="2405890" y="2646542"/>
            <a:ext cx="238125" cy="228600"/>
          </a:xfrm>
          <a:prstGeom prst="rect">
            <a:avLst/>
          </a:prstGeom>
        </p:spPr>
      </p:pic>
    </p:spTree>
    <p:extLst>
      <p:ext uri="{BB962C8B-B14F-4D97-AF65-F5344CB8AC3E}">
        <p14:creationId xmlns:p14="http://schemas.microsoft.com/office/powerpoint/2010/main" val="3151973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Navigating the Document Pane</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4"/>
            <a:ext cx="11227747" cy="677108"/>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0" indent="0">
              <a:buNone/>
            </a:pPr>
            <a:r>
              <a:rPr lang="en-US" dirty="0"/>
              <a:t>The following document pane keyboard navigation options are available in the Document Difference view for the current document pane.</a:t>
            </a:r>
          </a:p>
          <a:p>
            <a:pPr marL="342891" lvl="1" indent="0">
              <a:buNone/>
            </a:pPr>
            <a:endParaRPr lang="en-US" sz="1400" dirty="0">
              <a:solidFill>
                <a:schemeClr val="tx1"/>
              </a:solidFill>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graphicFrame>
        <p:nvGraphicFramePr>
          <p:cNvPr id="4" name="Table 5">
            <a:extLst>
              <a:ext uri="{FF2B5EF4-FFF2-40B4-BE49-F238E27FC236}">
                <a16:creationId xmlns:a16="http://schemas.microsoft.com/office/drawing/2014/main" id="{3BE6BF1B-8200-4ADA-A47E-A91BC2FAC66D}"/>
              </a:ext>
            </a:extLst>
          </p:cNvPr>
          <p:cNvGraphicFramePr>
            <a:graphicFrameLocks noGrp="1"/>
          </p:cNvGraphicFramePr>
          <p:nvPr>
            <p:extLst>
              <p:ext uri="{D42A27DB-BD31-4B8C-83A1-F6EECF244321}">
                <p14:modId xmlns:p14="http://schemas.microsoft.com/office/powerpoint/2010/main" val="4165473201"/>
              </p:ext>
            </p:extLst>
          </p:nvPr>
        </p:nvGraphicFramePr>
        <p:xfrm>
          <a:off x="605645" y="2011878"/>
          <a:ext cx="8128000" cy="4044383"/>
        </p:xfrm>
        <a:graphic>
          <a:graphicData uri="http://schemas.openxmlformats.org/drawingml/2006/table">
            <a:tbl>
              <a:tblPr firstRow="1" bandRow="1">
                <a:tableStyleId>{72833802-FEF1-4C79-8D5D-14CF1EAF98D9}</a:tableStyleId>
              </a:tblPr>
              <a:tblGrid>
                <a:gridCol w="2270077">
                  <a:extLst>
                    <a:ext uri="{9D8B030D-6E8A-4147-A177-3AD203B41FA5}">
                      <a16:colId xmlns:a16="http://schemas.microsoft.com/office/drawing/2014/main" val="1107827088"/>
                    </a:ext>
                  </a:extLst>
                </a:gridCol>
                <a:gridCol w="5857923">
                  <a:extLst>
                    <a:ext uri="{9D8B030D-6E8A-4147-A177-3AD203B41FA5}">
                      <a16:colId xmlns:a16="http://schemas.microsoft.com/office/drawing/2014/main" val="2578007440"/>
                    </a:ext>
                  </a:extLst>
                </a:gridCol>
              </a:tblGrid>
              <a:tr h="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412069572"/>
                  </a:ext>
                </a:extLst>
              </a:tr>
              <a:tr h="370840">
                <a:tc>
                  <a:txBody>
                    <a:bodyPr/>
                    <a:lstStyle/>
                    <a:p>
                      <a:r>
                        <a:rPr lang="en-US" dirty="0"/>
                        <a:t>CTRL+TAB</a:t>
                      </a:r>
                    </a:p>
                  </a:txBody>
                  <a:tcPr/>
                </a:tc>
                <a:tc>
                  <a:txBody>
                    <a:bodyPr/>
                    <a:lstStyle/>
                    <a:p>
                      <a:r>
                        <a:rPr lang="en-US" dirty="0"/>
                        <a:t>Switches the focus to the other document pane.</a:t>
                      </a:r>
                    </a:p>
                  </a:txBody>
                  <a:tcPr/>
                </a:tc>
                <a:extLst>
                  <a:ext uri="{0D108BD9-81ED-4DB2-BD59-A6C34878D82A}">
                    <a16:rowId xmlns:a16="http://schemas.microsoft.com/office/drawing/2014/main" val="1842172676"/>
                  </a:ext>
                </a:extLst>
              </a:tr>
              <a:tr h="370840">
                <a:tc>
                  <a:txBody>
                    <a:bodyPr/>
                    <a:lstStyle/>
                    <a:p>
                      <a:r>
                        <a:rPr lang="en-US" dirty="0"/>
                        <a:t>TAB</a:t>
                      </a:r>
                    </a:p>
                  </a:txBody>
                  <a:tcPr/>
                </a:tc>
                <a:tc>
                  <a:txBody>
                    <a:bodyPr/>
                    <a:lstStyle/>
                    <a:p>
                      <a:r>
                        <a:rPr lang="en-US" dirty="0"/>
                        <a:t>Selects the next field.</a:t>
                      </a:r>
                    </a:p>
                  </a:txBody>
                  <a:tcPr/>
                </a:tc>
                <a:extLst>
                  <a:ext uri="{0D108BD9-81ED-4DB2-BD59-A6C34878D82A}">
                    <a16:rowId xmlns:a16="http://schemas.microsoft.com/office/drawing/2014/main" val="2026736438"/>
                  </a:ext>
                </a:extLst>
              </a:tr>
              <a:tr h="370840">
                <a:tc>
                  <a:txBody>
                    <a:bodyPr/>
                    <a:lstStyle/>
                    <a:p>
                      <a:r>
                        <a:rPr lang="en-US" dirty="0"/>
                        <a:t>UP arrow key </a:t>
                      </a:r>
                    </a:p>
                  </a:txBody>
                  <a:tcPr/>
                </a:tc>
                <a:tc>
                  <a:txBody>
                    <a:bodyPr/>
                    <a:lstStyle/>
                    <a:p>
                      <a:r>
                        <a:rPr lang="en-US" dirty="0"/>
                        <a:t>Selects the previous row header.</a:t>
                      </a:r>
                    </a:p>
                  </a:txBody>
                  <a:tcPr/>
                </a:tc>
                <a:extLst>
                  <a:ext uri="{0D108BD9-81ED-4DB2-BD59-A6C34878D82A}">
                    <a16:rowId xmlns:a16="http://schemas.microsoft.com/office/drawing/2014/main" val="3875025236"/>
                  </a:ext>
                </a:extLst>
              </a:tr>
              <a:tr h="370840">
                <a:tc>
                  <a:txBody>
                    <a:bodyPr/>
                    <a:lstStyle/>
                    <a:p>
                      <a:r>
                        <a:rPr lang="en-US" dirty="0"/>
                        <a:t>DOWN arrow key</a:t>
                      </a:r>
                    </a:p>
                  </a:txBody>
                  <a:tcPr/>
                </a:tc>
                <a:tc>
                  <a:txBody>
                    <a:bodyPr/>
                    <a:lstStyle/>
                    <a:p>
                      <a:r>
                        <a:rPr lang="en-US" dirty="0"/>
                        <a:t>Selects the next row header.</a:t>
                      </a:r>
                    </a:p>
                  </a:txBody>
                  <a:tcPr/>
                </a:tc>
                <a:extLst>
                  <a:ext uri="{0D108BD9-81ED-4DB2-BD59-A6C34878D82A}">
                    <a16:rowId xmlns:a16="http://schemas.microsoft.com/office/drawing/2014/main" val="1959304214"/>
                  </a:ext>
                </a:extLst>
              </a:tr>
              <a:tr h="370840">
                <a:tc>
                  <a:txBody>
                    <a:bodyPr/>
                    <a:lstStyle/>
                    <a:p>
                      <a:r>
                        <a:rPr lang="en-US" dirty="0"/>
                        <a:t>HOME</a:t>
                      </a:r>
                    </a:p>
                  </a:txBody>
                  <a:tcPr/>
                </a:tc>
                <a:tc>
                  <a:txBody>
                    <a:bodyPr/>
                    <a:lstStyle/>
                    <a:p>
                      <a:r>
                        <a:rPr lang="en-US" dirty="0"/>
                        <a:t>Selects the first row header.</a:t>
                      </a:r>
                    </a:p>
                  </a:txBody>
                  <a:tcPr/>
                </a:tc>
                <a:extLst>
                  <a:ext uri="{0D108BD9-81ED-4DB2-BD59-A6C34878D82A}">
                    <a16:rowId xmlns:a16="http://schemas.microsoft.com/office/drawing/2014/main" val="2733550643"/>
                  </a:ext>
                </a:extLst>
              </a:tr>
              <a:tr h="370840">
                <a:tc>
                  <a:txBody>
                    <a:bodyPr/>
                    <a:lstStyle/>
                    <a:p>
                      <a:r>
                        <a:rPr lang="en-US" dirty="0"/>
                        <a:t>END</a:t>
                      </a:r>
                    </a:p>
                  </a:txBody>
                  <a:tcPr/>
                </a:tc>
                <a:tc>
                  <a:txBody>
                    <a:bodyPr/>
                    <a:lstStyle/>
                    <a:p>
                      <a:r>
                        <a:rPr lang="en-US" dirty="0"/>
                        <a:t>Selects the last row header</a:t>
                      </a:r>
                    </a:p>
                  </a:txBody>
                  <a:tcPr/>
                </a:tc>
                <a:extLst>
                  <a:ext uri="{0D108BD9-81ED-4DB2-BD59-A6C34878D82A}">
                    <a16:rowId xmlns:a16="http://schemas.microsoft.com/office/drawing/2014/main" val="1813112353"/>
                  </a:ext>
                </a:extLst>
              </a:tr>
              <a:tr h="370840">
                <a:tc>
                  <a:txBody>
                    <a:bodyPr/>
                    <a:lstStyle/>
                    <a:p>
                      <a:r>
                        <a:rPr lang="en-US" dirty="0"/>
                        <a:t>SPACEBAR</a:t>
                      </a:r>
                    </a:p>
                  </a:txBody>
                  <a:tcPr/>
                </a:tc>
                <a:tc>
                  <a:txBody>
                    <a:bodyPr/>
                    <a:lstStyle/>
                    <a:p>
                      <a:r>
                        <a:rPr lang="en-US" dirty="0"/>
                        <a:t>Selects the row header icon in focus and moves to the corresponding difference in the other document pane.</a:t>
                      </a:r>
                    </a:p>
                  </a:txBody>
                  <a:tcPr/>
                </a:tc>
                <a:extLst>
                  <a:ext uri="{0D108BD9-81ED-4DB2-BD59-A6C34878D82A}">
                    <a16:rowId xmlns:a16="http://schemas.microsoft.com/office/drawing/2014/main" val="2879009935"/>
                  </a:ext>
                </a:extLst>
              </a:tr>
              <a:tr h="370840">
                <a:tc>
                  <a:txBody>
                    <a:bodyPr/>
                    <a:lstStyle/>
                    <a:p>
                      <a:r>
                        <a:rPr lang="en-US" dirty="0"/>
                        <a:t>PAGE UP</a:t>
                      </a:r>
                    </a:p>
                  </a:txBody>
                  <a:tcPr/>
                </a:tc>
                <a:tc>
                  <a:txBody>
                    <a:bodyPr/>
                    <a:lstStyle/>
                    <a:p>
                      <a:r>
                        <a:rPr lang="en-US" dirty="0"/>
                        <a:t>Scrolls up approximately one page. </a:t>
                      </a:r>
                    </a:p>
                  </a:txBody>
                  <a:tcPr/>
                </a:tc>
                <a:extLst>
                  <a:ext uri="{0D108BD9-81ED-4DB2-BD59-A6C34878D82A}">
                    <a16:rowId xmlns:a16="http://schemas.microsoft.com/office/drawing/2014/main" val="750940465"/>
                  </a:ext>
                </a:extLst>
              </a:tr>
              <a:tr h="370840">
                <a:tc>
                  <a:txBody>
                    <a:bodyPr/>
                    <a:lstStyle/>
                    <a:p>
                      <a:r>
                        <a:rPr lang="en-US" dirty="0"/>
                        <a:t>PAGE DOWN</a:t>
                      </a:r>
                    </a:p>
                  </a:txBody>
                  <a:tcPr/>
                </a:tc>
                <a:tc>
                  <a:txBody>
                    <a:bodyPr/>
                    <a:lstStyle/>
                    <a:p>
                      <a:r>
                        <a:rPr lang="en-US" dirty="0"/>
                        <a:t>Scrolls down approximately one page.</a:t>
                      </a:r>
                    </a:p>
                  </a:txBody>
                  <a:tcPr/>
                </a:tc>
                <a:extLst>
                  <a:ext uri="{0D108BD9-81ED-4DB2-BD59-A6C34878D82A}">
                    <a16:rowId xmlns:a16="http://schemas.microsoft.com/office/drawing/2014/main" val="2013419369"/>
                  </a:ext>
                </a:extLst>
              </a:tr>
            </a:tbl>
          </a:graphicData>
        </a:graphic>
      </p:graphicFrame>
    </p:spTree>
    <p:extLst>
      <p:ext uri="{BB962C8B-B14F-4D97-AF65-F5344CB8AC3E}">
        <p14:creationId xmlns:p14="http://schemas.microsoft.com/office/powerpoint/2010/main" val="533169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855305" y="2666308"/>
            <a:ext cx="8971838" cy="991292"/>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Creating a Checklist Document Method 1</a:t>
            </a:r>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36694591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 Method 1</a:t>
            </a:r>
          </a:p>
        </p:txBody>
      </p:sp>
      <p:sp>
        <p:nvSpPr>
          <p:cNvPr id="7" name="Rectangle 6"/>
          <p:cNvSpPr/>
          <p:nvPr/>
        </p:nvSpPr>
        <p:spPr>
          <a:xfrm>
            <a:off x="4664765" y="734019"/>
            <a:ext cx="6997038" cy="923330"/>
          </a:xfrm>
          <a:prstGeom prst="rect">
            <a:avLst/>
          </a:prstGeom>
        </p:spPr>
        <p:txBody>
          <a:bodyPr wrap="square">
            <a:spAutoFit/>
          </a:bodyPr>
          <a:lstStyle/>
          <a:p>
            <a:endParaRPr lang="en-US" dirty="0"/>
          </a:p>
          <a:p>
            <a:r>
              <a:rPr lang="en-US" dirty="0"/>
              <a:t>Select Create Document menu to create a new document in Integrity. </a:t>
            </a:r>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a:t>
            </a:r>
            <a:r>
              <a:rPr lang="en-US" b="1" dirty="0"/>
              <a:t>Creating Checklist document </a:t>
            </a:r>
          </a:p>
          <a:p>
            <a:r>
              <a:rPr lang="en-US" dirty="0"/>
              <a:t>2.Select Appropriate Project</a:t>
            </a:r>
          </a:p>
          <a:p>
            <a:r>
              <a:rPr lang="en-US" dirty="0"/>
              <a:t>3.Editing data in Item view</a:t>
            </a:r>
          </a:p>
          <a:p>
            <a:r>
              <a:rPr lang="en-US" dirty="0"/>
              <a:t>4.Auto-populated &amp; Multi-select fields</a:t>
            </a:r>
          </a:p>
          <a:p>
            <a:r>
              <a:rPr lang="en-US" dirty="0"/>
              <a:t>5.Applying changes in created document</a:t>
            </a:r>
          </a:p>
          <a:p>
            <a:r>
              <a:rPr lang="en-US" dirty="0"/>
              <a:t>6.Document view</a:t>
            </a:r>
          </a:p>
          <a:p>
            <a:r>
              <a:rPr lang="en-US" dirty="0"/>
              <a:t>7.Creating/Editing contents </a:t>
            </a:r>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5063197" y="2194999"/>
            <a:ext cx="5638800" cy="3143250"/>
          </a:xfrm>
          <a:prstGeom prst="rect">
            <a:avLst/>
          </a:prstGeom>
        </p:spPr>
      </p:pic>
    </p:spTree>
    <p:extLst>
      <p:ext uri="{BB962C8B-B14F-4D97-AF65-F5344CB8AC3E}">
        <p14:creationId xmlns:p14="http://schemas.microsoft.com/office/powerpoint/2010/main" val="2555054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 Method 1</a:t>
            </a:r>
          </a:p>
        </p:txBody>
      </p:sp>
      <p:sp>
        <p:nvSpPr>
          <p:cNvPr id="7" name="Rectangle 6"/>
          <p:cNvSpPr/>
          <p:nvPr/>
        </p:nvSpPr>
        <p:spPr>
          <a:xfrm>
            <a:off x="4664765" y="734019"/>
            <a:ext cx="6997038" cy="1477328"/>
          </a:xfrm>
          <a:prstGeom prst="rect">
            <a:avLst/>
          </a:prstGeom>
        </p:spPr>
        <p:txBody>
          <a:bodyPr wrap="square">
            <a:spAutoFit/>
          </a:bodyPr>
          <a:lstStyle/>
          <a:p>
            <a:endParaRPr lang="en-US" dirty="0"/>
          </a:p>
          <a:p>
            <a:endParaRPr lang="en-US" dirty="0"/>
          </a:p>
          <a:p>
            <a:r>
              <a:rPr lang="en-US" dirty="0"/>
              <a:t>Select a project under which document needs to be created then Click “OK” button.</a:t>
            </a:r>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Checklist document </a:t>
            </a:r>
          </a:p>
          <a:p>
            <a:r>
              <a:rPr lang="en-US" dirty="0"/>
              <a:t>2.</a:t>
            </a:r>
            <a:r>
              <a:rPr lang="en-US" b="1" dirty="0"/>
              <a:t>Select Appropriate Project</a:t>
            </a:r>
          </a:p>
          <a:p>
            <a:r>
              <a:rPr lang="en-US" dirty="0"/>
              <a:t>3.Editing data in Item view</a:t>
            </a:r>
          </a:p>
          <a:p>
            <a:r>
              <a:rPr lang="en-US" dirty="0"/>
              <a:t>4.Auto-populated &amp; Multi-select fields</a:t>
            </a:r>
          </a:p>
          <a:p>
            <a:r>
              <a:rPr lang="en-US" dirty="0"/>
              <a:t>5.Applying changes in created document</a:t>
            </a:r>
          </a:p>
          <a:p>
            <a:r>
              <a:rPr lang="en-US" dirty="0"/>
              <a:t>6.Document view</a:t>
            </a:r>
          </a:p>
          <a:p>
            <a:r>
              <a:rPr lang="en-US" dirty="0"/>
              <a:t>7.Creating/Editing contents </a:t>
            </a:r>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5199111" y="2211347"/>
            <a:ext cx="5648325" cy="4114800"/>
          </a:xfrm>
          <a:prstGeom prst="rect">
            <a:avLst/>
          </a:prstGeom>
        </p:spPr>
      </p:pic>
    </p:spTree>
    <p:extLst>
      <p:ext uri="{BB962C8B-B14F-4D97-AF65-F5344CB8AC3E}">
        <p14:creationId xmlns:p14="http://schemas.microsoft.com/office/powerpoint/2010/main" val="14546488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 Method 1</a:t>
            </a:r>
          </a:p>
        </p:txBody>
      </p:sp>
      <p:sp>
        <p:nvSpPr>
          <p:cNvPr id="7" name="Rectangle 6"/>
          <p:cNvSpPr/>
          <p:nvPr/>
        </p:nvSpPr>
        <p:spPr>
          <a:xfrm>
            <a:off x="4664765" y="734019"/>
            <a:ext cx="6997038" cy="5909310"/>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Document item view will open up. Enter or select correct values for the fields present. Project field will be populated as per selection in step 2.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r>
              <a:rPr lang="en-US" dirty="0"/>
              <a:t> </a:t>
            </a:r>
          </a:p>
          <a:p>
            <a:pPr marL="285750" indent="-285750">
              <a:buFont typeface="Arial" panose="020B0604020202020204" pitchFamily="34" charset="0"/>
              <a:buChar char="•"/>
            </a:pPr>
            <a:r>
              <a:rPr lang="en-US" dirty="0"/>
              <a:t>Fields </a:t>
            </a:r>
            <a:r>
              <a:rPr lang="en-US" b="1" dirty="0"/>
              <a:t>Short Title </a:t>
            </a:r>
            <a:r>
              <a:rPr lang="en-US" dirty="0"/>
              <a:t>and </a:t>
            </a:r>
            <a:r>
              <a:rPr lang="en-US" b="1" dirty="0"/>
              <a:t>Project</a:t>
            </a:r>
            <a:r>
              <a:rPr lang="en-US" dirty="0"/>
              <a:t> marked red are mandatory fields and must be filled.</a:t>
            </a:r>
          </a:p>
          <a:p>
            <a:endParaRPr lang="en-US" dirty="0"/>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Checklist document </a:t>
            </a:r>
          </a:p>
          <a:p>
            <a:r>
              <a:rPr lang="en-US" dirty="0"/>
              <a:t>2.Select Appropriate Project</a:t>
            </a:r>
          </a:p>
          <a:p>
            <a:r>
              <a:rPr lang="en-US" dirty="0"/>
              <a:t>3.</a:t>
            </a:r>
            <a:r>
              <a:rPr lang="en-US" b="1" dirty="0"/>
              <a:t>Editing data in Item view</a:t>
            </a:r>
          </a:p>
          <a:p>
            <a:r>
              <a:rPr lang="en-US" dirty="0"/>
              <a:t>4.Auto-populated &amp; Multi-select fields</a:t>
            </a:r>
          </a:p>
          <a:p>
            <a:r>
              <a:rPr lang="en-US" dirty="0"/>
              <a:t>5.Applying changes in created document</a:t>
            </a:r>
          </a:p>
          <a:p>
            <a:r>
              <a:rPr lang="en-US" dirty="0"/>
              <a:t>6.Document view</a:t>
            </a:r>
          </a:p>
          <a:p>
            <a:r>
              <a:rPr lang="en-US" dirty="0"/>
              <a:t>7.Creating/Editing contents </a:t>
            </a:r>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4958121" y="2236762"/>
            <a:ext cx="6410325" cy="3038623"/>
          </a:xfrm>
          <a:prstGeom prst="rect">
            <a:avLst/>
          </a:prstGeom>
        </p:spPr>
      </p:pic>
    </p:spTree>
    <p:extLst>
      <p:ext uri="{BB962C8B-B14F-4D97-AF65-F5344CB8AC3E}">
        <p14:creationId xmlns:p14="http://schemas.microsoft.com/office/powerpoint/2010/main" val="2806074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 Method 1</a:t>
            </a:r>
          </a:p>
        </p:txBody>
      </p:sp>
      <p:sp>
        <p:nvSpPr>
          <p:cNvPr id="7" name="Rectangle 6"/>
          <p:cNvSpPr/>
          <p:nvPr/>
        </p:nvSpPr>
        <p:spPr>
          <a:xfrm>
            <a:off x="4664765" y="734019"/>
            <a:ext cx="6997038" cy="3416320"/>
          </a:xfrm>
          <a:prstGeom prst="rect">
            <a:avLst/>
          </a:prstGeom>
        </p:spPr>
        <p:txBody>
          <a:bodyPr wrap="square">
            <a:spAutoFit/>
          </a:bodyPr>
          <a:lstStyle/>
          <a:p>
            <a:endParaRPr lang="en-US" dirty="0"/>
          </a:p>
          <a:p>
            <a:endParaRPr lang="en-US" dirty="0"/>
          </a:p>
          <a:p>
            <a:endParaRPr lang="en-US" dirty="0"/>
          </a:p>
          <a:p>
            <a:endParaRPr lang="en-US" dirty="0"/>
          </a:p>
          <a:p>
            <a:endParaRPr lang="en-US" dirty="0"/>
          </a:p>
          <a:p>
            <a:pPr marL="285750" indent="-285750">
              <a:buFont typeface="Arial" panose="020B0604020202020204" pitchFamily="34" charset="0"/>
              <a:buChar char="•"/>
            </a:pPr>
            <a:r>
              <a:rPr lang="en-US" dirty="0"/>
              <a:t>Author field is automatically populated so need not to be filled.</a:t>
            </a:r>
          </a:p>
          <a:p>
            <a:endParaRPr lang="en-US" dirty="0"/>
          </a:p>
          <a:p>
            <a:pPr marL="285750" indent="-285750">
              <a:buFont typeface="Arial" panose="020B0604020202020204" pitchFamily="34" charset="0"/>
              <a:buChar char="•"/>
            </a:pPr>
            <a:r>
              <a:rPr lang="en-US" dirty="0"/>
              <a:t>Select appropriate field values (one or multiple) for the rest of the fields.</a:t>
            </a:r>
          </a:p>
          <a:p>
            <a:pPr marL="285750" indent="-285750">
              <a:buFont typeface="Arial" panose="020B0604020202020204" pitchFamily="34" charset="0"/>
              <a:buChar char="•"/>
            </a:pPr>
            <a:r>
              <a:rPr lang="en-US" dirty="0"/>
              <a:t>State field is automatically transited until Published state of document.</a:t>
            </a:r>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Checklist document </a:t>
            </a:r>
          </a:p>
          <a:p>
            <a:r>
              <a:rPr lang="en-US" dirty="0"/>
              <a:t>2.Select Appropriate Project</a:t>
            </a:r>
          </a:p>
          <a:p>
            <a:r>
              <a:rPr lang="en-US" dirty="0"/>
              <a:t>3.Editing data in Item view</a:t>
            </a:r>
          </a:p>
          <a:p>
            <a:r>
              <a:rPr lang="en-US" dirty="0"/>
              <a:t>4.</a:t>
            </a:r>
            <a:r>
              <a:rPr lang="en-US" b="1" dirty="0"/>
              <a:t>Auto-populated &amp; Multi-select fields</a:t>
            </a:r>
          </a:p>
          <a:p>
            <a:r>
              <a:rPr lang="en-US" dirty="0"/>
              <a:t>5.Applying changes in created document</a:t>
            </a:r>
          </a:p>
          <a:p>
            <a:r>
              <a:rPr lang="en-US" dirty="0"/>
              <a:t>6.Document view</a:t>
            </a:r>
          </a:p>
          <a:p>
            <a:r>
              <a:rPr lang="en-US" dirty="0"/>
              <a:t>7.Creating/Editing contents </a:t>
            </a:r>
          </a:p>
          <a:p>
            <a:endParaRPr lang="en-US" dirty="0"/>
          </a:p>
          <a:p>
            <a:endParaRPr lang="en-US" dirty="0"/>
          </a:p>
          <a:p>
            <a:endParaRPr lang="en-US" dirty="0"/>
          </a:p>
        </p:txBody>
      </p:sp>
    </p:spTree>
    <p:extLst>
      <p:ext uri="{BB962C8B-B14F-4D97-AF65-F5344CB8AC3E}">
        <p14:creationId xmlns:p14="http://schemas.microsoft.com/office/powerpoint/2010/main" val="30928956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 Method 1</a:t>
            </a:r>
          </a:p>
        </p:txBody>
      </p:sp>
      <p:sp>
        <p:nvSpPr>
          <p:cNvPr id="7" name="Rectangle 6"/>
          <p:cNvSpPr/>
          <p:nvPr/>
        </p:nvSpPr>
        <p:spPr>
          <a:xfrm>
            <a:off x="4664765" y="734019"/>
            <a:ext cx="6997038" cy="4247317"/>
          </a:xfrm>
          <a:prstGeom prst="rect">
            <a:avLst/>
          </a:prstGeom>
        </p:spPr>
        <p:txBody>
          <a:bodyPr wrap="square">
            <a:spAutoFit/>
          </a:bodyPr>
          <a:lstStyle/>
          <a:p>
            <a:endParaRPr lang="en-US" dirty="0"/>
          </a:p>
          <a:p>
            <a:endParaRPr lang="en-US" dirty="0"/>
          </a:p>
          <a:p>
            <a:endParaRPr lang="en-US" dirty="0"/>
          </a:p>
          <a:p>
            <a:endParaRPr lang="en-US" dirty="0"/>
          </a:p>
          <a:p>
            <a:endParaRPr lang="en-US" dirty="0"/>
          </a:p>
          <a:p>
            <a:pPr marL="285750" indent="-285750">
              <a:buFont typeface="Arial" panose="020B0604020202020204" pitchFamily="34" charset="0"/>
              <a:buChar char="•"/>
            </a:pPr>
            <a:r>
              <a:rPr lang="en-US" dirty="0"/>
              <a:t>All other fields visible in the Document Item view must be filled.</a:t>
            </a:r>
          </a:p>
          <a:p>
            <a:pPr marL="285750" indent="-285750">
              <a:buFont typeface="Arial" panose="020B0604020202020204" pitchFamily="34" charset="0"/>
              <a:buChar char="•"/>
            </a:pPr>
            <a:r>
              <a:rPr lang="en-US" dirty="0"/>
              <a:t>Fields that are not editable will be editable depending on the state of the document it is in. </a:t>
            </a:r>
          </a:p>
          <a:p>
            <a:pPr marL="285750" indent="-285750">
              <a:buFont typeface="Arial" panose="020B0604020202020204" pitchFamily="34" charset="0"/>
              <a:buChar char="•"/>
            </a:pPr>
            <a:r>
              <a:rPr lang="en-US" dirty="0"/>
              <a:t>Clicking on “Apply” will keep the user on the same screen while clicking on “OK” will open the document view window.</a:t>
            </a:r>
          </a:p>
          <a:p>
            <a:pPr marL="285750" indent="-285750">
              <a:buFont typeface="Arial" panose="020B0604020202020204" pitchFamily="34" charset="0"/>
              <a:buChar char="•"/>
            </a:pPr>
            <a:r>
              <a:rPr lang="en-US" dirty="0"/>
              <a:t>Clicking “Apply” will save the document. Alternately “Ctrl + S” can also be used. </a:t>
            </a:r>
          </a:p>
          <a:p>
            <a:pPr marL="285750" indent="-285750">
              <a:buFont typeface="Arial" panose="020B0604020202020204" pitchFamily="34" charset="0"/>
              <a:buChar char="•"/>
            </a:pPr>
            <a:r>
              <a:rPr lang="en-US" dirty="0"/>
              <a:t>After all fields are filled, Click “OK” button to create the document.</a:t>
            </a:r>
          </a:p>
          <a:p>
            <a:endParaRPr lang="en-US" dirty="0"/>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Checklist document </a:t>
            </a:r>
          </a:p>
          <a:p>
            <a:r>
              <a:rPr lang="en-US" dirty="0"/>
              <a:t>2.Select Appropriate Project</a:t>
            </a:r>
          </a:p>
          <a:p>
            <a:r>
              <a:rPr lang="en-US" dirty="0"/>
              <a:t>3.Editing data in Item view</a:t>
            </a:r>
          </a:p>
          <a:p>
            <a:r>
              <a:rPr lang="en-US" dirty="0"/>
              <a:t>4.Auto-populated &amp; Multi-select fields</a:t>
            </a:r>
          </a:p>
          <a:p>
            <a:r>
              <a:rPr lang="en-US" dirty="0"/>
              <a:t>5.</a:t>
            </a:r>
            <a:r>
              <a:rPr lang="en-US" b="1" dirty="0"/>
              <a:t>Applying changes in created document</a:t>
            </a:r>
          </a:p>
          <a:p>
            <a:r>
              <a:rPr lang="en-US" dirty="0"/>
              <a:t>6.Document view</a:t>
            </a:r>
          </a:p>
          <a:p>
            <a:r>
              <a:rPr lang="en-US" dirty="0"/>
              <a:t>7.Creating/Editing contents </a:t>
            </a:r>
          </a:p>
          <a:p>
            <a:endParaRPr lang="en-US" dirty="0"/>
          </a:p>
          <a:p>
            <a:endParaRPr lang="en-US" dirty="0"/>
          </a:p>
          <a:p>
            <a:endParaRPr lang="en-US" dirty="0"/>
          </a:p>
        </p:txBody>
      </p:sp>
    </p:spTree>
    <p:extLst>
      <p:ext uri="{BB962C8B-B14F-4D97-AF65-F5344CB8AC3E}">
        <p14:creationId xmlns:p14="http://schemas.microsoft.com/office/powerpoint/2010/main" val="20497354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 Method 1</a:t>
            </a:r>
          </a:p>
        </p:txBody>
      </p:sp>
      <p:sp>
        <p:nvSpPr>
          <p:cNvPr id="7" name="Rectangle 6"/>
          <p:cNvSpPr/>
          <p:nvPr/>
        </p:nvSpPr>
        <p:spPr>
          <a:xfrm>
            <a:off x="4664765" y="734019"/>
            <a:ext cx="6997038" cy="2031325"/>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As soon as you click “OK” in item view, you will be navigated to “Document View Window”.</a:t>
            </a:r>
          </a:p>
          <a:p>
            <a:pPr marL="285750" indent="-285750">
              <a:buFont typeface="Arial" panose="020B0604020202020204" pitchFamily="34" charset="0"/>
              <a:buChar char="•"/>
            </a:pPr>
            <a:r>
              <a:rPr lang="en-US" dirty="0"/>
              <a:t>If the document is newly created, the user must populate it with content in the line items provided.</a:t>
            </a:r>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Checklist document </a:t>
            </a:r>
          </a:p>
          <a:p>
            <a:r>
              <a:rPr lang="en-US" dirty="0"/>
              <a:t>2.Select Appropriate Project</a:t>
            </a:r>
          </a:p>
          <a:p>
            <a:r>
              <a:rPr lang="en-US" dirty="0"/>
              <a:t>3.Editing data in Item view</a:t>
            </a:r>
          </a:p>
          <a:p>
            <a:r>
              <a:rPr lang="en-US" dirty="0"/>
              <a:t>4.Auto-populated &amp; Multi-select fields</a:t>
            </a:r>
          </a:p>
          <a:p>
            <a:r>
              <a:rPr lang="en-US" dirty="0"/>
              <a:t>5.Applying changes in created document</a:t>
            </a:r>
          </a:p>
          <a:p>
            <a:r>
              <a:rPr lang="en-US" dirty="0"/>
              <a:t>6.</a:t>
            </a:r>
            <a:r>
              <a:rPr lang="en-US" b="1" dirty="0"/>
              <a:t>Document view</a:t>
            </a:r>
          </a:p>
          <a:p>
            <a:r>
              <a:rPr lang="en-US" dirty="0"/>
              <a:t>7.Creating/Editing contents </a:t>
            </a:r>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4994230" y="2686050"/>
            <a:ext cx="6667573" cy="3475599"/>
          </a:xfrm>
          <a:prstGeom prst="rect">
            <a:avLst/>
          </a:prstGeom>
        </p:spPr>
      </p:pic>
    </p:spTree>
    <p:extLst>
      <p:ext uri="{BB962C8B-B14F-4D97-AF65-F5344CB8AC3E}">
        <p14:creationId xmlns:p14="http://schemas.microsoft.com/office/powerpoint/2010/main" val="4467230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 Method 1</a:t>
            </a:r>
          </a:p>
        </p:txBody>
      </p:sp>
      <p:sp>
        <p:nvSpPr>
          <p:cNvPr id="7" name="Rectangle 6"/>
          <p:cNvSpPr/>
          <p:nvPr/>
        </p:nvSpPr>
        <p:spPr>
          <a:xfrm>
            <a:off x="4664765" y="734019"/>
            <a:ext cx="6997038" cy="1754326"/>
          </a:xfrm>
          <a:prstGeom prst="rect">
            <a:avLst/>
          </a:prstGeom>
        </p:spPr>
        <p:txBody>
          <a:bodyPr wrap="square">
            <a:spAutoFit/>
          </a:bodyPr>
          <a:lstStyle/>
          <a:p>
            <a:endParaRPr lang="en-US" dirty="0"/>
          </a:p>
          <a:p>
            <a:endParaRPr lang="en-US" dirty="0"/>
          </a:p>
          <a:p>
            <a:r>
              <a:rPr lang="en-US" dirty="0"/>
              <a:t>User can create content by clicking on the line item and type the title in the text and then right click on it and select “Edit Item”. Fill required details. Click on “OK”.</a:t>
            </a:r>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Checklist document </a:t>
            </a:r>
          </a:p>
          <a:p>
            <a:r>
              <a:rPr lang="en-US" dirty="0"/>
              <a:t>2.Select Appropriate Project</a:t>
            </a:r>
          </a:p>
          <a:p>
            <a:r>
              <a:rPr lang="en-US" dirty="0"/>
              <a:t>3.Editing data in Item view</a:t>
            </a:r>
          </a:p>
          <a:p>
            <a:r>
              <a:rPr lang="en-US" dirty="0"/>
              <a:t>4.Auto-populated &amp; Multi-select fields</a:t>
            </a:r>
          </a:p>
          <a:p>
            <a:r>
              <a:rPr lang="en-US" dirty="0"/>
              <a:t>5.Applying changes in created document</a:t>
            </a:r>
          </a:p>
          <a:p>
            <a:r>
              <a:rPr lang="en-US" dirty="0"/>
              <a:t>6.Document view</a:t>
            </a:r>
          </a:p>
          <a:p>
            <a:r>
              <a:rPr lang="en-US" dirty="0"/>
              <a:t>7.</a:t>
            </a:r>
            <a:r>
              <a:rPr lang="en-US" b="1" dirty="0"/>
              <a:t>Creating/Editing contents </a:t>
            </a:r>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5022167" y="2375021"/>
            <a:ext cx="5613375" cy="3514725"/>
          </a:xfrm>
          <a:prstGeom prst="rect">
            <a:avLst/>
          </a:prstGeom>
        </p:spPr>
      </p:pic>
    </p:spTree>
    <p:extLst>
      <p:ext uri="{BB962C8B-B14F-4D97-AF65-F5344CB8AC3E}">
        <p14:creationId xmlns:p14="http://schemas.microsoft.com/office/powerpoint/2010/main" val="26327766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855305" y="2666308"/>
            <a:ext cx="8971838" cy="991292"/>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Creating a Checklist Document Method 2</a:t>
            </a:r>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36332493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–Method 2</a:t>
            </a:r>
          </a:p>
        </p:txBody>
      </p:sp>
      <p:sp>
        <p:nvSpPr>
          <p:cNvPr id="7" name="Rectangle 6"/>
          <p:cNvSpPr/>
          <p:nvPr/>
        </p:nvSpPr>
        <p:spPr>
          <a:xfrm>
            <a:off x="4664765" y="734019"/>
            <a:ext cx="6997038" cy="2031325"/>
          </a:xfrm>
          <a:prstGeom prst="rect">
            <a:avLst/>
          </a:prstGeom>
        </p:spPr>
        <p:txBody>
          <a:bodyPr wrap="square">
            <a:spAutoFit/>
          </a:bodyPr>
          <a:lstStyle/>
          <a:p>
            <a:endParaRPr lang="en-US" dirty="0"/>
          </a:p>
          <a:p>
            <a:endParaRPr lang="en-US" dirty="0"/>
          </a:p>
          <a:p>
            <a:r>
              <a:rPr lang="en-US" dirty="0"/>
              <a:t>Select Create From Template in the Document feature to create any document into Integrity from existing Project or Library.</a:t>
            </a:r>
          </a:p>
          <a:p>
            <a:endParaRPr lang="en-US" dirty="0"/>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a:t>
            </a:r>
            <a:r>
              <a:rPr lang="en-US" b="1" dirty="0"/>
              <a:t>Creating document from template</a:t>
            </a:r>
          </a:p>
          <a:p>
            <a:r>
              <a:rPr lang="en-US" dirty="0"/>
              <a:t>2.Finding the template</a:t>
            </a:r>
          </a:p>
          <a:p>
            <a:r>
              <a:rPr lang="en-US" dirty="0"/>
              <a:t>3.Select Project</a:t>
            </a:r>
          </a:p>
          <a:p>
            <a:r>
              <a:rPr lang="en-US" dirty="0"/>
              <a:t>4.Editing data in Item view</a:t>
            </a:r>
          </a:p>
          <a:p>
            <a:r>
              <a:rPr lang="en-US" dirty="0"/>
              <a:t>5.Auto-populated &amp; Multi-select fields</a:t>
            </a:r>
          </a:p>
          <a:p>
            <a:r>
              <a:rPr lang="en-US" dirty="0"/>
              <a:t>6.Applying changes in template</a:t>
            </a:r>
          </a:p>
          <a:p>
            <a:r>
              <a:rPr lang="en-US" dirty="0"/>
              <a:t>7.Document view of template</a:t>
            </a:r>
          </a:p>
          <a:p>
            <a:r>
              <a:rPr lang="en-US" dirty="0"/>
              <a:t>8.Editing contents </a:t>
            </a:r>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5395912" y="2765344"/>
            <a:ext cx="5057775" cy="2105025"/>
          </a:xfrm>
          <a:prstGeom prst="rect">
            <a:avLst/>
          </a:prstGeom>
        </p:spPr>
      </p:pic>
    </p:spTree>
    <p:extLst>
      <p:ext uri="{BB962C8B-B14F-4D97-AF65-F5344CB8AC3E}">
        <p14:creationId xmlns:p14="http://schemas.microsoft.com/office/powerpoint/2010/main" val="35548775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–Method 2</a:t>
            </a:r>
          </a:p>
        </p:txBody>
      </p:sp>
      <p:sp>
        <p:nvSpPr>
          <p:cNvPr id="7" name="Rectangle 6"/>
          <p:cNvSpPr/>
          <p:nvPr/>
        </p:nvSpPr>
        <p:spPr>
          <a:xfrm>
            <a:off x="4664765" y="734019"/>
            <a:ext cx="6997038" cy="1754326"/>
          </a:xfrm>
          <a:prstGeom prst="rect">
            <a:avLst/>
          </a:prstGeom>
        </p:spPr>
        <p:txBody>
          <a:bodyPr wrap="square">
            <a:spAutoFit/>
          </a:bodyPr>
          <a:lstStyle/>
          <a:p>
            <a:endParaRPr lang="en-US" dirty="0"/>
          </a:p>
          <a:p>
            <a:endParaRPr lang="en-US" dirty="0"/>
          </a:p>
          <a:p>
            <a:r>
              <a:rPr lang="en-US" dirty="0"/>
              <a:t>Select the document, desired to be created from the list displayed in the dialog box then Click “OK” button.</a:t>
            </a:r>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document from template</a:t>
            </a:r>
          </a:p>
          <a:p>
            <a:r>
              <a:rPr lang="en-US" dirty="0"/>
              <a:t>2.</a:t>
            </a:r>
            <a:r>
              <a:rPr lang="en-US" b="1" dirty="0"/>
              <a:t>Finding the template</a:t>
            </a:r>
          </a:p>
          <a:p>
            <a:r>
              <a:rPr lang="en-US" dirty="0"/>
              <a:t>3.Select Project</a:t>
            </a:r>
          </a:p>
          <a:p>
            <a:r>
              <a:rPr lang="en-US" dirty="0"/>
              <a:t>4.Editing data in Item view</a:t>
            </a:r>
          </a:p>
          <a:p>
            <a:r>
              <a:rPr lang="en-US" dirty="0"/>
              <a:t>5.Auto-populated &amp; Multi-select fields</a:t>
            </a:r>
          </a:p>
          <a:p>
            <a:r>
              <a:rPr lang="en-US" dirty="0"/>
              <a:t>6.Applying changes in template</a:t>
            </a:r>
          </a:p>
          <a:p>
            <a:r>
              <a:rPr lang="en-US" dirty="0"/>
              <a:t>7.Document view of template</a:t>
            </a:r>
          </a:p>
          <a:p>
            <a:r>
              <a:rPr lang="en-US" dirty="0"/>
              <a:t>8.Editing contents </a:t>
            </a:r>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5590515" y="2294353"/>
            <a:ext cx="4752975" cy="3028950"/>
          </a:xfrm>
          <a:prstGeom prst="rect">
            <a:avLst/>
          </a:prstGeom>
        </p:spPr>
      </p:pic>
    </p:spTree>
    <p:extLst>
      <p:ext uri="{BB962C8B-B14F-4D97-AF65-F5344CB8AC3E}">
        <p14:creationId xmlns:p14="http://schemas.microsoft.com/office/powerpoint/2010/main" val="1465207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–Method 2</a:t>
            </a:r>
          </a:p>
        </p:txBody>
      </p:sp>
      <p:sp>
        <p:nvSpPr>
          <p:cNvPr id="7" name="Rectangle 6"/>
          <p:cNvSpPr/>
          <p:nvPr/>
        </p:nvSpPr>
        <p:spPr>
          <a:xfrm>
            <a:off x="4664765" y="734019"/>
            <a:ext cx="6997038" cy="1754326"/>
          </a:xfrm>
          <a:prstGeom prst="rect">
            <a:avLst/>
          </a:prstGeom>
        </p:spPr>
        <p:txBody>
          <a:bodyPr wrap="square">
            <a:spAutoFit/>
          </a:bodyPr>
          <a:lstStyle/>
          <a:p>
            <a:endParaRPr lang="en-US" dirty="0"/>
          </a:p>
          <a:p>
            <a:endParaRPr lang="en-US" dirty="0"/>
          </a:p>
          <a:p>
            <a:r>
              <a:rPr lang="en-US" dirty="0"/>
              <a:t>Select a project under which document needs to be created then Click “OK” button.</a:t>
            </a:r>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document from template</a:t>
            </a:r>
          </a:p>
          <a:p>
            <a:r>
              <a:rPr lang="en-US" dirty="0"/>
              <a:t>2.Finding the template</a:t>
            </a:r>
          </a:p>
          <a:p>
            <a:r>
              <a:rPr lang="en-US" dirty="0"/>
              <a:t>3.</a:t>
            </a:r>
            <a:r>
              <a:rPr lang="en-US" b="1" dirty="0"/>
              <a:t>Select Project</a:t>
            </a:r>
          </a:p>
          <a:p>
            <a:r>
              <a:rPr lang="en-US" dirty="0"/>
              <a:t>4.Editing data in Item view</a:t>
            </a:r>
          </a:p>
          <a:p>
            <a:r>
              <a:rPr lang="en-US" dirty="0"/>
              <a:t>5.Auto-populated &amp; Multi-select fields</a:t>
            </a:r>
          </a:p>
          <a:p>
            <a:r>
              <a:rPr lang="en-US" dirty="0"/>
              <a:t>6.Applying changes in template</a:t>
            </a:r>
          </a:p>
          <a:p>
            <a:r>
              <a:rPr lang="en-US" dirty="0"/>
              <a:t>7.Document view of template</a:t>
            </a:r>
          </a:p>
          <a:p>
            <a:r>
              <a:rPr lang="en-US" dirty="0"/>
              <a:t>8.Editing contents </a:t>
            </a:r>
          </a:p>
          <a:p>
            <a:endParaRPr lang="en-US" dirty="0"/>
          </a:p>
          <a:p>
            <a:endParaRPr lang="en-US" dirty="0"/>
          </a:p>
          <a:p>
            <a:endParaRPr lang="en-US" dirty="0"/>
          </a:p>
        </p:txBody>
      </p:sp>
      <p:pic>
        <p:nvPicPr>
          <p:cNvPr id="5" name="Picture 4"/>
          <p:cNvPicPr>
            <a:picLocks noChangeAspect="1"/>
          </p:cNvPicPr>
          <p:nvPr/>
        </p:nvPicPr>
        <p:blipFill>
          <a:blip r:embed="rId2"/>
          <a:stretch>
            <a:fillRect/>
          </a:stretch>
        </p:blipFill>
        <p:spPr>
          <a:xfrm>
            <a:off x="4861486" y="2098805"/>
            <a:ext cx="5648325" cy="4114800"/>
          </a:xfrm>
          <a:prstGeom prst="rect">
            <a:avLst/>
          </a:prstGeom>
        </p:spPr>
      </p:pic>
    </p:spTree>
    <p:extLst>
      <p:ext uri="{BB962C8B-B14F-4D97-AF65-F5344CB8AC3E}">
        <p14:creationId xmlns:p14="http://schemas.microsoft.com/office/powerpoint/2010/main" val="3978404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–Method 2</a:t>
            </a:r>
          </a:p>
        </p:txBody>
      </p:sp>
      <p:sp>
        <p:nvSpPr>
          <p:cNvPr id="7" name="Rectangle 6"/>
          <p:cNvSpPr/>
          <p:nvPr/>
        </p:nvSpPr>
        <p:spPr>
          <a:xfrm>
            <a:off x="4664765" y="734019"/>
            <a:ext cx="6997038" cy="2585323"/>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Document item view will open up. Enter or select correct values for the fields present. ID will be created before clicking Apply or OK.</a:t>
            </a:r>
          </a:p>
          <a:p>
            <a:endParaRPr lang="en-US" dirty="0"/>
          </a:p>
          <a:p>
            <a:pPr marL="285750" indent="-285750">
              <a:buFont typeface="Arial" panose="020B0604020202020204" pitchFamily="34" charset="0"/>
              <a:buChar char="•"/>
            </a:pPr>
            <a:r>
              <a:rPr lang="en-US" dirty="0"/>
              <a:t>Fields </a:t>
            </a:r>
            <a:r>
              <a:rPr lang="en-US" b="1" dirty="0"/>
              <a:t>Short Title</a:t>
            </a:r>
            <a:r>
              <a:rPr lang="en-US" dirty="0"/>
              <a:t> and </a:t>
            </a:r>
            <a:r>
              <a:rPr lang="en-US" b="1" dirty="0"/>
              <a:t>Project</a:t>
            </a:r>
            <a:r>
              <a:rPr lang="en-US" dirty="0"/>
              <a:t> marked red are mandatory fields and must be filled.</a:t>
            </a:r>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document from template</a:t>
            </a:r>
          </a:p>
          <a:p>
            <a:r>
              <a:rPr lang="en-US" dirty="0"/>
              <a:t>2.Finding the template</a:t>
            </a:r>
          </a:p>
          <a:p>
            <a:r>
              <a:rPr lang="en-US" dirty="0"/>
              <a:t>3.Select Project</a:t>
            </a:r>
          </a:p>
          <a:p>
            <a:r>
              <a:rPr lang="en-US" dirty="0"/>
              <a:t>4.</a:t>
            </a:r>
            <a:r>
              <a:rPr lang="en-US" b="1" dirty="0"/>
              <a:t>Editing data in Item view</a:t>
            </a:r>
          </a:p>
          <a:p>
            <a:r>
              <a:rPr lang="en-US" dirty="0"/>
              <a:t>5.Auto-populated &amp; Multi-select fields</a:t>
            </a:r>
          </a:p>
          <a:p>
            <a:r>
              <a:rPr lang="en-US" dirty="0"/>
              <a:t>6.Applying changes in template</a:t>
            </a:r>
          </a:p>
          <a:p>
            <a:r>
              <a:rPr lang="en-US" dirty="0"/>
              <a:t>7.Document view of template</a:t>
            </a:r>
          </a:p>
          <a:p>
            <a:r>
              <a:rPr lang="en-US" dirty="0"/>
              <a:t>8.Editing contents </a:t>
            </a:r>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6512241" y="2588455"/>
            <a:ext cx="5019675" cy="3376246"/>
          </a:xfrm>
          <a:prstGeom prst="rect">
            <a:avLst/>
          </a:prstGeom>
        </p:spPr>
      </p:pic>
    </p:spTree>
    <p:extLst>
      <p:ext uri="{BB962C8B-B14F-4D97-AF65-F5344CB8AC3E}">
        <p14:creationId xmlns:p14="http://schemas.microsoft.com/office/powerpoint/2010/main" val="32603922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–Method 2</a:t>
            </a:r>
          </a:p>
        </p:txBody>
      </p:sp>
      <p:sp>
        <p:nvSpPr>
          <p:cNvPr id="7" name="Rectangle 6"/>
          <p:cNvSpPr/>
          <p:nvPr/>
        </p:nvSpPr>
        <p:spPr>
          <a:xfrm>
            <a:off x="4664765" y="734019"/>
            <a:ext cx="6997038" cy="3416320"/>
          </a:xfrm>
          <a:prstGeom prst="rect">
            <a:avLst/>
          </a:prstGeom>
        </p:spPr>
        <p:txBody>
          <a:bodyPr wrap="square">
            <a:spAutoFit/>
          </a:bodyPr>
          <a:lstStyle/>
          <a:p>
            <a:endParaRPr lang="en-US" dirty="0"/>
          </a:p>
          <a:p>
            <a:endParaRPr lang="en-US" dirty="0"/>
          </a:p>
          <a:p>
            <a:endParaRPr lang="en-US" dirty="0"/>
          </a:p>
          <a:p>
            <a:endParaRPr lang="en-US" dirty="0"/>
          </a:p>
          <a:p>
            <a:pPr marL="285750" indent="-285750">
              <a:buFont typeface="Arial" panose="020B0604020202020204" pitchFamily="34" charset="0"/>
              <a:buChar char="•"/>
            </a:pPr>
            <a:r>
              <a:rPr lang="en-US" dirty="0"/>
              <a:t>Author field is automatically populated so need not to be filled.</a:t>
            </a:r>
          </a:p>
          <a:p>
            <a:endParaRPr lang="en-US" dirty="0"/>
          </a:p>
          <a:p>
            <a:pPr marL="285750" indent="-285750">
              <a:buFont typeface="Arial" panose="020B0604020202020204" pitchFamily="34" charset="0"/>
              <a:buChar char="•"/>
            </a:pPr>
            <a:r>
              <a:rPr lang="en-US" dirty="0"/>
              <a:t>Select appropriate field values (one or multiple) for the rest of the fields.</a:t>
            </a:r>
          </a:p>
          <a:p>
            <a:pPr marL="285750" indent="-285750">
              <a:buFont typeface="Arial" panose="020B0604020202020204" pitchFamily="34" charset="0"/>
              <a:buChar char="•"/>
            </a:pPr>
            <a:r>
              <a:rPr lang="en-US" dirty="0"/>
              <a:t>State field is automatically transited until Published state of document.</a:t>
            </a:r>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document from template</a:t>
            </a:r>
          </a:p>
          <a:p>
            <a:r>
              <a:rPr lang="en-US" dirty="0"/>
              <a:t>2.Finding the template</a:t>
            </a:r>
          </a:p>
          <a:p>
            <a:r>
              <a:rPr lang="en-US" dirty="0"/>
              <a:t>3.Select Project</a:t>
            </a:r>
          </a:p>
          <a:p>
            <a:r>
              <a:rPr lang="en-US" dirty="0"/>
              <a:t>4.Editing data in Item view</a:t>
            </a:r>
          </a:p>
          <a:p>
            <a:r>
              <a:rPr lang="en-US" dirty="0"/>
              <a:t>5.</a:t>
            </a:r>
            <a:r>
              <a:rPr lang="en-US" b="1" dirty="0"/>
              <a:t>Auto-populated &amp; Multi-select fields</a:t>
            </a:r>
          </a:p>
          <a:p>
            <a:r>
              <a:rPr lang="en-US" dirty="0"/>
              <a:t>6.Applying changes in template</a:t>
            </a:r>
          </a:p>
          <a:p>
            <a:r>
              <a:rPr lang="en-US" dirty="0"/>
              <a:t>7.Document view of template</a:t>
            </a:r>
          </a:p>
          <a:p>
            <a:r>
              <a:rPr lang="en-US" dirty="0"/>
              <a:t>8.Editing contents </a:t>
            </a:r>
          </a:p>
          <a:p>
            <a:endParaRPr lang="en-US" dirty="0"/>
          </a:p>
          <a:p>
            <a:endParaRPr lang="en-US" dirty="0"/>
          </a:p>
          <a:p>
            <a:endParaRPr lang="en-US" dirty="0"/>
          </a:p>
        </p:txBody>
      </p:sp>
    </p:spTree>
    <p:extLst>
      <p:ext uri="{BB962C8B-B14F-4D97-AF65-F5344CB8AC3E}">
        <p14:creationId xmlns:p14="http://schemas.microsoft.com/office/powerpoint/2010/main" val="39545679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–Method 2</a:t>
            </a:r>
          </a:p>
        </p:txBody>
      </p:sp>
      <p:sp>
        <p:nvSpPr>
          <p:cNvPr id="7" name="Rectangle 6"/>
          <p:cNvSpPr/>
          <p:nvPr/>
        </p:nvSpPr>
        <p:spPr>
          <a:xfrm>
            <a:off x="4664765" y="734019"/>
            <a:ext cx="6997038" cy="3693319"/>
          </a:xfrm>
          <a:prstGeom prst="rect">
            <a:avLst/>
          </a:prstGeom>
        </p:spPr>
        <p:txBody>
          <a:bodyPr wrap="square">
            <a:spAutoFit/>
          </a:bodyPr>
          <a:lstStyle/>
          <a:p>
            <a:endParaRPr lang="en-US" dirty="0"/>
          </a:p>
          <a:p>
            <a:endParaRPr lang="en-US" dirty="0"/>
          </a:p>
          <a:p>
            <a:endParaRPr lang="en-US" dirty="0"/>
          </a:p>
          <a:p>
            <a:pPr marL="285750" indent="-285750">
              <a:buFont typeface="Arial" panose="020B0604020202020204" pitchFamily="34" charset="0"/>
              <a:buChar char="•"/>
            </a:pPr>
            <a:r>
              <a:rPr lang="en-US" dirty="0"/>
              <a:t>All other fields visible in the Document Item view must be filled.</a:t>
            </a:r>
          </a:p>
          <a:p>
            <a:pPr marL="285750" indent="-285750">
              <a:buFont typeface="Arial" panose="020B0604020202020204" pitchFamily="34" charset="0"/>
              <a:buChar char="•"/>
            </a:pPr>
            <a:r>
              <a:rPr lang="en-US" dirty="0"/>
              <a:t>Fields that are not editable will be editable depending on the state of the document it is in. </a:t>
            </a:r>
          </a:p>
          <a:p>
            <a:pPr marL="285750" indent="-285750">
              <a:buFont typeface="Arial" panose="020B0604020202020204" pitchFamily="34" charset="0"/>
              <a:buChar char="•"/>
            </a:pPr>
            <a:r>
              <a:rPr lang="en-US" dirty="0"/>
              <a:t>Clicking on “Apply” will keep the user on the same screen while clicking on “OK” will open the document view window.</a:t>
            </a:r>
          </a:p>
          <a:p>
            <a:pPr marL="285750" indent="-285750">
              <a:buFont typeface="Arial" panose="020B0604020202020204" pitchFamily="34" charset="0"/>
              <a:buChar char="•"/>
            </a:pPr>
            <a:r>
              <a:rPr lang="en-US" dirty="0"/>
              <a:t>Clicking “Apply” will save the document. Alternately “Ctrl + S” can also be used. </a:t>
            </a:r>
          </a:p>
          <a:p>
            <a:pPr marL="285750" indent="-285750">
              <a:buFont typeface="Arial" panose="020B0604020202020204" pitchFamily="34" charset="0"/>
              <a:buChar char="•"/>
            </a:pPr>
            <a:r>
              <a:rPr lang="en-US" dirty="0"/>
              <a:t>After all fields are filled, Click “OK” button to create the document.</a:t>
            </a:r>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document from template</a:t>
            </a:r>
          </a:p>
          <a:p>
            <a:r>
              <a:rPr lang="en-US" dirty="0"/>
              <a:t>2.Finding the template</a:t>
            </a:r>
          </a:p>
          <a:p>
            <a:r>
              <a:rPr lang="en-US" dirty="0"/>
              <a:t>3.Select Project</a:t>
            </a:r>
          </a:p>
          <a:p>
            <a:r>
              <a:rPr lang="en-US" dirty="0"/>
              <a:t>4.Editing data in Item view</a:t>
            </a:r>
          </a:p>
          <a:p>
            <a:r>
              <a:rPr lang="en-US" dirty="0"/>
              <a:t>5.Auto-populated &amp; Multi-select fields</a:t>
            </a:r>
          </a:p>
          <a:p>
            <a:r>
              <a:rPr lang="en-US" dirty="0"/>
              <a:t>6.</a:t>
            </a:r>
            <a:r>
              <a:rPr lang="en-US" b="1" dirty="0"/>
              <a:t>Applying changes in template</a:t>
            </a:r>
          </a:p>
          <a:p>
            <a:r>
              <a:rPr lang="en-US" dirty="0"/>
              <a:t>7.Document view of template</a:t>
            </a:r>
          </a:p>
          <a:p>
            <a:r>
              <a:rPr lang="en-US" dirty="0"/>
              <a:t>8.Editing contents </a:t>
            </a:r>
          </a:p>
          <a:p>
            <a:endParaRPr lang="en-US" dirty="0"/>
          </a:p>
          <a:p>
            <a:endParaRPr lang="en-US" dirty="0"/>
          </a:p>
          <a:p>
            <a:endParaRPr lang="en-US" dirty="0"/>
          </a:p>
        </p:txBody>
      </p:sp>
    </p:spTree>
    <p:extLst>
      <p:ext uri="{BB962C8B-B14F-4D97-AF65-F5344CB8AC3E}">
        <p14:creationId xmlns:p14="http://schemas.microsoft.com/office/powerpoint/2010/main" val="8938483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–Method 2</a:t>
            </a:r>
          </a:p>
        </p:txBody>
      </p:sp>
      <p:sp>
        <p:nvSpPr>
          <p:cNvPr id="7" name="Rectangle 6"/>
          <p:cNvSpPr/>
          <p:nvPr/>
        </p:nvSpPr>
        <p:spPr>
          <a:xfrm>
            <a:off x="4664765" y="734019"/>
            <a:ext cx="6997038" cy="2308324"/>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As soon as you click “OK” in document item view, you will be navigated to “Document View Window”.</a:t>
            </a:r>
          </a:p>
          <a:p>
            <a:pPr marL="285750" indent="-285750">
              <a:buFont typeface="Arial" panose="020B0604020202020204" pitchFamily="34" charset="0"/>
              <a:buChar char="•"/>
            </a:pPr>
            <a:r>
              <a:rPr lang="en-US" dirty="0"/>
              <a:t>If the document is created from template it will auto populated with template's data. Data must be updated with project-specific data.</a:t>
            </a:r>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document from template</a:t>
            </a:r>
          </a:p>
          <a:p>
            <a:r>
              <a:rPr lang="en-US" dirty="0"/>
              <a:t>2.Finding the template</a:t>
            </a:r>
          </a:p>
          <a:p>
            <a:r>
              <a:rPr lang="en-US" dirty="0"/>
              <a:t>3.Select Project</a:t>
            </a:r>
          </a:p>
          <a:p>
            <a:r>
              <a:rPr lang="en-US" dirty="0"/>
              <a:t>4.Editing data in Item view</a:t>
            </a:r>
          </a:p>
          <a:p>
            <a:r>
              <a:rPr lang="en-US" dirty="0"/>
              <a:t>5.Auto-populated &amp; Multi-select fields</a:t>
            </a:r>
          </a:p>
          <a:p>
            <a:r>
              <a:rPr lang="en-US" dirty="0"/>
              <a:t>6.Applying changes in template</a:t>
            </a:r>
          </a:p>
          <a:p>
            <a:r>
              <a:rPr lang="en-US" dirty="0"/>
              <a:t>7.</a:t>
            </a:r>
            <a:r>
              <a:rPr lang="en-US" b="1" dirty="0"/>
              <a:t>Document view of template</a:t>
            </a:r>
          </a:p>
          <a:p>
            <a:r>
              <a:rPr lang="en-US" dirty="0"/>
              <a:t>8.Editing contents </a:t>
            </a:r>
          </a:p>
          <a:p>
            <a:endParaRPr lang="en-US" dirty="0"/>
          </a:p>
          <a:p>
            <a:endParaRPr lang="en-US" dirty="0"/>
          </a:p>
          <a:p>
            <a:endParaRPr lang="en-US" dirty="0"/>
          </a:p>
        </p:txBody>
      </p:sp>
      <p:pic>
        <p:nvPicPr>
          <p:cNvPr id="5" name="Picture 4"/>
          <p:cNvPicPr>
            <a:picLocks noChangeAspect="1"/>
          </p:cNvPicPr>
          <p:nvPr/>
        </p:nvPicPr>
        <p:blipFill>
          <a:blip r:embed="rId2"/>
          <a:stretch>
            <a:fillRect/>
          </a:stretch>
        </p:blipFill>
        <p:spPr>
          <a:xfrm>
            <a:off x="4994230" y="2686050"/>
            <a:ext cx="6667573" cy="3475599"/>
          </a:xfrm>
          <a:prstGeom prst="rect">
            <a:avLst/>
          </a:prstGeom>
        </p:spPr>
      </p:pic>
    </p:spTree>
    <p:extLst>
      <p:ext uri="{BB962C8B-B14F-4D97-AF65-F5344CB8AC3E}">
        <p14:creationId xmlns:p14="http://schemas.microsoft.com/office/powerpoint/2010/main" val="18119519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 –Method 2</a:t>
            </a:r>
          </a:p>
        </p:txBody>
      </p:sp>
      <p:sp>
        <p:nvSpPr>
          <p:cNvPr id="7" name="Rectangle 6"/>
          <p:cNvSpPr/>
          <p:nvPr/>
        </p:nvSpPr>
        <p:spPr>
          <a:xfrm>
            <a:off x="4664765" y="734019"/>
            <a:ext cx="6997038" cy="1754326"/>
          </a:xfrm>
          <a:prstGeom prst="rect">
            <a:avLst/>
          </a:prstGeom>
        </p:spPr>
        <p:txBody>
          <a:bodyPr wrap="square">
            <a:spAutoFit/>
          </a:bodyPr>
          <a:lstStyle/>
          <a:p>
            <a:endParaRPr lang="en-US" dirty="0"/>
          </a:p>
          <a:p>
            <a:endParaRPr lang="en-US" dirty="0"/>
          </a:p>
          <a:p>
            <a:r>
              <a:rPr lang="en-US" dirty="0"/>
              <a:t>If the document is created from template it will auto populated with template's data. Data must be updated with project-specific data.</a:t>
            </a:r>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document from template</a:t>
            </a:r>
          </a:p>
          <a:p>
            <a:r>
              <a:rPr lang="en-US" dirty="0"/>
              <a:t>2.Finding the template</a:t>
            </a:r>
          </a:p>
          <a:p>
            <a:r>
              <a:rPr lang="en-US" dirty="0"/>
              <a:t>3.Select Project</a:t>
            </a:r>
          </a:p>
          <a:p>
            <a:r>
              <a:rPr lang="en-US" dirty="0"/>
              <a:t>4.Editing data in Item view</a:t>
            </a:r>
          </a:p>
          <a:p>
            <a:r>
              <a:rPr lang="en-US" dirty="0"/>
              <a:t>5.Auto-populated &amp; Multi-select fields</a:t>
            </a:r>
          </a:p>
          <a:p>
            <a:r>
              <a:rPr lang="en-US" dirty="0"/>
              <a:t>6.Applying changes in template</a:t>
            </a:r>
          </a:p>
          <a:p>
            <a:r>
              <a:rPr lang="en-US" dirty="0"/>
              <a:t>7.Document view of template</a:t>
            </a:r>
          </a:p>
          <a:p>
            <a:r>
              <a:rPr lang="en-US" dirty="0"/>
              <a:t>8.</a:t>
            </a:r>
            <a:r>
              <a:rPr lang="en-US" b="1" dirty="0"/>
              <a:t>Editing contents </a:t>
            </a:r>
          </a:p>
          <a:p>
            <a:endParaRPr lang="en-US" dirty="0"/>
          </a:p>
          <a:p>
            <a:endParaRPr lang="en-US" dirty="0"/>
          </a:p>
          <a:p>
            <a:endParaRPr lang="en-US" dirty="0"/>
          </a:p>
        </p:txBody>
      </p:sp>
      <p:pic>
        <p:nvPicPr>
          <p:cNvPr id="5" name="Picture 4"/>
          <p:cNvPicPr>
            <a:picLocks noChangeAspect="1"/>
          </p:cNvPicPr>
          <p:nvPr/>
        </p:nvPicPr>
        <p:blipFill>
          <a:blip r:embed="rId2"/>
          <a:stretch>
            <a:fillRect/>
          </a:stretch>
        </p:blipFill>
        <p:spPr>
          <a:xfrm>
            <a:off x="5120641" y="2084216"/>
            <a:ext cx="5613375" cy="3514725"/>
          </a:xfrm>
          <a:prstGeom prst="rect">
            <a:avLst/>
          </a:prstGeom>
        </p:spPr>
      </p:pic>
    </p:spTree>
    <p:extLst>
      <p:ext uri="{BB962C8B-B14F-4D97-AF65-F5344CB8AC3E}">
        <p14:creationId xmlns:p14="http://schemas.microsoft.com/office/powerpoint/2010/main" val="34364642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Checklist Document – Details Tab </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612032" y="886265"/>
            <a:ext cx="10234159" cy="2308324"/>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dirty="0"/>
              <a:t>The Details tab contains two sections, namely:</a:t>
            </a:r>
          </a:p>
          <a:p>
            <a:r>
              <a:rPr lang="en-US" dirty="0"/>
              <a:t>	₋General</a:t>
            </a:r>
          </a:p>
          <a:p>
            <a:r>
              <a:rPr lang="en-US" dirty="0"/>
              <a:t>	₋Details</a:t>
            </a:r>
          </a:p>
          <a:p>
            <a:pPr marL="285750" indent="-285750">
              <a:buFont typeface="Arial" panose="020B0604020202020204" pitchFamily="34" charset="0"/>
              <a:buChar char="•"/>
            </a:pPr>
            <a:r>
              <a:rPr lang="en-US" dirty="0"/>
              <a:t>General section contains field like Short Title, Description and Document Author (Auto-fills Current User after pressing Apply).</a:t>
            </a:r>
          </a:p>
          <a:p>
            <a:pPr marL="285750" indent="-285750">
              <a:buFont typeface="Arial" panose="020B0604020202020204" pitchFamily="34" charset="0"/>
              <a:buChar char="•"/>
            </a:pPr>
            <a:r>
              <a:rPr lang="en-US" dirty="0"/>
              <a:t>Details section contains State, Project and Comments fields. </a:t>
            </a:r>
          </a:p>
          <a:p>
            <a:endParaRPr lang="en-US" dirty="0"/>
          </a:p>
        </p:txBody>
      </p:sp>
      <p:pic>
        <p:nvPicPr>
          <p:cNvPr id="8" name="Picture 7"/>
          <p:cNvPicPr>
            <a:picLocks noChangeAspect="1"/>
          </p:cNvPicPr>
          <p:nvPr/>
        </p:nvPicPr>
        <p:blipFill>
          <a:blip r:embed="rId2"/>
          <a:stretch>
            <a:fillRect/>
          </a:stretch>
        </p:blipFill>
        <p:spPr>
          <a:xfrm>
            <a:off x="4867890" y="2991331"/>
            <a:ext cx="4933950" cy="3513321"/>
          </a:xfrm>
          <a:prstGeom prst="rect">
            <a:avLst/>
          </a:prstGeom>
        </p:spPr>
      </p:pic>
    </p:spTree>
    <p:extLst>
      <p:ext uri="{BB962C8B-B14F-4D97-AF65-F5344CB8AC3E}">
        <p14:creationId xmlns:p14="http://schemas.microsoft.com/office/powerpoint/2010/main" val="1540513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Checklist Document – Relationships    Tab </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612032" y="886265"/>
            <a:ext cx="10234159" cy="2585323"/>
          </a:xfrm>
          <a:prstGeom prst="rect">
            <a:avLst/>
          </a:prstGeom>
          <a:noFill/>
        </p:spPr>
        <p:txBody>
          <a:bodyPr wrap="square" rtlCol="0">
            <a:spAutoFit/>
          </a:bodyPr>
          <a:lstStyle/>
          <a:p>
            <a:endParaRPr lang="en-US" dirty="0"/>
          </a:p>
          <a:p>
            <a:endParaRPr lang="en-US" dirty="0"/>
          </a:p>
          <a:p>
            <a:pPr marL="285750" indent="-285750" algn="just">
              <a:buFont typeface="Arial" panose="020B0604020202020204" pitchFamily="34" charset="0"/>
              <a:buChar char="•"/>
            </a:pPr>
            <a:r>
              <a:rPr lang="en-US" dirty="0"/>
              <a:t>Relationship Tab of checklist includes fields that are linked and inter-related to Checklist Document.</a:t>
            </a:r>
          </a:p>
          <a:p>
            <a:pPr marL="285750" indent="-285750" algn="just">
              <a:buFont typeface="Arial" panose="020B0604020202020204" pitchFamily="34" charset="0"/>
              <a:buChar char="•"/>
            </a:pPr>
            <a:r>
              <a:rPr lang="en-US" dirty="0"/>
              <a:t>“Documents” field displays the Libraries or Projects that includes that particular Checklist Document.</a:t>
            </a:r>
          </a:p>
          <a:p>
            <a:pPr marL="285750" indent="-285750" algn="just">
              <a:buFont typeface="Arial" panose="020B0604020202020204" pitchFamily="34" charset="0"/>
              <a:buChar char="•"/>
            </a:pPr>
            <a:r>
              <a:rPr lang="en-US" dirty="0"/>
              <a:t>“Contains” field list downs all the Checklist contents that are present within the same document.</a:t>
            </a:r>
          </a:p>
          <a:p>
            <a:pPr marL="285750" indent="-285750" algn="just">
              <a:buFont typeface="Arial" panose="020B0604020202020204" pitchFamily="34" charset="0"/>
              <a:buChar char="•"/>
            </a:pPr>
            <a:r>
              <a:rPr lang="en-US" dirty="0"/>
              <a:t>The item for which the Checklist Document is created should be attached in “Checklist List For” relationship field.</a:t>
            </a:r>
          </a:p>
          <a:p>
            <a:pPr marL="285750" indent="-285750" algn="just">
              <a:buFont typeface="Arial" panose="020B0604020202020204" pitchFamily="34" charset="0"/>
              <a:buChar char="•"/>
            </a:pPr>
            <a:r>
              <a:rPr lang="en-US" dirty="0"/>
              <a:t>Example shown below: </a:t>
            </a:r>
          </a:p>
          <a:p>
            <a:endParaRPr lang="en-US" dirty="0"/>
          </a:p>
        </p:txBody>
      </p:sp>
      <p:pic>
        <p:nvPicPr>
          <p:cNvPr id="9" name="Picture 8"/>
          <p:cNvPicPr>
            <a:picLocks noChangeAspect="1"/>
          </p:cNvPicPr>
          <p:nvPr/>
        </p:nvPicPr>
        <p:blipFill>
          <a:blip r:embed="rId2"/>
          <a:stretch>
            <a:fillRect/>
          </a:stretch>
        </p:blipFill>
        <p:spPr>
          <a:xfrm>
            <a:off x="1314142" y="3655867"/>
            <a:ext cx="8324850" cy="1828800"/>
          </a:xfrm>
          <a:prstGeom prst="rect">
            <a:avLst/>
          </a:prstGeom>
        </p:spPr>
      </p:pic>
    </p:spTree>
    <p:extLst>
      <p:ext uri="{BB962C8B-B14F-4D97-AF65-F5344CB8AC3E}">
        <p14:creationId xmlns:p14="http://schemas.microsoft.com/office/powerpoint/2010/main" val="11772542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Checklist Document – Attachments  Tab </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612032" y="886265"/>
            <a:ext cx="10234159" cy="2031325"/>
          </a:xfrm>
          <a:prstGeom prst="rect">
            <a:avLst/>
          </a:prstGeom>
          <a:noFill/>
        </p:spPr>
        <p:txBody>
          <a:bodyPr wrap="square" rtlCol="0">
            <a:spAutoFit/>
          </a:bodyPr>
          <a:lstStyle/>
          <a:p>
            <a:endParaRPr lang="en-US" dirty="0"/>
          </a:p>
          <a:p>
            <a:endParaRPr lang="en-US" dirty="0"/>
          </a:p>
          <a:p>
            <a:pPr marL="285750" indent="-285750">
              <a:buFont typeface="Arial" panose="020B0604020202020204" pitchFamily="34" charset="0"/>
              <a:buChar char="•"/>
            </a:pPr>
            <a:r>
              <a:rPr lang="en-US" dirty="0"/>
              <a:t>As the name suggests, any kind of file that is related to the Checklist Document can be attached in this field.</a:t>
            </a:r>
          </a:p>
          <a:p>
            <a:pPr marL="285750" indent="-285750">
              <a:buFont typeface="Arial" panose="020B0604020202020204" pitchFamily="34" charset="0"/>
              <a:buChar char="•"/>
            </a:pPr>
            <a:r>
              <a:rPr lang="en-US" dirty="0"/>
              <a:t>The file could be a word document, pdf, jpeg, etc. that describes the Checklist Document.</a:t>
            </a:r>
          </a:p>
          <a:p>
            <a:pPr marL="285750" indent="-285750">
              <a:buFont typeface="Arial" panose="020B0604020202020204" pitchFamily="34" charset="0"/>
              <a:buChar char="•"/>
            </a:pPr>
            <a:r>
              <a:rPr lang="en-US" dirty="0"/>
              <a:t>The Maximum file size that can be attached is 5 MB. </a:t>
            </a:r>
          </a:p>
          <a:p>
            <a:endParaRPr lang="en-US" dirty="0"/>
          </a:p>
        </p:txBody>
      </p:sp>
      <p:pic>
        <p:nvPicPr>
          <p:cNvPr id="8" name="Picture 7"/>
          <p:cNvPicPr>
            <a:picLocks noChangeAspect="1"/>
          </p:cNvPicPr>
          <p:nvPr/>
        </p:nvPicPr>
        <p:blipFill>
          <a:blip r:embed="rId2"/>
          <a:stretch>
            <a:fillRect/>
          </a:stretch>
        </p:blipFill>
        <p:spPr>
          <a:xfrm>
            <a:off x="2733828" y="3187341"/>
            <a:ext cx="5514975" cy="2695575"/>
          </a:xfrm>
          <a:prstGeom prst="rect">
            <a:avLst/>
          </a:prstGeom>
        </p:spPr>
      </p:pic>
    </p:spTree>
    <p:extLst>
      <p:ext uri="{BB962C8B-B14F-4D97-AF65-F5344CB8AC3E}">
        <p14:creationId xmlns:p14="http://schemas.microsoft.com/office/powerpoint/2010/main" val="4565269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Checklist Document – Advanced  Tab </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612032" y="886265"/>
            <a:ext cx="10234159" cy="3416320"/>
          </a:xfrm>
          <a:prstGeom prst="rect">
            <a:avLst/>
          </a:prstGeom>
          <a:noFill/>
        </p:spPr>
        <p:txBody>
          <a:bodyPr wrap="square" rtlCol="0">
            <a:spAutoFit/>
          </a:bodyPr>
          <a:lstStyle/>
          <a:p>
            <a:endParaRPr lang="en-US" dirty="0"/>
          </a:p>
          <a:p>
            <a:endParaRPr lang="en-US" dirty="0"/>
          </a:p>
          <a:p>
            <a:pPr marL="285750" indent="-285750">
              <a:buFont typeface="Arial" panose="020B0604020202020204" pitchFamily="34" charset="0"/>
              <a:buChar char="•"/>
            </a:pPr>
            <a:r>
              <a:rPr lang="en-US" dirty="0"/>
              <a:t>Advanced Tab shows the document metrics that technically describes the document.</a:t>
            </a:r>
          </a:p>
          <a:p>
            <a:pPr marL="285750" indent="-285750">
              <a:buFont typeface="Arial" panose="020B0604020202020204" pitchFamily="34" charset="0"/>
              <a:buChar char="•"/>
            </a:pPr>
            <a:r>
              <a:rPr lang="en-US" dirty="0"/>
              <a:t>Fields mentioned are auto-computed:</a:t>
            </a:r>
          </a:p>
          <a:p>
            <a:endParaRPr lang="en-US" dirty="0"/>
          </a:p>
          <a:p>
            <a:r>
              <a:rPr lang="en-US" dirty="0"/>
              <a:t>        ₋All Content Count</a:t>
            </a:r>
          </a:p>
          <a:p>
            <a:pPr marL="1200150" lvl="2" indent="-285750">
              <a:buFont typeface="Arial" panose="020B0604020202020204" pitchFamily="34" charset="0"/>
              <a:buChar char="•"/>
            </a:pPr>
            <a:r>
              <a:rPr lang="en-US" dirty="0"/>
              <a:t>The number of content items in this segment. This document metric is calculated once a day via the Daily Metrics trigger.</a:t>
            </a:r>
          </a:p>
          <a:p>
            <a:r>
              <a:rPr lang="en-US" dirty="0"/>
              <a:t>        ₋Meaningful Content Count</a:t>
            </a:r>
          </a:p>
          <a:p>
            <a:pPr marL="1200150" lvl="2" indent="-285750">
              <a:buFont typeface="Arial" panose="020B0604020202020204" pitchFamily="34" charset="0"/>
              <a:buChar char="•"/>
            </a:pPr>
            <a:r>
              <a:rPr lang="en-US" dirty="0"/>
              <a:t>The number of meaningful items in this segment. This document metric is calculated once a day. </a:t>
            </a:r>
          </a:p>
          <a:p>
            <a:endParaRPr lang="en-US" dirty="0"/>
          </a:p>
        </p:txBody>
      </p:sp>
    </p:spTree>
    <p:extLst>
      <p:ext uri="{BB962C8B-B14F-4D97-AF65-F5344CB8AC3E}">
        <p14:creationId xmlns:p14="http://schemas.microsoft.com/office/powerpoint/2010/main" val="22734841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Checklist Workflow [content]</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2562958" y="1884897"/>
            <a:ext cx="3823094" cy="3173800"/>
          </a:xfrm>
          <a:prstGeom prst="rect">
            <a:avLst/>
          </a:prstGeom>
        </p:spPr>
      </p:pic>
    </p:spTree>
    <p:extLst>
      <p:ext uri="{BB962C8B-B14F-4D97-AF65-F5344CB8AC3E}">
        <p14:creationId xmlns:p14="http://schemas.microsoft.com/office/powerpoint/2010/main" val="7646451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Details Tab of Checklist Content </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612032" y="886265"/>
            <a:ext cx="10234159" cy="5355312"/>
          </a:xfrm>
          <a:prstGeom prst="rect">
            <a:avLst/>
          </a:prstGeom>
          <a:noFill/>
        </p:spPr>
        <p:txBody>
          <a:bodyPr wrap="square" rtlCol="0">
            <a:spAutoFit/>
          </a:bodyPr>
          <a:lstStyle/>
          <a:p>
            <a:endParaRPr lang="en-US" dirty="0"/>
          </a:p>
          <a:p>
            <a:endParaRPr lang="en-US" dirty="0"/>
          </a:p>
          <a:p>
            <a:pPr marL="285750" indent="-285750">
              <a:buFont typeface="Arial" panose="020B0604020202020204" pitchFamily="34" charset="0"/>
              <a:buChar char="•"/>
            </a:pPr>
            <a:r>
              <a:rPr lang="en-US" dirty="0"/>
              <a:t>Firstly, user need to enter description i.e. the right statements and questions needed to complete the Checklist.</a:t>
            </a:r>
          </a:p>
          <a:p>
            <a:pPr marL="285750" indent="-285750">
              <a:buFont typeface="Arial" panose="020B0604020202020204" pitchFamily="34" charset="0"/>
              <a:buChar char="•"/>
            </a:pPr>
            <a:r>
              <a:rPr lang="en-US" dirty="0"/>
              <a:t>The content of Checklist is “Review Item” (Category) by default. </a:t>
            </a:r>
          </a:p>
          <a:p>
            <a:pPr marL="285750" indent="-285750">
              <a:buFont typeface="Arial" panose="020B0604020202020204" pitchFamily="34" charset="0"/>
              <a:buChar char="•"/>
            </a:pPr>
            <a:r>
              <a:rPr lang="en-US" dirty="0"/>
              <a:t>User can also use “</a:t>
            </a:r>
            <a:r>
              <a:rPr lang="en-US" i="1" dirty="0"/>
              <a:t>Heading</a:t>
            </a:r>
            <a:r>
              <a:rPr lang="en-US" dirty="0"/>
              <a:t>” and “</a:t>
            </a:r>
            <a:r>
              <a:rPr lang="en-US" i="1" dirty="0"/>
              <a:t>Comment</a:t>
            </a:r>
            <a:r>
              <a:rPr lang="en-US" dirty="0"/>
              <a:t>” category to organize the document.</a:t>
            </a:r>
          </a:p>
          <a:p>
            <a:pPr marL="285750" indent="-285750">
              <a:buFont typeface="Arial" panose="020B0604020202020204" pitchFamily="34" charset="0"/>
              <a:buChar char="•"/>
            </a:pPr>
            <a:r>
              <a:rPr lang="en-US" dirty="0"/>
              <a:t>“Checklist Item Status” is the value selected to display the status of the Review Item entered. It is divided as below:</a:t>
            </a:r>
          </a:p>
          <a:p>
            <a:r>
              <a:rPr lang="en-US" dirty="0"/>
              <a:t>	₋Compliant</a:t>
            </a:r>
          </a:p>
          <a:p>
            <a:r>
              <a:rPr lang="en-US" dirty="0"/>
              <a:t>	₋Non-Compliant</a:t>
            </a:r>
          </a:p>
          <a:p>
            <a:r>
              <a:rPr lang="en-US" dirty="0"/>
              <a:t>	₋Not Applicable</a:t>
            </a:r>
          </a:p>
          <a:p>
            <a:r>
              <a:rPr lang="en-US" dirty="0"/>
              <a:t>	₋To Be Audited</a:t>
            </a:r>
          </a:p>
          <a:p>
            <a:r>
              <a:rPr lang="en-US" dirty="0"/>
              <a:t>	₋Partially Compliant </a:t>
            </a:r>
          </a:p>
          <a:p>
            <a:endParaRPr lang="en-US" dirty="0"/>
          </a:p>
          <a:p>
            <a:pPr marL="285750" indent="-285750">
              <a:buFont typeface="Arial" panose="020B0604020202020204" pitchFamily="34" charset="0"/>
              <a:buChar char="•"/>
            </a:pPr>
            <a:r>
              <a:rPr lang="en-US" dirty="0"/>
              <a:t> “Assigned Reviewer” field needs to be entered in order to review the “Review Item” made in Checklist   Document.</a:t>
            </a:r>
          </a:p>
          <a:p>
            <a:pPr marL="285750" indent="-285750">
              <a:buFont typeface="Arial" panose="020B0604020202020204" pitchFamily="34" charset="0"/>
              <a:buChar char="•"/>
            </a:pPr>
            <a:r>
              <a:rPr lang="en-US" dirty="0"/>
              <a:t>Finally, “Comments” field is provided for Assigned User and Reviewer to write appropriate comments regarding the Review Item. </a:t>
            </a:r>
          </a:p>
          <a:p>
            <a:endParaRPr lang="en-US" dirty="0"/>
          </a:p>
        </p:txBody>
      </p:sp>
    </p:spTree>
    <p:extLst>
      <p:ext uri="{BB962C8B-B14F-4D97-AF65-F5344CB8AC3E}">
        <p14:creationId xmlns:p14="http://schemas.microsoft.com/office/powerpoint/2010/main" val="34949850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1685A-8515-466A-B411-3766D43083C7}"/>
              </a:ext>
            </a:extLst>
          </p:cNvPr>
          <p:cNvSpPr>
            <a:spLocks noGrp="1"/>
          </p:cNvSpPr>
          <p:nvPr>
            <p:ph type="title"/>
          </p:nvPr>
        </p:nvSpPr>
        <p:spPr/>
        <p:txBody>
          <a:bodyPr/>
          <a:lstStyle/>
          <a:p>
            <a:r>
              <a:rPr lang="en-IN" dirty="0"/>
              <a:t>Thank you</a:t>
            </a:r>
          </a:p>
        </p:txBody>
      </p:sp>
      <p:sp>
        <p:nvSpPr>
          <p:cNvPr id="3" name="Text Placeholder 2">
            <a:extLst>
              <a:ext uri="{FF2B5EF4-FFF2-40B4-BE49-F238E27FC236}">
                <a16:creationId xmlns:a16="http://schemas.microsoft.com/office/drawing/2014/main" id="{4E358C9A-1F65-4701-9665-08CCB015B579}"/>
              </a:ext>
            </a:extLst>
          </p:cNvPr>
          <p:cNvSpPr>
            <a:spLocks noGrp="1"/>
          </p:cNvSpPr>
          <p:nvPr>
            <p:ph type="body" sz="quarter" idx="10"/>
          </p:nvPr>
        </p:nvSpPr>
        <p:spPr/>
        <p:txBody>
          <a:bodyPr/>
          <a:lstStyle/>
          <a:p>
            <a:endParaRPr lang="en-IN" dirty="0"/>
          </a:p>
        </p:txBody>
      </p:sp>
      <p:sp>
        <p:nvSpPr>
          <p:cNvPr id="4" name="Text Placeholder 3">
            <a:extLst>
              <a:ext uri="{FF2B5EF4-FFF2-40B4-BE49-F238E27FC236}">
                <a16:creationId xmlns:a16="http://schemas.microsoft.com/office/drawing/2014/main" id="{591DA722-9BB7-405E-9443-38C408CEEFF1}"/>
              </a:ext>
            </a:extLst>
          </p:cNvPr>
          <p:cNvSpPr>
            <a:spLocks noGrp="1"/>
          </p:cNvSpPr>
          <p:nvPr>
            <p:ph type="body" sz="quarter" idx="11"/>
          </p:nvPr>
        </p:nvSpPr>
        <p:spPr/>
        <p:txBody>
          <a:bodyPr/>
          <a:lstStyle/>
          <a:p>
            <a:endParaRPr lang="en-IN" dirty="0"/>
          </a:p>
        </p:txBody>
      </p:sp>
      <p:pic>
        <p:nvPicPr>
          <p:cNvPr id="8" name="Picture 7" descr="A picture containing laying, indoor&#10;&#10;Description automatically generated">
            <a:extLst>
              <a:ext uri="{FF2B5EF4-FFF2-40B4-BE49-F238E27FC236}">
                <a16:creationId xmlns:a16="http://schemas.microsoft.com/office/drawing/2014/main" id="{8058615D-1AA3-4F92-83C7-14B1854F7D0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992" y="3352009"/>
            <a:ext cx="12222000" cy="3524713"/>
          </a:xfrm>
          <a:prstGeom prst="rect">
            <a:avLst/>
          </a:prstGeom>
        </p:spPr>
      </p:pic>
      <p:sp>
        <p:nvSpPr>
          <p:cNvPr id="11" name="Rectangle 10">
            <a:extLst>
              <a:ext uri="{FF2B5EF4-FFF2-40B4-BE49-F238E27FC236}">
                <a16:creationId xmlns:a16="http://schemas.microsoft.com/office/drawing/2014/main" id="{7AAA3AF9-1DDE-46E9-8E72-5C0F9A2713CC}"/>
              </a:ext>
            </a:extLst>
          </p:cNvPr>
          <p:cNvSpPr/>
          <p:nvPr/>
        </p:nvSpPr>
        <p:spPr>
          <a:xfrm>
            <a:off x="-14991" y="-19049"/>
            <a:ext cx="12218400" cy="3380399"/>
          </a:xfrm>
          <a:prstGeom prst="rect">
            <a:avLst/>
          </a:prstGeom>
          <a:gradFill>
            <a:gsLst>
              <a:gs pos="38000">
                <a:srgbClr val="07163D"/>
              </a:gs>
              <a:gs pos="81000">
                <a:srgbClr val="0D2552"/>
              </a:gs>
              <a:gs pos="100000">
                <a:srgbClr val="2D4A8B"/>
              </a:gs>
              <a:gs pos="15000">
                <a:srgbClr val="15294B"/>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IN" sz="1351" dirty="0">
              <a:solidFill>
                <a:prstClr val="white"/>
              </a:solidFill>
              <a:latin typeface="Calibri"/>
            </a:endParaRPr>
          </a:p>
        </p:txBody>
      </p:sp>
      <p:sp>
        <p:nvSpPr>
          <p:cNvPr id="12" name="Title 1">
            <a:extLst>
              <a:ext uri="{FF2B5EF4-FFF2-40B4-BE49-F238E27FC236}">
                <a16:creationId xmlns:a16="http://schemas.microsoft.com/office/drawing/2014/main" id="{C083BD17-B80E-4631-AD2E-BF47623EF767}"/>
              </a:ext>
            </a:extLst>
          </p:cNvPr>
          <p:cNvSpPr txBox="1">
            <a:spLocks/>
          </p:cNvSpPr>
          <p:nvPr/>
        </p:nvSpPr>
        <p:spPr>
          <a:xfrm>
            <a:off x="1968477" y="1323941"/>
            <a:ext cx="3528087" cy="1325563"/>
          </a:xfrm>
          <a:prstGeom prst="rect">
            <a:avLst/>
          </a:prstGeom>
        </p:spPr>
        <p:txBody>
          <a:bodyPr vert="horz" lIns="91440" tIns="45720" rIns="91440" bIns="45720" rtlCol="0" anchor="ctr">
            <a:noAutofit/>
          </a:bodyPr>
          <a:lstStyle>
            <a:lvl1pPr algn="ctr" defTabSz="914354" rtl="0" eaLnBrk="1" latinLnBrk="0" hangingPunct="1">
              <a:lnSpc>
                <a:spcPct val="90000"/>
              </a:lnSpc>
              <a:spcBef>
                <a:spcPct val="0"/>
              </a:spcBef>
              <a:buNone/>
              <a:defRPr sz="4267" b="0" kern="1200">
                <a:solidFill>
                  <a:schemeClr val="tx1">
                    <a:lumMod val="75000"/>
                    <a:lumOff val="25000"/>
                  </a:schemeClr>
                </a:solidFill>
                <a:latin typeface="+mn-lt"/>
                <a:ea typeface="+mj-ea"/>
                <a:cs typeface="+mj-cs"/>
              </a:defRPr>
            </a:lvl1pPr>
          </a:lstStyle>
          <a:p>
            <a:pPr defTabSz="1219078">
              <a:defRPr/>
            </a:pPr>
            <a:r>
              <a:rPr lang="en-US" sz="4800" b="1" dirty="0">
                <a:solidFill>
                  <a:srgbClr val="FFFFFF"/>
                </a:solidFill>
                <a:latin typeface="Calibri"/>
              </a:rPr>
              <a:t>Thank you</a:t>
            </a:r>
            <a:endParaRPr lang="en-IN" sz="4800" b="1" dirty="0">
              <a:solidFill>
                <a:srgbClr val="FFFFFF"/>
              </a:solidFill>
              <a:latin typeface="Calibri"/>
            </a:endParaRPr>
          </a:p>
        </p:txBody>
      </p:sp>
      <p:grpSp>
        <p:nvGrpSpPr>
          <p:cNvPr id="13" name="Group 12">
            <a:extLst>
              <a:ext uri="{FF2B5EF4-FFF2-40B4-BE49-F238E27FC236}">
                <a16:creationId xmlns:a16="http://schemas.microsoft.com/office/drawing/2014/main" id="{1F5D1185-69F8-4C8E-9576-AC94C2F4B687}"/>
              </a:ext>
            </a:extLst>
          </p:cNvPr>
          <p:cNvGrpSpPr/>
          <p:nvPr/>
        </p:nvGrpSpPr>
        <p:grpSpPr>
          <a:xfrm>
            <a:off x="1259561" y="1037089"/>
            <a:ext cx="1065707" cy="1126383"/>
            <a:chOff x="-3330575" y="3005138"/>
            <a:chExt cx="1533526" cy="1620837"/>
          </a:xfrm>
          <a:solidFill>
            <a:srgbClr val="FFCB05"/>
          </a:solidFill>
        </p:grpSpPr>
        <p:sp>
          <p:nvSpPr>
            <p:cNvPr id="14" name="Freeform 6">
              <a:extLst>
                <a:ext uri="{FF2B5EF4-FFF2-40B4-BE49-F238E27FC236}">
                  <a16:creationId xmlns:a16="http://schemas.microsoft.com/office/drawing/2014/main" id="{6EBD3ABD-D628-4160-BDA4-DB9B5C054453}"/>
                </a:ext>
              </a:extLst>
            </p:cNvPr>
            <p:cNvSpPr>
              <a:spLocks/>
            </p:cNvSpPr>
            <p:nvPr/>
          </p:nvSpPr>
          <p:spPr bwMode="auto">
            <a:xfrm>
              <a:off x="-3330575" y="3005138"/>
              <a:ext cx="1233488" cy="1620837"/>
            </a:xfrm>
            <a:custGeom>
              <a:avLst/>
              <a:gdLst>
                <a:gd name="T0" fmla="*/ 621 w 777"/>
                <a:gd name="T1" fmla="*/ 0 h 1021"/>
                <a:gd name="T2" fmla="*/ 0 w 777"/>
                <a:gd name="T3" fmla="*/ 1021 h 1021"/>
                <a:gd name="T4" fmla="*/ 621 w 777"/>
                <a:gd name="T5" fmla="*/ 1021 h 1021"/>
                <a:gd name="T6" fmla="*/ 777 w 777"/>
                <a:gd name="T7" fmla="*/ 785 h 1021"/>
                <a:gd name="T8" fmla="*/ 231 w 777"/>
                <a:gd name="T9" fmla="*/ 785 h 1021"/>
                <a:gd name="T10" fmla="*/ 699 w 777"/>
                <a:gd name="T11" fmla="*/ 0 h 1021"/>
                <a:gd name="T12" fmla="*/ 621 w 777"/>
                <a:gd name="T13" fmla="*/ 0 h 1021"/>
              </a:gdLst>
              <a:ahLst/>
              <a:cxnLst>
                <a:cxn ang="0">
                  <a:pos x="T0" y="T1"/>
                </a:cxn>
                <a:cxn ang="0">
                  <a:pos x="T2" y="T3"/>
                </a:cxn>
                <a:cxn ang="0">
                  <a:pos x="T4" y="T5"/>
                </a:cxn>
                <a:cxn ang="0">
                  <a:pos x="T6" y="T7"/>
                </a:cxn>
                <a:cxn ang="0">
                  <a:pos x="T8" y="T9"/>
                </a:cxn>
                <a:cxn ang="0">
                  <a:pos x="T10" y="T11"/>
                </a:cxn>
                <a:cxn ang="0">
                  <a:pos x="T12" y="T13"/>
                </a:cxn>
              </a:cxnLst>
              <a:rect l="0" t="0" r="r" b="b"/>
              <a:pathLst>
                <a:path w="777" h="1021">
                  <a:moveTo>
                    <a:pt x="621" y="0"/>
                  </a:moveTo>
                  <a:lnTo>
                    <a:pt x="0" y="1021"/>
                  </a:lnTo>
                  <a:lnTo>
                    <a:pt x="621" y="1021"/>
                  </a:lnTo>
                  <a:lnTo>
                    <a:pt x="777" y="785"/>
                  </a:lnTo>
                  <a:lnTo>
                    <a:pt x="231" y="785"/>
                  </a:lnTo>
                  <a:lnTo>
                    <a:pt x="699" y="0"/>
                  </a:ln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sp>
          <p:nvSpPr>
            <p:cNvPr id="15" name="Freeform 7">
              <a:extLst>
                <a:ext uri="{FF2B5EF4-FFF2-40B4-BE49-F238E27FC236}">
                  <a16:creationId xmlns:a16="http://schemas.microsoft.com/office/drawing/2014/main" id="{AF97441F-769C-4DF4-BF6C-7951C6409C83}"/>
                </a:ext>
              </a:extLst>
            </p:cNvPr>
            <p:cNvSpPr>
              <a:spLocks/>
            </p:cNvSpPr>
            <p:nvPr/>
          </p:nvSpPr>
          <p:spPr bwMode="auto">
            <a:xfrm>
              <a:off x="-2611437" y="3005138"/>
              <a:ext cx="814388" cy="1136650"/>
            </a:xfrm>
            <a:custGeom>
              <a:avLst/>
              <a:gdLst>
                <a:gd name="T0" fmla="*/ 435 w 513"/>
                <a:gd name="T1" fmla="*/ 0 h 716"/>
                <a:gd name="T2" fmla="*/ 513 w 513"/>
                <a:gd name="T3" fmla="*/ 0 h 716"/>
                <a:gd name="T4" fmla="*/ 78 w 513"/>
                <a:gd name="T5" fmla="*/ 716 h 716"/>
                <a:gd name="T6" fmla="*/ 0 w 513"/>
                <a:gd name="T7" fmla="*/ 716 h 716"/>
                <a:gd name="T8" fmla="*/ 435 w 513"/>
                <a:gd name="T9" fmla="*/ 0 h 716"/>
              </a:gdLst>
              <a:ahLst/>
              <a:cxnLst>
                <a:cxn ang="0">
                  <a:pos x="T0" y="T1"/>
                </a:cxn>
                <a:cxn ang="0">
                  <a:pos x="T2" y="T3"/>
                </a:cxn>
                <a:cxn ang="0">
                  <a:pos x="T4" y="T5"/>
                </a:cxn>
                <a:cxn ang="0">
                  <a:pos x="T6" y="T7"/>
                </a:cxn>
                <a:cxn ang="0">
                  <a:pos x="T8" y="T9"/>
                </a:cxn>
              </a:cxnLst>
              <a:rect l="0" t="0" r="r" b="b"/>
              <a:pathLst>
                <a:path w="513" h="716">
                  <a:moveTo>
                    <a:pt x="435" y="0"/>
                  </a:moveTo>
                  <a:lnTo>
                    <a:pt x="513" y="0"/>
                  </a:lnTo>
                  <a:lnTo>
                    <a:pt x="78" y="716"/>
                  </a:lnTo>
                  <a:lnTo>
                    <a:pt x="0" y="716"/>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grpSp>
      <p:grpSp>
        <p:nvGrpSpPr>
          <p:cNvPr id="16" name="Group 15">
            <a:extLst>
              <a:ext uri="{FF2B5EF4-FFF2-40B4-BE49-F238E27FC236}">
                <a16:creationId xmlns:a16="http://schemas.microsoft.com/office/drawing/2014/main" id="{760A6320-A01D-4A6D-A334-E7B7DC190E1A}"/>
              </a:ext>
            </a:extLst>
          </p:cNvPr>
          <p:cNvGrpSpPr/>
          <p:nvPr/>
        </p:nvGrpSpPr>
        <p:grpSpPr>
          <a:xfrm>
            <a:off x="5172456" y="1899597"/>
            <a:ext cx="996725" cy="1078995"/>
            <a:chOff x="2301081" y="6662108"/>
            <a:chExt cx="1500188" cy="1624012"/>
          </a:xfrm>
          <a:solidFill>
            <a:srgbClr val="FFCB05"/>
          </a:solidFill>
        </p:grpSpPr>
        <p:sp>
          <p:nvSpPr>
            <p:cNvPr id="17" name="Freeform 8">
              <a:extLst>
                <a:ext uri="{FF2B5EF4-FFF2-40B4-BE49-F238E27FC236}">
                  <a16:creationId xmlns:a16="http://schemas.microsoft.com/office/drawing/2014/main" id="{B302BA02-C848-47DB-A8B1-A9C994D4F5FA}"/>
                </a:ext>
              </a:extLst>
            </p:cNvPr>
            <p:cNvSpPr>
              <a:spLocks/>
            </p:cNvSpPr>
            <p:nvPr/>
          </p:nvSpPr>
          <p:spPr bwMode="auto">
            <a:xfrm>
              <a:off x="2551906" y="6662108"/>
              <a:ext cx="1249363" cy="393700"/>
            </a:xfrm>
            <a:custGeom>
              <a:avLst/>
              <a:gdLst>
                <a:gd name="T0" fmla="*/ 402 w 787"/>
                <a:gd name="T1" fmla="*/ 248 h 248"/>
                <a:gd name="T2" fmla="*/ 633 w 787"/>
                <a:gd name="T3" fmla="*/ 248 h 248"/>
                <a:gd name="T4" fmla="*/ 787 w 787"/>
                <a:gd name="T5" fmla="*/ 0 h 248"/>
                <a:gd name="T6" fmla="*/ 151 w 787"/>
                <a:gd name="T7" fmla="*/ 0 h 248"/>
                <a:gd name="T8" fmla="*/ 0 w 787"/>
                <a:gd name="T9" fmla="*/ 246 h 248"/>
                <a:gd name="T10" fmla="*/ 402 w 787"/>
                <a:gd name="T11" fmla="*/ 248 h 248"/>
              </a:gdLst>
              <a:ahLst/>
              <a:cxnLst>
                <a:cxn ang="0">
                  <a:pos x="T0" y="T1"/>
                </a:cxn>
                <a:cxn ang="0">
                  <a:pos x="T2" y="T3"/>
                </a:cxn>
                <a:cxn ang="0">
                  <a:pos x="T4" y="T5"/>
                </a:cxn>
                <a:cxn ang="0">
                  <a:pos x="T6" y="T7"/>
                </a:cxn>
                <a:cxn ang="0">
                  <a:pos x="T8" y="T9"/>
                </a:cxn>
                <a:cxn ang="0">
                  <a:pos x="T10" y="T11"/>
                </a:cxn>
              </a:cxnLst>
              <a:rect l="0" t="0" r="r" b="b"/>
              <a:pathLst>
                <a:path w="787" h="248">
                  <a:moveTo>
                    <a:pt x="402" y="248"/>
                  </a:moveTo>
                  <a:lnTo>
                    <a:pt x="633" y="248"/>
                  </a:lnTo>
                  <a:lnTo>
                    <a:pt x="787" y="0"/>
                  </a:lnTo>
                  <a:lnTo>
                    <a:pt x="151" y="0"/>
                  </a:lnTo>
                  <a:lnTo>
                    <a:pt x="0" y="246"/>
                  </a:lnTo>
                  <a:lnTo>
                    <a:pt x="402"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sp>
          <p:nvSpPr>
            <p:cNvPr id="18" name="Freeform 9">
              <a:extLst>
                <a:ext uri="{FF2B5EF4-FFF2-40B4-BE49-F238E27FC236}">
                  <a16:creationId xmlns:a16="http://schemas.microsoft.com/office/drawing/2014/main" id="{FCC6B40C-6B14-4DC8-BFCD-85C66CA65E96}"/>
                </a:ext>
              </a:extLst>
            </p:cNvPr>
            <p:cNvSpPr>
              <a:spLocks/>
            </p:cNvSpPr>
            <p:nvPr/>
          </p:nvSpPr>
          <p:spPr bwMode="auto">
            <a:xfrm>
              <a:off x="2683669" y="7162170"/>
              <a:ext cx="809625" cy="1123950"/>
            </a:xfrm>
            <a:custGeom>
              <a:avLst/>
              <a:gdLst>
                <a:gd name="T0" fmla="*/ 435 w 510"/>
                <a:gd name="T1" fmla="*/ 0 h 708"/>
                <a:gd name="T2" fmla="*/ 510 w 510"/>
                <a:gd name="T3" fmla="*/ 0 h 708"/>
                <a:gd name="T4" fmla="*/ 78 w 510"/>
                <a:gd name="T5" fmla="*/ 708 h 708"/>
                <a:gd name="T6" fmla="*/ 0 w 510"/>
                <a:gd name="T7" fmla="*/ 708 h 708"/>
                <a:gd name="T8" fmla="*/ 435 w 510"/>
                <a:gd name="T9" fmla="*/ 0 h 708"/>
              </a:gdLst>
              <a:ahLst/>
              <a:cxnLst>
                <a:cxn ang="0">
                  <a:pos x="T0" y="T1"/>
                </a:cxn>
                <a:cxn ang="0">
                  <a:pos x="T2" y="T3"/>
                </a:cxn>
                <a:cxn ang="0">
                  <a:pos x="T4" y="T5"/>
                </a:cxn>
                <a:cxn ang="0">
                  <a:pos x="T6" y="T7"/>
                </a:cxn>
                <a:cxn ang="0">
                  <a:pos x="T8" y="T9"/>
                </a:cxn>
              </a:cxnLst>
              <a:rect l="0" t="0" r="r" b="b"/>
              <a:pathLst>
                <a:path w="510" h="708">
                  <a:moveTo>
                    <a:pt x="435" y="0"/>
                  </a:moveTo>
                  <a:lnTo>
                    <a:pt x="510" y="0"/>
                  </a:lnTo>
                  <a:lnTo>
                    <a:pt x="78" y="708"/>
                  </a:lnTo>
                  <a:lnTo>
                    <a:pt x="0" y="708"/>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sp>
          <p:nvSpPr>
            <p:cNvPr id="19" name="Freeform 10">
              <a:extLst>
                <a:ext uri="{FF2B5EF4-FFF2-40B4-BE49-F238E27FC236}">
                  <a16:creationId xmlns:a16="http://schemas.microsoft.com/office/drawing/2014/main" id="{05321B3B-2840-4BAE-9B09-6A7525E3CF99}"/>
                </a:ext>
              </a:extLst>
            </p:cNvPr>
            <p:cNvSpPr>
              <a:spLocks/>
            </p:cNvSpPr>
            <p:nvPr/>
          </p:nvSpPr>
          <p:spPr bwMode="auto">
            <a:xfrm>
              <a:off x="2301081" y="7162170"/>
              <a:ext cx="803275" cy="1123950"/>
            </a:xfrm>
            <a:custGeom>
              <a:avLst/>
              <a:gdLst>
                <a:gd name="T0" fmla="*/ 430 w 506"/>
                <a:gd name="T1" fmla="*/ 0 h 708"/>
                <a:gd name="T2" fmla="*/ 506 w 506"/>
                <a:gd name="T3" fmla="*/ 0 h 708"/>
                <a:gd name="T4" fmla="*/ 76 w 506"/>
                <a:gd name="T5" fmla="*/ 708 h 708"/>
                <a:gd name="T6" fmla="*/ 0 w 506"/>
                <a:gd name="T7" fmla="*/ 708 h 708"/>
                <a:gd name="T8" fmla="*/ 430 w 506"/>
                <a:gd name="T9" fmla="*/ 0 h 708"/>
              </a:gdLst>
              <a:ahLst/>
              <a:cxnLst>
                <a:cxn ang="0">
                  <a:pos x="T0" y="T1"/>
                </a:cxn>
                <a:cxn ang="0">
                  <a:pos x="T2" y="T3"/>
                </a:cxn>
                <a:cxn ang="0">
                  <a:pos x="T4" y="T5"/>
                </a:cxn>
                <a:cxn ang="0">
                  <a:pos x="T6" y="T7"/>
                </a:cxn>
                <a:cxn ang="0">
                  <a:pos x="T8" y="T9"/>
                </a:cxn>
              </a:cxnLst>
              <a:rect l="0" t="0" r="r" b="b"/>
              <a:pathLst>
                <a:path w="506" h="708">
                  <a:moveTo>
                    <a:pt x="430" y="0"/>
                  </a:moveTo>
                  <a:lnTo>
                    <a:pt x="506" y="0"/>
                  </a:lnTo>
                  <a:lnTo>
                    <a:pt x="76" y="708"/>
                  </a:lnTo>
                  <a:lnTo>
                    <a:pt x="0" y="708"/>
                  </a:lnTo>
                  <a:lnTo>
                    <a:pt x="4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grpSp>
    </p:spTree>
    <p:extLst>
      <p:ext uri="{BB962C8B-B14F-4D97-AF65-F5344CB8AC3E}">
        <p14:creationId xmlns:p14="http://schemas.microsoft.com/office/powerpoint/2010/main" val="2873861950"/>
      </p:ext>
    </p:extLst>
  </p:cSld>
  <p:clrMapOvr>
    <a:masterClrMapping/>
  </p:clrMapOvr>
</p:sld>
</file>

<file path=ppt/theme/theme1.xml><?xml version="1.0" encoding="utf-8"?>
<a:theme xmlns:a="http://schemas.openxmlformats.org/drawingml/2006/main" name="1_L&amp;T Theme 2">
  <a:themeElements>
    <a:clrScheme name="L&amp;T Colors">
      <a:dk1>
        <a:srgbClr val="000000"/>
      </a:dk1>
      <a:lt1>
        <a:srgbClr val="FFFFFF"/>
      </a:lt1>
      <a:dk2>
        <a:srgbClr val="00B0F0"/>
      </a:dk2>
      <a:lt2>
        <a:srgbClr val="004581"/>
      </a:lt2>
      <a:accent1>
        <a:srgbClr val="0556CD"/>
      </a:accent1>
      <a:accent2>
        <a:srgbClr val="058EFF"/>
      </a:accent2>
      <a:accent3>
        <a:srgbClr val="FFCC29"/>
      </a:accent3>
      <a:accent4>
        <a:srgbClr val="F7411D"/>
      </a:accent4>
      <a:accent5>
        <a:srgbClr val="1A9664"/>
      </a:accent5>
      <a:accent6>
        <a:srgbClr val="DA8200"/>
      </a:accent6>
      <a:hlink>
        <a:srgbClr val="7BD3F7"/>
      </a:hlink>
      <a:folHlink>
        <a:srgbClr val="0769F9"/>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1439</TotalTime>
  <Words>4456</Words>
  <Application>Microsoft Office PowerPoint</Application>
  <PresentationFormat>Widescreen</PresentationFormat>
  <Paragraphs>617</Paragraphs>
  <Slides>58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Arial</vt:lpstr>
      <vt:lpstr>Calibri</vt:lpstr>
      <vt:lpstr>Calibri Light</vt:lpstr>
      <vt:lpstr>Open Sans</vt:lpstr>
      <vt:lpstr>Wingdings</vt:lpstr>
      <vt:lpstr>1_L&amp;T Theme 2</vt:lpstr>
      <vt:lpstr>PowerPoint Presentation</vt:lpstr>
      <vt:lpstr>Definitions/Acronyms: </vt:lpstr>
      <vt:lpstr>What Are Items? </vt:lpstr>
      <vt:lpstr>Item Details view</vt:lpstr>
      <vt:lpstr>What Is a Document?</vt:lpstr>
      <vt:lpstr>Document View</vt:lpstr>
      <vt:lpstr>Document Structure</vt:lpstr>
      <vt:lpstr>PowerPoint Presentation</vt:lpstr>
      <vt:lpstr>Finding Documents or Items</vt:lpstr>
      <vt:lpstr>Finding Documents or Items</vt:lpstr>
      <vt:lpstr>Finding Documents or Items</vt:lpstr>
      <vt:lpstr>Baseline </vt:lpstr>
      <vt:lpstr>Baselining a Document</vt:lpstr>
      <vt:lpstr>Baselining a Document</vt:lpstr>
      <vt:lpstr>As Of options for Baselining a Document </vt:lpstr>
      <vt:lpstr>Baseline multiple documents</vt:lpstr>
      <vt:lpstr>Baseline multiple documents</vt:lpstr>
      <vt:lpstr>Removing Baselines From Documents</vt:lpstr>
      <vt:lpstr>To remove a baseline from a document</vt:lpstr>
      <vt:lpstr>To remove a baseline from all document </vt:lpstr>
      <vt:lpstr>Comparing Documents</vt:lpstr>
      <vt:lpstr>Key Considerations for Field Selections</vt:lpstr>
      <vt:lpstr>Selecting Documents to Compare</vt:lpstr>
      <vt:lpstr>Selecting Documents to Compare</vt:lpstr>
      <vt:lpstr>Types of Document Differences</vt:lpstr>
      <vt:lpstr>View Differences – Comparison Indicators </vt:lpstr>
      <vt:lpstr>Types of Document Differences</vt:lpstr>
      <vt:lpstr>View Differences – Comparison Indicators </vt:lpstr>
      <vt:lpstr>Types of Document Differences</vt:lpstr>
      <vt:lpstr>View Differences – Comparison Indicators </vt:lpstr>
      <vt:lpstr>Types of Document Differences</vt:lpstr>
      <vt:lpstr>View Differences – Comparison Indicators </vt:lpstr>
      <vt:lpstr>Navigating Document Difference</vt:lpstr>
      <vt:lpstr>Navigating the Document Pane</vt:lpstr>
      <vt:lpstr>PowerPoint Presentation</vt:lpstr>
      <vt:lpstr>Creating and Managing Documents – Method 1</vt:lpstr>
      <vt:lpstr>Creating and Managing Documents – Method 1</vt:lpstr>
      <vt:lpstr>Creating and Managing Documents – Method 1</vt:lpstr>
      <vt:lpstr>Creating and Managing Documents – Method 1</vt:lpstr>
      <vt:lpstr>Creating and Managing Documents – Method 1</vt:lpstr>
      <vt:lpstr>Creating and Managing Documents – Method 1</vt:lpstr>
      <vt:lpstr>Creating and Managing Documents – Method 1</vt:lpstr>
      <vt:lpstr>PowerPoint Presentation</vt:lpstr>
      <vt:lpstr>Creating and Managing Documents –Method 2</vt:lpstr>
      <vt:lpstr>Creating and Managing Documents –Method 2</vt:lpstr>
      <vt:lpstr>Creating and Managing Documents –Method 2</vt:lpstr>
      <vt:lpstr>Creating and Managing Documents –Method 2</vt:lpstr>
      <vt:lpstr>Creating and Managing Documents –Method 2</vt:lpstr>
      <vt:lpstr>Creating and Managing Documents –Method 2</vt:lpstr>
      <vt:lpstr>Creating and Managing Documents –Method 2</vt:lpstr>
      <vt:lpstr>Creating and Managing Documents –Method 2</vt:lpstr>
      <vt:lpstr>Checklist Document – Details Tab </vt:lpstr>
      <vt:lpstr>Checklist Document – Relationships    Tab </vt:lpstr>
      <vt:lpstr>Checklist Document – Attachments  Tab </vt:lpstr>
      <vt:lpstr>Checklist Document – Advanced  Tab </vt:lpstr>
      <vt:lpstr>Checklist Workflow [content]</vt:lpstr>
      <vt:lpstr>Details Tab of Checklist Content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Ganakumar G</dc:creator>
  <cp:lastModifiedBy>Ganakumar G</cp:lastModifiedBy>
  <cp:revision>281</cp:revision>
  <dcterms:created xsi:type="dcterms:W3CDTF">2020-07-21T02:35:22Z</dcterms:created>
  <dcterms:modified xsi:type="dcterms:W3CDTF">2020-07-30T11:16:04Z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b5591f2-6b23-403d-aa5f-b6d577f5e572_Enabled">
    <vt:lpwstr>true</vt:lpwstr>
  </property>
  <property fmtid="{D5CDD505-2E9C-101B-9397-08002B2CF9AE}" pid="3" name="MSIP_Label_4b5591f2-6b23-403d-aa5f-b6d577f5e572_SetDate">
    <vt:lpwstr>2020-07-29T05:15:02Z</vt:lpwstr>
  </property>
  <property fmtid="{D5CDD505-2E9C-101B-9397-08002B2CF9AE}" pid="4" name="MSIP_Label_4b5591f2-6b23-403d-aa5f-b6d577f5e572_Method">
    <vt:lpwstr>Standard</vt:lpwstr>
  </property>
  <property fmtid="{D5CDD505-2E9C-101B-9397-08002B2CF9AE}" pid="5" name="MSIP_Label_4b5591f2-6b23-403d-aa5f-b6d577f5e572_Name">
    <vt:lpwstr>4b5591f2-6b23-403d-aa5f-b6d577f5e572</vt:lpwstr>
  </property>
  <property fmtid="{D5CDD505-2E9C-101B-9397-08002B2CF9AE}" pid="6" name="MSIP_Label_4b5591f2-6b23-403d-aa5f-b6d577f5e572_SiteId">
    <vt:lpwstr>311b3378-8e8a-4b5e-a33f-e80a3d8ba60a</vt:lpwstr>
  </property>
  <property fmtid="{D5CDD505-2E9C-101B-9397-08002B2CF9AE}" pid="7" name="MSIP_Label_4b5591f2-6b23-403d-aa5f-b6d577f5e572_ActionId">
    <vt:lpwstr>61ef78e9-8e23-44ff-b17b-000055f79dc3</vt:lpwstr>
  </property>
  <property fmtid="{D5CDD505-2E9C-101B-9397-08002B2CF9AE}" pid="8" name="MSIP_Label_4b5591f2-6b23-403d-aa5f-b6d577f5e572_ContentBits">
    <vt:lpwstr>0</vt:lpwstr>
  </property>
</Properties>
</file>