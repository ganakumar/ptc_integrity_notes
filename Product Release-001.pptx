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8" r:id="rId1"/>
  </p:sldMasterIdLst>
  <p:notesMasterIdLst>
    <p:notesMasterId r:id="rId32"/>
  </p:notesMasterIdLst>
  <p:handoutMasterIdLst>
    <p:handoutMasterId r:id="rId33"/>
  </p:handoutMasterIdLst>
  <p:sldIdLst>
    <p:sldId id="655" r:id="rId2"/>
    <p:sldId id="256395" r:id="rId3"/>
    <p:sldId id="256398" r:id="rId4"/>
    <p:sldId id="256524" r:id="rId5"/>
    <p:sldId id="256432" r:id="rId6"/>
    <p:sldId id="256544" r:id="rId7"/>
    <p:sldId id="256545" r:id="rId8"/>
    <p:sldId id="256546" r:id="rId9"/>
    <p:sldId id="256547" r:id="rId10"/>
    <p:sldId id="256438" r:id="rId11"/>
    <p:sldId id="256437" r:id="rId12"/>
    <p:sldId id="256436" r:id="rId13"/>
    <p:sldId id="256435" r:id="rId14"/>
    <p:sldId id="256433" r:id="rId15"/>
    <p:sldId id="256534" r:id="rId16"/>
    <p:sldId id="256447" r:id="rId17"/>
    <p:sldId id="256548" r:id="rId18"/>
    <p:sldId id="256550" r:id="rId19"/>
    <p:sldId id="256551" r:id="rId20"/>
    <p:sldId id="256552" r:id="rId21"/>
    <p:sldId id="256553" r:id="rId22"/>
    <p:sldId id="256554" r:id="rId23"/>
    <p:sldId id="256556" r:id="rId24"/>
    <p:sldId id="256557" r:id="rId25"/>
    <p:sldId id="256558" r:id="rId26"/>
    <p:sldId id="256559" r:id="rId27"/>
    <p:sldId id="256560" r:id="rId28"/>
    <p:sldId id="256561" r:id="rId29"/>
    <p:sldId id="256562" r:id="rId30"/>
    <p:sldId id="211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463E9-5E63-4073-870A-9514A832B032}">
          <p14:sldIdLst>
            <p14:sldId id="655"/>
            <p14:sldId id="256395"/>
            <p14:sldId id="256398"/>
            <p14:sldId id="256524"/>
            <p14:sldId id="256432"/>
            <p14:sldId id="256544"/>
            <p14:sldId id="256545"/>
            <p14:sldId id="256546"/>
            <p14:sldId id="256547"/>
            <p14:sldId id="256438"/>
            <p14:sldId id="256437"/>
            <p14:sldId id="256436"/>
            <p14:sldId id="256435"/>
            <p14:sldId id="256433"/>
            <p14:sldId id="256534"/>
            <p14:sldId id="256447"/>
            <p14:sldId id="256548"/>
            <p14:sldId id="256550"/>
            <p14:sldId id="256551"/>
            <p14:sldId id="256552"/>
            <p14:sldId id="256553"/>
            <p14:sldId id="256554"/>
            <p14:sldId id="256556"/>
            <p14:sldId id="256557"/>
            <p14:sldId id="256558"/>
            <p14:sldId id="256559"/>
            <p14:sldId id="256560"/>
            <p14:sldId id="256561"/>
            <p14:sldId id="256562"/>
            <p14:sldId id="21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rgess, Racheal" initials="BR" lastIdx="7" clrIdx="0">
    <p:extLst>
      <p:ext uri="{19B8F6BF-5375-455C-9EA6-DF929625EA0E}">
        <p15:presenceInfo xmlns:p15="http://schemas.microsoft.com/office/powerpoint/2012/main" userId="S::racheal.burgess@carrier.com::a40fa4f9-4a51-4e13-8913-963b9cf6da52" providerId="AD"/>
      </p:ext>
    </p:extLst>
  </p:cmAuthor>
  <p:cmAuthor id="2" name="Pillutla Kamala" initials="PK" lastIdx="2" clrIdx="1">
    <p:extLst>
      <p:ext uri="{19B8F6BF-5375-455C-9EA6-DF929625EA0E}">
        <p15:presenceInfo xmlns:p15="http://schemas.microsoft.com/office/powerpoint/2012/main" userId="S::Pillutla.Kamala@Ltts.com::0a24237b-08fd-45f8-b1b9-6fd2937f44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2FF"/>
    <a:srgbClr val="8DEBC5"/>
    <a:srgbClr val="0077BD"/>
    <a:srgbClr val="404040"/>
    <a:srgbClr val="FFCC29"/>
    <a:srgbClr val="C9E5FE"/>
    <a:srgbClr val="A2D2FB"/>
    <a:srgbClr val="0556CD"/>
    <a:srgbClr val="9BBB59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5" autoAdjust="0"/>
    <p:restoredTop sz="93506" autoAdjust="0"/>
  </p:normalViewPr>
  <p:slideViewPr>
    <p:cSldViewPr snapToGrid="0">
      <p:cViewPr varScale="1">
        <p:scale>
          <a:sx n="68" d="100"/>
          <a:sy n="68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5" d="100"/>
        <a:sy n="115" d="100"/>
      </p:scale>
      <p:origin x="0" y="0"/>
    </p:cViewPr>
  </p:notesTextViewPr>
  <p:sorterViewPr>
    <p:cViewPr>
      <p:scale>
        <a:sx n="100" d="100"/>
        <a:sy n="100" d="100"/>
      </p:scale>
      <p:origin x="0" y="-1086"/>
    </p:cViewPr>
  </p:sorterViewPr>
  <p:notesViewPr>
    <p:cSldViewPr snapToGrid="0">
      <p:cViewPr varScale="1">
        <p:scale>
          <a:sx n="52" d="100"/>
          <a:sy n="52" d="100"/>
        </p:scale>
        <p:origin x="28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0A521-0E72-45B9-950F-A2764DD61E0E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7C5E9-34F9-417E-B562-B134DAF934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48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499C-BD3B-421D-BB06-A028370BE70B}" type="datetimeFigureOut">
              <a:rPr lang="en-US" smtClean="0"/>
              <a:t>2020-07-30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77D60-B07B-46CA-B624-432B4D316F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9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</p:spTree>
    <p:extLst>
      <p:ext uri="{BB962C8B-B14F-4D97-AF65-F5344CB8AC3E}">
        <p14:creationId xmlns:p14="http://schemas.microsoft.com/office/powerpoint/2010/main" val="22621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20914" y="29028"/>
            <a:ext cx="11379200" cy="110373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  <a:br>
              <a:rPr lang="en-US" dirty="0"/>
            </a:br>
            <a:r>
              <a:rPr lang="en-US" dirty="0"/>
              <a:t>Line 2</a:t>
            </a:r>
          </a:p>
        </p:txBody>
      </p:sp>
      <p:sp>
        <p:nvSpPr>
          <p:cNvPr id="3" name="Rectangle: Rounded Corners 2"/>
          <p:cNvSpPr/>
          <p:nvPr userDrawn="1"/>
        </p:nvSpPr>
        <p:spPr>
          <a:xfrm>
            <a:off x="578564" y="92832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973680" y="6581003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15024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795868"/>
            <a:ext cx="12183353" cy="5833533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Tabular Data Slide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85767" y="178988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385767" y="3432784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385767" y="5075679"/>
            <a:ext cx="2689021" cy="1305667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133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411708" y="864682"/>
            <a:ext cx="11368587" cy="458236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3762175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7981816" y="1426680"/>
            <a:ext cx="3656787" cy="285389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814234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8016582" y="184186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3814234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8016582" y="3476105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3814234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016582" y="5119000"/>
            <a:ext cx="3543300" cy="122766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333"/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37513" y="2741039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37513" y="44098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37513" y="6035472"/>
            <a:ext cx="2153055" cy="328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333" b="1">
                <a:solidFill>
                  <a:schemeClr val="bg1"/>
                </a:solidFill>
              </a:defRPr>
            </a:lvl1pPr>
            <a:lvl2pPr marL="457177" indent="0">
              <a:buFont typeface="Arial" panose="020B0604020202020204" pitchFamily="34" charset="0"/>
              <a:buNone/>
              <a:defRPr sz="1333"/>
            </a:lvl2pPr>
            <a:lvl3pPr marL="914353" indent="0">
              <a:buFont typeface="Arial" panose="020B0604020202020204" pitchFamily="34" charset="0"/>
              <a:buNone/>
              <a:defRPr sz="1333"/>
            </a:lvl3pPr>
            <a:lvl4pPr marL="1371531" indent="0">
              <a:buFont typeface="Arial" panose="020B0604020202020204" pitchFamily="34" charset="0"/>
              <a:buNone/>
              <a:defRPr sz="1333"/>
            </a:lvl4pPr>
            <a:lvl5pPr marL="1828709" indent="0">
              <a:buFont typeface="Arial" panose="020B0604020202020204" pitchFamily="34" charset="0"/>
              <a:buNone/>
              <a:defRPr sz="1333"/>
            </a:lvl5pPr>
          </a:lstStyle>
          <a:p>
            <a:pPr lvl="0"/>
            <a:r>
              <a:rPr lang="en-US" dirty="0"/>
              <a:t>Add Text Here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0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D:\Abhinav\L&amp;T - PPT Design Guidelines\_Slides_Work\grid-01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556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Rectangle 21"/>
          <p:cNvSpPr/>
          <p:nvPr userDrawn="1"/>
        </p:nvSpPr>
        <p:spPr>
          <a:xfrm>
            <a:off x="0" y="0"/>
            <a:ext cx="12192000" cy="65567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474" y="1323939"/>
            <a:ext cx="35280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267"/>
            </a:lvl1pPr>
          </a:lstStyle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auto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 dirty="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auto">
          <a:xfrm>
            <a:off x="150620" y="3719371"/>
            <a:ext cx="2592000" cy="389157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auto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auto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 dirty="0"/>
            </a:p>
          </p:txBody>
        </p:sp>
      </p:grp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dirty="0"/>
            </a:lvl1pPr>
          </a:lstStyle>
          <a:p>
            <a:endParaRPr lang="en-IN" dirty="0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2060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2060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10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ith_Grid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83685"/>
            <a:ext cx="12192000" cy="274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6676" y="6581380"/>
            <a:ext cx="3228639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marL="0" marR="0" lvl="0" indent="0" algn="ct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Confidential | L&amp;T Technology Services | ©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0" marR="0" lvl="0" indent="0" algn="r" defTabSz="9143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AD548E-8EA6-684F-9B89-4E9F5DC57B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7FD5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97FD5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50621" y="-40521"/>
            <a:ext cx="11379200" cy="673820"/>
          </a:xfrm>
        </p:spPr>
        <p:txBody>
          <a:bodyPr anchor="b">
            <a:normAutofit/>
          </a:bodyPr>
          <a:lstStyle>
            <a:lvl1pPr>
              <a:defRPr sz="25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29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3974168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914354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437495" y="6581379"/>
            <a:ext cx="614596" cy="27699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r" defTabSz="914354"/>
            <a:fld id="{D1AD548E-8EA6-684F-9B89-4E9F5DC57BB8}" type="slidenum"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914354"/>
              <a:t>‹#›</a:t>
            </a:fld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" name="Rectangle: Rounded Corners 15"/>
          <p:cNvSpPr/>
          <p:nvPr userDrawn="1"/>
        </p:nvSpPr>
        <p:spPr>
          <a:xfrm>
            <a:off x="578564" y="628076"/>
            <a:ext cx="1393371" cy="48768"/>
          </a:xfrm>
          <a:prstGeom prst="roundRect">
            <a:avLst/>
          </a:prstGeom>
          <a:solidFill>
            <a:srgbClr val="FFCC2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4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42" r:id="rId2"/>
    <p:sldLayoutId id="2147484420" r:id="rId3"/>
    <p:sldLayoutId id="2147484421" r:id="rId4"/>
    <p:sldLayoutId id="2147484444" r:id="rId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228589" marR="0" indent="-228589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766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42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20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98" marR="0" indent="-228589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Tx/>
        <a:buBlip>
          <a:blip r:embed="rId7"/>
        </a:buBlip>
        <a:tabLst>
          <a:tab pos="241294" algn="l"/>
        </a:tabLst>
        <a:defRPr lang="en-US"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2" name="Graphic 6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62269"/>
            <a:ext cx="4470400" cy="82446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 bwMode="gray">
          <a:xfrm>
            <a:off x="1518776" y="1874895"/>
            <a:ext cx="801059" cy="782333"/>
            <a:chOff x="-3330575" y="3005138"/>
            <a:chExt cx="1533526" cy="1620837"/>
          </a:xfrm>
          <a:solidFill>
            <a:srgbClr val="FFCC29"/>
          </a:solidFill>
        </p:grpSpPr>
        <p:sp>
          <p:nvSpPr>
            <p:cNvPr id="65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7" name="Group 66"/>
          <p:cNvGrpSpPr/>
          <p:nvPr/>
        </p:nvGrpSpPr>
        <p:grpSpPr bwMode="gray">
          <a:xfrm>
            <a:off x="9677117" y="4056795"/>
            <a:ext cx="804544" cy="783647"/>
            <a:chOff x="2301081" y="6662108"/>
            <a:chExt cx="1500188" cy="1624012"/>
          </a:xfrm>
          <a:solidFill>
            <a:srgbClr val="FFCC29"/>
          </a:solidFill>
        </p:grpSpPr>
        <p:sp>
          <p:nvSpPr>
            <p:cNvPr id="68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796" tIns="60897" rIns="121796" bIns="60897" numCol="1" anchor="t" anchorCtr="0" compatLnSpc="1">
              <a:prstTxWarp prst="textNoShape">
                <a:avLst/>
              </a:prstTxWarp>
            </a:bodyPr>
            <a:lstStyle/>
            <a:p>
              <a:pPr defTabSz="1217736">
                <a:defRPr/>
              </a:pPr>
              <a:endParaRPr lang="en-IN" sz="2396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022766" y="2076048"/>
            <a:ext cx="8085144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71412">
              <a:lnSpc>
                <a:spcPct val="150000"/>
              </a:lnSpc>
              <a:defRPr/>
            </a:pP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Product Release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BFF4E5-9FC6-4651-A248-3D5393335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17" y="262872"/>
            <a:ext cx="2370236" cy="71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C606-09D6-4F02-8742-ACDF0DE7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Definitions/Acronyms: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FFF5A-7F09-4087-A944-773C27F2F3AF}"/>
              </a:ext>
            </a:extLst>
          </p:cNvPr>
          <p:cNvSpPr txBox="1">
            <a:spLocks/>
          </p:cNvSpPr>
          <p:nvPr/>
        </p:nvSpPr>
        <p:spPr bwMode="gray">
          <a:xfrm>
            <a:off x="420914" y="1132763"/>
            <a:ext cx="11227747" cy="5082507"/>
          </a:xfrm>
          <a:prstGeom prst="rect">
            <a:avLst/>
          </a:prstGeom>
        </p:spPr>
        <p:txBody>
          <a:bodyPr vert="horz" lIns="91439" tIns="45719" rIns="91439" bIns="45719" rtlCol="0">
            <a:noAutofit/>
          </a:bodyPr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14337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20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12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>
                <a:tab pos="180975" algn="l"/>
              </a:tabLst>
              <a:defRPr lang="en-US" sz="11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891" marR="0" lvl="1" indent="0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7517E-2545-4255-9A18-D90E081DBD1C}"/>
              </a:ext>
            </a:extLst>
          </p:cNvPr>
          <p:cNvSpPr/>
          <p:nvPr/>
        </p:nvSpPr>
        <p:spPr>
          <a:xfrm>
            <a:off x="420914" y="4846122"/>
            <a:ext cx="184731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D65E984-49B9-440F-87B8-73A71C19F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963745"/>
              </p:ext>
            </p:extLst>
          </p:nvPr>
        </p:nvGraphicFramePr>
        <p:xfrm>
          <a:off x="513278" y="1577009"/>
          <a:ext cx="9213818" cy="366422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51626">
                  <a:extLst>
                    <a:ext uri="{9D8B030D-6E8A-4147-A177-3AD203B41FA5}">
                      <a16:colId xmlns:a16="http://schemas.microsoft.com/office/drawing/2014/main" val="1924955592"/>
                    </a:ext>
                  </a:extLst>
                </a:gridCol>
                <a:gridCol w="7262192">
                  <a:extLst>
                    <a:ext uri="{9D8B030D-6E8A-4147-A177-3AD203B41FA5}">
                      <a16:colId xmlns:a16="http://schemas.microsoft.com/office/drawing/2014/main" val="2858474719"/>
                    </a:ext>
                  </a:extLst>
                </a:gridCol>
              </a:tblGrid>
              <a:tr h="56984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Term/Acronym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78623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r>
                        <a:rPr lang="en-US" sz="1800" dirty="0"/>
                        <a:t>A-SPICE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Automotive Software Process Improvement and Capability Determination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953701"/>
                  </a:ext>
                </a:extLst>
              </a:tr>
              <a:tr h="453887">
                <a:tc>
                  <a:txBody>
                    <a:bodyPr/>
                    <a:lstStyle/>
                    <a:p>
                      <a:r>
                        <a:rPr lang="en-US" sz="1800" dirty="0"/>
                        <a:t>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System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118354"/>
                  </a:ext>
                </a:extLst>
              </a:tr>
              <a:tr h="470452">
                <a:tc>
                  <a:txBody>
                    <a:bodyPr/>
                    <a:lstStyle/>
                    <a:p>
                      <a:r>
                        <a:rPr lang="en-US" sz="1800" dirty="0"/>
                        <a:t>SWE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Software Engineering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31327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Workflow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Definition, execution and automation of business processes where tasks, information or documents are passed from one participant to another for action, according to a set of procedural rules.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372868"/>
                  </a:ext>
                </a:extLst>
              </a:tr>
              <a:tr h="738809">
                <a:tc>
                  <a:txBody>
                    <a:bodyPr/>
                    <a:lstStyle/>
                    <a:p>
                      <a:r>
                        <a:rPr lang="en-US" sz="1800" dirty="0"/>
                        <a:t>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between two meaningful contents in a document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92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59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41" y="61938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What Are Items?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AC35A9-528E-4930-9369-7923F4B5DC2B}"/>
              </a:ext>
            </a:extLst>
          </p:cNvPr>
          <p:cNvSpPr txBox="1"/>
          <p:nvPr/>
        </p:nvSpPr>
        <p:spPr>
          <a:xfrm>
            <a:off x="6202017" y="983087"/>
            <a:ext cx="5711325" cy="641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14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Items are the basic building blocks of the Integrity data model, and represent the information assets and process objects associated with software development.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For example, items can represent Work items, projects, requirements, test cases, change requests, and defects.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is configurable and contains metadata and history about that item.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Every item type has its own enforceable workflow which describes how it moves from state to state, complete with definable rules, full audit trails, and security.</a:t>
            </a:r>
          </a:p>
          <a:p>
            <a:pPr marL="4572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80975" algn="l"/>
              </a:tabLst>
              <a:defRPr/>
            </a:pPr>
            <a:r>
              <a:rPr lang="en-US" dirty="0"/>
              <a:t>Escalations, conditional assignments, notifications, and external processes can all be defined and initiated as part of Integrity’s process automation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4F70D-255D-4762-85AF-B1231AF7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27" y="1558645"/>
            <a:ext cx="459105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855305" y="2666308"/>
            <a:ext cx="8971838" cy="99129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dirty="0"/>
              <a:t>Creating a Product Release 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02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Select Create Item menu to create a new Product Release Item in Integrity.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</a:t>
            </a:r>
            <a:r>
              <a:rPr lang="en-US" b="1" dirty="0"/>
              <a:t>Creating Product Release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488" y="2480369"/>
            <a:ext cx="3974021" cy="279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Item details view will open up. Enter or select correct values for the fields present. Enter values in all fields. Mandatory fields are marked Red.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</a:t>
            </a:r>
            <a:r>
              <a:rPr lang="en-US" b="1" dirty="0"/>
              <a:t>.</a:t>
            </a:r>
            <a:r>
              <a:rPr lang="en-US" dirty="0"/>
              <a:t>Creating Product Release</a:t>
            </a:r>
          </a:p>
          <a:p>
            <a:r>
              <a:rPr lang="en-US" dirty="0"/>
              <a:t>2.</a:t>
            </a:r>
            <a:r>
              <a:rPr lang="en-US" b="1" dirty="0"/>
              <a:t>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954" y="1880749"/>
            <a:ext cx="7355278" cy="435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other fields visible in the Item Details view must be filled.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on “Apply” will keep the user on the same screen while clicking on “OK” will show the user a non-editable form-like 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“Apply” will save the document. Alternately “Ctrl + S” can also be used.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“OK” to finish </a:t>
            </a:r>
            <a:r>
              <a:rPr lang="en-US"/>
              <a:t>creating.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</a:t>
            </a:r>
            <a:r>
              <a:rPr lang="en-US" b="1" dirty="0"/>
              <a:t>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5.Product Release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9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Once user clicks on “Apply”, the Item Details view will appear as follows: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</a:t>
            </a:r>
            <a:r>
              <a:rPr lang="en-US" b="1" dirty="0"/>
              <a:t>Item Details View</a:t>
            </a:r>
          </a:p>
          <a:p>
            <a:r>
              <a:rPr lang="en-US" dirty="0"/>
              <a:t>5.Product Release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217" y="1814732"/>
            <a:ext cx="5715000" cy="433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1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Creating Product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4765" y="734019"/>
            <a:ext cx="69970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workflow will be as follows: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3896" y="1268990"/>
            <a:ext cx="3601329" cy="4329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r>
              <a:rPr lang="en-US" dirty="0"/>
              <a:t>1.Creating Product Release</a:t>
            </a:r>
          </a:p>
          <a:p>
            <a:r>
              <a:rPr lang="en-US" dirty="0"/>
              <a:t>2.Editing data in Item view</a:t>
            </a:r>
          </a:p>
          <a:p>
            <a:r>
              <a:rPr lang="en-US" dirty="0"/>
              <a:t>3.Applying changes in created item</a:t>
            </a:r>
          </a:p>
          <a:p>
            <a:r>
              <a:rPr lang="en-US" dirty="0"/>
              <a:t>4.Item Details View</a:t>
            </a:r>
          </a:p>
          <a:p>
            <a:r>
              <a:rPr lang="en-US" dirty="0"/>
              <a:t>5.</a:t>
            </a:r>
            <a:r>
              <a:rPr lang="en-US" b="1" dirty="0"/>
              <a:t>Product Release Workflow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337" y="1051999"/>
            <a:ext cx="34385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1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–Details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Details tab contains the following sections: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Section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Release Details Section</a:t>
            </a:r>
          </a:p>
          <a:p>
            <a:endParaRPr lang="en-US" dirty="0"/>
          </a:p>
          <a:p>
            <a:r>
              <a:rPr lang="en-US" dirty="0"/>
              <a:t>General Section consists of the following fields: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Summary</a:t>
            </a:r>
            <a:r>
              <a:rPr lang="en-US" dirty="0"/>
              <a:t>: Short Title for the Product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Description</a:t>
            </a:r>
            <a:r>
              <a:rPr lang="en-US" dirty="0"/>
              <a:t>: Brief introduction of the Product Release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</a:t>
            </a:r>
            <a:r>
              <a:rPr lang="en-US" dirty="0"/>
              <a:t>: Project for which the Product Release will take 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</a:t>
            </a:r>
            <a:r>
              <a:rPr lang="en-US" dirty="0"/>
              <a:t>: State of the item based on workflow. (Default state selected will be “Scheduled”)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Owner/Author</a:t>
            </a:r>
            <a:r>
              <a:rPr lang="en-US" dirty="0"/>
              <a:t>: Select Owner of the item.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Wave/Release</a:t>
            </a:r>
            <a:r>
              <a:rPr lang="en-US" dirty="0"/>
              <a:t>: Specify Wave/Release of the Product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6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–Details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098" y="734019"/>
            <a:ext cx="112257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Release Details Section consists of the following fields: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Objective</a:t>
            </a:r>
            <a:r>
              <a:rPr lang="en-US" dirty="0"/>
              <a:t>: Specify the objective to be achieved with the release.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Release Platform</a:t>
            </a:r>
            <a:r>
              <a:rPr lang="en-US" dirty="0"/>
              <a:t>: Brief introduction of the Product Release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Validation Criteria</a:t>
            </a:r>
            <a:r>
              <a:rPr lang="en-US" dirty="0"/>
              <a:t>: Mention criteria for Validating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Release Type</a:t>
            </a:r>
            <a:r>
              <a:rPr lang="en-US" dirty="0"/>
              <a:t>: Select based on Planned, Unplanned or Change 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 of Share</a:t>
            </a:r>
            <a:r>
              <a:rPr lang="en-US" dirty="0"/>
              <a:t>: Communication means to be selected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Planned Release Date</a:t>
            </a:r>
            <a:r>
              <a:rPr lang="en-US" dirty="0"/>
              <a:t>: Date decided for Product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Actual Release Date</a:t>
            </a:r>
            <a:r>
              <a:rPr lang="en-US" dirty="0"/>
              <a:t>: Date will be auto-populated when item goes to “Released”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Application Milestone</a:t>
            </a:r>
            <a:r>
              <a:rPr lang="en-US" dirty="0"/>
              <a:t>: Select the appropriate milestone.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Software Version</a:t>
            </a:r>
            <a:r>
              <a:rPr lang="en-US" dirty="0"/>
              <a:t>: if the product release is software related, then mention Software Version. </a:t>
            </a:r>
            <a:r>
              <a:rPr lang="en-US" dirty="0" err="1"/>
              <a:t>Eg</a:t>
            </a:r>
            <a:r>
              <a:rPr lang="en-US" dirty="0"/>
              <a:t>. 2.0.1.1.2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 Quantity</a:t>
            </a:r>
            <a:r>
              <a:rPr lang="en-US" dirty="0"/>
              <a:t>: Mention the number of samples to be released.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Packaging Requirements</a:t>
            </a:r>
            <a:r>
              <a:rPr lang="en-US" dirty="0"/>
              <a:t>: Mention pre-requisites for packaging the product to be released.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Comments</a:t>
            </a:r>
            <a:r>
              <a:rPr lang="en-US" dirty="0"/>
              <a:t>: Mention comments if any.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2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–Metrics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Metrics tab contains item metrics namely: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Days in Current State: Mentions number of days the item is in current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Around Time: Mentions time to complete Workflow.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948" y="2765344"/>
            <a:ext cx="48863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2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–Relationships Tab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32" y="734019"/>
            <a:ext cx="1104977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Relationships tab include the following fields: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Product Release For</a:t>
            </a:r>
            <a:r>
              <a:rPr lang="en-US" dirty="0"/>
              <a:t>: User can attach Related item to this field for which the Product Release is carried out.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the user can create related item by clicking on           symbol.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Related item is Product Release Plan.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Build Form</a:t>
            </a:r>
            <a:r>
              <a:rPr lang="en-US" dirty="0"/>
              <a:t>: User can attach attachments which are build 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Release Package</a:t>
            </a:r>
            <a:r>
              <a:rPr lang="en-US" dirty="0"/>
              <a:t>: User can attach attachments which are release package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Checklist</a:t>
            </a:r>
            <a:r>
              <a:rPr lang="en-US" dirty="0"/>
              <a:t>: User can attach checklist associated with the product release. 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632" y="2184302"/>
            <a:ext cx="2857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5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Product Release –Attachments</a:t>
            </a:r>
            <a:r>
              <a:rPr lang="en-US" b="0" dirty="0"/>
              <a:t> </a:t>
            </a:r>
            <a:r>
              <a:rPr lang="en-US" dirty="0"/>
              <a:t> Tab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625" y="734019"/>
            <a:ext cx="113241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2033" y="659011"/>
            <a:ext cx="853196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endParaRPr lang="en-US" sz="120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Attachment tab avails users to add project/document related files to the Product Release :</a:t>
            </a:r>
          </a:p>
          <a:p>
            <a:r>
              <a:rPr lang="en-US" dirty="0"/>
              <a:t>	₋Internal Attachments –Company related attachments </a:t>
            </a:r>
          </a:p>
          <a:p>
            <a:r>
              <a:rPr lang="en-US" dirty="0"/>
              <a:t>	₋Customer Attachments –Related documents given by customers</a:t>
            </a:r>
          </a:p>
          <a:p>
            <a:r>
              <a:rPr lang="en-US" dirty="0"/>
              <a:t>Note: Attachments can be of any file format. It should not exceed the size of 5MB. </a:t>
            </a:r>
            <a:endParaRPr lang="en-US" dirty="0">
              <a:solidFill>
                <a:srgbClr val="000000"/>
              </a:solidFill>
              <a:latin typeface="Wingdings" panose="05000000000000000000" pitchFamily="2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671" y="2782669"/>
            <a:ext cx="5981700" cy="33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9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AE2331-9E5D-4002-95F6-18F5524470BF}"/>
              </a:ext>
            </a:extLst>
          </p:cNvPr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13251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2">
              <a:defRPr/>
            </a:pPr>
            <a:endParaRPr lang="en-US" sz="135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8C5F6E7-2567-4C4E-8288-40A604867A15}"/>
              </a:ext>
            </a:extLst>
          </p:cNvPr>
          <p:cNvSpPr txBox="1">
            <a:spLocks/>
          </p:cNvSpPr>
          <p:nvPr/>
        </p:nvSpPr>
        <p:spPr>
          <a:xfrm>
            <a:off x="1948732" y="2160104"/>
            <a:ext cx="8785530" cy="993914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vert="horz" lIns="48000" tIns="96000" rIns="48000" bIns="48000" rtlCol="0" anchor="ctr">
            <a:noAutofit/>
          </a:bodyPr>
          <a:lstStyle>
            <a:defPPr>
              <a:defRPr lang="en-US"/>
            </a:defPPr>
            <a:lvl1pPr marR="0" lvl="0" indent="0" defTabSz="1625358" fontAlgn="auto">
              <a:lnSpc>
                <a:spcPct val="90000"/>
              </a:lnSpc>
              <a:spcBef>
                <a:spcPts val="1777"/>
              </a:spcBef>
              <a:spcAft>
                <a:spcPts val="0"/>
              </a:spcAft>
              <a:buClrTx/>
              <a:buSzTx/>
              <a:buFontTx/>
              <a:buNone/>
              <a:tabLst>
                <a:tab pos="428927" algn="l"/>
              </a:tabLst>
              <a:defRPr kumimoji="0" sz="1867" b="1" i="0" u="none" strike="noStrike" cap="none" spc="0" normalizeH="0" baseline="0">
                <a:ln>
                  <a:noFill/>
                </a:ln>
                <a:solidFill>
                  <a:srgbClr val="FFCC29"/>
                </a:solidFill>
                <a:effectLst/>
                <a:uLnTx/>
                <a:uFillTx/>
                <a:latin typeface="Calibri"/>
              </a:defRPr>
            </a:lvl1pPr>
            <a:lvl2pPr marL="68575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2914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080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247" marR="0" indent="-228584" defTabSz="914332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89" algn="l"/>
              </a:tabLst>
              <a:defRPr sz="186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412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6pPr>
            <a:lvl7pPr marL="2971578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7pPr>
            <a:lvl8pPr marL="3428744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8pPr>
            <a:lvl9pPr marL="3885910" indent="-228584" defTabSz="914332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/>
            </a:lvl9pPr>
          </a:lstStyle>
          <a:p>
            <a:r>
              <a:rPr lang="en-US" sz="2400" b="0" dirty="0"/>
              <a:t>Understanding Review and Approval mechanism </a:t>
            </a:r>
            <a:r>
              <a:rPr lang="en-US" sz="2400" dirty="0"/>
              <a:t> 		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999EE348-DCFE-48B2-824C-148A5F3249BB}"/>
              </a:ext>
            </a:extLst>
          </p:cNvPr>
          <p:cNvSpPr txBox="1">
            <a:spLocks/>
          </p:cNvSpPr>
          <p:nvPr/>
        </p:nvSpPr>
        <p:spPr>
          <a:xfrm>
            <a:off x="231775" y="174172"/>
            <a:ext cx="4760913" cy="784225"/>
          </a:xfrm>
          <a:prstGeom prst="rect">
            <a:avLst/>
          </a:prstGeom>
        </p:spPr>
        <p:txBody>
          <a:bodyPr/>
          <a:lstStyle>
            <a:lvl1pPr marL="228589" marR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66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42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20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298" marR="0" indent="-228589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>
                <a:tab pos="241294" algn="l"/>
              </a:tabLst>
              <a:defRPr lang="en-US" sz="186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22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08763" y="734019"/>
            <a:ext cx="48530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Product Releases have been created, they shall be reviewed and approved.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and Approval depends on the workflow any document goes through.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Product Releases</a:t>
            </a:r>
          </a:p>
          <a:p>
            <a:endParaRPr lang="en-US" b="1" dirty="0"/>
          </a:p>
          <a:p>
            <a:r>
              <a:rPr lang="en-US" dirty="0"/>
              <a:t>Primary Actor: </a:t>
            </a:r>
          </a:p>
          <a:p>
            <a:r>
              <a:rPr lang="en-US" dirty="0"/>
              <a:t>Lead/Manager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Workflow of Product Releases</a:t>
            </a:r>
          </a:p>
          <a:p>
            <a:r>
              <a:rPr lang="en-US" dirty="0"/>
              <a:t>              in Integrity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145" y="1540828"/>
            <a:ext cx="2443046" cy="377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7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282" y="734019"/>
            <a:ext cx="739852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Product Release is created, the item will be in Scheduled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order to forward it to next state i.e. “In Progress”, user need to open the document and click on the dropdown of field state and select “In Progress”.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Owner/Author field becomes mandatory.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owner of the document from the dropdown.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0" y="2193926"/>
            <a:ext cx="20383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7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282" y="734019"/>
            <a:ext cx="73985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successfully creating and modifying the Product Release, it will go in “In Progress”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by any chance the Product Release becomes unsuccessful or gets cancelled, the user can change the state of the Product Release Item to “Cancelled”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state is changed to cancelled, it cannot be reverted 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everything is going according to the plan, keep maturing the item.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69" y="2308640"/>
            <a:ext cx="2571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92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282" y="734019"/>
            <a:ext cx="73985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successfully creating and modifying the Product Release, it will go in“ In Progress”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order to forward it to next state i.e. “ Under Review”, user need to open the document and click on the dropdown of field “Submit for Review”. By default the value will show as“ Pending”. Select“ Yes”.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69" y="2308640"/>
            <a:ext cx="2571750" cy="3000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361" y="3042343"/>
            <a:ext cx="43434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soon as “ Yes” is selected, “Reviewers Required” field will be visible where the user needs to select the designated reviewer i.e. Lead Engineer.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Apply. The state of the document will be automatically transited to</a:t>
            </a:r>
          </a:p>
          <a:p>
            <a:r>
              <a:rPr lang="en-US" dirty="0"/>
              <a:t>     “ Under Review”. The control of the document will be given to the Reviewer.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69" y="2308640"/>
            <a:ext cx="2571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3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Lead Engineer will receive the document for review. This document will be available for reviewing in your “My Review/Approval Tasks” query.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Reviewer will check the document for errors and changes required. If the document is correct, he/she must select “ Yes” in “Review Complete?” field else select “ No” of wrong.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Note: The</a:t>
            </a:r>
            <a:r>
              <a:rPr lang="en-US" i="1" dirty="0"/>
              <a:t> Review Matrix will contain the reviewer’s name and will record and update his review in the table automatically.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55" y="2165180"/>
            <a:ext cx="2419350" cy="3117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798" y="2061733"/>
            <a:ext cx="50577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15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specifying your review, Integrity will authenticate you by asking for your </a:t>
            </a:r>
            <a:r>
              <a:rPr lang="en-US" i="1" dirty="0"/>
              <a:t>Digital Signature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you need to enter your Integrity login credentials and enter comments and then click “OK”.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55" y="2165180"/>
            <a:ext cx="2419350" cy="3117387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835" y="2669377"/>
            <a:ext cx="2733333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91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fail to enter the correct username or password while signing, it will prompt the user an “Authentication Error”.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Similarly it will also provide an error if the signature comments are mandatory and not entered.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55" y="2165180"/>
            <a:ext cx="2419350" cy="3117387"/>
          </a:xfrm>
          <a:prstGeom prst="rect">
            <a:avLst/>
          </a:prstGeom>
        </p:spPr>
      </p:pic>
      <p:pic>
        <p:nvPicPr>
          <p:cNvPr id="8" name="Picture 7">
            <a:extLst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90" y="2902752"/>
            <a:ext cx="28003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45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successful completion of review, the document transition happens on the basis of review performed.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 document is under “ Author Review” state, only the Document Author will be able to edit some fields in the document by locking the document.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63" y="2173723"/>
            <a:ext cx="2447925" cy="3324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56" y="3604919"/>
            <a:ext cx="564832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31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making the required changes, document must be submitted for Approval to the designated approver i.e. Manager.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“ Yes” in “Submit for Approval” field.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Approver from “Approvers Required” field.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Note: </a:t>
            </a:r>
            <a:r>
              <a:rPr lang="en-US" i="1" dirty="0"/>
              <a:t>The document will not proceed to next state if document is locked. The document must be unlocked by the user who locked it in order to transit the document further.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63" y="2173723"/>
            <a:ext cx="24479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92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Manager will receive the document for approval. This document will be available for approval in your “My Review/Approval Tasks” query.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Reviewer will check the document for errors and changes required. If the document is correct, he/she must select “ Yes” in “Do you Approve?” field else select “ No” of wrong.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Note: </a:t>
            </a:r>
            <a:r>
              <a:rPr lang="en-US" i="1" dirty="0"/>
              <a:t>The Approval Matrix will contain the approver’s name and will record and update his approval in the table automatically.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2447778" y="4572000"/>
            <a:ext cx="984739" cy="52050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2447778" y="4572000"/>
            <a:ext cx="984739" cy="520505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07" y="2194666"/>
            <a:ext cx="2443046" cy="3303282"/>
          </a:xfrm>
          <a:prstGeom prst="rect">
            <a:avLst/>
          </a:prstGeom>
        </p:spPr>
      </p:pic>
      <p:sp>
        <p:nvSpPr>
          <p:cNvPr id="10" name="Arrow: Right 9"/>
          <p:cNvSpPr/>
          <p:nvPr/>
        </p:nvSpPr>
        <p:spPr>
          <a:xfrm>
            <a:off x="1519311" y="4832252"/>
            <a:ext cx="928467" cy="14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676" y="3076575"/>
            <a:ext cx="49720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03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specifying your Approval, Integrity will authenticate reviewer (user) by asking for your </a:t>
            </a:r>
            <a:r>
              <a:rPr lang="en-US" i="1" dirty="0"/>
              <a:t>Digital Signature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you need to enter your Integrity login credentials and enter comments and then click “OK”.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2447778" y="4572000"/>
            <a:ext cx="984739" cy="52050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2447778" y="4572000"/>
            <a:ext cx="984739" cy="520505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07" y="2194666"/>
            <a:ext cx="2443046" cy="3303282"/>
          </a:xfrm>
          <a:prstGeom prst="rect">
            <a:avLst/>
          </a:prstGeom>
        </p:spPr>
      </p:pic>
      <p:sp>
        <p:nvSpPr>
          <p:cNvPr id="10" name="Arrow: Right 9"/>
          <p:cNvSpPr/>
          <p:nvPr/>
        </p:nvSpPr>
        <p:spPr>
          <a:xfrm>
            <a:off x="1519311" y="4832252"/>
            <a:ext cx="928467" cy="14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screenshot of a cell phone&#10;&#10;Description automatically generated">
            <a:extLst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28" y="3045085"/>
            <a:ext cx="2733333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65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fail to enter the correct username or password while signing, it will prompt the user an “Authentication Error”.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Similarly it will also provide an error if the signature comments are mandatory and not entered.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2447778" y="4572000"/>
            <a:ext cx="984739" cy="52050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2447778" y="4572000"/>
            <a:ext cx="984739" cy="520505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07" y="2194666"/>
            <a:ext cx="2443046" cy="3303282"/>
          </a:xfrm>
          <a:prstGeom prst="rect">
            <a:avLst/>
          </a:prstGeom>
        </p:spPr>
      </p:pic>
      <p:sp>
        <p:nvSpPr>
          <p:cNvPr id="10" name="Arrow: Right 9"/>
          <p:cNvSpPr/>
          <p:nvPr/>
        </p:nvSpPr>
        <p:spPr>
          <a:xfrm>
            <a:off x="1519311" y="4832252"/>
            <a:ext cx="928467" cy="14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90" y="2902752"/>
            <a:ext cx="28003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A291-E94B-4287-B90E-5587951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32" y="28166"/>
            <a:ext cx="11379200" cy="673820"/>
          </a:xfrm>
        </p:spPr>
        <p:txBody>
          <a:bodyPr>
            <a:normAutofit/>
          </a:bodyPr>
          <a:lstStyle/>
          <a:p>
            <a:r>
              <a:rPr lang="en-US" dirty="0"/>
              <a:t>Understanding Review and Approval 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5902" y="734019"/>
            <a:ext cx="75259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applying the changes, the approval matrix updates itself.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successful completion of review, the document transition happens on the basis of review performed.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everyone approves the document automatically moves to “Released”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2033" y="1360052"/>
            <a:ext cx="3204594" cy="413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Mandatory Fields: </a:t>
            </a:r>
          </a:p>
          <a:p>
            <a:pPr algn="ctr"/>
            <a:r>
              <a:rPr lang="en-US" dirty="0"/>
              <a:t>Owner/Author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2447778" y="4572000"/>
            <a:ext cx="984739" cy="52050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2447778" y="4572000"/>
            <a:ext cx="984739" cy="520505"/>
          </a:xfrm>
          <a:prstGeom prst="flowChartAlternate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07" y="2194666"/>
            <a:ext cx="2443046" cy="3303282"/>
          </a:xfrm>
          <a:prstGeom prst="rect">
            <a:avLst/>
          </a:prstGeom>
        </p:spPr>
      </p:pic>
      <p:sp>
        <p:nvSpPr>
          <p:cNvPr id="10" name="Arrow: Right 9"/>
          <p:cNvSpPr/>
          <p:nvPr/>
        </p:nvSpPr>
        <p:spPr>
          <a:xfrm>
            <a:off x="1616060" y="5221371"/>
            <a:ext cx="928467" cy="147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02" y="4159634"/>
            <a:ext cx="6210300" cy="161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20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685A-8515-466A-B411-3766D430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8C9A-1F65-4701-9665-08CCB015B5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DA722-9BB7-405E-9443-38C408CEE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 descr="A picture containing laying, indoor&#10;&#10;Description automatically generated">
            <a:extLst>
              <a:ext uri="{FF2B5EF4-FFF2-40B4-BE49-F238E27FC236}">
                <a16:creationId xmlns:a16="http://schemas.microsoft.com/office/drawing/2014/main" id="{8058615D-1AA3-4F92-83C7-14B1854F7D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992" y="3352009"/>
            <a:ext cx="12222000" cy="35247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A3AF9-1DDE-46E9-8E72-5C0F9A2713CC}"/>
              </a:ext>
            </a:extLst>
          </p:cNvPr>
          <p:cNvSpPr/>
          <p:nvPr/>
        </p:nvSpPr>
        <p:spPr>
          <a:xfrm>
            <a:off x="-14991" y="-19049"/>
            <a:ext cx="12218400" cy="3380399"/>
          </a:xfrm>
          <a:prstGeom prst="rect">
            <a:avLst/>
          </a:prstGeom>
          <a:gradFill>
            <a:gsLst>
              <a:gs pos="38000">
                <a:srgbClr val="07163D"/>
              </a:gs>
              <a:gs pos="81000">
                <a:srgbClr val="0D2552"/>
              </a:gs>
              <a:gs pos="100000">
                <a:srgbClr val="2D4A8B"/>
              </a:gs>
              <a:gs pos="15000">
                <a:srgbClr val="15294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defRPr/>
            </a:pPr>
            <a:endParaRPr lang="en-IN" sz="135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83BD17-B80E-4631-AD2E-BF47623EF767}"/>
              </a:ext>
            </a:extLst>
          </p:cNvPr>
          <p:cNvSpPr txBox="1">
            <a:spLocks/>
          </p:cNvSpPr>
          <p:nvPr/>
        </p:nvSpPr>
        <p:spPr>
          <a:xfrm>
            <a:off x="1968477" y="1323941"/>
            <a:ext cx="3528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1219078">
              <a:defRPr/>
            </a:pPr>
            <a:r>
              <a:rPr lang="en-US" sz="4800" b="1" dirty="0">
                <a:solidFill>
                  <a:srgbClr val="FFFFFF"/>
                </a:solidFill>
                <a:latin typeface="Calibri"/>
              </a:rPr>
              <a:t>Thank you</a:t>
            </a:r>
            <a:endParaRPr lang="en-IN" sz="48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5D1185-69F8-4C8E-9576-AC94C2F4B687}"/>
              </a:ext>
            </a:extLst>
          </p:cNvPr>
          <p:cNvGrpSpPr/>
          <p:nvPr/>
        </p:nvGrpSpPr>
        <p:grpSpPr>
          <a:xfrm>
            <a:off x="1259561" y="1037089"/>
            <a:ext cx="1065707" cy="1126383"/>
            <a:chOff x="-3330575" y="3005138"/>
            <a:chExt cx="1533526" cy="1620837"/>
          </a:xfrm>
          <a:solidFill>
            <a:srgbClr val="FFCB05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EBD3ABD-D628-4160-BDA4-DB9B5C054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F97441F-769C-4DF4-BF6C-7951C640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0A6320-A01D-4A6D-A334-E7B7DC190E1A}"/>
              </a:ext>
            </a:extLst>
          </p:cNvPr>
          <p:cNvGrpSpPr/>
          <p:nvPr/>
        </p:nvGrpSpPr>
        <p:grpSpPr>
          <a:xfrm>
            <a:off x="5172456" y="1899597"/>
            <a:ext cx="996725" cy="1078995"/>
            <a:chOff x="2301081" y="6662108"/>
            <a:chExt cx="1500188" cy="1624012"/>
          </a:xfrm>
          <a:solidFill>
            <a:srgbClr val="FFCB05"/>
          </a:solidFill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302BA02-C848-47DB-A8B1-A9C994D4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FCC6B40C-6B14-4DC8-BFCD-85C66CA65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5321B3B-2840-4BAE-9B09-6A7525E3C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7" tIns="45673" rIns="91347" bIns="45673" numCol="1" anchor="t" anchorCtr="0" compatLnSpc="1">
              <a:prstTxWarp prst="textNoShape">
                <a:avLst/>
              </a:prstTxWarp>
            </a:bodyPr>
            <a:lstStyle/>
            <a:p>
              <a:pPr defTabSz="913348">
                <a:defRPr/>
              </a:pPr>
              <a:endParaRPr lang="en-IN" sz="1797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861950"/>
      </p:ext>
    </p:extLst>
  </p:cSld>
  <p:clrMapOvr>
    <a:masterClrMapping/>
  </p:clrMapOvr>
</p:sld>
</file>

<file path=ppt/theme/theme1.xml><?xml version="1.0" encoding="utf-8"?>
<a:theme xmlns:a="http://schemas.openxmlformats.org/drawingml/2006/main" name="1_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1474</TotalTime>
  <Words>1875</Words>
  <Application>Microsoft Office PowerPoint</Application>
  <PresentationFormat>Widescreen</PresentationFormat>
  <Paragraphs>520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Open Sans</vt:lpstr>
      <vt:lpstr>Wingdings</vt:lpstr>
      <vt:lpstr>1_L&amp;T Theme 2</vt:lpstr>
      <vt:lpstr>PowerPoint Presentation</vt:lpstr>
      <vt:lpstr>Definitions/Acronyms: </vt:lpstr>
      <vt:lpstr>What Are Items? </vt:lpstr>
      <vt:lpstr>PowerPoint Presentation</vt:lpstr>
      <vt:lpstr>Creating Product Release</vt:lpstr>
      <vt:lpstr>Creating Product Release</vt:lpstr>
      <vt:lpstr>Creating Product Release</vt:lpstr>
      <vt:lpstr>Creating Product Release</vt:lpstr>
      <vt:lpstr>Creating Product Release</vt:lpstr>
      <vt:lpstr>Product Release –Details Tab </vt:lpstr>
      <vt:lpstr>Product Release –Details Tab </vt:lpstr>
      <vt:lpstr>Product Release –Metrics Tab </vt:lpstr>
      <vt:lpstr>Product Release –Relationships Tab </vt:lpstr>
      <vt:lpstr>Product Release –Attachments  Tab</vt:lpstr>
      <vt:lpstr>PowerPoint Presentation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Understanding Review and Approval mechanism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Ganakumar G</dc:creator>
  <cp:lastModifiedBy>Ganakumar G</cp:lastModifiedBy>
  <cp:revision>275</cp:revision>
  <dcterms:created xsi:type="dcterms:W3CDTF">2020-07-21T02:35:22Z</dcterms:created>
  <dcterms:modified xsi:type="dcterms:W3CDTF">2020-07-30T07:38:12Z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2020-07-29T05:15:02Z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61ef78e9-8e23-44ff-b17b-000055f79dc3</vt:lpwstr>
  </property>
  <property fmtid="{D5CDD505-2E9C-101B-9397-08002B2CF9AE}" pid="8" name="MSIP_Label_4b5591f2-6b23-403d-aa5f-b6d577f5e572_ContentBits">
    <vt:lpwstr>0</vt:lpwstr>
  </property>
</Properties>
</file>