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18" r:id="rId1"/>
  </p:sldMasterIdLst>
  <p:notesMasterIdLst>
    <p:notesMasterId r:id="rId93"/>
  </p:notesMasterIdLst>
  <p:handoutMasterIdLst>
    <p:handoutMasterId r:id="rId94"/>
  </p:handoutMasterIdLst>
  <p:sldIdLst>
    <p:sldId id="655" r:id="rId2"/>
    <p:sldId id="256395" r:id="rId3"/>
    <p:sldId id="256397" r:id="rId4"/>
    <p:sldId id="256398" r:id="rId5"/>
    <p:sldId id="256388" r:id="rId6"/>
    <p:sldId id="256382" r:id="rId7"/>
    <p:sldId id="256381" r:id="rId8"/>
    <p:sldId id="256351" r:id="rId9"/>
    <p:sldId id="256524" r:id="rId10"/>
    <p:sldId id="256399" r:id="rId11"/>
    <p:sldId id="256400" r:id="rId12"/>
    <p:sldId id="256401" r:id="rId13"/>
    <p:sldId id="256390" r:id="rId14"/>
    <p:sldId id="256383" r:id="rId15"/>
    <p:sldId id="256402" r:id="rId16"/>
    <p:sldId id="256403" r:id="rId17"/>
    <p:sldId id="256405" r:id="rId18"/>
    <p:sldId id="256406" r:id="rId19"/>
    <p:sldId id="256407" r:id="rId20"/>
    <p:sldId id="256408" r:id="rId21"/>
    <p:sldId id="256409" r:id="rId22"/>
    <p:sldId id="256410" r:id="rId23"/>
    <p:sldId id="256411" r:id="rId24"/>
    <p:sldId id="256412" r:id="rId25"/>
    <p:sldId id="256413" r:id="rId26"/>
    <p:sldId id="256404" r:id="rId27"/>
    <p:sldId id="256414" r:id="rId28"/>
    <p:sldId id="256415" r:id="rId29"/>
    <p:sldId id="256416" r:id="rId30"/>
    <p:sldId id="256417" r:id="rId31"/>
    <p:sldId id="256418" r:id="rId32"/>
    <p:sldId id="256419" r:id="rId33"/>
    <p:sldId id="256420" r:id="rId34"/>
    <p:sldId id="256421" r:id="rId35"/>
    <p:sldId id="256422" r:id="rId36"/>
    <p:sldId id="256377" r:id="rId37"/>
    <p:sldId id="256355" r:id="rId38"/>
    <p:sldId id="256423" r:id="rId39"/>
    <p:sldId id="256424" r:id="rId40"/>
    <p:sldId id="256425" r:id="rId41"/>
    <p:sldId id="256426" r:id="rId42"/>
    <p:sldId id="256525" r:id="rId43"/>
    <p:sldId id="256526" r:id="rId44"/>
    <p:sldId id="256427" r:id="rId45"/>
    <p:sldId id="256428" r:id="rId46"/>
    <p:sldId id="256429" r:id="rId47"/>
    <p:sldId id="256430" r:id="rId48"/>
    <p:sldId id="256533" r:id="rId49"/>
    <p:sldId id="256527" r:id="rId50"/>
    <p:sldId id="256432" r:id="rId51"/>
    <p:sldId id="256528" r:id="rId52"/>
    <p:sldId id="256529" r:id="rId53"/>
    <p:sldId id="256530" r:id="rId54"/>
    <p:sldId id="256532" r:id="rId55"/>
    <p:sldId id="256531" r:id="rId56"/>
    <p:sldId id="256438" r:id="rId57"/>
    <p:sldId id="256437" r:id="rId58"/>
    <p:sldId id="256436" r:id="rId59"/>
    <p:sldId id="256435" r:id="rId60"/>
    <p:sldId id="256534" r:id="rId61"/>
    <p:sldId id="256433" r:id="rId62"/>
    <p:sldId id="256434" r:id="rId63"/>
    <p:sldId id="256440" r:id="rId64"/>
    <p:sldId id="256535" r:id="rId65"/>
    <p:sldId id="256441" r:id="rId66"/>
    <p:sldId id="256356" r:id="rId67"/>
    <p:sldId id="256536" r:id="rId68"/>
    <p:sldId id="256443" r:id="rId69"/>
    <p:sldId id="256445" r:id="rId70"/>
    <p:sldId id="256444" r:id="rId71"/>
    <p:sldId id="256446" r:id="rId72"/>
    <p:sldId id="256465" r:id="rId73"/>
    <p:sldId id="256537" r:id="rId74"/>
    <p:sldId id="256447" r:id="rId75"/>
    <p:sldId id="256539" r:id="rId76"/>
    <p:sldId id="256538" r:id="rId77"/>
    <p:sldId id="256448" r:id="rId78"/>
    <p:sldId id="256540" r:id="rId79"/>
    <p:sldId id="256449" r:id="rId80"/>
    <p:sldId id="256451" r:id="rId81"/>
    <p:sldId id="256452" r:id="rId82"/>
    <p:sldId id="256453" r:id="rId83"/>
    <p:sldId id="256471" r:id="rId84"/>
    <p:sldId id="256455" r:id="rId85"/>
    <p:sldId id="256543" r:id="rId86"/>
    <p:sldId id="256541" r:id="rId87"/>
    <p:sldId id="256542" r:id="rId88"/>
    <p:sldId id="256475" r:id="rId89"/>
    <p:sldId id="256522" r:id="rId90"/>
    <p:sldId id="256523" r:id="rId91"/>
    <p:sldId id="2116" r:id="rId9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4B463E9-5E63-4073-870A-9514A832B032}">
          <p14:sldIdLst>
            <p14:sldId id="655"/>
            <p14:sldId id="256395"/>
            <p14:sldId id="256397"/>
            <p14:sldId id="256398"/>
            <p14:sldId id="256388"/>
            <p14:sldId id="256382"/>
            <p14:sldId id="256381"/>
            <p14:sldId id="256351"/>
            <p14:sldId id="256524"/>
            <p14:sldId id="256399"/>
            <p14:sldId id="256400"/>
            <p14:sldId id="256401"/>
            <p14:sldId id="256390"/>
            <p14:sldId id="256383"/>
            <p14:sldId id="256402"/>
            <p14:sldId id="256403"/>
            <p14:sldId id="256405"/>
            <p14:sldId id="256406"/>
            <p14:sldId id="256407"/>
            <p14:sldId id="256408"/>
            <p14:sldId id="256409"/>
            <p14:sldId id="256410"/>
            <p14:sldId id="256411"/>
            <p14:sldId id="256412"/>
            <p14:sldId id="256413"/>
            <p14:sldId id="256404"/>
            <p14:sldId id="256414"/>
            <p14:sldId id="256415"/>
            <p14:sldId id="256416"/>
            <p14:sldId id="256417"/>
            <p14:sldId id="256418"/>
            <p14:sldId id="256419"/>
            <p14:sldId id="256420"/>
            <p14:sldId id="256421"/>
            <p14:sldId id="256422"/>
            <p14:sldId id="256377"/>
            <p14:sldId id="256355"/>
            <p14:sldId id="256423"/>
            <p14:sldId id="256424"/>
            <p14:sldId id="256425"/>
            <p14:sldId id="256426"/>
            <p14:sldId id="256525"/>
            <p14:sldId id="256526"/>
            <p14:sldId id="256427"/>
            <p14:sldId id="256428"/>
            <p14:sldId id="256429"/>
            <p14:sldId id="256430"/>
            <p14:sldId id="256533"/>
            <p14:sldId id="256527"/>
            <p14:sldId id="256432"/>
            <p14:sldId id="256528"/>
            <p14:sldId id="256529"/>
            <p14:sldId id="256530"/>
            <p14:sldId id="256532"/>
            <p14:sldId id="256531"/>
            <p14:sldId id="256438"/>
            <p14:sldId id="256437"/>
            <p14:sldId id="256436"/>
            <p14:sldId id="256435"/>
            <p14:sldId id="256534"/>
            <p14:sldId id="256433"/>
            <p14:sldId id="256434"/>
            <p14:sldId id="256440"/>
            <p14:sldId id="256535"/>
            <p14:sldId id="256441"/>
            <p14:sldId id="256356"/>
            <p14:sldId id="256536"/>
            <p14:sldId id="256443"/>
            <p14:sldId id="256445"/>
            <p14:sldId id="256444"/>
            <p14:sldId id="256446"/>
            <p14:sldId id="256465"/>
            <p14:sldId id="256537"/>
            <p14:sldId id="256447"/>
            <p14:sldId id="256539"/>
            <p14:sldId id="256538"/>
            <p14:sldId id="256448"/>
            <p14:sldId id="256540"/>
            <p14:sldId id="256449"/>
            <p14:sldId id="256451"/>
            <p14:sldId id="256452"/>
            <p14:sldId id="256453"/>
            <p14:sldId id="256471"/>
            <p14:sldId id="256455"/>
            <p14:sldId id="256543"/>
            <p14:sldId id="256541"/>
            <p14:sldId id="256542"/>
            <p14:sldId id="256475"/>
            <p14:sldId id="256522"/>
            <p14:sldId id="256523"/>
            <p14:sldId id="211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urgess, Racheal" initials="BR" lastIdx="7" clrIdx="0">
    <p:extLst>
      <p:ext uri="{19B8F6BF-5375-455C-9EA6-DF929625EA0E}">
        <p15:presenceInfo xmlns:p15="http://schemas.microsoft.com/office/powerpoint/2012/main" userId="S::racheal.burgess@carrier.com::a40fa4f9-4a51-4e13-8913-963b9cf6da52" providerId="AD"/>
      </p:ext>
    </p:extLst>
  </p:cmAuthor>
  <p:cmAuthor id="2" name="Pillutla Kamala" initials="PK" lastIdx="2" clrIdx="1">
    <p:extLst>
      <p:ext uri="{19B8F6BF-5375-455C-9EA6-DF929625EA0E}">
        <p15:presenceInfo xmlns:p15="http://schemas.microsoft.com/office/powerpoint/2012/main" userId="S::Pillutla.Kamala@Ltts.com::0a24237b-08fd-45f8-b1b9-6fd2937f44a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D2FF"/>
    <a:srgbClr val="8DEBC5"/>
    <a:srgbClr val="0077BD"/>
    <a:srgbClr val="404040"/>
    <a:srgbClr val="FFCC29"/>
    <a:srgbClr val="C9E5FE"/>
    <a:srgbClr val="A2D2FB"/>
    <a:srgbClr val="0556CD"/>
    <a:srgbClr val="9BBB59"/>
    <a:srgbClr val="2C3E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25" autoAdjust="0"/>
    <p:restoredTop sz="93506" autoAdjust="0"/>
  </p:normalViewPr>
  <p:slideViewPr>
    <p:cSldViewPr snapToGrid="0">
      <p:cViewPr varScale="1">
        <p:scale>
          <a:sx n="68" d="100"/>
          <a:sy n="68" d="100"/>
        </p:scale>
        <p:origin x="888" y="48"/>
      </p:cViewPr>
      <p:guideLst/>
    </p:cSldViewPr>
  </p:slideViewPr>
  <p:outlineViewPr>
    <p:cViewPr>
      <p:scale>
        <a:sx n="33" d="100"/>
        <a:sy n="33" d="100"/>
      </p:scale>
      <p:origin x="0" y="0"/>
    </p:cViewPr>
  </p:outlineViewPr>
  <p:notesTextViewPr>
    <p:cViewPr>
      <p:scale>
        <a:sx n="115" d="100"/>
        <a:sy n="115" d="100"/>
      </p:scale>
      <p:origin x="0" y="0"/>
    </p:cViewPr>
  </p:notesTextViewPr>
  <p:sorterViewPr>
    <p:cViewPr>
      <p:scale>
        <a:sx n="100" d="100"/>
        <a:sy n="100" d="100"/>
      </p:scale>
      <p:origin x="0" y="-1086"/>
    </p:cViewPr>
  </p:sorterViewPr>
  <p:notesViewPr>
    <p:cSldViewPr snapToGrid="0">
      <p:cViewPr varScale="1">
        <p:scale>
          <a:sx n="52" d="100"/>
          <a:sy n="52" d="100"/>
        </p:scale>
        <p:origin x="2862" y="9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commentAuthors" Target="commen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notesMaster" Target="notesMasters/notesMaster1.xml"/><Relationship Id="rId98"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handoutMaster" Target="handoutMasters/handoutMaster1.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60A521-0E72-45B9-950F-A2764DD61E0E}" type="datetimeFigureOut">
              <a:rPr lang="en-US" smtClean="0"/>
              <a:t>2020-07-29</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5B7C5E9-34F9-417E-B562-B134DAF934B5}" type="slidenum">
              <a:rPr lang="en-US" smtClean="0"/>
              <a:t>‹#›</a:t>
            </a:fld>
            <a:endParaRPr lang="en-US" dirty="0"/>
          </a:p>
        </p:txBody>
      </p:sp>
    </p:spTree>
    <p:extLst>
      <p:ext uri="{BB962C8B-B14F-4D97-AF65-F5344CB8AC3E}">
        <p14:creationId xmlns:p14="http://schemas.microsoft.com/office/powerpoint/2010/main" val="22964488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B5499C-BD3B-421D-BB06-A028370BE70B}" type="datetimeFigureOut">
              <a:rPr lang="en-US" smtClean="0"/>
              <a:t>2020-07-29</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277D60-B07B-46CA-B624-432B4D316F12}" type="slidenum">
              <a:rPr lang="en-US" smtClean="0"/>
              <a:t>‹#›</a:t>
            </a:fld>
            <a:endParaRPr lang="en-US" dirty="0"/>
          </a:p>
        </p:txBody>
      </p:sp>
    </p:spTree>
    <p:extLst>
      <p:ext uri="{BB962C8B-B14F-4D97-AF65-F5344CB8AC3E}">
        <p14:creationId xmlns:p14="http://schemas.microsoft.com/office/powerpoint/2010/main" val="987227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6" name="Title 1"/>
          <p:cNvSpPr>
            <a:spLocks noGrp="1"/>
          </p:cNvSpPr>
          <p:nvPr userDrawn="1">
            <p:ph type="title" hasCustomPrompt="1"/>
          </p:nvPr>
        </p:nvSpPr>
        <p:spPr bwMode="gray">
          <a:xfrm>
            <a:off x="420914" y="29029"/>
            <a:ext cx="11379200" cy="673820"/>
          </a:xfrm>
          <a:prstGeom prst="rect">
            <a:avLst/>
          </a:prstGeom>
        </p:spPr>
        <p:txBody>
          <a:bodyPr anchor="ctr">
            <a:normAutofit/>
          </a:bodyPr>
          <a:lstStyle>
            <a:lvl1pPr>
              <a:defRPr sz="2400">
                <a:latin typeface="Calibri" charset="0"/>
                <a:ea typeface="Calibri" charset="0"/>
                <a:cs typeface="Calibri" charset="0"/>
              </a:defRPr>
            </a:lvl1pPr>
          </a:lstStyle>
          <a:p>
            <a:r>
              <a:rPr lang="en-US" dirty="0"/>
              <a:t>Click to edit Title Text</a:t>
            </a:r>
          </a:p>
        </p:txBody>
      </p:sp>
    </p:spTree>
    <p:extLst>
      <p:ext uri="{BB962C8B-B14F-4D97-AF65-F5344CB8AC3E}">
        <p14:creationId xmlns:p14="http://schemas.microsoft.com/office/powerpoint/2010/main" val="2262113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Content Slide">
    <p:spTree>
      <p:nvGrpSpPr>
        <p:cNvPr id="1" name=""/>
        <p:cNvGrpSpPr/>
        <p:nvPr/>
      </p:nvGrpSpPr>
      <p:grpSpPr>
        <a:xfrm>
          <a:off x="0" y="0"/>
          <a:ext cx="0" cy="0"/>
          <a:chOff x="0" y="0"/>
          <a:chExt cx="0" cy="0"/>
        </a:xfrm>
      </p:grpSpPr>
      <p:sp>
        <p:nvSpPr>
          <p:cNvPr id="6" name="Title 1"/>
          <p:cNvSpPr>
            <a:spLocks noGrp="1"/>
          </p:cNvSpPr>
          <p:nvPr userDrawn="1">
            <p:ph type="title" hasCustomPrompt="1"/>
          </p:nvPr>
        </p:nvSpPr>
        <p:spPr bwMode="gray">
          <a:xfrm>
            <a:off x="420914" y="29028"/>
            <a:ext cx="11379200" cy="1103735"/>
          </a:xfrm>
          <a:prstGeom prst="rect">
            <a:avLst/>
          </a:prstGeom>
        </p:spPr>
        <p:txBody>
          <a:bodyPr anchor="ctr">
            <a:normAutofit/>
          </a:bodyPr>
          <a:lstStyle>
            <a:lvl1pPr>
              <a:defRPr sz="2400">
                <a:latin typeface="Calibri" charset="0"/>
                <a:ea typeface="Calibri" charset="0"/>
                <a:cs typeface="Calibri" charset="0"/>
              </a:defRPr>
            </a:lvl1pPr>
          </a:lstStyle>
          <a:p>
            <a:r>
              <a:rPr lang="en-US" dirty="0"/>
              <a:t>Click to edit Title Text</a:t>
            </a:r>
            <a:br>
              <a:rPr lang="en-US" dirty="0"/>
            </a:br>
            <a:r>
              <a:rPr lang="en-US" dirty="0"/>
              <a:t>Line 2</a:t>
            </a:r>
          </a:p>
        </p:txBody>
      </p:sp>
      <p:sp>
        <p:nvSpPr>
          <p:cNvPr id="3" name="Rectangle: Rounded Corners 2"/>
          <p:cNvSpPr/>
          <p:nvPr userDrawn="1"/>
        </p:nvSpPr>
        <p:spPr>
          <a:xfrm>
            <a:off x="578564" y="928326"/>
            <a:ext cx="1393371" cy="48768"/>
          </a:xfrm>
          <a:prstGeom prst="roundRect">
            <a:avLst/>
          </a:prstGeom>
          <a:solidFill>
            <a:srgbClr val="FFCC2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FFFFFF"/>
              </a:solidFill>
              <a:effectLst/>
              <a:uLnTx/>
              <a:uFillTx/>
              <a:latin typeface="Calibri"/>
              <a:ea typeface="+mn-ea"/>
              <a:cs typeface="+mn-cs"/>
            </a:endParaRPr>
          </a:p>
        </p:txBody>
      </p:sp>
      <p:sp>
        <p:nvSpPr>
          <p:cNvPr id="4" name="TextBox 3"/>
          <p:cNvSpPr txBox="1"/>
          <p:nvPr userDrawn="1"/>
        </p:nvSpPr>
        <p:spPr>
          <a:xfrm>
            <a:off x="3973680" y="6581003"/>
            <a:ext cx="4273668" cy="276997"/>
          </a:xfrm>
          <a:prstGeom prst="rect">
            <a:avLst/>
          </a:prstGeom>
          <a:noFill/>
        </p:spPr>
        <p:txBody>
          <a:bodyPr wrap="none" lIns="91439" tIns="45719" rIns="91439" bIns="45719" rtlCol="0">
            <a:spAutoFit/>
          </a:bodyPr>
          <a:lstStyle/>
          <a:p>
            <a:pPr algn="ctr" defTabSz="914354">
              <a:defRPr/>
            </a:pPr>
            <a:r>
              <a:rPr lang="en-US" sz="1200" dirty="0">
                <a:solidFill>
                  <a:schemeClr val="tx1">
                    <a:lumMod val="75000"/>
                    <a:lumOff val="25000"/>
                  </a:schemeClr>
                </a:solidFill>
                <a:latin typeface="+mn-lt"/>
              </a:rPr>
              <a:t>Restricted Circulation | L&amp;T Technology Services | www.LTTS.com</a:t>
            </a:r>
          </a:p>
        </p:txBody>
      </p:sp>
      <p:sp>
        <p:nvSpPr>
          <p:cNvPr id="7" name="TextBox 6"/>
          <p:cNvSpPr txBox="1"/>
          <p:nvPr userDrawn="1"/>
        </p:nvSpPr>
        <p:spPr>
          <a:xfrm>
            <a:off x="11437495" y="6581379"/>
            <a:ext cx="614596" cy="276997"/>
          </a:xfrm>
          <a:prstGeom prst="rect">
            <a:avLst/>
          </a:prstGeom>
          <a:noFill/>
        </p:spPr>
        <p:txBody>
          <a:bodyPr wrap="square" lIns="91439" tIns="45719" rIns="91439" bIns="45719" rtlCol="0">
            <a:spAutoFit/>
          </a:bodyPr>
          <a:lstStyle/>
          <a:p>
            <a:pPr algn="r" defTabSz="914354"/>
            <a:fld id="{D1AD548E-8EA6-684F-9B89-4E9F5DC57BB8}" type="slidenum">
              <a:rPr lang="en-US" sz="1200" smtClean="0">
                <a:solidFill>
                  <a:schemeClr val="tx1">
                    <a:lumMod val="75000"/>
                    <a:lumOff val="25000"/>
                  </a:schemeClr>
                </a:solidFill>
                <a:latin typeface="Calibri"/>
              </a:rPr>
              <a:pPr algn="r" defTabSz="914354"/>
              <a:t>‹#›</a:t>
            </a:fld>
            <a:endParaRPr lang="en-US" sz="1200" dirty="0">
              <a:solidFill>
                <a:schemeClr val="tx1">
                  <a:lumMod val="75000"/>
                  <a:lumOff val="25000"/>
                </a:schemeClr>
              </a:solidFill>
              <a:latin typeface="Calibri"/>
            </a:endParaRPr>
          </a:p>
        </p:txBody>
      </p:sp>
    </p:spTree>
    <p:extLst>
      <p:ext uri="{BB962C8B-B14F-4D97-AF65-F5344CB8AC3E}">
        <p14:creationId xmlns:p14="http://schemas.microsoft.com/office/powerpoint/2010/main" val="3271502430"/>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ular Data Slide">
    <p:spTree>
      <p:nvGrpSpPr>
        <p:cNvPr id="1" name=""/>
        <p:cNvGrpSpPr/>
        <p:nvPr/>
      </p:nvGrpSpPr>
      <p:grpSpPr>
        <a:xfrm>
          <a:off x="0" y="0"/>
          <a:ext cx="0" cy="0"/>
          <a:chOff x="0" y="0"/>
          <a:chExt cx="0" cy="0"/>
        </a:xfrm>
      </p:grpSpPr>
      <p:grpSp>
        <p:nvGrpSpPr>
          <p:cNvPr id="295" name="Group 294"/>
          <p:cNvGrpSpPr/>
          <p:nvPr userDrawn="1"/>
        </p:nvGrpSpPr>
        <p:grpSpPr bwMode="gray">
          <a:xfrm>
            <a:off x="-1" y="795868"/>
            <a:ext cx="12183353" cy="5833533"/>
            <a:chOff x="-1" y="596901"/>
            <a:chExt cx="9137515" cy="4375150"/>
          </a:xfrm>
        </p:grpSpPr>
        <p:cxnSp>
          <p:nvCxnSpPr>
            <p:cNvPr id="296" name="Straight Connector 295"/>
            <p:cNvCxnSpPr/>
            <p:nvPr userDrawn="1"/>
          </p:nvCxnSpPr>
          <p:spPr bwMode="gray">
            <a:xfrm rot="5400000">
              <a:off x="4568757" y="-3971857"/>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p:cNvCxnSpPr/>
            <p:nvPr userDrawn="1"/>
          </p:nvCxnSpPr>
          <p:spPr bwMode="gray">
            <a:xfrm rot="5400000">
              <a:off x="4568757" y="-3821224"/>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userDrawn="1"/>
          </p:nvCxnSpPr>
          <p:spPr bwMode="gray">
            <a:xfrm rot="5400000">
              <a:off x="4568757" y="-3670591"/>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p:nvPr userDrawn="1"/>
          </p:nvCxnSpPr>
          <p:spPr bwMode="gray">
            <a:xfrm rot="5400000">
              <a:off x="4568757" y="-3519958"/>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p:nvPr userDrawn="1"/>
          </p:nvCxnSpPr>
          <p:spPr bwMode="gray">
            <a:xfrm rot="5400000">
              <a:off x="4568757" y="-3369325"/>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p:cNvCxnSpPr/>
            <p:nvPr userDrawn="1"/>
          </p:nvCxnSpPr>
          <p:spPr bwMode="gray">
            <a:xfrm rot="5400000">
              <a:off x="4568757" y="-3218692"/>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userDrawn="1"/>
          </p:nvCxnSpPr>
          <p:spPr bwMode="gray">
            <a:xfrm rot="5400000">
              <a:off x="4568757" y="-3068059"/>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3" name="Straight Connector 302"/>
            <p:cNvCxnSpPr/>
            <p:nvPr userDrawn="1"/>
          </p:nvCxnSpPr>
          <p:spPr bwMode="gray">
            <a:xfrm rot="5400000">
              <a:off x="4568757" y="-2917426"/>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4" name="Straight Connector 303"/>
            <p:cNvCxnSpPr/>
            <p:nvPr userDrawn="1"/>
          </p:nvCxnSpPr>
          <p:spPr bwMode="gray">
            <a:xfrm rot="5400000">
              <a:off x="4568757" y="-2766793"/>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5" name="Straight Connector 304"/>
            <p:cNvCxnSpPr/>
            <p:nvPr userDrawn="1"/>
          </p:nvCxnSpPr>
          <p:spPr bwMode="gray">
            <a:xfrm rot="5400000">
              <a:off x="4568757" y="-2616160"/>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6" name="Straight Connector 305"/>
            <p:cNvCxnSpPr/>
            <p:nvPr userDrawn="1"/>
          </p:nvCxnSpPr>
          <p:spPr bwMode="gray">
            <a:xfrm rot="5400000">
              <a:off x="4568757" y="-2465527"/>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p:cNvCxnSpPr/>
            <p:nvPr userDrawn="1"/>
          </p:nvCxnSpPr>
          <p:spPr bwMode="gray">
            <a:xfrm rot="5400000">
              <a:off x="4568757" y="-2314894"/>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userDrawn="1"/>
          </p:nvCxnSpPr>
          <p:spPr bwMode="gray">
            <a:xfrm rot="5400000">
              <a:off x="4568757" y="-2164261"/>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9" name="Straight Connector 308"/>
            <p:cNvCxnSpPr/>
            <p:nvPr userDrawn="1"/>
          </p:nvCxnSpPr>
          <p:spPr bwMode="gray">
            <a:xfrm rot="5400000">
              <a:off x="4568757" y="-2013628"/>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userDrawn="1"/>
          </p:nvCxnSpPr>
          <p:spPr bwMode="gray">
            <a:xfrm rot="5400000">
              <a:off x="4568757" y="-1862995"/>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1" name="Straight Connector 310"/>
            <p:cNvCxnSpPr/>
            <p:nvPr userDrawn="1"/>
          </p:nvCxnSpPr>
          <p:spPr bwMode="gray">
            <a:xfrm rot="5400000">
              <a:off x="4568757" y="-1712362"/>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2" name="Straight Connector 311"/>
            <p:cNvCxnSpPr/>
            <p:nvPr userDrawn="1"/>
          </p:nvCxnSpPr>
          <p:spPr bwMode="gray">
            <a:xfrm rot="5400000">
              <a:off x="4568757" y="-1561729"/>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3" name="Straight Connector 312"/>
            <p:cNvCxnSpPr/>
            <p:nvPr userDrawn="1"/>
          </p:nvCxnSpPr>
          <p:spPr bwMode="gray">
            <a:xfrm rot="5400000">
              <a:off x="4568757" y="-1411096"/>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4" name="Straight Connector 313"/>
            <p:cNvCxnSpPr/>
            <p:nvPr userDrawn="1"/>
          </p:nvCxnSpPr>
          <p:spPr bwMode="gray">
            <a:xfrm rot="5400000">
              <a:off x="4568757" y="-1260463"/>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5" name="Straight Connector 314"/>
            <p:cNvCxnSpPr/>
            <p:nvPr userDrawn="1"/>
          </p:nvCxnSpPr>
          <p:spPr bwMode="gray">
            <a:xfrm rot="5400000">
              <a:off x="4568757" y="-1109830"/>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6" name="Straight Connector 315"/>
            <p:cNvCxnSpPr/>
            <p:nvPr userDrawn="1"/>
          </p:nvCxnSpPr>
          <p:spPr bwMode="gray">
            <a:xfrm rot="5400000">
              <a:off x="4568757" y="-959197"/>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7" name="Straight Connector 316"/>
            <p:cNvCxnSpPr/>
            <p:nvPr userDrawn="1"/>
          </p:nvCxnSpPr>
          <p:spPr bwMode="gray">
            <a:xfrm rot="5400000">
              <a:off x="4568757" y="-808564"/>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8" name="Straight Connector 317"/>
            <p:cNvCxnSpPr/>
            <p:nvPr userDrawn="1"/>
          </p:nvCxnSpPr>
          <p:spPr bwMode="gray">
            <a:xfrm rot="5400000">
              <a:off x="4568757" y="-657931"/>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9" name="Straight Connector 318"/>
            <p:cNvCxnSpPr/>
            <p:nvPr userDrawn="1"/>
          </p:nvCxnSpPr>
          <p:spPr bwMode="gray">
            <a:xfrm rot="5400000">
              <a:off x="4568757" y="-507298"/>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0" name="Straight Connector 319"/>
            <p:cNvCxnSpPr/>
            <p:nvPr userDrawn="1"/>
          </p:nvCxnSpPr>
          <p:spPr bwMode="gray">
            <a:xfrm rot="5400000">
              <a:off x="4568757" y="-356665"/>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1" name="Straight Connector 320"/>
            <p:cNvCxnSpPr/>
            <p:nvPr userDrawn="1"/>
          </p:nvCxnSpPr>
          <p:spPr bwMode="gray">
            <a:xfrm rot="5400000">
              <a:off x="4568757" y="-206032"/>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2" name="Straight Connector 321"/>
            <p:cNvCxnSpPr/>
            <p:nvPr userDrawn="1"/>
          </p:nvCxnSpPr>
          <p:spPr bwMode="gray">
            <a:xfrm rot="5400000">
              <a:off x="4568757" y="-55399"/>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3" name="Straight Connector 322"/>
            <p:cNvCxnSpPr/>
            <p:nvPr userDrawn="1"/>
          </p:nvCxnSpPr>
          <p:spPr bwMode="gray">
            <a:xfrm rot="5400000">
              <a:off x="4568757" y="95234"/>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4" name="Straight Connector 323"/>
            <p:cNvCxnSpPr/>
            <p:nvPr userDrawn="1"/>
          </p:nvCxnSpPr>
          <p:spPr bwMode="gray">
            <a:xfrm rot="5400000">
              <a:off x="4568757" y="245867"/>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5" name="Straight Connector 324"/>
            <p:cNvCxnSpPr/>
            <p:nvPr userDrawn="1"/>
          </p:nvCxnSpPr>
          <p:spPr bwMode="gray">
            <a:xfrm rot="5400000">
              <a:off x="4568757" y="396913"/>
              <a:ext cx="0" cy="9137515"/>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6" name="Straight Connector 325"/>
            <p:cNvCxnSpPr/>
            <p:nvPr userDrawn="1"/>
          </p:nvCxnSpPr>
          <p:spPr bwMode="gray">
            <a:xfrm>
              <a:off x="142570"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7" name="Straight Connector 326"/>
            <p:cNvCxnSpPr/>
            <p:nvPr userDrawn="1"/>
          </p:nvCxnSpPr>
          <p:spPr bwMode="gray">
            <a:xfrm>
              <a:off x="295300"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p:cNvCxnSpPr/>
            <p:nvPr userDrawn="1"/>
          </p:nvCxnSpPr>
          <p:spPr bwMode="gray">
            <a:xfrm>
              <a:off x="448029"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p:cNvCxnSpPr/>
            <p:nvPr userDrawn="1"/>
          </p:nvCxnSpPr>
          <p:spPr bwMode="gray">
            <a:xfrm>
              <a:off x="600759"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0" name="Straight Connector 329"/>
            <p:cNvCxnSpPr/>
            <p:nvPr userDrawn="1"/>
          </p:nvCxnSpPr>
          <p:spPr bwMode="gray">
            <a:xfrm>
              <a:off x="75348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1" name="Straight Connector 330"/>
            <p:cNvCxnSpPr/>
            <p:nvPr userDrawn="1"/>
          </p:nvCxnSpPr>
          <p:spPr bwMode="gray">
            <a:xfrm>
              <a:off x="90621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2" name="Straight Connector 331"/>
            <p:cNvCxnSpPr/>
            <p:nvPr userDrawn="1"/>
          </p:nvCxnSpPr>
          <p:spPr bwMode="gray">
            <a:xfrm>
              <a:off x="105894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3" name="Straight Connector 332"/>
            <p:cNvCxnSpPr/>
            <p:nvPr userDrawn="1"/>
          </p:nvCxnSpPr>
          <p:spPr bwMode="gray">
            <a:xfrm>
              <a:off x="1211677"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p:cNvCxnSpPr/>
            <p:nvPr userDrawn="1"/>
          </p:nvCxnSpPr>
          <p:spPr bwMode="gray">
            <a:xfrm>
              <a:off x="1364407"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5" name="Straight Connector 334"/>
            <p:cNvCxnSpPr/>
            <p:nvPr userDrawn="1"/>
          </p:nvCxnSpPr>
          <p:spPr bwMode="gray">
            <a:xfrm>
              <a:off x="1517136"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6" name="Straight Connector 335"/>
            <p:cNvCxnSpPr/>
            <p:nvPr userDrawn="1"/>
          </p:nvCxnSpPr>
          <p:spPr bwMode="gray">
            <a:xfrm>
              <a:off x="1669866"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p:cNvCxnSpPr/>
            <p:nvPr userDrawn="1"/>
          </p:nvCxnSpPr>
          <p:spPr bwMode="gray">
            <a:xfrm>
              <a:off x="1822596"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8" name="Straight Connector 337"/>
            <p:cNvCxnSpPr/>
            <p:nvPr userDrawn="1"/>
          </p:nvCxnSpPr>
          <p:spPr bwMode="gray">
            <a:xfrm>
              <a:off x="1975325"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9" name="Straight Connector 338"/>
            <p:cNvCxnSpPr/>
            <p:nvPr userDrawn="1"/>
          </p:nvCxnSpPr>
          <p:spPr bwMode="gray">
            <a:xfrm>
              <a:off x="2128055"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0" name="Straight Connector 339"/>
            <p:cNvCxnSpPr/>
            <p:nvPr userDrawn="1"/>
          </p:nvCxnSpPr>
          <p:spPr bwMode="gray">
            <a:xfrm>
              <a:off x="2280784"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1" name="Straight Connector 340"/>
            <p:cNvCxnSpPr/>
            <p:nvPr userDrawn="1"/>
          </p:nvCxnSpPr>
          <p:spPr bwMode="gray">
            <a:xfrm>
              <a:off x="2433514"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2" name="Straight Connector 341"/>
            <p:cNvCxnSpPr/>
            <p:nvPr userDrawn="1"/>
          </p:nvCxnSpPr>
          <p:spPr bwMode="gray">
            <a:xfrm>
              <a:off x="2586244"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3" name="Straight Connector 342"/>
            <p:cNvCxnSpPr/>
            <p:nvPr userDrawn="1"/>
          </p:nvCxnSpPr>
          <p:spPr bwMode="gray">
            <a:xfrm>
              <a:off x="2738973"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4" name="Straight Connector 343"/>
            <p:cNvCxnSpPr/>
            <p:nvPr userDrawn="1"/>
          </p:nvCxnSpPr>
          <p:spPr bwMode="gray">
            <a:xfrm>
              <a:off x="2891703"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5" name="Straight Connector 344"/>
            <p:cNvCxnSpPr/>
            <p:nvPr userDrawn="1"/>
          </p:nvCxnSpPr>
          <p:spPr bwMode="gray">
            <a:xfrm>
              <a:off x="3044432"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6" name="Straight Connector 345"/>
            <p:cNvCxnSpPr/>
            <p:nvPr userDrawn="1"/>
          </p:nvCxnSpPr>
          <p:spPr bwMode="gray">
            <a:xfrm>
              <a:off x="3197162"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7" name="Straight Connector 346"/>
            <p:cNvCxnSpPr/>
            <p:nvPr userDrawn="1"/>
          </p:nvCxnSpPr>
          <p:spPr bwMode="gray">
            <a:xfrm>
              <a:off x="3349892"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8" name="Straight Connector 347"/>
            <p:cNvCxnSpPr/>
            <p:nvPr userDrawn="1"/>
          </p:nvCxnSpPr>
          <p:spPr bwMode="gray">
            <a:xfrm>
              <a:off x="3502621"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9" name="Straight Connector 348"/>
            <p:cNvCxnSpPr/>
            <p:nvPr userDrawn="1"/>
          </p:nvCxnSpPr>
          <p:spPr bwMode="gray">
            <a:xfrm>
              <a:off x="3655351"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0" name="Straight Connector 349"/>
            <p:cNvCxnSpPr/>
            <p:nvPr userDrawn="1"/>
          </p:nvCxnSpPr>
          <p:spPr bwMode="gray">
            <a:xfrm>
              <a:off x="3808080"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1" name="Straight Connector 350"/>
            <p:cNvCxnSpPr/>
            <p:nvPr userDrawn="1"/>
          </p:nvCxnSpPr>
          <p:spPr bwMode="gray">
            <a:xfrm>
              <a:off x="3960810"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p:cNvCxnSpPr/>
            <p:nvPr userDrawn="1"/>
          </p:nvCxnSpPr>
          <p:spPr bwMode="gray">
            <a:xfrm>
              <a:off x="4113540"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3" name="Straight Connector 352"/>
            <p:cNvCxnSpPr/>
            <p:nvPr userDrawn="1"/>
          </p:nvCxnSpPr>
          <p:spPr bwMode="gray">
            <a:xfrm>
              <a:off x="4266269"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4" name="Straight Connector 353"/>
            <p:cNvCxnSpPr/>
            <p:nvPr userDrawn="1"/>
          </p:nvCxnSpPr>
          <p:spPr bwMode="gray">
            <a:xfrm>
              <a:off x="4418999"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5" name="Straight Connector 354"/>
            <p:cNvCxnSpPr/>
            <p:nvPr userDrawn="1"/>
          </p:nvCxnSpPr>
          <p:spPr bwMode="gray">
            <a:xfrm>
              <a:off x="457172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6" name="Straight Connector 355"/>
            <p:cNvCxnSpPr/>
            <p:nvPr userDrawn="1"/>
          </p:nvCxnSpPr>
          <p:spPr bwMode="gray">
            <a:xfrm>
              <a:off x="472445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7" name="Straight Connector 356"/>
            <p:cNvCxnSpPr/>
            <p:nvPr userDrawn="1"/>
          </p:nvCxnSpPr>
          <p:spPr bwMode="gray">
            <a:xfrm>
              <a:off x="487718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p:cNvCxnSpPr/>
            <p:nvPr userDrawn="1"/>
          </p:nvCxnSpPr>
          <p:spPr bwMode="gray">
            <a:xfrm>
              <a:off x="5029917"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9" name="Straight Connector 358"/>
            <p:cNvCxnSpPr/>
            <p:nvPr userDrawn="1"/>
          </p:nvCxnSpPr>
          <p:spPr bwMode="gray">
            <a:xfrm>
              <a:off x="5182647"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0" name="Straight Connector 359"/>
            <p:cNvCxnSpPr/>
            <p:nvPr userDrawn="1"/>
          </p:nvCxnSpPr>
          <p:spPr bwMode="gray">
            <a:xfrm>
              <a:off x="5335377"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1" name="Straight Connector 360"/>
            <p:cNvCxnSpPr/>
            <p:nvPr userDrawn="1"/>
          </p:nvCxnSpPr>
          <p:spPr bwMode="gray">
            <a:xfrm>
              <a:off x="5488106"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2" name="Straight Connector 361"/>
            <p:cNvCxnSpPr/>
            <p:nvPr userDrawn="1"/>
          </p:nvCxnSpPr>
          <p:spPr bwMode="gray">
            <a:xfrm>
              <a:off x="5640836"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3" name="Straight Connector 362"/>
            <p:cNvCxnSpPr/>
            <p:nvPr userDrawn="1"/>
          </p:nvCxnSpPr>
          <p:spPr bwMode="gray">
            <a:xfrm>
              <a:off x="5793565"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4" name="Straight Connector 363"/>
            <p:cNvCxnSpPr/>
            <p:nvPr userDrawn="1"/>
          </p:nvCxnSpPr>
          <p:spPr bwMode="gray">
            <a:xfrm>
              <a:off x="5946295"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5" name="Straight Connector 364"/>
            <p:cNvCxnSpPr/>
            <p:nvPr userDrawn="1"/>
          </p:nvCxnSpPr>
          <p:spPr bwMode="gray">
            <a:xfrm>
              <a:off x="6099025"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6" name="Straight Connector 365"/>
            <p:cNvCxnSpPr/>
            <p:nvPr userDrawn="1"/>
          </p:nvCxnSpPr>
          <p:spPr bwMode="gray">
            <a:xfrm>
              <a:off x="6251754"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7" name="Straight Connector 366"/>
            <p:cNvCxnSpPr/>
            <p:nvPr userDrawn="1"/>
          </p:nvCxnSpPr>
          <p:spPr bwMode="gray">
            <a:xfrm>
              <a:off x="6404484"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8" name="Straight Connector 367"/>
            <p:cNvCxnSpPr/>
            <p:nvPr userDrawn="1"/>
          </p:nvCxnSpPr>
          <p:spPr bwMode="gray">
            <a:xfrm>
              <a:off x="6557213"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9" name="Straight Connector 368"/>
            <p:cNvCxnSpPr/>
            <p:nvPr userDrawn="1"/>
          </p:nvCxnSpPr>
          <p:spPr bwMode="gray">
            <a:xfrm>
              <a:off x="6709943"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0" name="Straight Connector 369"/>
            <p:cNvCxnSpPr/>
            <p:nvPr userDrawn="1"/>
          </p:nvCxnSpPr>
          <p:spPr bwMode="gray">
            <a:xfrm>
              <a:off x="6862673"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1" name="Straight Connector 370"/>
            <p:cNvCxnSpPr/>
            <p:nvPr userDrawn="1"/>
          </p:nvCxnSpPr>
          <p:spPr bwMode="gray">
            <a:xfrm>
              <a:off x="7015402"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2" name="Straight Connector 371"/>
            <p:cNvCxnSpPr/>
            <p:nvPr userDrawn="1"/>
          </p:nvCxnSpPr>
          <p:spPr bwMode="gray">
            <a:xfrm>
              <a:off x="7168132"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3" name="Straight Connector 372"/>
            <p:cNvCxnSpPr/>
            <p:nvPr userDrawn="1"/>
          </p:nvCxnSpPr>
          <p:spPr bwMode="gray">
            <a:xfrm>
              <a:off x="7320861"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4" name="Straight Connector 373"/>
            <p:cNvCxnSpPr/>
            <p:nvPr userDrawn="1"/>
          </p:nvCxnSpPr>
          <p:spPr bwMode="gray">
            <a:xfrm>
              <a:off x="7473591"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5" name="Straight Connector 374"/>
            <p:cNvCxnSpPr/>
            <p:nvPr userDrawn="1"/>
          </p:nvCxnSpPr>
          <p:spPr bwMode="gray">
            <a:xfrm>
              <a:off x="7626321"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6" name="Straight Connector 375"/>
            <p:cNvCxnSpPr/>
            <p:nvPr userDrawn="1"/>
          </p:nvCxnSpPr>
          <p:spPr bwMode="gray">
            <a:xfrm>
              <a:off x="7779050"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p:cNvCxnSpPr/>
            <p:nvPr userDrawn="1"/>
          </p:nvCxnSpPr>
          <p:spPr bwMode="gray">
            <a:xfrm>
              <a:off x="7931780"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8" name="Straight Connector 377"/>
            <p:cNvCxnSpPr/>
            <p:nvPr userDrawn="1"/>
          </p:nvCxnSpPr>
          <p:spPr bwMode="gray">
            <a:xfrm>
              <a:off x="8084509"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9" name="Straight Connector 378"/>
            <p:cNvCxnSpPr/>
            <p:nvPr userDrawn="1"/>
          </p:nvCxnSpPr>
          <p:spPr bwMode="gray">
            <a:xfrm>
              <a:off x="8237239"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p:cNvCxnSpPr/>
            <p:nvPr userDrawn="1"/>
          </p:nvCxnSpPr>
          <p:spPr bwMode="gray">
            <a:xfrm>
              <a:off x="8389969"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1" name="Straight Connector 380"/>
            <p:cNvCxnSpPr/>
            <p:nvPr userDrawn="1"/>
          </p:nvCxnSpPr>
          <p:spPr bwMode="gray">
            <a:xfrm>
              <a:off x="854269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2" name="Straight Connector 381"/>
            <p:cNvCxnSpPr/>
            <p:nvPr userDrawn="1"/>
          </p:nvCxnSpPr>
          <p:spPr bwMode="gray">
            <a:xfrm>
              <a:off x="8695428"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p:cNvCxnSpPr/>
            <p:nvPr userDrawn="1"/>
          </p:nvCxnSpPr>
          <p:spPr bwMode="gray">
            <a:xfrm>
              <a:off x="8848157"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4" name="Straight Connector 383"/>
            <p:cNvCxnSpPr/>
            <p:nvPr userDrawn="1"/>
          </p:nvCxnSpPr>
          <p:spPr bwMode="gray">
            <a:xfrm>
              <a:off x="9000883" y="603115"/>
              <a:ext cx="0" cy="43689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6" name="Title 1"/>
          <p:cNvSpPr>
            <a:spLocks noGrp="1"/>
          </p:cNvSpPr>
          <p:nvPr>
            <p:ph type="title" hasCustomPrompt="1"/>
          </p:nvPr>
        </p:nvSpPr>
        <p:spPr bwMode="gray">
          <a:xfrm>
            <a:off x="406400" y="1"/>
            <a:ext cx="11379200" cy="673820"/>
          </a:xfrm>
          <a:prstGeom prst="rect">
            <a:avLst/>
          </a:prstGeom>
        </p:spPr>
        <p:txBody>
          <a:bodyPr anchor="ctr">
            <a:normAutofit/>
          </a:bodyPr>
          <a:lstStyle>
            <a:lvl1pPr>
              <a:defRPr sz="2400" baseline="0">
                <a:latin typeface="Calibri" charset="0"/>
                <a:ea typeface="Calibri" charset="0"/>
                <a:cs typeface="Calibri" charset="0"/>
              </a:defRPr>
            </a:lvl1pPr>
          </a:lstStyle>
          <a:p>
            <a:r>
              <a:rPr lang="en-US" dirty="0"/>
              <a:t>Tabular Data Slide</a:t>
            </a:r>
          </a:p>
        </p:txBody>
      </p:sp>
      <p:sp>
        <p:nvSpPr>
          <p:cNvPr id="8" name="Picture Placeholder 7"/>
          <p:cNvSpPr>
            <a:spLocks noGrp="1"/>
          </p:cNvSpPr>
          <p:nvPr>
            <p:ph type="pic" sz="quarter" idx="10"/>
          </p:nvPr>
        </p:nvSpPr>
        <p:spPr bwMode="gray">
          <a:xfrm>
            <a:off x="385767" y="1789889"/>
            <a:ext cx="2689021" cy="1305667"/>
          </a:xfrm>
          <a:prstGeom prst="homePlate">
            <a:avLst>
              <a:gd name="adj" fmla="val 25515"/>
            </a:avLst>
          </a:prstGeom>
          <a:solidFill>
            <a:schemeClr val="bg1">
              <a:lumMod val="50000"/>
            </a:schemeClr>
          </a:solidFill>
        </p:spPr>
        <p:txBody>
          <a:bodyPr anchor="ctr">
            <a:normAutofit/>
          </a:bodyPr>
          <a:lstStyle>
            <a:lvl1pPr marL="0" indent="0" algn="ctr">
              <a:buNone/>
              <a:defRPr sz="2133">
                <a:solidFill>
                  <a:schemeClr val="bg1"/>
                </a:solidFill>
              </a:defRPr>
            </a:lvl1pPr>
          </a:lstStyle>
          <a:p>
            <a:endParaRPr lang="en-IN" dirty="0"/>
          </a:p>
        </p:txBody>
      </p:sp>
      <p:sp>
        <p:nvSpPr>
          <p:cNvPr id="13" name="Picture Placeholder 7"/>
          <p:cNvSpPr>
            <a:spLocks noGrp="1"/>
          </p:cNvSpPr>
          <p:nvPr>
            <p:ph type="pic" sz="quarter" idx="11"/>
          </p:nvPr>
        </p:nvSpPr>
        <p:spPr bwMode="gray">
          <a:xfrm>
            <a:off x="385767" y="3432784"/>
            <a:ext cx="2689021" cy="1305667"/>
          </a:xfrm>
          <a:prstGeom prst="homePlate">
            <a:avLst>
              <a:gd name="adj" fmla="val 25515"/>
            </a:avLst>
          </a:prstGeom>
          <a:solidFill>
            <a:schemeClr val="bg1">
              <a:lumMod val="50000"/>
            </a:schemeClr>
          </a:solidFill>
        </p:spPr>
        <p:txBody>
          <a:bodyPr anchor="ctr">
            <a:normAutofit/>
          </a:bodyPr>
          <a:lstStyle>
            <a:lvl1pPr marL="0" indent="0" algn="ctr">
              <a:buNone/>
              <a:defRPr sz="2133">
                <a:solidFill>
                  <a:schemeClr val="bg1"/>
                </a:solidFill>
              </a:defRPr>
            </a:lvl1pPr>
          </a:lstStyle>
          <a:p>
            <a:endParaRPr lang="en-IN" dirty="0"/>
          </a:p>
        </p:txBody>
      </p:sp>
      <p:sp>
        <p:nvSpPr>
          <p:cNvPr id="14" name="Picture Placeholder 7"/>
          <p:cNvSpPr>
            <a:spLocks noGrp="1"/>
          </p:cNvSpPr>
          <p:nvPr>
            <p:ph type="pic" sz="quarter" idx="12"/>
          </p:nvPr>
        </p:nvSpPr>
        <p:spPr bwMode="gray">
          <a:xfrm>
            <a:off x="385767" y="5075679"/>
            <a:ext cx="2689021" cy="1305667"/>
          </a:xfrm>
          <a:prstGeom prst="homePlate">
            <a:avLst>
              <a:gd name="adj" fmla="val 25515"/>
            </a:avLst>
          </a:prstGeom>
          <a:solidFill>
            <a:schemeClr val="bg1">
              <a:lumMod val="50000"/>
            </a:schemeClr>
          </a:solidFill>
        </p:spPr>
        <p:txBody>
          <a:bodyPr anchor="ctr">
            <a:normAutofit/>
          </a:bodyPr>
          <a:lstStyle>
            <a:lvl1pPr marL="0" indent="0" algn="ctr">
              <a:buNone/>
              <a:defRPr sz="2133">
                <a:solidFill>
                  <a:schemeClr val="bg1"/>
                </a:solidFill>
              </a:defRPr>
            </a:lvl1pPr>
          </a:lstStyle>
          <a:p>
            <a:endParaRPr lang="en-IN" dirty="0"/>
          </a:p>
        </p:txBody>
      </p:sp>
      <p:sp>
        <p:nvSpPr>
          <p:cNvPr id="10" name="Text Placeholder 9"/>
          <p:cNvSpPr>
            <a:spLocks noGrp="1"/>
          </p:cNvSpPr>
          <p:nvPr>
            <p:ph type="body" sz="quarter" idx="13"/>
          </p:nvPr>
        </p:nvSpPr>
        <p:spPr bwMode="gray">
          <a:xfrm>
            <a:off x="411708" y="864682"/>
            <a:ext cx="11368587" cy="458236"/>
          </a:xfrm>
          <a:prstGeom prst="parallelogram">
            <a:avLst/>
          </a:prstGeom>
          <a:solidFill>
            <a:srgbClr val="0077BD"/>
          </a:solidFill>
        </p:spPr>
        <p:txBody>
          <a:bodyPr anchor="ctr">
            <a:noAutofit/>
          </a:bodyPr>
          <a:lstStyle>
            <a:lvl1pPr marL="0" indent="0" algn="ctr">
              <a:buFont typeface="Arial" panose="020B0604020202020204" pitchFamily="34" charset="0"/>
              <a:buNone/>
              <a:defRPr sz="2400">
                <a:solidFill>
                  <a:schemeClr val="bg1"/>
                </a:solidFill>
              </a:defRPr>
            </a:lvl1pPr>
          </a:lstStyle>
          <a:p>
            <a:pPr lvl="0"/>
            <a:endParaRPr lang="en-IN" dirty="0"/>
          </a:p>
        </p:txBody>
      </p:sp>
      <p:sp>
        <p:nvSpPr>
          <p:cNvPr id="17" name="Text Placeholder 9"/>
          <p:cNvSpPr>
            <a:spLocks noGrp="1"/>
          </p:cNvSpPr>
          <p:nvPr>
            <p:ph type="body" sz="quarter" idx="14"/>
          </p:nvPr>
        </p:nvSpPr>
        <p:spPr bwMode="gray">
          <a:xfrm>
            <a:off x="3762175" y="1426680"/>
            <a:ext cx="3656787" cy="285389"/>
          </a:xfrm>
          <a:prstGeom prst="parallelogram">
            <a:avLst/>
          </a:prstGeom>
          <a:solidFill>
            <a:schemeClr val="tx1">
              <a:lumMod val="65000"/>
              <a:lumOff val="35000"/>
            </a:schemeClr>
          </a:solidFill>
        </p:spPr>
        <p:txBody>
          <a:bodyPr anchor="ctr">
            <a:noAutofit/>
          </a:bodyPr>
          <a:lstStyle>
            <a:lvl1pPr marL="0" indent="0" algn="ctr">
              <a:buFont typeface="Arial" panose="020B0604020202020204" pitchFamily="34" charset="0"/>
              <a:buNone/>
              <a:defRPr sz="1600">
                <a:solidFill>
                  <a:schemeClr val="bg1"/>
                </a:solidFill>
              </a:defRPr>
            </a:lvl1pPr>
          </a:lstStyle>
          <a:p>
            <a:pPr lvl="0"/>
            <a:endParaRPr lang="en-IN" dirty="0"/>
          </a:p>
        </p:txBody>
      </p:sp>
      <p:sp>
        <p:nvSpPr>
          <p:cNvPr id="20" name="Text Placeholder 9"/>
          <p:cNvSpPr>
            <a:spLocks noGrp="1"/>
          </p:cNvSpPr>
          <p:nvPr>
            <p:ph type="body" sz="quarter" idx="15"/>
          </p:nvPr>
        </p:nvSpPr>
        <p:spPr bwMode="gray">
          <a:xfrm>
            <a:off x="7981816" y="1426680"/>
            <a:ext cx="3656787" cy="285389"/>
          </a:xfrm>
          <a:prstGeom prst="parallelogram">
            <a:avLst/>
          </a:prstGeom>
          <a:solidFill>
            <a:schemeClr val="tx1">
              <a:lumMod val="65000"/>
              <a:lumOff val="35000"/>
            </a:schemeClr>
          </a:solidFill>
        </p:spPr>
        <p:txBody>
          <a:bodyPr anchor="ctr">
            <a:noAutofit/>
          </a:bodyPr>
          <a:lstStyle>
            <a:lvl1pPr marL="0" indent="0" algn="ctr">
              <a:buFont typeface="Arial" panose="020B0604020202020204" pitchFamily="34" charset="0"/>
              <a:buNone/>
              <a:defRPr sz="1600">
                <a:solidFill>
                  <a:schemeClr val="bg1"/>
                </a:solidFill>
              </a:defRPr>
            </a:lvl1pPr>
          </a:lstStyle>
          <a:p>
            <a:pPr lvl="0"/>
            <a:endParaRPr lang="en-IN" dirty="0"/>
          </a:p>
        </p:txBody>
      </p:sp>
      <p:sp>
        <p:nvSpPr>
          <p:cNvPr id="12" name="Text Placeholder 11"/>
          <p:cNvSpPr>
            <a:spLocks noGrp="1"/>
          </p:cNvSpPr>
          <p:nvPr>
            <p:ph type="body" sz="quarter" idx="16"/>
          </p:nvPr>
        </p:nvSpPr>
        <p:spPr bwMode="gray">
          <a:xfrm>
            <a:off x="3814234" y="1841860"/>
            <a:ext cx="3543300" cy="1227667"/>
          </a:xfrm>
          <a:prstGeom prst="rect">
            <a:avLst/>
          </a:prstGeom>
        </p:spPr>
        <p:txBody>
          <a:bodyPr>
            <a:noAutofit/>
          </a:bodyPr>
          <a:lstStyle>
            <a:lvl1pPr>
              <a:defRPr sz="1333"/>
            </a:lvl1pPr>
            <a:lvl2pPr>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Text Placeholder 11"/>
          <p:cNvSpPr>
            <a:spLocks noGrp="1"/>
          </p:cNvSpPr>
          <p:nvPr>
            <p:ph type="body" sz="quarter" idx="17"/>
          </p:nvPr>
        </p:nvSpPr>
        <p:spPr bwMode="gray">
          <a:xfrm>
            <a:off x="8016582" y="1841860"/>
            <a:ext cx="3543300" cy="1227667"/>
          </a:xfrm>
          <a:prstGeom prst="rect">
            <a:avLst/>
          </a:prstGeom>
        </p:spPr>
        <p:txBody>
          <a:bodyPr>
            <a:noAutofit/>
          </a:bodyPr>
          <a:lstStyle>
            <a:lvl1pPr>
              <a:defRPr sz="1333"/>
            </a:lvl1pPr>
            <a:lvl2pPr>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2" name="Text Placeholder 11"/>
          <p:cNvSpPr>
            <a:spLocks noGrp="1"/>
          </p:cNvSpPr>
          <p:nvPr>
            <p:ph type="body" sz="quarter" idx="18"/>
          </p:nvPr>
        </p:nvSpPr>
        <p:spPr bwMode="gray">
          <a:xfrm>
            <a:off x="3814234" y="3476105"/>
            <a:ext cx="3543300" cy="1227667"/>
          </a:xfrm>
          <a:prstGeom prst="rect">
            <a:avLst/>
          </a:prstGeom>
        </p:spPr>
        <p:txBody>
          <a:bodyPr>
            <a:noAutofit/>
          </a:bodyPr>
          <a:lstStyle>
            <a:lvl1pPr>
              <a:defRPr sz="1333"/>
            </a:lvl1pPr>
            <a:lvl2pPr>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Text Placeholder 11"/>
          <p:cNvSpPr>
            <a:spLocks noGrp="1"/>
          </p:cNvSpPr>
          <p:nvPr>
            <p:ph type="body" sz="quarter" idx="19"/>
          </p:nvPr>
        </p:nvSpPr>
        <p:spPr bwMode="gray">
          <a:xfrm>
            <a:off x="8016582" y="3476105"/>
            <a:ext cx="3543300" cy="1227667"/>
          </a:xfrm>
          <a:prstGeom prst="rect">
            <a:avLst/>
          </a:prstGeom>
        </p:spPr>
        <p:txBody>
          <a:bodyPr>
            <a:noAutofit/>
          </a:bodyPr>
          <a:lstStyle>
            <a:lvl1pPr>
              <a:defRPr sz="1333"/>
            </a:lvl1pPr>
            <a:lvl2pPr>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11"/>
          <p:cNvSpPr>
            <a:spLocks noGrp="1"/>
          </p:cNvSpPr>
          <p:nvPr>
            <p:ph type="body" sz="quarter" idx="20"/>
          </p:nvPr>
        </p:nvSpPr>
        <p:spPr bwMode="gray">
          <a:xfrm>
            <a:off x="3814234" y="5119000"/>
            <a:ext cx="3543300" cy="1227667"/>
          </a:xfrm>
          <a:prstGeom prst="rect">
            <a:avLst/>
          </a:prstGeom>
        </p:spPr>
        <p:txBody>
          <a:bodyPr>
            <a:noAutofit/>
          </a:bodyPr>
          <a:lstStyle>
            <a:lvl1pPr>
              <a:defRPr sz="1333"/>
            </a:lvl1pPr>
            <a:lvl2pPr>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Text Placeholder 11"/>
          <p:cNvSpPr>
            <a:spLocks noGrp="1"/>
          </p:cNvSpPr>
          <p:nvPr>
            <p:ph type="body" sz="quarter" idx="21"/>
          </p:nvPr>
        </p:nvSpPr>
        <p:spPr bwMode="gray">
          <a:xfrm>
            <a:off x="8016582" y="5119000"/>
            <a:ext cx="3543300" cy="1227667"/>
          </a:xfrm>
          <a:prstGeom prst="rect">
            <a:avLst/>
          </a:prstGeom>
        </p:spPr>
        <p:txBody>
          <a:bodyPr>
            <a:noAutofit/>
          </a:bodyPr>
          <a:lstStyle>
            <a:lvl1pPr>
              <a:defRPr sz="1333"/>
            </a:lvl1pPr>
            <a:lvl2pPr>
              <a:defRPr sz="1333"/>
            </a:lvl2pPr>
            <a:lvl3pPr>
              <a:defRPr sz="1333"/>
            </a:lvl3pPr>
            <a:lvl4pPr>
              <a:defRPr sz="1333"/>
            </a:lvl4pPr>
            <a:lvl5pPr>
              <a:defRPr sz="13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Text Placeholder 11"/>
          <p:cNvSpPr>
            <a:spLocks noGrp="1"/>
          </p:cNvSpPr>
          <p:nvPr>
            <p:ph type="body" sz="quarter" idx="22" hasCustomPrompt="1"/>
          </p:nvPr>
        </p:nvSpPr>
        <p:spPr bwMode="gray">
          <a:xfrm>
            <a:off x="437513" y="2741039"/>
            <a:ext cx="2153055" cy="328488"/>
          </a:xfrm>
          <a:prstGeom prst="rect">
            <a:avLst/>
          </a:prstGeom>
        </p:spPr>
        <p:txBody>
          <a:bodyPr>
            <a:noAutofit/>
          </a:bodyPr>
          <a:lstStyle>
            <a:lvl1pPr marL="0" indent="0" algn="ctr">
              <a:buFont typeface="Arial" panose="020B0604020202020204" pitchFamily="34" charset="0"/>
              <a:buNone/>
              <a:defRPr sz="1333" b="1">
                <a:solidFill>
                  <a:schemeClr val="bg1"/>
                </a:solidFill>
              </a:defRPr>
            </a:lvl1pPr>
            <a:lvl2pPr marL="457177" indent="0">
              <a:buFont typeface="Arial" panose="020B0604020202020204" pitchFamily="34" charset="0"/>
              <a:buNone/>
              <a:defRPr sz="1333"/>
            </a:lvl2pPr>
            <a:lvl3pPr marL="914353" indent="0">
              <a:buFont typeface="Arial" panose="020B0604020202020204" pitchFamily="34" charset="0"/>
              <a:buNone/>
              <a:defRPr sz="1333"/>
            </a:lvl3pPr>
            <a:lvl4pPr marL="1371531" indent="0">
              <a:buFont typeface="Arial" panose="020B0604020202020204" pitchFamily="34" charset="0"/>
              <a:buNone/>
              <a:defRPr sz="1333"/>
            </a:lvl4pPr>
            <a:lvl5pPr marL="1828709" indent="0">
              <a:buFont typeface="Arial" panose="020B0604020202020204" pitchFamily="34" charset="0"/>
              <a:buNone/>
              <a:defRPr sz="1333"/>
            </a:lvl5pPr>
          </a:lstStyle>
          <a:p>
            <a:pPr lvl="0"/>
            <a:r>
              <a:rPr lang="en-US" dirty="0"/>
              <a:t>Add Text Here</a:t>
            </a:r>
            <a:endParaRPr lang="en-IN" dirty="0"/>
          </a:p>
        </p:txBody>
      </p:sp>
      <p:sp>
        <p:nvSpPr>
          <p:cNvPr id="28" name="Text Placeholder 11"/>
          <p:cNvSpPr>
            <a:spLocks noGrp="1"/>
          </p:cNvSpPr>
          <p:nvPr>
            <p:ph type="body" sz="quarter" idx="23" hasCustomPrompt="1"/>
          </p:nvPr>
        </p:nvSpPr>
        <p:spPr bwMode="gray">
          <a:xfrm>
            <a:off x="437513" y="4409872"/>
            <a:ext cx="2153055" cy="328488"/>
          </a:xfrm>
          <a:prstGeom prst="rect">
            <a:avLst/>
          </a:prstGeom>
        </p:spPr>
        <p:txBody>
          <a:bodyPr>
            <a:noAutofit/>
          </a:bodyPr>
          <a:lstStyle>
            <a:lvl1pPr marL="0" indent="0" algn="ctr">
              <a:buFont typeface="Arial" panose="020B0604020202020204" pitchFamily="34" charset="0"/>
              <a:buNone/>
              <a:defRPr sz="1333" b="1">
                <a:solidFill>
                  <a:schemeClr val="bg1"/>
                </a:solidFill>
              </a:defRPr>
            </a:lvl1pPr>
            <a:lvl2pPr marL="457177" indent="0">
              <a:buFont typeface="Arial" panose="020B0604020202020204" pitchFamily="34" charset="0"/>
              <a:buNone/>
              <a:defRPr sz="1333"/>
            </a:lvl2pPr>
            <a:lvl3pPr marL="914353" indent="0">
              <a:buFont typeface="Arial" panose="020B0604020202020204" pitchFamily="34" charset="0"/>
              <a:buNone/>
              <a:defRPr sz="1333"/>
            </a:lvl3pPr>
            <a:lvl4pPr marL="1371531" indent="0">
              <a:buFont typeface="Arial" panose="020B0604020202020204" pitchFamily="34" charset="0"/>
              <a:buNone/>
              <a:defRPr sz="1333"/>
            </a:lvl4pPr>
            <a:lvl5pPr marL="1828709" indent="0">
              <a:buFont typeface="Arial" panose="020B0604020202020204" pitchFamily="34" charset="0"/>
              <a:buNone/>
              <a:defRPr sz="1333"/>
            </a:lvl5pPr>
          </a:lstStyle>
          <a:p>
            <a:pPr lvl="0"/>
            <a:r>
              <a:rPr lang="en-US" dirty="0"/>
              <a:t>Add Text Here</a:t>
            </a:r>
            <a:endParaRPr lang="en-IN" dirty="0"/>
          </a:p>
        </p:txBody>
      </p:sp>
      <p:sp>
        <p:nvSpPr>
          <p:cNvPr id="29" name="Text Placeholder 11"/>
          <p:cNvSpPr>
            <a:spLocks noGrp="1"/>
          </p:cNvSpPr>
          <p:nvPr>
            <p:ph type="body" sz="quarter" idx="24" hasCustomPrompt="1"/>
          </p:nvPr>
        </p:nvSpPr>
        <p:spPr bwMode="gray">
          <a:xfrm>
            <a:off x="437513" y="6035472"/>
            <a:ext cx="2153055" cy="328488"/>
          </a:xfrm>
          <a:prstGeom prst="rect">
            <a:avLst/>
          </a:prstGeom>
        </p:spPr>
        <p:txBody>
          <a:bodyPr>
            <a:noAutofit/>
          </a:bodyPr>
          <a:lstStyle>
            <a:lvl1pPr marL="0" indent="0" algn="ctr">
              <a:buFont typeface="Arial" panose="020B0604020202020204" pitchFamily="34" charset="0"/>
              <a:buNone/>
              <a:defRPr sz="1333" b="1">
                <a:solidFill>
                  <a:schemeClr val="bg1"/>
                </a:solidFill>
              </a:defRPr>
            </a:lvl1pPr>
            <a:lvl2pPr marL="457177" indent="0">
              <a:buFont typeface="Arial" panose="020B0604020202020204" pitchFamily="34" charset="0"/>
              <a:buNone/>
              <a:defRPr sz="1333"/>
            </a:lvl2pPr>
            <a:lvl3pPr marL="914353" indent="0">
              <a:buFont typeface="Arial" panose="020B0604020202020204" pitchFamily="34" charset="0"/>
              <a:buNone/>
              <a:defRPr sz="1333"/>
            </a:lvl3pPr>
            <a:lvl4pPr marL="1371531" indent="0">
              <a:buFont typeface="Arial" panose="020B0604020202020204" pitchFamily="34" charset="0"/>
              <a:buNone/>
              <a:defRPr sz="1333"/>
            </a:lvl4pPr>
            <a:lvl5pPr marL="1828709" indent="0">
              <a:buFont typeface="Arial" panose="020B0604020202020204" pitchFamily="34" charset="0"/>
              <a:buNone/>
              <a:defRPr sz="1333"/>
            </a:lvl5pPr>
          </a:lstStyle>
          <a:p>
            <a:pPr lvl="0"/>
            <a:r>
              <a:rPr lang="en-US" dirty="0"/>
              <a:t>Add Text Here</a:t>
            </a:r>
            <a:endParaRPr lang="en-IN" dirty="0"/>
          </a:p>
        </p:txBody>
      </p:sp>
    </p:spTree>
    <p:extLst>
      <p:ext uri="{BB962C8B-B14F-4D97-AF65-F5344CB8AC3E}">
        <p14:creationId xmlns:p14="http://schemas.microsoft.com/office/powerpoint/2010/main" val="41660988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pic>
        <p:nvPicPr>
          <p:cNvPr id="21" name="Picture 2" descr="D:\Abhinav\L&amp;T - PPT Design Guidelines\_Slides_Work\grid-01.pn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0" y="0"/>
            <a:ext cx="12192000" cy="6556787"/>
          </a:xfrm>
          <a:prstGeom prst="rect">
            <a:avLst/>
          </a:prstGeom>
          <a:solidFill>
            <a:schemeClr val="bg1"/>
          </a:solidFill>
        </p:spPr>
      </p:pic>
      <p:sp>
        <p:nvSpPr>
          <p:cNvPr id="22" name="Rectangle 21"/>
          <p:cNvSpPr/>
          <p:nvPr userDrawn="1"/>
        </p:nvSpPr>
        <p:spPr>
          <a:xfrm>
            <a:off x="0" y="0"/>
            <a:ext cx="12192000" cy="6556787"/>
          </a:xfrm>
          <a:prstGeom prst="rect">
            <a:avLst/>
          </a:pr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2" name="Title 1"/>
          <p:cNvSpPr>
            <a:spLocks noGrp="1"/>
          </p:cNvSpPr>
          <p:nvPr>
            <p:ph type="title" hasCustomPrompt="1"/>
          </p:nvPr>
        </p:nvSpPr>
        <p:spPr>
          <a:xfrm>
            <a:off x="1968474" y="1323939"/>
            <a:ext cx="3528087" cy="1325563"/>
          </a:xfrm>
          <a:prstGeom prst="rect">
            <a:avLst/>
          </a:prstGeom>
        </p:spPr>
        <p:txBody>
          <a:bodyPr anchor="ctr"/>
          <a:lstStyle>
            <a:lvl1pPr algn="ctr">
              <a:defRPr sz="4267"/>
            </a:lvl1pPr>
          </a:lstStyle>
          <a:p>
            <a:r>
              <a:rPr lang="en-US" dirty="0"/>
              <a:t>Thank you</a:t>
            </a:r>
            <a:endParaRPr lang="en-IN" dirty="0"/>
          </a:p>
        </p:txBody>
      </p:sp>
      <p:sp>
        <p:nvSpPr>
          <p:cNvPr id="17" name="Freeform 17"/>
          <p:cNvSpPr>
            <a:spLocks/>
          </p:cNvSpPr>
          <p:nvPr userDrawn="1"/>
        </p:nvSpPr>
        <p:spPr bwMode="auto">
          <a:xfrm>
            <a:off x="1" y="3530451"/>
            <a:ext cx="3210233" cy="767632"/>
          </a:xfrm>
          <a:custGeom>
            <a:avLst/>
            <a:gdLst/>
            <a:ahLst/>
            <a:cxnLst/>
            <a:rect l="l" t="t" r="r" b="b"/>
            <a:pathLst>
              <a:path w="2402984" h="575724">
                <a:moveTo>
                  <a:pt x="0" y="0"/>
                </a:moveTo>
                <a:lnTo>
                  <a:pt x="2402984" y="0"/>
                </a:lnTo>
                <a:lnTo>
                  <a:pt x="2052676" y="575724"/>
                </a:lnTo>
                <a:lnTo>
                  <a:pt x="0" y="575724"/>
                </a:lnTo>
                <a:close/>
              </a:path>
            </a:pathLst>
          </a:custGeom>
          <a:solidFill>
            <a:srgbClr val="002060"/>
          </a:solidFill>
          <a:ln>
            <a:noFill/>
          </a:ln>
        </p:spPr>
        <p:txBody>
          <a:bodyPr vert="horz" wrap="square" lIns="121920" tIns="60960" rIns="121920" bIns="60960" numCol="1" anchor="t" anchorCtr="0" compatLnSpc="1">
            <a:prstTxWarp prst="textNoShape">
              <a:avLst/>
            </a:prstTxWarp>
          </a:bodyPr>
          <a:lstStyle/>
          <a:p>
            <a:endParaRPr lang="en-IN" sz="2400" dirty="0"/>
          </a:p>
        </p:txBody>
      </p:sp>
      <p:grpSp>
        <p:nvGrpSpPr>
          <p:cNvPr id="18" name="Group 5"/>
          <p:cNvGrpSpPr>
            <a:grpSpLocks noChangeAspect="1"/>
          </p:cNvGrpSpPr>
          <p:nvPr userDrawn="1"/>
        </p:nvGrpSpPr>
        <p:grpSpPr bwMode="auto">
          <a:xfrm>
            <a:off x="150620" y="3719371"/>
            <a:ext cx="2592000" cy="389157"/>
            <a:chOff x="119" y="2341"/>
            <a:chExt cx="1805" cy="271"/>
          </a:xfrm>
        </p:grpSpPr>
        <p:sp>
          <p:nvSpPr>
            <p:cNvPr id="19" name="Freeform 6"/>
            <p:cNvSpPr>
              <a:spLocks noEditPoints="1"/>
            </p:cNvSpPr>
            <p:nvPr userDrawn="1"/>
          </p:nvSpPr>
          <p:spPr bwMode="auto">
            <a:xfrm>
              <a:off x="119" y="2341"/>
              <a:ext cx="270" cy="271"/>
            </a:xfrm>
            <a:custGeom>
              <a:avLst/>
              <a:gdLst>
                <a:gd name="T0" fmla="*/ 57 w 114"/>
                <a:gd name="T1" fmla="*/ 0 h 115"/>
                <a:gd name="T2" fmla="*/ 114 w 114"/>
                <a:gd name="T3" fmla="*/ 58 h 115"/>
                <a:gd name="T4" fmla="*/ 57 w 114"/>
                <a:gd name="T5" fmla="*/ 115 h 115"/>
                <a:gd name="T6" fmla="*/ 0 w 114"/>
                <a:gd name="T7" fmla="*/ 58 h 115"/>
                <a:gd name="T8" fmla="*/ 57 w 114"/>
                <a:gd name="T9" fmla="*/ 0 h 115"/>
                <a:gd name="T10" fmla="*/ 49 w 114"/>
                <a:gd name="T11" fmla="*/ 107 h 115"/>
                <a:gd name="T12" fmla="*/ 73 w 114"/>
                <a:gd name="T13" fmla="*/ 65 h 115"/>
                <a:gd name="T14" fmla="*/ 57 w 114"/>
                <a:gd name="T15" fmla="*/ 65 h 115"/>
                <a:gd name="T16" fmla="*/ 65 w 114"/>
                <a:gd name="T17" fmla="*/ 51 h 115"/>
                <a:gd name="T18" fmla="*/ 104 w 114"/>
                <a:gd name="T19" fmla="*/ 51 h 115"/>
                <a:gd name="T20" fmla="*/ 96 w 114"/>
                <a:gd name="T21" fmla="*/ 65 h 115"/>
                <a:gd name="T22" fmla="*/ 82 w 114"/>
                <a:gd name="T23" fmla="*/ 65 h 115"/>
                <a:gd name="T24" fmla="*/ 57 w 114"/>
                <a:gd name="T25" fmla="*/ 108 h 115"/>
                <a:gd name="T26" fmla="*/ 107 w 114"/>
                <a:gd name="T27" fmla="*/ 58 h 115"/>
                <a:gd name="T28" fmla="*/ 57 w 114"/>
                <a:gd name="T29" fmla="*/ 8 h 115"/>
                <a:gd name="T30" fmla="*/ 51 w 114"/>
                <a:gd name="T31" fmla="*/ 8 h 115"/>
                <a:gd name="T32" fmla="*/ 26 w 114"/>
                <a:gd name="T33" fmla="*/ 51 h 115"/>
                <a:gd name="T34" fmla="*/ 57 w 114"/>
                <a:gd name="T35" fmla="*/ 51 h 115"/>
                <a:gd name="T36" fmla="*/ 49 w 114"/>
                <a:gd name="T37" fmla="*/ 65 h 115"/>
                <a:gd name="T38" fmla="*/ 10 w 114"/>
                <a:gd name="T39" fmla="*/ 65 h 115"/>
                <a:gd name="T40" fmla="*/ 41 w 114"/>
                <a:gd name="T41" fmla="*/ 10 h 115"/>
                <a:gd name="T42" fmla="*/ 7 w 114"/>
                <a:gd name="T43" fmla="*/ 58 h 115"/>
                <a:gd name="T44" fmla="*/ 49 w 114"/>
                <a:gd name="T45" fmla="*/ 107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4" h="115">
                  <a:moveTo>
                    <a:pt x="57" y="0"/>
                  </a:moveTo>
                  <a:cubicBezTo>
                    <a:pt x="88" y="0"/>
                    <a:pt x="114" y="26"/>
                    <a:pt x="114" y="58"/>
                  </a:cubicBezTo>
                  <a:cubicBezTo>
                    <a:pt x="114" y="89"/>
                    <a:pt x="88" y="115"/>
                    <a:pt x="57" y="115"/>
                  </a:cubicBezTo>
                  <a:cubicBezTo>
                    <a:pt x="25" y="115"/>
                    <a:pt x="0" y="89"/>
                    <a:pt x="0" y="58"/>
                  </a:cubicBezTo>
                  <a:cubicBezTo>
                    <a:pt x="0" y="26"/>
                    <a:pt x="25" y="0"/>
                    <a:pt x="57" y="0"/>
                  </a:cubicBezTo>
                  <a:moveTo>
                    <a:pt x="49" y="107"/>
                  </a:moveTo>
                  <a:cubicBezTo>
                    <a:pt x="73" y="65"/>
                    <a:pt x="73" y="65"/>
                    <a:pt x="73" y="65"/>
                  </a:cubicBezTo>
                  <a:cubicBezTo>
                    <a:pt x="57" y="65"/>
                    <a:pt x="57" y="65"/>
                    <a:pt x="57" y="65"/>
                  </a:cubicBezTo>
                  <a:cubicBezTo>
                    <a:pt x="65" y="51"/>
                    <a:pt x="65" y="51"/>
                    <a:pt x="65" y="51"/>
                  </a:cubicBezTo>
                  <a:cubicBezTo>
                    <a:pt x="104" y="51"/>
                    <a:pt x="104" y="51"/>
                    <a:pt x="104" y="51"/>
                  </a:cubicBezTo>
                  <a:cubicBezTo>
                    <a:pt x="96" y="65"/>
                    <a:pt x="96" y="65"/>
                    <a:pt x="96" y="65"/>
                  </a:cubicBezTo>
                  <a:cubicBezTo>
                    <a:pt x="82" y="65"/>
                    <a:pt x="82" y="65"/>
                    <a:pt x="82" y="65"/>
                  </a:cubicBezTo>
                  <a:cubicBezTo>
                    <a:pt x="57" y="108"/>
                    <a:pt x="57" y="108"/>
                    <a:pt x="57" y="108"/>
                  </a:cubicBezTo>
                  <a:cubicBezTo>
                    <a:pt x="84" y="108"/>
                    <a:pt x="107" y="85"/>
                    <a:pt x="107" y="58"/>
                  </a:cubicBezTo>
                  <a:cubicBezTo>
                    <a:pt x="107" y="30"/>
                    <a:pt x="84" y="8"/>
                    <a:pt x="57" y="8"/>
                  </a:cubicBezTo>
                  <a:cubicBezTo>
                    <a:pt x="55" y="8"/>
                    <a:pt x="53" y="8"/>
                    <a:pt x="51" y="8"/>
                  </a:cubicBezTo>
                  <a:cubicBezTo>
                    <a:pt x="26" y="51"/>
                    <a:pt x="26" y="51"/>
                    <a:pt x="26" y="51"/>
                  </a:cubicBezTo>
                  <a:cubicBezTo>
                    <a:pt x="57" y="51"/>
                    <a:pt x="57" y="51"/>
                    <a:pt x="57" y="51"/>
                  </a:cubicBezTo>
                  <a:cubicBezTo>
                    <a:pt x="49" y="65"/>
                    <a:pt x="49" y="65"/>
                    <a:pt x="49" y="65"/>
                  </a:cubicBezTo>
                  <a:cubicBezTo>
                    <a:pt x="10" y="65"/>
                    <a:pt x="10" y="65"/>
                    <a:pt x="10" y="65"/>
                  </a:cubicBezTo>
                  <a:cubicBezTo>
                    <a:pt x="41" y="10"/>
                    <a:pt x="41" y="10"/>
                    <a:pt x="41" y="10"/>
                  </a:cubicBezTo>
                  <a:cubicBezTo>
                    <a:pt x="21" y="17"/>
                    <a:pt x="7" y="36"/>
                    <a:pt x="7" y="58"/>
                  </a:cubicBezTo>
                  <a:cubicBezTo>
                    <a:pt x="7" y="83"/>
                    <a:pt x="25" y="103"/>
                    <a:pt x="49" y="10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2400" dirty="0"/>
            </a:p>
          </p:txBody>
        </p:sp>
        <p:sp>
          <p:nvSpPr>
            <p:cNvPr id="20" name="Freeform 7"/>
            <p:cNvSpPr>
              <a:spLocks noEditPoints="1"/>
            </p:cNvSpPr>
            <p:nvPr userDrawn="1"/>
          </p:nvSpPr>
          <p:spPr bwMode="auto">
            <a:xfrm>
              <a:off x="457" y="2426"/>
              <a:ext cx="1467" cy="125"/>
            </a:xfrm>
            <a:custGeom>
              <a:avLst/>
              <a:gdLst>
                <a:gd name="T0" fmla="*/ 55 w 621"/>
                <a:gd name="T1" fmla="*/ 34 h 53"/>
                <a:gd name="T2" fmla="*/ 53 w 621"/>
                <a:gd name="T3" fmla="*/ 18 h 53"/>
                <a:gd name="T4" fmla="*/ 35 w 621"/>
                <a:gd name="T5" fmla="*/ 7 h 53"/>
                <a:gd name="T6" fmla="*/ 29 w 621"/>
                <a:gd name="T7" fmla="*/ 38 h 53"/>
                <a:gd name="T8" fmla="*/ 45 w 621"/>
                <a:gd name="T9" fmla="*/ 35 h 53"/>
                <a:gd name="T10" fmla="*/ 40 w 621"/>
                <a:gd name="T11" fmla="*/ 24 h 53"/>
                <a:gd name="T12" fmla="*/ 42 w 621"/>
                <a:gd name="T13" fmla="*/ 9 h 53"/>
                <a:gd name="T14" fmla="*/ 81 w 621"/>
                <a:gd name="T15" fmla="*/ 9 h 53"/>
                <a:gd name="T16" fmla="*/ 139 w 621"/>
                <a:gd name="T17" fmla="*/ 9 h 53"/>
                <a:gd name="T18" fmla="*/ 144 w 621"/>
                <a:gd name="T19" fmla="*/ 13 h 53"/>
                <a:gd name="T20" fmla="*/ 155 w 621"/>
                <a:gd name="T21" fmla="*/ 40 h 53"/>
                <a:gd name="T22" fmla="*/ 145 w 621"/>
                <a:gd name="T23" fmla="*/ 18 h 53"/>
                <a:gd name="T24" fmla="*/ 174 w 621"/>
                <a:gd name="T25" fmla="*/ 13 h 53"/>
                <a:gd name="T26" fmla="*/ 182 w 621"/>
                <a:gd name="T27" fmla="*/ 35 h 53"/>
                <a:gd name="T28" fmla="*/ 181 w 621"/>
                <a:gd name="T29" fmla="*/ 18 h 53"/>
                <a:gd name="T30" fmla="*/ 205 w 621"/>
                <a:gd name="T31" fmla="*/ 18 h 53"/>
                <a:gd name="T32" fmla="*/ 217 w 621"/>
                <a:gd name="T33" fmla="*/ 21 h 53"/>
                <a:gd name="T34" fmla="*/ 187 w 621"/>
                <a:gd name="T35" fmla="*/ 41 h 53"/>
                <a:gd name="T36" fmla="*/ 243 w 621"/>
                <a:gd name="T37" fmla="*/ 22 h 53"/>
                <a:gd name="T38" fmla="*/ 241 w 621"/>
                <a:gd name="T39" fmla="*/ 12 h 53"/>
                <a:gd name="T40" fmla="*/ 269 w 621"/>
                <a:gd name="T41" fmla="*/ 36 h 53"/>
                <a:gd name="T42" fmla="*/ 276 w 621"/>
                <a:gd name="T43" fmla="*/ 20 h 53"/>
                <a:gd name="T44" fmla="*/ 260 w 621"/>
                <a:gd name="T45" fmla="*/ 17 h 53"/>
                <a:gd name="T46" fmla="*/ 284 w 621"/>
                <a:gd name="T47" fmla="*/ 19 h 53"/>
                <a:gd name="T48" fmla="*/ 314 w 621"/>
                <a:gd name="T49" fmla="*/ 35 h 53"/>
                <a:gd name="T50" fmla="*/ 326 w 621"/>
                <a:gd name="T51" fmla="*/ 22 h 53"/>
                <a:gd name="T52" fmla="*/ 305 w 621"/>
                <a:gd name="T53" fmla="*/ 22 h 53"/>
                <a:gd name="T54" fmla="*/ 330 w 621"/>
                <a:gd name="T55" fmla="*/ 15 h 53"/>
                <a:gd name="T56" fmla="*/ 367 w 621"/>
                <a:gd name="T57" fmla="*/ 17 h 53"/>
                <a:gd name="T58" fmla="*/ 340 w 621"/>
                <a:gd name="T59" fmla="*/ 19 h 53"/>
                <a:gd name="T60" fmla="*/ 357 w 621"/>
                <a:gd name="T61" fmla="*/ 36 h 53"/>
                <a:gd name="T62" fmla="*/ 358 w 621"/>
                <a:gd name="T63" fmla="*/ 24 h 53"/>
                <a:gd name="T64" fmla="*/ 346 w 621"/>
                <a:gd name="T65" fmla="*/ 23 h 53"/>
                <a:gd name="T66" fmla="*/ 373 w 621"/>
                <a:gd name="T67" fmla="*/ 47 h 53"/>
                <a:gd name="T68" fmla="*/ 383 w 621"/>
                <a:gd name="T69" fmla="*/ 45 h 53"/>
                <a:gd name="T70" fmla="*/ 430 w 621"/>
                <a:gd name="T71" fmla="*/ 2 h 53"/>
                <a:gd name="T72" fmla="*/ 433 w 621"/>
                <a:gd name="T73" fmla="*/ 27 h 53"/>
                <a:gd name="T74" fmla="*/ 420 w 621"/>
                <a:gd name="T75" fmla="*/ 41 h 53"/>
                <a:gd name="T76" fmla="*/ 433 w 621"/>
                <a:gd name="T77" fmla="*/ 18 h 53"/>
                <a:gd name="T78" fmla="*/ 443 w 621"/>
                <a:gd name="T79" fmla="*/ 10 h 53"/>
                <a:gd name="T80" fmla="*/ 449 w 621"/>
                <a:gd name="T81" fmla="*/ 19 h 53"/>
                <a:gd name="T82" fmla="*/ 466 w 621"/>
                <a:gd name="T83" fmla="*/ 36 h 53"/>
                <a:gd name="T84" fmla="*/ 466 w 621"/>
                <a:gd name="T85" fmla="*/ 19 h 53"/>
                <a:gd name="T86" fmla="*/ 492 w 621"/>
                <a:gd name="T87" fmla="*/ 20 h 53"/>
                <a:gd name="T88" fmla="*/ 488 w 621"/>
                <a:gd name="T89" fmla="*/ 18 h 53"/>
                <a:gd name="T90" fmla="*/ 511 w 621"/>
                <a:gd name="T91" fmla="*/ 33 h 53"/>
                <a:gd name="T92" fmla="*/ 535 w 621"/>
                <a:gd name="T93" fmla="*/ 8 h 53"/>
                <a:gd name="T94" fmla="*/ 546 w 621"/>
                <a:gd name="T95" fmla="*/ 23 h 53"/>
                <a:gd name="T96" fmla="*/ 558 w 621"/>
                <a:gd name="T97" fmla="*/ 36 h 53"/>
                <a:gd name="T98" fmla="*/ 567 w 621"/>
                <a:gd name="T99" fmla="*/ 19 h 53"/>
                <a:gd name="T100" fmla="*/ 571 w 621"/>
                <a:gd name="T101" fmla="*/ 19 h 53"/>
                <a:gd name="T102" fmla="*/ 588 w 621"/>
                <a:gd name="T103" fmla="*/ 36 h 53"/>
                <a:gd name="T104" fmla="*/ 588 w 621"/>
                <a:gd name="T105" fmla="*/ 19 h 53"/>
                <a:gd name="T106" fmla="*/ 604 w 621"/>
                <a:gd name="T107" fmla="*/ 15 h 53"/>
                <a:gd name="T108" fmla="*/ 609 w 621"/>
                <a:gd name="T109" fmla="*/ 36 h 53"/>
                <a:gd name="T110" fmla="*/ 613 w 621"/>
                <a:gd name="T111" fmla="*/ 40 h 53"/>
                <a:gd name="T112" fmla="*/ 609 w 621"/>
                <a:gd name="T113" fmla="*/ 1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21" h="53">
                  <a:moveTo>
                    <a:pt x="0" y="41"/>
                  </a:moveTo>
                  <a:cubicBezTo>
                    <a:pt x="22" y="41"/>
                    <a:pt x="22" y="41"/>
                    <a:pt x="22" y="41"/>
                  </a:cubicBezTo>
                  <a:cubicBezTo>
                    <a:pt x="24" y="35"/>
                    <a:pt x="24" y="35"/>
                    <a:pt x="24" y="35"/>
                  </a:cubicBezTo>
                  <a:cubicBezTo>
                    <a:pt x="9" y="35"/>
                    <a:pt x="9" y="35"/>
                    <a:pt x="9" y="35"/>
                  </a:cubicBezTo>
                  <a:cubicBezTo>
                    <a:pt x="16" y="3"/>
                    <a:pt x="16" y="3"/>
                    <a:pt x="16" y="3"/>
                  </a:cubicBezTo>
                  <a:cubicBezTo>
                    <a:pt x="8" y="3"/>
                    <a:pt x="8" y="3"/>
                    <a:pt x="8" y="3"/>
                  </a:cubicBezTo>
                  <a:lnTo>
                    <a:pt x="0" y="41"/>
                  </a:lnTo>
                  <a:close/>
                  <a:moveTo>
                    <a:pt x="51" y="41"/>
                  </a:moveTo>
                  <a:cubicBezTo>
                    <a:pt x="59" y="41"/>
                    <a:pt x="59" y="41"/>
                    <a:pt x="59" y="41"/>
                  </a:cubicBezTo>
                  <a:cubicBezTo>
                    <a:pt x="55" y="34"/>
                    <a:pt x="55" y="34"/>
                    <a:pt x="55" y="34"/>
                  </a:cubicBezTo>
                  <a:cubicBezTo>
                    <a:pt x="56" y="33"/>
                    <a:pt x="57" y="32"/>
                    <a:pt x="58" y="30"/>
                  </a:cubicBezTo>
                  <a:cubicBezTo>
                    <a:pt x="59" y="29"/>
                    <a:pt x="60" y="27"/>
                    <a:pt x="60" y="25"/>
                  </a:cubicBezTo>
                  <a:cubicBezTo>
                    <a:pt x="61" y="24"/>
                    <a:pt x="61" y="22"/>
                    <a:pt x="61" y="20"/>
                  </a:cubicBezTo>
                  <a:cubicBezTo>
                    <a:pt x="55" y="20"/>
                    <a:pt x="55" y="20"/>
                    <a:pt x="55" y="20"/>
                  </a:cubicBezTo>
                  <a:cubicBezTo>
                    <a:pt x="55" y="21"/>
                    <a:pt x="55" y="22"/>
                    <a:pt x="54" y="23"/>
                  </a:cubicBezTo>
                  <a:cubicBezTo>
                    <a:pt x="54" y="24"/>
                    <a:pt x="54" y="25"/>
                    <a:pt x="53" y="26"/>
                  </a:cubicBezTo>
                  <a:cubicBezTo>
                    <a:pt x="53" y="27"/>
                    <a:pt x="52" y="28"/>
                    <a:pt x="51" y="29"/>
                  </a:cubicBezTo>
                  <a:cubicBezTo>
                    <a:pt x="46" y="21"/>
                    <a:pt x="46" y="21"/>
                    <a:pt x="46" y="21"/>
                  </a:cubicBezTo>
                  <a:cubicBezTo>
                    <a:pt x="47" y="21"/>
                    <a:pt x="48" y="20"/>
                    <a:pt x="50" y="20"/>
                  </a:cubicBezTo>
                  <a:cubicBezTo>
                    <a:pt x="51" y="19"/>
                    <a:pt x="52" y="18"/>
                    <a:pt x="53" y="18"/>
                  </a:cubicBezTo>
                  <a:cubicBezTo>
                    <a:pt x="54" y="17"/>
                    <a:pt x="55" y="16"/>
                    <a:pt x="55" y="15"/>
                  </a:cubicBezTo>
                  <a:cubicBezTo>
                    <a:pt x="56" y="14"/>
                    <a:pt x="56" y="12"/>
                    <a:pt x="56" y="11"/>
                  </a:cubicBezTo>
                  <a:cubicBezTo>
                    <a:pt x="56" y="10"/>
                    <a:pt x="56" y="8"/>
                    <a:pt x="55" y="7"/>
                  </a:cubicBezTo>
                  <a:cubicBezTo>
                    <a:pt x="55" y="7"/>
                    <a:pt x="54" y="6"/>
                    <a:pt x="53" y="5"/>
                  </a:cubicBezTo>
                  <a:cubicBezTo>
                    <a:pt x="53" y="4"/>
                    <a:pt x="52" y="4"/>
                    <a:pt x="51" y="3"/>
                  </a:cubicBezTo>
                  <a:cubicBezTo>
                    <a:pt x="50" y="3"/>
                    <a:pt x="49" y="3"/>
                    <a:pt x="48" y="2"/>
                  </a:cubicBezTo>
                  <a:cubicBezTo>
                    <a:pt x="47" y="2"/>
                    <a:pt x="46" y="2"/>
                    <a:pt x="45" y="2"/>
                  </a:cubicBezTo>
                  <a:cubicBezTo>
                    <a:pt x="44" y="2"/>
                    <a:pt x="42" y="2"/>
                    <a:pt x="41" y="3"/>
                  </a:cubicBezTo>
                  <a:cubicBezTo>
                    <a:pt x="40" y="3"/>
                    <a:pt x="39" y="4"/>
                    <a:pt x="37" y="4"/>
                  </a:cubicBezTo>
                  <a:cubicBezTo>
                    <a:pt x="36" y="5"/>
                    <a:pt x="35" y="6"/>
                    <a:pt x="35" y="7"/>
                  </a:cubicBezTo>
                  <a:cubicBezTo>
                    <a:pt x="34" y="9"/>
                    <a:pt x="34" y="10"/>
                    <a:pt x="34" y="12"/>
                  </a:cubicBezTo>
                  <a:cubicBezTo>
                    <a:pt x="34" y="13"/>
                    <a:pt x="34" y="14"/>
                    <a:pt x="34" y="15"/>
                  </a:cubicBezTo>
                  <a:cubicBezTo>
                    <a:pt x="34" y="15"/>
                    <a:pt x="35" y="16"/>
                    <a:pt x="35" y="17"/>
                  </a:cubicBezTo>
                  <a:cubicBezTo>
                    <a:pt x="36" y="17"/>
                    <a:pt x="36" y="18"/>
                    <a:pt x="37" y="19"/>
                  </a:cubicBezTo>
                  <a:cubicBezTo>
                    <a:pt x="35" y="19"/>
                    <a:pt x="34" y="20"/>
                    <a:pt x="33" y="21"/>
                  </a:cubicBezTo>
                  <a:cubicBezTo>
                    <a:pt x="31" y="21"/>
                    <a:pt x="30" y="22"/>
                    <a:pt x="29" y="23"/>
                  </a:cubicBezTo>
                  <a:cubicBezTo>
                    <a:pt x="28" y="24"/>
                    <a:pt x="27" y="25"/>
                    <a:pt x="27" y="26"/>
                  </a:cubicBezTo>
                  <a:cubicBezTo>
                    <a:pt x="26" y="28"/>
                    <a:pt x="26" y="29"/>
                    <a:pt x="26" y="31"/>
                  </a:cubicBezTo>
                  <a:cubicBezTo>
                    <a:pt x="26" y="32"/>
                    <a:pt x="26" y="34"/>
                    <a:pt x="27" y="35"/>
                  </a:cubicBezTo>
                  <a:cubicBezTo>
                    <a:pt x="27" y="36"/>
                    <a:pt x="28" y="37"/>
                    <a:pt x="29" y="38"/>
                  </a:cubicBezTo>
                  <a:cubicBezTo>
                    <a:pt x="30" y="39"/>
                    <a:pt x="31" y="39"/>
                    <a:pt x="32" y="40"/>
                  </a:cubicBezTo>
                  <a:cubicBezTo>
                    <a:pt x="33" y="41"/>
                    <a:pt x="34" y="41"/>
                    <a:pt x="35" y="41"/>
                  </a:cubicBezTo>
                  <a:cubicBezTo>
                    <a:pt x="37" y="41"/>
                    <a:pt x="38" y="42"/>
                    <a:pt x="39" y="42"/>
                  </a:cubicBezTo>
                  <a:cubicBezTo>
                    <a:pt x="40" y="42"/>
                    <a:pt x="41" y="42"/>
                    <a:pt x="42" y="41"/>
                  </a:cubicBezTo>
                  <a:cubicBezTo>
                    <a:pt x="43" y="41"/>
                    <a:pt x="44" y="41"/>
                    <a:pt x="45" y="41"/>
                  </a:cubicBezTo>
                  <a:cubicBezTo>
                    <a:pt x="46" y="41"/>
                    <a:pt x="47" y="40"/>
                    <a:pt x="48" y="40"/>
                  </a:cubicBezTo>
                  <a:cubicBezTo>
                    <a:pt x="48" y="40"/>
                    <a:pt x="49" y="39"/>
                    <a:pt x="50" y="39"/>
                  </a:cubicBezTo>
                  <a:lnTo>
                    <a:pt x="51" y="41"/>
                  </a:lnTo>
                  <a:close/>
                  <a:moveTo>
                    <a:pt x="47" y="34"/>
                  </a:moveTo>
                  <a:cubicBezTo>
                    <a:pt x="46" y="34"/>
                    <a:pt x="45" y="35"/>
                    <a:pt x="45" y="35"/>
                  </a:cubicBezTo>
                  <a:cubicBezTo>
                    <a:pt x="44" y="35"/>
                    <a:pt x="43" y="36"/>
                    <a:pt x="42" y="36"/>
                  </a:cubicBezTo>
                  <a:cubicBezTo>
                    <a:pt x="42" y="36"/>
                    <a:pt x="41" y="36"/>
                    <a:pt x="40" y="36"/>
                  </a:cubicBezTo>
                  <a:cubicBezTo>
                    <a:pt x="39" y="36"/>
                    <a:pt x="38" y="36"/>
                    <a:pt x="38" y="36"/>
                  </a:cubicBezTo>
                  <a:cubicBezTo>
                    <a:pt x="37" y="35"/>
                    <a:pt x="36" y="35"/>
                    <a:pt x="35" y="35"/>
                  </a:cubicBezTo>
                  <a:cubicBezTo>
                    <a:pt x="35" y="34"/>
                    <a:pt x="34" y="34"/>
                    <a:pt x="34" y="33"/>
                  </a:cubicBezTo>
                  <a:cubicBezTo>
                    <a:pt x="34" y="32"/>
                    <a:pt x="33" y="31"/>
                    <a:pt x="33" y="30"/>
                  </a:cubicBezTo>
                  <a:cubicBezTo>
                    <a:pt x="33" y="29"/>
                    <a:pt x="34" y="29"/>
                    <a:pt x="34" y="28"/>
                  </a:cubicBezTo>
                  <a:cubicBezTo>
                    <a:pt x="34" y="27"/>
                    <a:pt x="35" y="27"/>
                    <a:pt x="35" y="26"/>
                  </a:cubicBezTo>
                  <a:cubicBezTo>
                    <a:pt x="36" y="25"/>
                    <a:pt x="37" y="25"/>
                    <a:pt x="37" y="25"/>
                  </a:cubicBezTo>
                  <a:cubicBezTo>
                    <a:pt x="38" y="24"/>
                    <a:pt x="39" y="24"/>
                    <a:pt x="40" y="24"/>
                  </a:cubicBezTo>
                  <a:lnTo>
                    <a:pt x="47" y="34"/>
                  </a:lnTo>
                  <a:close/>
                  <a:moveTo>
                    <a:pt x="50" y="11"/>
                  </a:moveTo>
                  <a:cubicBezTo>
                    <a:pt x="50" y="12"/>
                    <a:pt x="49" y="12"/>
                    <a:pt x="49" y="13"/>
                  </a:cubicBezTo>
                  <a:cubicBezTo>
                    <a:pt x="48" y="14"/>
                    <a:pt x="48" y="14"/>
                    <a:pt x="47" y="15"/>
                  </a:cubicBezTo>
                  <a:cubicBezTo>
                    <a:pt x="47" y="15"/>
                    <a:pt x="46" y="16"/>
                    <a:pt x="45" y="16"/>
                  </a:cubicBezTo>
                  <a:cubicBezTo>
                    <a:pt x="44" y="16"/>
                    <a:pt x="44" y="17"/>
                    <a:pt x="43" y="17"/>
                  </a:cubicBezTo>
                  <a:cubicBezTo>
                    <a:pt x="43" y="16"/>
                    <a:pt x="42" y="16"/>
                    <a:pt x="42" y="15"/>
                  </a:cubicBezTo>
                  <a:cubicBezTo>
                    <a:pt x="42" y="15"/>
                    <a:pt x="41" y="14"/>
                    <a:pt x="41" y="14"/>
                  </a:cubicBezTo>
                  <a:cubicBezTo>
                    <a:pt x="41" y="13"/>
                    <a:pt x="41" y="12"/>
                    <a:pt x="41" y="12"/>
                  </a:cubicBezTo>
                  <a:cubicBezTo>
                    <a:pt x="41" y="11"/>
                    <a:pt x="41" y="10"/>
                    <a:pt x="42" y="9"/>
                  </a:cubicBezTo>
                  <a:cubicBezTo>
                    <a:pt x="42" y="9"/>
                    <a:pt x="43" y="8"/>
                    <a:pt x="43" y="8"/>
                  </a:cubicBezTo>
                  <a:cubicBezTo>
                    <a:pt x="44" y="8"/>
                    <a:pt x="45" y="7"/>
                    <a:pt x="46" y="7"/>
                  </a:cubicBezTo>
                  <a:cubicBezTo>
                    <a:pt x="46" y="7"/>
                    <a:pt x="47" y="7"/>
                    <a:pt x="48" y="8"/>
                  </a:cubicBezTo>
                  <a:cubicBezTo>
                    <a:pt x="48" y="8"/>
                    <a:pt x="49" y="8"/>
                    <a:pt x="49" y="9"/>
                  </a:cubicBezTo>
                  <a:cubicBezTo>
                    <a:pt x="49" y="9"/>
                    <a:pt x="50" y="10"/>
                    <a:pt x="50" y="11"/>
                  </a:cubicBezTo>
                  <a:moveTo>
                    <a:pt x="62" y="9"/>
                  </a:moveTo>
                  <a:cubicBezTo>
                    <a:pt x="73" y="9"/>
                    <a:pt x="73" y="9"/>
                    <a:pt x="73" y="9"/>
                  </a:cubicBezTo>
                  <a:cubicBezTo>
                    <a:pt x="66" y="41"/>
                    <a:pt x="66" y="41"/>
                    <a:pt x="66" y="41"/>
                  </a:cubicBezTo>
                  <a:cubicBezTo>
                    <a:pt x="74" y="41"/>
                    <a:pt x="74" y="41"/>
                    <a:pt x="74" y="41"/>
                  </a:cubicBezTo>
                  <a:cubicBezTo>
                    <a:pt x="81" y="9"/>
                    <a:pt x="81" y="9"/>
                    <a:pt x="81" y="9"/>
                  </a:cubicBezTo>
                  <a:cubicBezTo>
                    <a:pt x="92" y="9"/>
                    <a:pt x="92" y="9"/>
                    <a:pt x="92" y="9"/>
                  </a:cubicBezTo>
                  <a:cubicBezTo>
                    <a:pt x="93" y="3"/>
                    <a:pt x="93" y="3"/>
                    <a:pt x="93" y="3"/>
                  </a:cubicBezTo>
                  <a:cubicBezTo>
                    <a:pt x="64" y="3"/>
                    <a:pt x="64" y="3"/>
                    <a:pt x="64" y="3"/>
                  </a:cubicBezTo>
                  <a:lnTo>
                    <a:pt x="62" y="9"/>
                  </a:lnTo>
                  <a:close/>
                  <a:moveTo>
                    <a:pt x="109" y="9"/>
                  </a:moveTo>
                  <a:cubicBezTo>
                    <a:pt x="120" y="9"/>
                    <a:pt x="120" y="9"/>
                    <a:pt x="120" y="9"/>
                  </a:cubicBezTo>
                  <a:cubicBezTo>
                    <a:pt x="113" y="41"/>
                    <a:pt x="113" y="41"/>
                    <a:pt x="113" y="41"/>
                  </a:cubicBezTo>
                  <a:cubicBezTo>
                    <a:pt x="121" y="41"/>
                    <a:pt x="121" y="41"/>
                    <a:pt x="121" y="41"/>
                  </a:cubicBezTo>
                  <a:cubicBezTo>
                    <a:pt x="128" y="9"/>
                    <a:pt x="128" y="9"/>
                    <a:pt x="128" y="9"/>
                  </a:cubicBezTo>
                  <a:cubicBezTo>
                    <a:pt x="139" y="9"/>
                    <a:pt x="139" y="9"/>
                    <a:pt x="139" y="9"/>
                  </a:cubicBezTo>
                  <a:cubicBezTo>
                    <a:pt x="140" y="3"/>
                    <a:pt x="140" y="3"/>
                    <a:pt x="140" y="3"/>
                  </a:cubicBezTo>
                  <a:cubicBezTo>
                    <a:pt x="111" y="3"/>
                    <a:pt x="111" y="3"/>
                    <a:pt x="111" y="3"/>
                  </a:cubicBezTo>
                  <a:lnTo>
                    <a:pt x="109" y="9"/>
                  </a:lnTo>
                  <a:close/>
                  <a:moveTo>
                    <a:pt x="160" y="29"/>
                  </a:moveTo>
                  <a:cubicBezTo>
                    <a:pt x="160" y="28"/>
                    <a:pt x="160" y="27"/>
                    <a:pt x="160" y="26"/>
                  </a:cubicBezTo>
                  <a:cubicBezTo>
                    <a:pt x="160" y="25"/>
                    <a:pt x="160" y="24"/>
                    <a:pt x="160" y="23"/>
                  </a:cubicBezTo>
                  <a:cubicBezTo>
                    <a:pt x="160" y="20"/>
                    <a:pt x="160" y="18"/>
                    <a:pt x="159" y="17"/>
                  </a:cubicBezTo>
                  <a:cubicBezTo>
                    <a:pt x="158" y="15"/>
                    <a:pt x="157" y="14"/>
                    <a:pt x="155" y="13"/>
                  </a:cubicBezTo>
                  <a:cubicBezTo>
                    <a:pt x="153" y="12"/>
                    <a:pt x="151" y="12"/>
                    <a:pt x="149" y="12"/>
                  </a:cubicBezTo>
                  <a:cubicBezTo>
                    <a:pt x="147" y="12"/>
                    <a:pt x="145" y="12"/>
                    <a:pt x="144" y="13"/>
                  </a:cubicBezTo>
                  <a:cubicBezTo>
                    <a:pt x="142" y="14"/>
                    <a:pt x="141" y="14"/>
                    <a:pt x="139" y="16"/>
                  </a:cubicBezTo>
                  <a:cubicBezTo>
                    <a:pt x="138" y="17"/>
                    <a:pt x="137" y="18"/>
                    <a:pt x="136" y="19"/>
                  </a:cubicBezTo>
                  <a:cubicBezTo>
                    <a:pt x="135" y="21"/>
                    <a:pt x="134" y="22"/>
                    <a:pt x="134" y="24"/>
                  </a:cubicBezTo>
                  <a:cubicBezTo>
                    <a:pt x="133" y="26"/>
                    <a:pt x="133" y="27"/>
                    <a:pt x="133" y="29"/>
                  </a:cubicBezTo>
                  <a:cubicBezTo>
                    <a:pt x="133" y="31"/>
                    <a:pt x="133" y="33"/>
                    <a:pt x="134" y="35"/>
                  </a:cubicBezTo>
                  <a:cubicBezTo>
                    <a:pt x="134" y="36"/>
                    <a:pt x="135" y="38"/>
                    <a:pt x="137" y="39"/>
                  </a:cubicBezTo>
                  <a:cubicBezTo>
                    <a:pt x="138" y="40"/>
                    <a:pt x="139" y="40"/>
                    <a:pt x="141" y="41"/>
                  </a:cubicBezTo>
                  <a:cubicBezTo>
                    <a:pt x="143" y="41"/>
                    <a:pt x="144" y="42"/>
                    <a:pt x="146" y="42"/>
                  </a:cubicBezTo>
                  <a:cubicBezTo>
                    <a:pt x="148" y="42"/>
                    <a:pt x="149" y="41"/>
                    <a:pt x="151" y="41"/>
                  </a:cubicBezTo>
                  <a:cubicBezTo>
                    <a:pt x="153" y="41"/>
                    <a:pt x="154" y="40"/>
                    <a:pt x="155" y="40"/>
                  </a:cubicBezTo>
                  <a:cubicBezTo>
                    <a:pt x="156" y="34"/>
                    <a:pt x="156" y="34"/>
                    <a:pt x="156" y="34"/>
                  </a:cubicBezTo>
                  <a:cubicBezTo>
                    <a:pt x="155" y="35"/>
                    <a:pt x="154" y="35"/>
                    <a:pt x="152" y="36"/>
                  </a:cubicBezTo>
                  <a:cubicBezTo>
                    <a:pt x="151" y="36"/>
                    <a:pt x="149" y="36"/>
                    <a:pt x="148" y="36"/>
                  </a:cubicBezTo>
                  <a:cubicBezTo>
                    <a:pt x="146" y="36"/>
                    <a:pt x="145" y="36"/>
                    <a:pt x="143" y="36"/>
                  </a:cubicBezTo>
                  <a:cubicBezTo>
                    <a:pt x="142" y="35"/>
                    <a:pt x="141" y="34"/>
                    <a:pt x="141" y="33"/>
                  </a:cubicBezTo>
                  <a:cubicBezTo>
                    <a:pt x="140" y="32"/>
                    <a:pt x="140" y="31"/>
                    <a:pt x="140" y="29"/>
                  </a:cubicBezTo>
                  <a:lnTo>
                    <a:pt x="160" y="29"/>
                  </a:lnTo>
                  <a:close/>
                  <a:moveTo>
                    <a:pt x="141" y="24"/>
                  </a:moveTo>
                  <a:cubicBezTo>
                    <a:pt x="141" y="23"/>
                    <a:pt x="142" y="22"/>
                    <a:pt x="143" y="21"/>
                  </a:cubicBezTo>
                  <a:cubicBezTo>
                    <a:pt x="143" y="20"/>
                    <a:pt x="144" y="19"/>
                    <a:pt x="145" y="18"/>
                  </a:cubicBezTo>
                  <a:cubicBezTo>
                    <a:pt x="146" y="18"/>
                    <a:pt x="147" y="17"/>
                    <a:pt x="149" y="17"/>
                  </a:cubicBezTo>
                  <a:cubicBezTo>
                    <a:pt x="150" y="17"/>
                    <a:pt x="151" y="18"/>
                    <a:pt x="152" y="19"/>
                  </a:cubicBezTo>
                  <a:cubicBezTo>
                    <a:pt x="153" y="19"/>
                    <a:pt x="153" y="21"/>
                    <a:pt x="153" y="22"/>
                  </a:cubicBezTo>
                  <a:cubicBezTo>
                    <a:pt x="153" y="22"/>
                    <a:pt x="153" y="23"/>
                    <a:pt x="153" y="23"/>
                  </a:cubicBezTo>
                  <a:cubicBezTo>
                    <a:pt x="153" y="23"/>
                    <a:pt x="153" y="24"/>
                    <a:pt x="153" y="24"/>
                  </a:cubicBezTo>
                  <a:lnTo>
                    <a:pt x="141" y="24"/>
                  </a:lnTo>
                  <a:close/>
                  <a:moveTo>
                    <a:pt x="188" y="13"/>
                  </a:moveTo>
                  <a:cubicBezTo>
                    <a:pt x="187" y="13"/>
                    <a:pt x="186" y="13"/>
                    <a:pt x="184" y="12"/>
                  </a:cubicBezTo>
                  <a:cubicBezTo>
                    <a:pt x="183" y="12"/>
                    <a:pt x="182" y="12"/>
                    <a:pt x="180" y="12"/>
                  </a:cubicBezTo>
                  <a:cubicBezTo>
                    <a:pt x="178" y="12"/>
                    <a:pt x="176" y="12"/>
                    <a:pt x="174" y="13"/>
                  </a:cubicBezTo>
                  <a:cubicBezTo>
                    <a:pt x="172" y="14"/>
                    <a:pt x="170" y="15"/>
                    <a:pt x="168" y="17"/>
                  </a:cubicBezTo>
                  <a:cubicBezTo>
                    <a:pt x="167" y="19"/>
                    <a:pt x="166" y="20"/>
                    <a:pt x="165" y="23"/>
                  </a:cubicBezTo>
                  <a:cubicBezTo>
                    <a:pt x="164" y="25"/>
                    <a:pt x="164" y="27"/>
                    <a:pt x="164" y="29"/>
                  </a:cubicBezTo>
                  <a:cubicBezTo>
                    <a:pt x="164" y="32"/>
                    <a:pt x="164" y="34"/>
                    <a:pt x="165" y="36"/>
                  </a:cubicBezTo>
                  <a:cubicBezTo>
                    <a:pt x="166" y="38"/>
                    <a:pt x="168" y="39"/>
                    <a:pt x="169" y="40"/>
                  </a:cubicBezTo>
                  <a:cubicBezTo>
                    <a:pt x="171" y="41"/>
                    <a:pt x="173" y="42"/>
                    <a:pt x="176" y="42"/>
                  </a:cubicBezTo>
                  <a:cubicBezTo>
                    <a:pt x="177" y="42"/>
                    <a:pt x="178" y="41"/>
                    <a:pt x="179" y="41"/>
                  </a:cubicBezTo>
                  <a:cubicBezTo>
                    <a:pt x="181" y="41"/>
                    <a:pt x="182" y="41"/>
                    <a:pt x="183" y="40"/>
                  </a:cubicBezTo>
                  <a:cubicBezTo>
                    <a:pt x="184" y="34"/>
                    <a:pt x="184" y="34"/>
                    <a:pt x="184" y="34"/>
                  </a:cubicBezTo>
                  <a:cubicBezTo>
                    <a:pt x="183" y="35"/>
                    <a:pt x="182" y="35"/>
                    <a:pt x="182" y="35"/>
                  </a:cubicBezTo>
                  <a:cubicBezTo>
                    <a:pt x="181" y="35"/>
                    <a:pt x="180" y="36"/>
                    <a:pt x="180" y="36"/>
                  </a:cubicBezTo>
                  <a:cubicBezTo>
                    <a:pt x="179" y="36"/>
                    <a:pt x="178" y="36"/>
                    <a:pt x="178" y="36"/>
                  </a:cubicBezTo>
                  <a:cubicBezTo>
                    <a:pt x="176" y="36"/>
                    <a:pt x="175" y="36"/>
                    <a:pt x="175" y="35"/>
                  </a:cubicBezTo>
                  <a:cubicBezTo>
                    <a:pt x="174" y="35"/>
                    <a:pt x="173" y="34"/>
                    <a:pt x="173" y="34"/>
                  </a:cubicBezTo>
                  <a:cubicBezTo>
                    <a:pt x="172" y="33"/>
                    <a:pt x="172" y="32"/>
                    <a:pt x="172" y="31"/>
                  </a:cubicBezTo>
                  <a:cubicBezTo>
                    <a:pt x="172" y="30"/>
                    <a:pt x="171" y="29"/>
                    <a:pt x="171" y="29"/>
                  </a:cubicBezTo>
                  <a:cubicBezTo>
                    <a:pt x="171" y="27"/>
                    <a:pt x="172" y="26"/>
                    <a:pt x="172" y="25"/>
                  </a:cubicBezTo>
                  <a:cubicBezTo>
                    <a:pt x="172" y="23"/>
                    <a:pt x="173" y="22"/>
                    <a:pt x="174" y="21"/>
                  </a:cubicBezTo>
                  <a:cubicBezTo>
                    <a:pt x="175" y="20"/>
                    <a:pt x="176" y="19"/>
                    <a:pt x="177" y="19"/>
                  </a:cubicBezTo>
                  <a:cubicBezTo>
                    <a:pt x="178" y="18"/>
                    <a:pt x="179" y="18"/>
                    <a:pt x="181" y="18"/>
                  </a:cubicBezTo>
                  <a:cubicBezTo>
                    <a:pt x="182" y="18"/>
                    <a:pt x="183" y="18"/>
                    <a:pt x="184" y="18"/>
                  </a:cubicBezTo>
                  <a:cubicBezTo>
                    <a:pt x="184" y="18"/>
                    <a:pt x="185" y="19"/>
                    <a:pt x="186" y="19"/>
                  </a:cubicBezTo>
                  <a:lnTo>
                    <a:pt x="188" y="13"/>
                  </a:lnTo>
                  <a:close/>
                  <a:moveTo>
                    <a:pt x="187" y="41"/>
                  </a:moveTo>
                  <a:cubicBezTo>
                    <a:pt x="194" y="41"/>
                    <a:pt x="194" y="41"/>
                    <a:pt x="194" y="41"/>
                  </a:cubicBezTo>
                  <a:cubicBezTo>
                    <a:pt x="197" y="27"/>
                    <a:pt x="197" y="27"/>
                    <a:pt x="197" y="27"/>
                  </a:cubicBezTo>
                  <a:cubicBezTo>
                    <a:pt x="198" y="26"/>
                    <a:pt x="198" y="25"/>
                    <a:pt x="198" y="24"/>
                  </a:cubicBezTo>
                  <a:cubicBezTo>
                    <a:pt x="199" y="22"/>
                    <a:pt x="199" y="22"/>
                    <a:pt x="200" y="21"/>
                  </a:cubicBezTo>
                  <a:cubicBezTo>
                    <a:pt x="200" y="20"/>
                    <a:pt x="201" y="19"/>
                    <a:pt x="202" y="19"/>
                  </a:cubicBezTo>
                  <a:cubicBezTo>
                    <a:pt x="203" y="18"/>
                    <a:pt x="204" y="18"/>
                    <a:pt x="205" y="18"/>
                  </a:cubicBezTo>
                  <a:cubicBezTo>
                    <a:pt x="206" y="18"/>
                    <a:pt x="207" y="18"/>
                    <a:pt x="207" y="18"/>
                  </a:cubicBezTo>
                  <a:cubicBezTo>
                    <a:pt x="208" y="19"/>
                    <a:pt x="208" y="19"/>
                    <a:pt x="209" y="20"/>
                  </a:cubicBezTo>
                  <a:cubicBezTo>
                    <a:pt x="209" y="20"/>
                    <a:pt x="209" y="21"/>
                    <a:pt x="209" y="22"/>
                  </a:cubicBezTo>
                  <a:cubicBezTo>
                    <a:pt x="209" y="23"/>
                    <a:pt x="209" y="24"/>
                    <a:pt x="209" y="25"/>
                  </a:cubicBezTo>
                  <a:cubicBezTo>
                    <a:pt x="209" y="26"/>
                    <a:pt x="209" y="27"/>
                    <a:pt x="208" y="28"/>
                  </a:cubicBezTo>
                  <a:cubicBezTo>
                    <a:pt x="206" y="41"/>
                    <a:pt x="206" y="41"/>
                    <a:pt x="206" y="41"/>
                  </a:cubicBezTo>
                  <a:cubicBezTo>
                    <a:pt x="213" y="41"/>
                    <a:pt x="213" y="41"/>
                    <a:pt x="213" y="41"/>
                  </a:cubicBezTo>
                  <a:cubicBezTo>
                    <a:pt x="216" y="27"/>
                    <a:pt x="216" y="27"/>
                    <a:pt x="216" y="27"/>
                  </a:cubicBezTo>
                  <a:cubicBezTo>
                    <a:pt x="216" y="26"/>
                    <a:pt x="216" y="25"/>
                    <a:pt x="217" y="24"/>
                  </a:cubicBezTo>
                  <a:cubicBezTo>
                    <a:pt x="217" y="23"/>
                    <a:pt x="217" y="22"/>
                    <a:pt x="217" y="21"/>
                  </a:cubicBezTo>
                  <a:cubicBezTo>
                    <a:pt x="217" y="19"/>
                    <a:pt x="217" y="18"/>
                    <a:pt x="216" y="16"/>
                  </a:cubicBezTo>
                  <a:cubicBezTo>
                    <a:pt x="215" y="15"/>
                    <a:pt x="214" y="14"/>
                    <a:pt x="213" y="13"/>
                  </a:cubicBezTo>
                  <a:cubicBezTo>
                    <a:pt x="211" y="12"/>
                    <a:pt x="210" y="12"/>
                    <a:pt x="208" y="12"/>
                  </a:cubicBezTo>
                  <a:cubicBezTo>
                    <a:pt x="207" y="12"/>
                    <a:pt x="206" y="12"/>
                    <a:pt x="205" y="13"/>
                  </a:cubicBezTo>
                  <a:cubicBezTo>
                    <a:pt x="204" y="13"/>
                    <a:pt x="203" y="13"/>
                    <a:pt x="202" y="14"/>
                  </a:cubicBezTo>
                  <a:cubicBezTo>
                    <a:pt x="201" y="14"/>
                    <a:pt x="200" y="15"/>
                    <a:pt x="200" y="15"/>
                  </a:cubicBezTo>
                  <a:cubicBezTo>
                    <a:pt x="200" y="15"/>
                    <a:pt x="200" y="15"/>
                    <a:pt x="200" y="15"/>
                  </a:cubicBezTo>
                  <a:cubicBezTo>
                    <a:pt x="203" y="0"/>
                    <a:pt x="203" y="0"/>
                    <a:pt x="203" y="0"/>
                  </a:cubicBezTo>
                  <a:cubicBezTo>
                    <a:pt x="196" y="0"/>
                    <a:pt x="196" y="0"/>
                    <a:pt x="196" y="0"/>
                  </a:cubicBezTo>
                  <a:lnTo>
                    <a:pt x="187" y="41"/>
                  </a:lnTo>
                  <a:close/>
                  <a:moveTo>
                    <a:pt x="221" y="41"/>
                  </a:moveTo>
                  <a:cubicBezTo>
                    <a:pt x="228" y="41"/>
                    <a:pt x="228" y="41"/>
                    <a:pt x="228" y="41"/>
                  </a:cubicBezTo>
                  <a:cubicBezTo>
                    <a:pt x="231" y="27"/>
                    <a:pt x="231" y="27"/>
                    <a:pt x="231" y="27"/>
                  </a:cubicBezTo>
                  <a:cubicBezTo>
                    <a:pt x="231" y="26"/>
                    <a:pt x="231" y="25"/>
                    <a:pt x="232" y="24"/>
                  </a:cubicBezTo>
                  <a:cubicBezTo>
                    <a:pt x="232" y="22"/>
                    <a:pt x="233" y="22"/>
                    <a:pt x="233" y="21"/>
                  </a:cubicBezTo>
                  <a:cubicBezTo>
                    <a:pt x="234" y="20"/>
                    <a:pt x="235" y="19"/>
                    <a:pt x="236" y="19"/>
                  </a:cubicBezTo>
                  <a:cubicBezTo>
                    <a:pt x="236" y="18"/>
                    <a:pt x="237" y="18"/>
                    <a:pt x="239" y="18"/>
                  </a:cubicBezTo>
                  <a:cubicBezTo>
                    <a:pt x="240" y="18"/>
                    <a:pt x="240" y="18"/>
                    <a:pt x="241" y="18"/>
                  </a:cubicBezTo>
                  <a:cubicBezTo>
                    <a:pt x="241" y="19"/>
                    <a:pt x="242" y="19"/>
                    <a:pt x="242" y="20"/>
                  </a:cubicBezTo>
                  <a:cubicBezTo>
                    <a:pt x="243" y="20"/>
                    <a:pt x="243" y="21"/>
                    <a:pt x="243" y="22"/>
                  </a:cubicBezTo>
                  <a:cubicBezTo>
                    <a:pt x="243" y="23"/>
                    <a:pt x="243" y="24"/>
                    <a:pt x="242" y="25"/>
                  </a:cubicBezTo>
                  <a:cubicBezTo>
                    <a:pt x="242" y="26"/>
                    <a:pt x="242" y="27"/>
                    <a:pt x="242" y="28"/>
                  </a:cubicBezTo>
                  <a:cubicBezTo>
                    <a:pt x="239" y="41"/>
                    <a:pt x="239" y="41"/>
                    <a:pt x="239" y="41"/>
                  </a:cubicBezTo>
                  <a:cubicBezTo>
                    <a:pt x="247" y="41"/>
                    <a:pt x="247" y="41"/>
                    <a:pt x="247" y="41"/>
                  </a:cubicBezTo>
                  <a:cubicBezTo>
                    <a:pt x="249" y="27"/>
                    <a:pt x="249" y="27"/>
                    <a:pt x="249" y="27"/>
                  </a:cubicBezTo>
                  <a:cubicBezTo>
                    <a:pt x="250" y="26"/>
                    <a:pt x="250" y="25"/>
                    <a:pt x="250" y="24"/>
                  </a:cubicBezTo>
                  <a:cubicBezTo>
                    <a:pt x="250" y="23"/>
                    <a:pt x="250" y="22"/>
                    <a:pt x="250" y="21"/>
                  </a:cubicBezTo>
                  <a:cubicBezTo>
                    <a:pt x="250" y="19"/>
                    <a:pt x="250" y="18"/>
                    <a:pt x="249" y="16"/>
                  </a:cubicBezTo>
                  <a:cubicBezTo>
                    <a:pt x="249" y="15"/>
                    <a:pt x="247" y="14"/>
                    <a:pt x="246" y="13"/>
                  </a:cubicBezTo>
                  <a:cubicBezTo>
                    <a:pt x="245" y="12"/>
                    <a:pt x="243" y="12"/>
                    <a:pt x="241" y="12"/>
                  </a:cubicBezTo>
                  <a:cubicBezTo>
                    <a:pt x="240" y="12"/>
                    <a:pt x="239" y="12"/>
                    <a:pt x="238" y="13"/>
                  </a:cubicBezTo>
                  <a:cubicBezTo>
                    <a:pt x="237" y="13"/>
                    <a:pt x="236" y="13"/>
                    <a:pt x="235" y="14"/>
                  </a:cubicBezTo>
                  <a:cubicBezTo>
                    <a:pt x="235" y="14"/>
                    <a:pt x="234" y="15"/>
                    <a:pt x="233" y="15"/>
                  </a:cubicBezTo>
                  <a:cubicBezTo>
                    <a:pt x="233" y="15"/>
                    <a:pt x="233" y="15"/>
                    <a:pt x="233" y="15"/>
                  </a:cubicBezTo>
                  <a:cubicBezTo>
                    <a:pt x="234" y="13"/>
                    <a:pt x="234" y="13"/>
                    <a:pt x="234" y="13"/>
                  </a:cubicBezTo>
                  <a:cubicBezTo>
                    <a:pt x="226" y="13"/>
                    <a:pt x="226" y="13"/>
                    <a:pt x="226" y="13"/>
                  </a:cubicBezTo>
                  <a:cubicBezTo>
                    <a:pt x="226" y="13"/>
                    <a:pt x="226" y="14"/>
                    <a:pt x="226" y="14"/>
                  </a:cubicBezTo>
                  <a:cubicBezTo>
                    <a:pt x="226" y="15"/>
                    <a:pt x="226" y="16"/>
                    <a:pt x="226" y="17"/>
                  </a:cubicBezTo>
                  <a:lnTo>
                    <a:pt x="221" y="41"/>
                  </a:lnTo>
                  <a:close/>
                  <a:moveTo>
                    <a:pt x="269" y="36"/>
                  </a:moveTo>
                  <a:cubicBezTo>
                    <a:pt x="267" y="36"/>
                    <a:pt x="266" y="36"/>
                    <a:pt x="265" y="35"/>
                  </a:cubicBezTo>
                  <a:cubicBezTo>
                    <a:pt x="264" y="34"/>
                    <a:pt x="264" y="34"/>
                    <a:pt x="263" y="33"/>
                  </a:cubicBezTo>
                  <a:cubicBezTo>
                    <a:pt x="263" y="32"/>
                    <a:pt x="263" y="30"/>
                    <a:pt x="263" y="29"/>
                  </a:cubicBezTo>
                  <a:cubicBezTo>
                    <a:pt x="263" y="28"/>
                    <a:pt x="263" y="27"/>
                    <a:pt x="263" y="26"/>
                  </a:cubicBezTo>
                  <a:cubicBezTo>
                    <a:pt x="263" y="25"/>
                    <a:pt x="264" y="24"/>
                    <a:pt x="264" y="23"/>
                  </a:cubicBezTo>
                  <a:cubicBezTo>
                    <a:pt x="265" y="22"/>
                    <a:pt x="265" y="21"/>
                    <a:pt x="266" y="20"/>
                  </a:cubicBezTo>
                  <a:cubicBezTo>
                    <a:pt x="267" y="20"/>
                    <a:pt x="267" y="19"/>
                    <a:pt x="268" y="18"/>
                  </a:cubicBezTo>
                  <a:cubicBezTo>
                    <a:pt x="269" y="18"/>
                    <a:pt x="270" y="18"/>
                    <a:pt x="271" y="18"/>
                  </a:cubicBezTo>
                  <a:cubicBezTo>
                    <a:pt x="273" y="18"/>
                    <a:pt x="273" y="18"/>
                    <a:pt x="274" y="18"/>
                  </a:cubicBezTo>
                  <a:cubicBezTo>
                    <a:pt x="275" y="19"/>
                    <a:pt x="275" y="19"/>
                    <a:pt x="276" y="20"/>
                  </a:cubicBezTo>
                  <a:cubicBezTo>
                    <a:pt x="276" y="20"/>
                    <a:pt x="277" y="21"/>
                    <a:pt x="277" y="22"/>
                  </a:cubicBezTo>
                  <a:cubicBezTo>
                    <a:pt x="277" y="23"/>
                    <a:pt x="277" y="24"/>
                    <a:pt x="277" y="24"/>
                  </a:cubicBezTo>
                  <a:cubicBezTo>
                    <a:pt x="277" y="25"/>
                    <a:pt x="277" y="26"/>
                    <a:pt x="277" y="28"/>
                  </a:cubicBezTo>
                  <a:cubicBezTo>
                    <a:pt x="277" y="29"/>
                    <a:pt x="276" y="30"/>
                    <a:pt x="276" y="31"/>
                  </a:cubicBezTo>
                  <a:cubicBezTo>
                    <a:pt x="275" y="32"/>
                    <a:pt x="275" y="32"/>
                    <a:pt x="274" y="33"/>
                  </a:cubicBezTo>
                  <a:cubicBezTo>
                    <a:pt x="273" y="34"/>
                    <a:pt x="273" y="35"/>
                    <a:pt x="272" y="35"/>
                  </a:cubicBezTo>
                  <a:cubicBezTo>
                    <a:pt x="271" y="36"/>
                    <a:pt x="270" y="36"/>
                    <a:pt x="269" y="36"/>
                  </a:cubicBezTo>
                  <a:moveTo>
                    <a:pt x="272" y="12"/>
                  </a:moveTo>
                  <a:cubicBezTo>
                    <a:pt x="269" y="12"/>
                    <a:pt x="267" y="12"/>
                    <a:pt x="265" y="13"/>
                  </a:cubicBezTo>
                  <a:cubicBezTo>
                    <a:pt x="263" y="14"/>
                    <a:pt x="261" y="15"/>
                    <a:pt x="260" y="17"/>
                  </a:cubicBezTo>
                  <a:cubicBezTo>
                    <a:pt x="258" y="18"/>
                    <a:pt x="257" y="20"/>
                    <a:pt x="256" y="22"/>
                  </a:cubicBezTo>
                  <a:cubicBezTo>
                    <a:pt x="256" y="24"/>
                    <a:pt x="255" y="26"/>
                    <a:pt x="255" y="29"/>
                  </a:cubicBezTo>
                  <a:cubicBezTo>
                    <a:pt x="255" y="31"/>
                    <a:pt x="256" y="34"/>
                    <a:pt x="257" y="36"/>
                  </a:cubicBezTo>
                  <a:cubicBezTo>
                    <a:pt x="258" y="37"/>
                    <a:pt x="259" y="39"/>
                    <a:pt x="261" y="40"/>
                  </a:cubicBezTo>
                  <a:cubicBezTo>
                    <a:pt x="263" y="41"/>
                    <a:pt x="265" y="42"/>
                    <a:pt x="268" y="42"/>
                  </a:cubicBezTo>
                  <a:cubicBezTo>
                    <a:pt x="270" y="42"/>
                    <a:pt x="273" y="41"/>
                    <a:pt x="275" y="40"/>
                  </a:cubicBezTo>
                  <a:cubicBezTo>
                    <a:pt x="277" y="39"/>
                    <a:pt x="279" y="38"/>
                    <a:pt x="280" y="37"/>
                  </a:cubicBezTo>
                  <a:cubicBezTo>
                    <a:pt x="282" y="35"/>
                    <a:pt x="283" y="33"/>
                    <a:pt x="284" y="31"/>
                  </a:cubicBezTo>
                  <a:cubicBezTo>
                    <a:pt x="284" y="29"/>
                    <a:pt x="285" y="27"/>
                    <a:pt x="285" y="24"/>
                  </a:cubicBezTo>
                  <a:cubicBezTo>
                    <a:pt x="285" y="22"/>
                    <a:pt x="284" y="21"/>
                    <a:pt x="284" y="19"/>
                  </a:cubicBezTo>
                  <a:cubicBezTo>
                    <a:pt x="283" y="18"/>
                    <a:pt x="282" y="16"/>
                    <a:pt x="281" y="15"/>
                  </a:cubicBezTo>
                  <a:cubicBezTo>
                    <a:pt x="280" y="14"/>
                    <a:pt x="279" y="13"/>
                    <a:pt x="277" y="13"/>
                  </a:cubicBezTo>
                  <a:cubicBezTo>
                    <a:pt x="275" y="12"/>
                    <a:pt x="274" y="12"/>
                    <a:pt x="272" y="12"/>
                  </a:cubicBezTo>
                  <a:moveTo>
                    <a:pt x="287" y="41"/>
                  </a:moveTo>
                  <a:cubicBezTo>
                    <a:pt x="295" y="41"/>
                    <a:pt x="295" y="41"/>
                    <a:pt x="295" y="41"/>
                  </a:cubicBezTo>
                  <a:cubicBezTo>
                    <a:pt x="304" y="0"/>
                    <a:pt x="304" y="0"/>
                    <a:pt x="304" y="0"/>
                  </a:cubicBezTo>
                  <a:cubicBezTo>
                    <a:pt x="296" y="0"/>
                    <a:pt x="296" y="0"/>
                    <a:pt x="296" y="0"/>
                  </a:cubicBezTo>
                  <a:lnTo>
                    <a:pt x="287" y="41"/>
                  </a:lnTo>
                  <a:close/>
                  <a:moveTo>
                    <a:pt x="317" y="36"/>
                  </a:moveTo>
                  <a:cubicBezTo>
                    <a:pt x="316" y="36"/>
                    <a:pt x="315" y="36"/>
                    <a:pt x="314" y="35"/>
                  </a:cubicBezTo>
                  <a:cubicBezTo>
                    <a:pt x="313" y="34"/>
                    <a:pt x="312" y="34"/>
                    <a:pt x="312" y="33"/>
                  </a:cubicBezTo>
                  <a:cubicBezTo>
                    <a:pt x="312" y="32"/>
                    <a:pt x="311" y="30"/>
                    <a:pt x="311" y="29"/>
                  </a:cubicBezTo>
                  <a:cubicBezTo>
                    <a:pt x="311" y="28"/>
                    <a:pt x="312" y="27"/>
                    <a:pt x="312" y="26"/>
                  </a:cubicBezTo>
                  <a:cubicBezTo>
                    <a:pt x="312" y="25"/>
                    <a:pt x="312" y="24"/>
                    <a:pt x="313" y="23"/>
                  </a:cubicBezTo>
                  <a:cubicBezTo>
                    <a:pt x="313" y="22"/>
                    <a:pt x="314" y="21"/>
                    <a:pt x="315" y="20"/>
                  </a:cubicBezTo>
                  <a:cubicBezTo>
                    <a:pt x="315" y="20"/>
                    <a:pt x="316" y="19"/>
                    <a:pt x="317" y="18"/>
                  </a:cubicBezTo>
                  <a:cubicBezTo>
                    <a:pt x="318" y="18"/>
                    <a:pt x="319" y="18"/>
                    <a:pt x="320" y="18"/>
                  </a:cubicBezTo>
                  <a:cubicBezTo>
                    <a:pt x="321" y="18"/>
                    <a:pt x="322" y="18"/>
                    <a:pt x="323" y="18"/>
                  </a:cubicBezTo>
                  <a:cubicBezTo>
                    <a:pt x="324" y="19"/>
                    <a:pt x="324" y="19"/>
                    <a:pt x="325" y="20"/>
                  </a:cubicBezTo>
                  <a:cubicBezTo>
                    <a:pt x="325" y="20"/>
                    <a:pt x="325" y="21"/>
                    <a:pt x="326" y="22"/>
                  </a:cubicBezTo>
                  <a:cubicBezTo>
                    <a:pt x="326" y="23"/>
                    <a:pt x="326" y="24"/>
                    <a:pt x="326" y="24"/>
                  </a:cubicBezTo>
                  <a:cubicBezTo>
                    <a:pt x="326" y="25"/>
                    <a:pt x="326" y="26"/>
                    <a:pt x="325" y="28"/>
                  </a:cubicBezTo>
                  <a:cubicBezTo>
                    <a:pt x="325" y="29"/>
                    <a:pt x="325" y="30"/>
                    <a:pt x="324" y="31"/>
                  </a:cubicBezTo>
                  <a:cubicBezTo>
                    <a:pt x="324" y="32"/>
                    <a:pt x="323" y="32"/>
                    <a:pt x="323" y="33"/>
                  </a:cubicBezTo>
                  <a:cubicBezTo>
                    <a:pt x="322" y="34"/>
                    <a:pt x="321" y="35"/>
                    <a:pt x="320" y="35"/>
                  </a:cubicBezTo>
                  <a:cubicBezTo>
                    <a:pt x="319" y="36"/>
                    <a:pt x="318" y="36"/>
                    <a:pt x="317" y="36"/>
                  </a:cubicBezTo>
                  <a:moveTo>
                    <a:pt x="321" y="12"/>
                  </a:moveTo>
                  <a:cubicBezTo>
                    <a:pt x="318" y="12"/>
                    <a:pt x="316" y="12"/>
                    <a:pt x="314" y="13"/>
                  </a:cubicBezTo>
                  <a:cubicBezTo>
                    <a:pt x="312" y="14"/>
                    <a:pt x="310" y="15"/>
                    <a:pt x="309" y="17"/>
                  </a:cubicBezTo>
                  <a:cubicBezTo>
                    <a:pt x="307" y="18"/>
                    <a:pt x="306" y="20"/>
                    <a:pt x="305" y="22"/>
                  </a:cubicBezTo>
                  <a:cubicBezTo>
                    <a:pt x="304" y="24"/>
                    <a:pt x="304" y="26"/>
                    <a:pt x="304" y="29"/>
                  </a:cubicBezTo>
                  <a:cubicBezTo>
                    <a:pt x="304" y="31"/>
                    <a:pt x="304" y="34"/>
                    <a:pt x="305" y="36"/>
                  </a:cubicBezTo>
                  <a:cubicBezTo>
                    <a:pt x="306" y="37"/>
                    <a:pt x="308" y="39"/>
                    <a:pt x="310" y="40"/>
                  </a:cubicBezTo>
                  <a:cubicBezTo>
                    <a:pt x="312" y="41"/>
                    <a:pt x="314" y="42"/>
                    <a:pt x="317" y="42"/>
                  </a:cubicBezTo>
                  <a:cubicBezTo>
                    <a:pt x="319" y="42"/>
                    <a:pt x="321" y="41"/>
                    <a:pt x="323" y="40"/>
                  </a:cubicBezTo>
                  <a:cubicBezTo>
                    <a:pt x="326" y="39"/>
                    <a:pt x="327" y="38"/>
                    <a:pt x="329" y="37"/>
                  </a:cubicBezTo>
                  <a:cubicBezTo>
                    <a:pt x="330" y="35"/>
                    <a:pt x="331" y="33"/>
                    <a:pt x="332" y="31"/>
                  </a:cubicBezTo>
                  <a:cubicBezTo>
                    <a:pt x="333" y="29"/>
                    <a:pt x="333" y="27"/>
                    <a:pt x="333" y="24"/>
                  </a:cubicBezTo>
                  <a:cubicBezTo>
                    <a:pt x="333" y="22"/>
                    <a:pt x="333" y="21"/>
                    <a:pt x="332" y="19"/>
                  </a:cubicBezTo>
                  <a:cubicBezTo>
                    <a:pt x="332" y="18"/>
                    <a:pt x="331" y="16"/>
                    <a:pt x="330" y="15"/>
                  </a:cubicBezTo>
                  <a:cubicBezTo>
                    <a:pt x="329" y="14"/>
                    <a:pt x="327" y="13"/>
                    <a:pt x="326" y="13"/>
                  </a:cubicBezTo>
                  <a:cubicBezTo>
                    <a:pt x="324" y="12"/>
                    <a:pt x="322" y="12"/>
                    <a:pt x="321" y="12"/>
                  </a:cubicBezTo>
                  <a:moveTo>
                    <a:pt x="335" y="51"/>
                  </a:moveTo>
                  <a:cubicBezTo>
                    <a:pt x="337" y="52"/>
                    <a:pt x="339" y="52"/>
                    <a:pt x="341" y="53"/>
                  </a:cubicBezTo>
                  <a:cubicBezTo>
                    <a:pt x="343" y="53"/>
                    <a:pt x="345" y="53"/>
                    <a:pt x="347" y="53"/>
                  </a:cubicBezTo>
                  <a:cubicBezTo>
                    <a:pt x="349" y="53"/>
                    <a:pt x="351" y="53"/>
                    <a:pt x="353" y="52"/>
                  </a:cubicBezTo>
                  <a:cubicBezTo>
                    <a:pt x="355" y="51"/>
                    <a:pt x="357" y="50"/>
                    <a:pt x="358" y="49"/>
                  </a:cubicBezTo>
                  <a:cubicBezTo>
                    <a:pt x="359" y="48"/>
                    <a:pt x="360" y="46"/>
                    <a:pt x="361" y="44"/>
                  </a:cubicBezTo>
                  <a:cubicBezTo>
                    <a:pt x="362" y="42"/>
                    <a:pt x="362" y="40"/>
                    <a:pt x="363" y="38"/>
                  </a:cubicBezTo>
                  <a:cubicBezTo>
                    <a:pt x="367" y="17"/>
                    <a:pt x="367" y="17"/>
                    <a:pt x="367" y="17"/>
                  </a:cubicBezTo>
                  <a:cubicBezTo>
                    <a:pt x="367" y="16"/>
                    <a:pt x="368" y="15"/>
                    <a:pt x="368" y="14"/>
                  </a:cubicBezTo>
                  <a:cubicBezTo>
                    <a:pt x="368" y="14"/>
                    <a:pt x="368" y="13"/>
                    <a:pt x="368" y="13"/>
                  </a:cubicBezTo>
                  <a:cubicBezTo>
                    <a:pt x="361" y="13"/>
                    <a:pt x="361" y="13"/>
                    <a:pt x="361" y="13"/>
                  </a:cubicBezTo>
                  <a:cubicBezTo>
                    <a:pt x="360" y="17"/>
                    <a:pt x="360" y="17"/>
                    <a:pt x="360" y="17"/>
                  </a:cubicBezTo>
                  <a:cubicBezTo>
                    <a:pt x="360" y="16"/>
                    <a:pt x="359" y="15"/>
                    <a:pt x="358" y="14"/>
                  </a:cubicBezTo>
                  <a:cubicBezTo>
                    <a:pt x="357" y="14"/>
                    <a:pt x="356" y="13"/>
                    <a:pt x="355" y="13"/>
                  </a:cubicBezTo>
                  <a:cubicBezTo>
                    <a:pt x="354" y="12"/>
                    <a:pt x="353" y="12"/>
                    <a:pt x="352" y="12"/>
                  </a:cubicBezTo>
                  <a:cubicBezTo>
                    <a:pt x="350" y="12"/>
                    <a:pt x="348" y="12"/>
                    <a:pt x="347" y="13"/>
                  </a:cubicBezTo>
                  <a:cubicBezTo>
                    <a:pt x="345" y="14"/>
                    <a:pt x="344" y="14"/>
                    <a:pt x="343" y="16"/>
                  </a:cubicBezTo>
                  <a:cubicBezTo>
                    <a:pt x="341" y="17"/>
                    <a:pt x="341" y="18"/>
                    <a:pt x="340" y="19"/>
                  </a:cubicBezTo>
                  <a:cubicBezTo>
                    <a:pt x="339" y="21"/>
                    <a:pt x="338" y="22"/>
                    <a:pt x="338" y="24"/>
                  </a:cubicBezTo>
                  <a:cubicBezTo>
                    <a:pt x="338" y="26"/>
                    <a:pt x="337" y="27"/>
                    <a:pt x="337" y="29"/>
                  </a:cubicBezTo>
                  <a:cubicBezTo>
                    <a:pt x="337" y="31"/>
                    <a:pt x="338" y="32"/>
                    <a:pt x="338" y="33"/>
                  </a:cubicBezTo>
                  <a:cubicBezTo>
                    <a:pt x="338" y="35"/>
                    <a:pt x="339" y="36"/>
                    <a:pt x="340" y="37"/>
                  </a:cubicBezTo>
                  <a:cubicBezTo>
                    <a:pt x="340" y="38"/>
                    <a:pt x="341" y="39"/>
                    <a:pt x="343" y="40"/>
                  </a:cubicBezTo>
                  <a:cubicBezTo>
                    <a:pt x="344" y="41"/>
                    <a:pt x="345" y="41"/>
                    <a:pt x="347" y="41"/>
                  </a:cubicBezTo>
                  <a:cubicBezTo>
                    <a:pt x="349" y="41"/>
                    <a:pt x="350" y="41"/>
                    <a:pt x="351" y="40"/>
                  </a:cubicBezTo>
                  <a:cubicBezTo>
                    <a:pt x="352" y="40"/>
                    <a:pt x="353" y="39"/>
                    <a:pt x="354" y="38"/>
                  </a:cubicBezTo>
                  <a:cubicBezTo>
                    <a:pt x="355" y="38"/>
                    <a:pt x="356" y="37"/>
                    <a:pt x="357" y="36"/>
                  </a:cubicBezTo>
                  <a:cubicBezTo>
                    <a:pt x="357" y="36"/>
                    <a:pt x="357" y="36"/>
                    <a:pt x="357" y="36"/>
                  </a:cubicBezTo>
                  <a:cubicBezTo>
                    <a:pt x="356" y="37"/>
                    <a:pt x="356" y="38"/>
                    <a:pt x="356" y="39"/>
                  </a:cubicBezTo>
                  <a:cubicBezTo>
                    <a:pt x="355" y="40"/>
                    <a:pt x="355" y="41"/>
                    <a:pt x="354" y="42"/>
                  </a:cubicBezTo>
                  <a:cubicBezTo>
                    <a:pt x="354" y="43"/>
                    <a:pt x="353" y="44"/>
                    <a:pt x="353" y="45"/>
                  </a:cubicBezTo>
                  <a:cubicBezTo>
                    <a:pt x="352" y="46"/>
                    <a:pt x="351" y="46"/>
                    <a:pt x="350" y="47"/>
                  </a:cubicBezTo>
                  <a:cubicBezTo>
                    <a:pt x="349" y="47"/>
                    <a:pt x="348" y="47"/>
                    <a:pt x="346" y="47"/>
                  </a:cubicBezTo>
                  <a:cubicBezTo>
                    <a:pt x="345" y="47"/>
                    <a:pt x="344" y="47"/>
                    <a:pt x="343" y="47"/>
                  </a:cubicBezTo>
                  <a:cubicBezTo>
                    <a:pt x="342" y="47"/>
                    <a:pt x="341" y="47"/>
                    <a:pt x="340" y="46"/>
                  </a:cubicBezTo>
                  <a:cubicBezTo>
                    <a:pt x="339" y="46"/>
                    <a:pt x="338" y="46"/>
                    <a:pt x="337" y="45"/>
                  </a:cubicBezTo>
                  <a:lnTo>
                    <a:pt x="335" y="51"/>
                  </a:lnTo>
                  <a:close/>
                  <a:moveTo>
                    <a:pt x="358" y="24"/>
                  </a:moveTo>
                  <a:cubicBezTo>
                    <a:pt x="358" y="25"/>
                    <a:pt x="358" y="26"/>
                    <a:pt x="358" y="27"/>
                  </a:cubicBezTo>
                  <a:cubicBezTo>
                    <a:pt x="357" y="28"/>
                    <a:pt x="357" y="29"/>
                    <a:pt x="357" y="30"/>
                  </a:cubicBezTo>
                  <a:cubicBezTo>
                    <a:pt x="356" y="31"/>
                    <a:pt x="356" y="32"/>
                    <a:pt x="355" y="33"/>
                  </a:cubicBezTo>
                  <a:cubicBezTo>
                    <a:pt x="354" y="33"/>
                    <a:pt x="354" y="34"/>
                    <a:pt x="353" y="35"/>
                  </a:cubicBezTo>
                  <a:cubicBezTo>
                    <a:pt x="352" y="35"/>
                    <a:pt x="351" y="35"/>
                    <a:pt x="350" y="35"/>
                  </a:cubicBezTo>
                  <a:cubicBezTo>
                    <a:pt x="349" y="35"/>
                    <a:pt x="348" y="35"/>
                    <a:pt x="347" y="34"/>
                  </a:cubicBezTo>
                  <a:cubicBezTo>
                    <a:pt x="346" y="34"/>
                    <a:pt x="346" y="33"/>
                    <a:pt x="345" y="32"/>
                  </a:cubicBezTo>
                  <a:cubicBezTo>
                    <a:pt x="345" y="31"/>
                    <a:pt x="345" y="30"/>
                    <a:pt x="345" y="29"/>
                  </a:cubicBezTo>
                  <a:cubicBezTo>
                    <a:pt x="345" y="28"/>
                    <a:pt x="345" y="27"/>
                    <a:pt x="345" y="26"/>
                  </a:cubicBezTo>
                  <a:cubicBezTo>
                    <a:pt x="345" y="25"/>
                    <a:pt x="346" y="24"/>
                    <a:pt x="346" y="23"/>
                  </a:cubicBezTo>
                  <a:cubicBezTo>
                    <a:pt x="347" y="22"/>
                    <a:pt x="347" y="21"/>
                    <a:pt x="348" y="20"/>
                  </a:cubicBezTo>
                  <a:cubicBezTo>
                    <a:pt x="348" y="20"/>
                    <a:pt x="349" y="19"/>
                    <a:pt x="350" y="18"/>
                  </a:cubicBezTo>
                  <a:cubicBezTo>
                    <a:pt x="351" y="18"/>
                    <a:pt x="352" y="18"/>
                    <a:pt x="353" y="18"/>
                  </a:cubicBezTo>
                  <a:cubicBezTo>
                    <a:pt x="354" y="18"/>
                    <a:pt x="355" y="18"/>
                    <a:pt x="356" y="19"/>
                  </a:cubicBezTo>
                  <a:cubicBezTo>
                    <a:pt x="356" y="19"/>
                    <a:pt x="357" y="20"/>
                    <a:pt x="357" y="21"/>
                  </a:cubicBezTo>
                  <a:cubicBezTo>
                    <a:pt x="358" y="22"/>
                    <a:pt x="358" y="23"/>
                    <a:pt x="358" y="24"/>
                  </a:cubicBezTo>
                  <a:moveTo>
                    <a:pt x="372" y="13"/>
                  </a:moveTo>
                  <a:cubicBezTo>
                    <a:pt x="377" y="42"/>
                    <a:pt x="377" y="42"/>
                    <a:pt x="377" y="42"/>
                  </a:cubicBezTo>
                  <a:cubicBezTo>
                    <a:pt x="376" y="44"/>
                    <a:pt x="375" y="45"/>
                    <a:pt x="375" y="45"/>
                  </a:cubicBezTo>
                  <a:cubicBezTo>
                    <a:pt x="374" y="46"/>
                    <a:pt x="373" y="47"/>
                    <a:pt x="373" y="47"/>
                  </a:cubicBezTo>
                  <a:cubicBezTo>
                    <a:pt x="372" y="47"/>
                    <a:pt x="371" y="47"/>
                    <a:pt x="371" y="47"/>
                  </a:cubicBezTo>
                  <a:cubicBezTo>
                    <a:pt x="370" y="47"/>
                    <a:pt x="369" y="47"/>
                    <a:pt x="369" y="47"/>
                  </a:cubicBezTo>
                  <a:cubicBezTo>
                    <a:pt x="368" y="47"/>
                    <a:pt x="368" y="47"/>
                    <a:pt x="367" y="47"/>
                  </a:cubicBezTo>
                  <a:cubicBezTo>
                    <a:pt x="366" y="52"/>
                    <a:pt x="366" y="52"/>
                    <a:pt x="366" y="52"/>
                  </a:cubicBezTo>
                  <a:cubicBezTo>
                    <a:pt x="367" y="53"/>
                    <a:pt x="368" y="53"/>
                    <a:pt x="369" y="53"/>
                  </a:cubicBezTo>
                  <a:cubicBezTo>
                    <a:pt x="369" y="53"/>
                    <a:pt x="370" y="53"/>
                    <a:pt x="371" y="53"/>
                  </a:cubicBezTo>
                  <a:cubicBezTo>
                    <a:pt x="373" y="53"/>
                    <a:pt x="374" y="53"/>
                    <a:pt x="375" y="52"/>
                  </a:cubicBezTo>
                  <a:cubicBezTo>
                    <a:pt x="377" y="52"/>
                    <a:pt x="378" y="51"/>
                    <a:pt x="378" y="51"/>
                  </a:cubicBezTo>
                  <a:cubicBezTo>
                    <a:pt x="379" y="50"/>
                    <a:pt x="380" y="49"/>
                    <a:pt x="381" y="48"/>
                  </a:cubicBezTo>
                  <a:cubicBezTo>
                    <a:pt x="381" y="47"/>
                    <a:pt x="382" y="46"/>
                    <a:pt x="383" y="45"/>
                  </a:cubicBezTo>
                  <a:cubicBezTo>
                    <a:pt x="402" y="13"/>
                    <a:pt x="402" y="13"/>
                    <a:pt x="402" y="13"/>
                  </a:cubicBezTo>
                  <a:cubicBezTo>
                    <a:pt x="394" y="13"/>
                    <a:pt x="394" y="13"/>
                    <a:pt x="394" y="13"/>
                  </a:cubicBezTo>
                  <a:cubicBezTo>
                    <a:pt x="382" y="34"/>
                    <a:pt x="382" y="34"/>
                    <a:pt x="382" y="34"/>
                  </a:cubicBezTo>
                  <a:cubicBezTo>
                    <a:pt x="382" y="34"/>
                    <a:pt x="382" y="34"/>
                    <a:pt x="382" y="34"/>
                  </a:cubicBezTo>
                  <a:cubicBezTo>
                    <a:pt x="380" y="13"/>
                    <a:pt x="380" y="13"/>
                    <a:pt x="380" y="13"/>
                  </a:cubicBezTo>
                  <a:lnTo>
                    <a:pt x="372" y="13"/>
                  </a:lnTo>
                  <a:close/>
                  <a:moveTo>
                    <a:pt x="445" y="4"/>
                  </a:moveTo>
                  <a:cubicBezTo>
                    <a:pt x="443" y="3"/>
                    <a:pt x="441" y="3"/>
                    <a:pt x="440" y="2"/>
                  </a:cubicBezTo>
                  <a:cubicBezTo>
                    <a:pt x="438" y="2"/>
                    <a:pt x="436" y="2"/>
                    <a:pt x="435" y="2"/>
                  </a:cubicBezTo>
                  <a:cubicBezTo>
                    <a:pt x="433" y="2"/>
                    <a:pt x="432" y="2"/>
                    <a:pt x="430" y="2"/>
                  </a:cubicBezTo>
                  <a:cubicBezTo>
                    <a:pt x="429" y="3"/>
                    <a:pt x="428" y="3"/>
                    <a:pt x="426" y="4"/>
                  </a:cubicBezTo>
                  <a:cubicBezTo>
                    <a:pt x="425" y="4"/>
                    <a:pt x="424" y="5"/>
                    <a:pt x="423" y="6"/>
                  </a:cubicBezTo>
                  <a:cubicBezTo>
                    <a:pt x="422" y="7"/>
                    <a:pt x="422" y="8"/>
                    <a:pt x="421" y="9"/>
                  </a:cubicBezTo>
                  <a:cubicBezTo>
                    <a:pt x="421" y="11"/>
                    <a:pt x="420" y="12"/>
                    <a:pt x="420" y="14"/>
                  </a:cubicBezTo>
                  <a:cubicBezTo>
                    <a:pt x="420" y="15"/>
                    <a:pt x="421" y="16"/>
                    <a:pt x="421" y="17"/>
                  </a:cubicBezTo>
                  <a:cubicBezTo>
                    <a:pt x="422" y="18"/>
                    <a:pt x="422" y="19"/>
                    <a:pt x="423" y="20"/>
                  </a:cubicBezTo>
                  <a:cubicBezTo>
                    <a:pt x="424" y="21"/>
                    <a:pt x="425" y="21"/>
                    <a:pt x="425" y="22"/>
                  </a:cubicBezTo>
                  <a:cubicBezTo>
                    <a:pt x="426" y="23"/>
                    <a:pt x="427" y="23"/>
                    <a:pt x="428" y="24"/>
                  </a:cubicBezTo>
                  <a:cubicBezTo>
                    <a:pt x="429" y="24"/>
                    <a:pt x="430" y="25"/>
                    <a:pt x="431" y="25"/>
                  </a:cubicBezTo>
                  <a:cubicBezTo>
                    <a:pt x="432" y="26"/>
                    <a:pt x="432" y="26"/>
                    <a:pt x="433" y="27"/>
                  </a:cubicBezTo>
                  <a:cubicBezTo>
                    <a:pt x="433" y="28"/>
                    <a:pt x="433" y="29"/>
                    <a:pt x="433" y="30"/>
                  </a:cubicBezTo>
                  <a:cubicBezTo>
                    <a:pt x="433" y="31"/>
                    <a:pt x="433" y="31"/>
                    <a:pt x="433" y="32"/>
                  </a:cubicBezTo>
                  <a:cubicBezTo>
                    <a:pt x="432" y="33"/>
                    <a:pt x="432" y="34"/>
                    <a:pt x="431" y="34"/>
                  </a:cubicBezTo>
                  <a:cubicBezTo>
                    <a:pt x="430" y="35"/>
                    <a:pt x="430" y="35"/>
                    <a:pt x="429" y="35"/>
                  </a:cubicBezTo>
                  <a:cubicBezTo>
                    <a:pt x="428" y="35"/>
                    <a:pt x="427" y="36"/>
                    <a:pt x="426" y="36"/>
                  </a:cubicBezTo>
                  <a:cubicBezTo>
                    <a:pt x="425" y="36"/>
                    <a:pt x="424" y="35"/>
                    <a:pt x="423" y="35"/>
                  </a:cubicBezTo>
                  <a:cubicBezTo>
                    <a:pt x="422" y="35"/>
                    <a:pt x="421" y="35"/>
                    <a:pt x="420" y="34"/>
                  </a:cubicBezTo>
                  <a:cubicBezTo>
                    <a:pt x="419" y="34"/>
                    <a:pt x="418" y="33"/>
                    <a:pt x="417" y="33"/>
                  </a:cubicBezTo>
                  <a:cubicBezTo>
                    <a:pt x="415" y="39"/>
                    <a:pt x="415" y="39"/>
                    <a:pt x="415" y="39"/>
                  </a:cubicBezTo>
                  <a:cubicBezTo>
                    <a:pt x="417" y="40"/>
                    <a:pt x="418" y="41"/>
                    <a:pt x="420" y="41"/>
                  </a:cubicBezTo>
                  <a:cubicBezTo>
                    <a:pt x="422" y="41"/>
                    <a:pt x="424" y="42"/>
                    <a:pt x="426" y="42"/>
                  </a:cubicBezTo>
                  <a:cubicBezTo>
                    <a:pt x="427" y="42"/>
                    <a:pt x="429" y="41"/>
                    <a:pt x="431" y="41"/>
                  </a:cubicBezTo>
                  <a:cubicBezTo>
                    <a:pt x="432" y="41"/>
                    <a:pt x="434" y="40"/>
                    <a:pt x="435" y="40"/>
                  </a:cubicBezTo>
                  <a:cubicBezTo>
                    <a:pt x="436" y="39"/>
                    <a:pt x="437" y="38"/>
                    <a:pt x="438" y="37"/>
                  </a:cubicBezTo>
                  <a:cubicBezTo>
                    <a:pt x="439" y="36"/>
                    <a:pt x="440" y="35"/>
                    <a:pt x="441" y="34"/>
                  </a:cubicBezTo>
                  <a:cubicBezTo>
                    <a:pt x="441" y="32"/>
                    <a:pt x="441" y="31"/>
                    <a:pt x="441" y="29"/>
                  </a:cubicBezTo>
                  <a:cubicBezTo>
                    <a:pt x="441" y="27"/>
                    <a:pt x="441" y="26"/>
                    <a:pt x="441" y="25"/>
                  </a:cubicBezTo>
                  <a:cubicBezTo>
                    <a:pt x="440" y="24"/>
                    <a:pt x="440" y="23"/>
                    <a:pt x="439" y="22"/>
                  </a:cubicBezTo>
                  <a:cubicBezTo>
                    <a:pt x="438" y="21"/>
                    <a:pt x="437" y="20"/>
                    <a:pt x="436" y="20"/>
                  </a:cubicBezTo>
                  <a:cubicBezTo>
                    <a:pt x="435" y="19"/>
                    <a:pt x="434" y="19"/>
                    <a:pt x="433" y="18"/>
                  </a:cubicBezTo>
                  <a:cubicBezTo>
                    <a:pt x="433" y="18"/>
                    <a:pt x="432" y="17"/>
                    <a:pt x="431" y="16"/>
                  </a:cubicBezTo>
                  <a:cubicBezTo>
                    <a:pt x="430" y="16"/>
                    <a:pt x="430" y="15"/>
                    <a:pt x="429" y="15"/>
                  </a:cubicBezTo>
                  <a:cubicBezTo>
                    <a:pt x="429" y="14"/>
                    <a:pt x="428" y="13"/>
                    <a:pt x="428" y="12"/>
                  </a:cubicBezTo>
                  <a:cubicBezTo>
                    <a:pt x="428" y="12"/>
                    <a:pt x="429" y="11"/>
                    <a:pt x="429" y="10"/>
                  </a:cubicBezTo>
                  <a:cubicBezTo>
                    <a:pt x="429" y="10"/>
                    <a:pt x="430" y="9"/>
                    <a:pt x="431" y="9"/>
                  </a:cubicBezTo>
                  <a:cubicBezTo>
                    <a:pt x="431" y="9"/>
                    <a:pt x="432" y="8"/>
                    <a:pt x="433" y="8"/>
                  </a:cubicBezTo>
                  <a:cubicBezTo>
                    <a:pt x="433" y="8"/>
                    <a:pt x="434" y="8"/>
                    <a:pt x="435" y="8"/>
                  </a:cubicBezTo>
                  <a:cubicBezTo>
                    <a:pt x="436" y="8"/>
                    <a:pt x="437" y="8"/>
                    <a:pt x="438" y="8"/>
                  </a:cubicBezTo>
                  <a:cubicBezTo>
                    <a:pt x="439" y="8"/>
                    <a:pt x="439" y="9"/>
                    <a:pt x="440" y="9"/>
                  </a:cubicBezTo>
                  <a:cubicBezTo>
                    <a:pt x="441" y="9"/>
                    <a:pt x="442" y="10"/>
                    <a:pt x="443" y="10"/>
                  </a:cubicBezTo>
                  <a:lnTo>
                    <a:pt x="445" y="4"/>
                  </a:lnTo>
                  <a:close/>
                  <a:moveTo>
                    <a:pt x="473" y="29"/>
                  </a:moveTo>
                  <a:cubicBezTo>
                    <a:pt x="474" y="28"/>
                    <a:pt x="474" y="27"/>
                    <a:pt x="474" y="26"/>
                  </a:cubicBezTo>
                  <a:cubicBezTo>
                    <a:pt x="474" y="25"/>
                    <a:pt x="474" y="24"/>
                    <a:pt x="474" y="23"/>
                  </a:cubicBezTo>
                  <a:cubicBezTo>
                    <a:pt x="474" y="20"/>
                    <a:pt x="474" y="18"/>
                    <a:pt x="473" y="17"/>
                  </a:cubicBezTo>
                  <a:cubicBezTo>
                    <a:pt x="472" y="15"/>
                    <a:pt x="470" y="14"/>
                    <a:pt x="469" y="13"/>
                  </a:cubicBezTo>
                  <a:cubicBezTo>
                    <a:pt x="467" y="12"/>
                    <a:pt x="465" y="12"/>
                    <a:pt x="462" y="12"/>
                  </a:cubicBezTo>
                  <a:cubicBezTo>
                    <a:pt x="461" y="12"/>
                    <a:pt x="459" y="12"/>
                    <a:pt x="457" y="13"/>
                  </a:cubicBezTo>
                  <a:cubicBezTo>
                    <a:pt x="456" y="14"/>
                    <a:pt x="454" y="14"/>
                    <a:pt x="453" y="16"/>
                  </a:cubicBezTo>
                  <a:cubicBezTo>
                    <a:pt x="452" y="17"/>
                    <a:pt x="450" y="18"/>
                    <a:pt x="449" y="19"/>
                  </a:cubicBezTo>
                  <a:cubicBezTo>
                    <a:pt x="448" y="21"/>
                    <a:pt x="448" y="22"/>
                    <a:pt x="447" y="24"/>
                  </a:cubicBezTo>
                  <a:cubicBezTo>
                    <a:pt x="447" y="26"/>
                    <a:pt x="446" y="27"/>
                    <a:pt x="446" y="29"/>
                  </a:cubicBezTo>
                  <a:cubicBezTo>
                    <a:pt x="446" y="31"/>
                    <a:pt x="447" y="33"/>
                    <a:pt x="447" y="35"/>
                  </a:cubicBezTo>
                  <a:cubicBezTo>
                    <a:pt x="448" y="36"/>
                    <a:pt x="449" y="38"/>
                    <a:pt x="450" y="39"/>
                  </a:cubicBezTo>
                  <a:cubicBezTo>
                    <a:pt x="451" y="40"/>
                    <a:pt x="453" y="40"/>
                    <a:pt x="454" y="41"/>
                  </a:cubicBezTo>
                  <a:cubicBezTo>
                    <a:pt x="456" y="41"/>
                    <a:pt x="458" y="42"/>
                    <a:pt x="460" y="42"/>
                  </a:cubicBezTo>
                  <a:cubicBezTo>
                    <a:pt x="462" y="42"/>
                    <a:pt x="463" y="41"/>
                    <a:pt x="465" y="41"/>
                  </a:cubicBezTo>
                  <a:cubicBezTo>
                    <a:pt x="466" y="41"/>
                    <a:pt x="468" y="40"/>
                    <a:pt x="469" y="40"/>
                  </a:cubicBezTo>
                  <a:cubicBezTo>
                    <a:pt x="470" y="34"/>
                    <a:pt x="470" y="34"/>
                    <a:pt x="470" y="34"/>
                  </a:cubicBezTo>
                  <a:cubicBezTo>
                    <a:pt x="469" y="35"/>
                    <a:pt x="467" y="35"/>
                    <a:pt x="466" y="36"/>
                  </a:cubicBezTo>
                  <a:cubicBezTo>
                    <a:pt x="464" y="36"/>
                    <a:pt x="463" y="36"/>
                    <a:pt x="461" y="36"/>
                  </a:cubicBezTo>
                  <a:cubicBezTo>
                    <a:pt x="460" y="36"/>
                    <a:pt x="458" y="36"/>
                    <a:pt x="457" y="36"/>
                  </a:cubicBezTo>
                  <a:cubicBezTo>
                    <a:pt x="456" y="35"/>
                    <a:pt x="455" y="34"/>
                    <a:pt x="454" y="33"/>
                  </a:cubicBezTo>
                  <a:cubicBezTo>
                    <a:pt x="454" y="32"/>
                    <a:pt x="453" y="31"/>
                    <a:pt x="453" y="29"/>
                  </a:cubicBezTo>
                  <a:lnTo>
                    <a:pt x="473" y="29"/>
                  </a:lnTo>
                  <a:close/>
                  <a:moveTo>
                    <a:pt x="454" y="24"/>
                  </a:moveTo>
                  <a:cubicBezTo>
                    <a:pt x="455" y="23"/>
                    <a:pt x="455" y="22"/>
                    <a:pt x="456" y="21"/>
                  </a:cubicBezTo>
                  <a:cubicBezTo>
                    <a:pt x="457" y="20"/>
                    <a:pt x="458" y="19"/>
                    <a:pt x="459" y="18"/>
                  </a:cubicBezTo>
                  <a:cubicBezTo>
                    <a:pt x="460" y="18"/>
                    <a:pt x="461" y="17"/>
                    <a:pt x="462" y="17"/>
                  </a:cubicBezTo>
                  <a:cubicBezTo>
                    <a:pt x="464" y="17"/>
                    <a:pt x="465" y="18"/>
                    <a:pt x="466" y="19"/>
                  </a:cubicBezTo>
                  <a:cubicBezTo>
                    <a:pt x="467" y="19"/>
                    <a:pt x="467" y="21"/>
                    <a:pt x="467" y="22"/>
                  </a:cubicBezTo>
                  <a:cubicBezTo>
                    <a:pt x="467" y="22"/>
                    <a:pt x="467" y="23"/>
                    <a:pt x="467" y="23"/>
                  </a:cubicBezTo>
                  <a:cubicBezTo>
                    <a:pt x="467" y="23"/>
                    <a:pt x="467" y="24"/>
                    <a:pt x="467" y="24"/>
                  </a:cubicBezTo>
                  <a:lnTo>
                    <a:pt x="454" y="24"/>
                  </a:lnTo>
                  <a:close/>
                  <a:moveTo>
                    <a:pt x="476" y="41"/>
                  </a:moveTo>
                  <a:cubicBezTo>
                    <a:pt x="484" y="41"/>
                    <a:pt x="484" y="41"/>
                    <a:pt x="484" y="41"/>
                  </a:cubicBezTo>
                  <a:cubicBezTo>
                    <a:pt x="486" y="28"/>
                    <a:pt x="486" y="28"/>
                    <a:pt x="486" y="28"/>
                  </a:cubicBezTo>
                  <a:cubicBezTo>
                    <a:pt x="487" y="27"/>
                    <a:pt x="487" y="26"/>
                    <a:pt x="487" y="25"/>
                  </a:cubicBezTo>
                  <a:cubicBezTo>
                    <a:pt x="488" y="24"/>
                    <a:pt x="488" y="23"/>
                    <a:pt x="489" y="22"/>
                  </a:cubicBezTo>
                  <a:cubicBezTo>
                    <a:pt x="490" y="21"/>
                    <a:pt x="491" y="20"/>
                    <a:pt x="492" y="20"/>
                  </a:cubicBezTo>
                  <a:cubicBezTo>
                    <a:pt x="492" y="19"/>
                    <a:pt x="494" y="19"/>
                    <a:pt x="495" y="19"/>
                  </a:cubicBezTo>
                  <a:cubicBezTo>
                    <a:pt x="495" y="19"/>
                    <a:pt x="496" y="19"/>
                    <a:pt x="496" y="19"/>
                  </a:cubicBezTo>
                  <a:cubicBezTo>
                    <a:pt x="497" y="19"/>
                    <a:pt x="497" y="19"/>
                    <a:pt x="498" y="19"/>
                  </a:cubicBezTo>
                  <a:cubicBezTo>
                    <a:pt x="499" y="12"/>
                    <a:pt x="499" y="12"/>
                    <a:pt x="499" y="12"/>
                  </a:cubicBezTo>
                  <a:cubicBezTo>
                    <a:pt x="499" y="12"/>
                    <a:pt x="498" y="12"/>
                    <a:pt x="498" y="12"/>
                  </a:cubicBezTo>
                  <a:cubicBezTo>
                    <a:pt x="497" y="12"/>
                    <a:pt x="497" y="12"/>
                    <a:pt x="496" y="12"/>
                  </a:cubicBezTo>
                  <a:cubicBezTo>
                    <a:pt x="496" y="12"/>
                    <a:pt x="495" y="12"/>
                    <a:pt x="494" y="13"/>
                  </a:cubicBezTo>
                  <a:cubicBezTo>
                    <a:pt x="493" y="13"/>
                    <a:pt x="492" y="13"/>
                    <a:pt x="492" y="14"/>
                  </a:cubicBezTo>
                  <a:cubicBezTo>
                    <a:pt x="491" y="14"/>
                    <a:pt x="490" y="15"/>
                    <a:pt x="490" y="16"/>
                  </a:cubicBezTo>
                  <a:cubicBezTo>
                    <a:pt x="489" y="16"/>
                    <a:pt x="488" y="17"/>
                    <a:pt x="488" y="18"/>
                  </a:cubicBezTo>
                  <a:cubicBezTo>
                    <a:pt x="488" y="18"/>
                    <a:pt x="488" y="18"/>
                    <a:pt x="488" y="18"/>
                  </a:cubicBezTo>
                  <a:cubicBezTo>
                    <a:pt x="489" y="13"/>
                    <a:pt x="489" y="13"/>
                    <a:pt x="489" y="13"/>
                  </a:cubicBezTo>
                  <a:cubicBezTo>
                    <a:pt x="482" y="13"/>
                    <a:pt x="482" y="13"/>
                    <a:pt x="482" y="13"/>
                  </a:cubicBezTo>
                  <a:cubicBezTo>
                    <a:pt x="482" y="14"/>
                    <a:pt x="482" y="15"/>
                    <a:pt x="481" y="16"/>
                  </a:cubicBezTo>
                  <a:lnTo>
                    <a:pt x="476" y="41"/>
                  </a:lnTo>
                  <a:close/>
                  <a:moveTo>
                    <a:pt x="505" y="41"/>
                  </a:moveTo>
                  <a:cubicBezTo>
                    <a:pt x="513" y="41"/>
                    <a:pt x="513" y="41"/>
                    <a:pt x="513" y="41"/>
                  </a:cubicBezTo>
                  <a:cubicBezTo>
                    <a:pt x="529" y="13"/>
                    <a:pt x="529" y="13"/>
                    <a:pt x="529" y="13"/>
                  </a:cubicBezTo>
                  <a:cubicBezTo>
                    <a:pt x="522" y="13"/>
                    <a:pt x="522" y="13"/>
                    <a:pt x="522" y="13"/>
                  </a:cubicBezTo>
                  <a:cubicBezTo>
                    <a:pt x="511" y="33"/>
                    <a:pt x="511" y="33"/>
                    <a:pt x="511" y="33"/>
                  </a:cubicBezTo>
                  <a:cubicBezTo>
                    <a:pt x="510" y="33"/>
                    <a:pt x="510" y="33"/>
                    <a:pt x="510" y="33"/>
                  </a:cubicBezTo>
                  <a:cubicBezTo>
                    <a:pt x="508" y="13"/>
                    <a:pt x="508" y="13"/>
                    <a:pt x="508" y="13"/>
                  </a:cubicBezTo>
                  <a:cubicBezTo>
                    <a:pt x="500" y="13"/>
                    <a:pt x="500" y="13"/>
                    <a:pt x="500" y="13"/>
                  </a:cubicBezTo>
                  <a:lnTo>
                    <a:pt x="505" y="41"/>
                  </a:lnTo>
                  <a:close/>
                  <a:moveTo>
                    <a:pt x="528" y="41"/>
                  </a:moveTo>
                  <a:cubicBezTo>
                    <a:pt x="535" y="41"/>
                    <a:pt x="535" y="41"/>
                    <a:pt x="535" y="41"/>
                  </a:cubicBezTo>
                  <a:cubicBezTo>
                    <a:pt x="541" y="13"/>
                    <a:pt x="541" y="13"/>
                    <a:pt x="541" y="13"/>
                  </a:cubicBezTo>
                  <a:cubicBezTo>
                    <a:pt x="534" y="13"/>
                    <a:pt x="534" y="13"/>
                    <a:pt x="534" y="13"/>
                  </a:cubicBezTo>
                  <a:lnTo>
                    <a:pt x="528" y="41"/>
                  </a:lnTo>
                  <a:close/>
                  <a:moveTo>
                    <a:pt x="535" y="8"/>
                  </a:moveTo>
                  <a:cubicBezTo>
                    <a:pt x="543" y="8"/>
                    <a:pt x="543" y="8"/>
                    <a:pt x="543" y="8"/>
                  </a:cubicBezTo>
                  <a:cubicBezTo>
                    <a:pt x="544" y="1"/>
                    <a:pt x="544" y="1"/>
                    <a:pt x="544" y="1"/>
                  </a:cubicBezTo>
                  <a:cubicBezTo>
                    <a:pt x="537" y="1"/>
                    <a:pt x="537" y="1"/>
                    <a:pt x="537" y="1"/>
                  </a:cubicBezTo>
                  <a:lnTo>
                    <a:pt x="535" y="8"/>
                  </a:lnTo>
                  <a:close/>
                  <a:moveTo>
                    <a:pt x="568" y="13"/>
                  </a:moveTo>
                  <a:cubicBezTo>
                    <a:pt x="567" y="13"/>
                    <a:pt x="566" y="13"/>
                    <a:pt x="565" y="12"/>
                  </a:cubicBezTo>
                  <a:cubicBezTo>
                    <a:pt x="564" y="12"/>
                    <a:pt x="562" y="12"/>
                    <a:pt x="561" y="12"/>
                  </a:cubicBezTo>
                  <a:cubicBezTo>
                    <a:pt x="559" y="12"/>
                    <a:pt x="556" y="12"/>
                    <a:pt x="554" y="13"/>
                  </a:cubicBezTo>
                  <a:cubicBezTo>
                    <a:pt x="552" y="14"/>
                    <a:pt x="550" y="15"/>
                    <a:pt x="549" y="17"/>
                  </a:cubicBezTo>
                  <a:cubicBezTo>
                    <a:pt x="547" y="19"/>
                    <a:pt x="546" y="20"/>
                    <a:pt x="546" y="23"/>
                  </a:cubicBezTo>
                  <a:cubicBezTo>
                    <a:pt x="545" y="25"/>
                    <a:pt x="544" y="27"/>
                    <a:pt x="544" y="29"/>
                  </a:cubicBezTo>
                  <a:cubicBezTo>
                    <a:pt x="544" y="32"/>
                    <a:pt x="545" y="34"/>
                    <a:pt x="546" y="36"/>
                  </a:cubicBezTo>
                  <a:cubicBezTo>
                    <a:pt x="547" y="38"/>
                    <a:pt x="548" y="39"/>
                    <a:pt x="550" y="40"/>
                  </a:cubicBezTo>
                  <a:cubicBezTo>
                    <a:pt x="552" y="41"/>
                    <a:pt x="554" y="42"/>
                    <a:pt x="556" y="42"/>
                  </a:cubicBezTo>
                  <a:cubicBezTo>
                    <a:pt x="558" y="42"/>
                    <a:pt x="559" y="41"/>
                    <a:pt x="560" y="41"/>
                  </a:cubicBezTo>
                  <a:cubicBezTo>
                    <a:pt x="561" y="41"/>
                    <a:pt x="562" y="41"/>
                    <a:pt x="563" y="40"/>
                  </a:cubicBezTo>
                  <a:cubicBezTo>
                    <a:pt x="564" y="34"/>
                    <a:pt x="564" y="34"/>
                    <a:pt x="564" y="34"/>
                  </a:cubicBezTo>
                  <a:cubicBezTo>
                    <a:pt x="564" y="35"/>
                    <a:pt x="563" y="35"/>
                    <a:pt x="562" y="35"/>
                  </a:cubicBezTo>
                  <a:cubicBezTo>
                    <a:pt x="562" y="35"/>
                    <a:pt x="561" y="36"/>
                    <a:pt x="560" y="36"/>
                  </a:cubicBezTo>
                  <a:cubicBezTo>
                    <a:pt x="560" y="36"/>
                    <a:pt x="559" y="36"/>
                    <a:pt x="558" y="36"/>
                  </a:cubicBezTo>
                  <a:cubicBezTo>
                    <a:pt x="557" y="36"/>
                    <a:pt x="556" y="36"/>
                    <a:pt x="555" y="35"/>
                  </a:cubicBezTo>
                  <a:cubicBezTo>
                    <a:pt x="554" y="35"/>
                    <a:pt x="554" y="34"/>
                    <a:pt x="553" y="34"/>
                  </a:cubicBezTo>
                  <a:cubicBezTo>
                    <a:pt x="553" y="33"/>
                    <a:pt x="553" y="32"/>
                    <a:pt x="552" y="31"/>
                  </a:cubicBezTo>
                  <a:cubicBezTo>
                    <a:pt x="552" y="30"/>
                    <a:pt x="552" y="29"/>
                    <a:pt x="552" y="29"/>
                  </a:cubicBezTo>
                  <a:cubicBezTo>
                    <a:pt x="552" y="27"/>
                    <a:pt x="552" y="26"/>
                    <a:pt x="553" y="25"/>
                  </a:cubicBezTo>
                  <a:cubicBezTo>
                    <a:pt x="553" y="23"/>
                    <a:pt x="554" y="22"/>
                    <a:pt x="554" y="21"/>
                  </a:cubicBezTo>
                  <a:cubicBezTo>
                    <a:pt x="555" y="20"/>
                    <a:pt x="556" y="19"/>
                    <a:pt x="557" y="19"/>
                  </a:cubicBezTo>
                  <a:cubicBezTo>
                    <a:pt x="558" y="18"/>
                    <a:pt x="560" y="18"/>
                    <a:pt x="561" y="18"/>
                  </a:cubicBezTo>
                  <a:cubicBezTo>
                    <a:pt x="562" y="18"/>
                    <a:pt x="563" y="18"/>
                    <a:pt x="564" y="18"/>
                  </a:cubicBezTo>
                  <a:cubicBezTo>
                    <a:pt x="565" y="18"/>
                    <a:pt x="566" y="19"/>
                    <a:pt x="567" y="19"/>
                  </a:cubicBezTo>
                  <a:lnTo>
                    <a:pt x="568" y="13"/>
                  </a:lnTo>
                  <a:close/>
                  <a:moveTo>
                    <a:pt x="595" y="29"/>
                  </a:moveTo>
                  <a:cubicBezTo>
                    <a:pt x="595" y="28"/>
                    <a:pt x="596" y="27"/>
                    <a:pt x="596" y="26"/>
                  </a:cubicBezTo>
                  <a:cubicBezTo>
                    <a:pt x="596" y="25"/>
                    <a:pt x="596" y="24"/>
                    <a:pt x="596" y="23"/>
                  </a:cubicBezTo>
                  <a:cubicBezTo>
                    <a:pt x="596" y="20"/>
                    <a:pt x="595" y="18"/>
                    <a:pt x="594" y="17"/>
                  </a:cubicBezTo>
                  <a:cubicBezTo>
                    <a:pt x="593" y="15"/>
                    <a:pt x="592" y="14"/>
                    <a:pt x="590" y="13"/>
                  </a:cubicBezTo>
                  <a:cubicBezTo>
                    <a:pt x="589" y="12"/>
                    <a:pt x="587" y="12"/>
                    <a:pt x="584" y="12"/>
                  </a:cubicBezTo>
                  <a:cubicBezTo>
                    <a:pt x="582" y="12"/>
                    <a:pt x="581" y="12"/>
                    <a:pt x="579" y="13"/>
                  </a:cubicBezTo>
                  <a:cubicBezTo>
                    <a:pt x="577" y="14"/>
                    <a:pt x="576" y="14"/>
                    <a:pt x="575" y="16"/>
                  </a:cubicBezTo>
                  <a:cubicBezTo>
                    <a:pt x="573" y="17"/>
                    <a:pt x="572" y="18"/>
                    <a:pt x="571" y="19"/>
                  </a:cubicBezTo>
                  <a:cubicBezTo>
                    <a:pt x="570" y="21"/>
                    <a:pt x="570" y="22"/>
                    <a:pt x="569" y="24"/>
                  </a:cubicBezTo>
                  <a:cubicBezTo>
                    <a:pt x="569" y="26"/>
                    <a:pt x="568" y="27"/>
                    <a:pt x="568" y="29"/>
                  </a:cubicBezTo>
                  <a:cubicBezTo>
                    <a:pt x="568" y="31"/>
                    <a:pt x="569" y="33"/>
                    <a:pt x="569" y="35"/>
                  </a:cubicBezTo>
                  <a:cubicBezTo>
                    <a:pt x="570" y="36"/>
                    <a:pt x="571" y="38"/>
                    <a:pt x="572" y="39"/>
                  </a:cubicBezTo>
                  <a:cubicBezTo>
                    <a:pt x="573" y="40"/>
                    <a:pt x="575" y="40"/>
                    <a:pt x="576" y="41"/>
                  </a:cubicBezTo>
                  <a:cubicBezTo>
                    <a:pt x="578" y="41"/>
                    <a:pt x="580" y="42"/>
                    <a:pt x="582" y="42"/>
                  </a:cubicBezTo>
                  <a:cubicBezTo>
                    <a:pt x="583" y="42"/>
                    <a:pt x="585" y="41"/>
                    <a:pt x="586" y="41"/>
                  </a:cubicBezTo>
                  <a:cubicBezTo>
                    <a:pt x="588" y="41"/>
                    <a:pt x="589" y="40"/>
                    <a:pt x="591" y="40"/>
                  </a:cubicBezTo>
                  <a:cubicBezTo>
                    <a:pt x="592" y="34"/>
                    <a:pt x="592" y="34"/>
                    <a:pt x="592" y="34"/>
                  </a:cubicBezTo>
                  <a:cubicBezTo>
                    <a:pt x="590" y="35"/>
                    <a:pt x="589" y="35"/>
                    <a:pt x="588" y="36"/>
                  </a:cubicBezTo>
                  <a:cubicBezTo>
                    <a:pt x="586" y="36"/>
                    <a:pt x="585" y="36"/>
                    <a:pt x="583" y="36"/>
                  </a:cubicBezTo>
                  <a:cubicBezTo>
                    <a:pt x="581" y="36"/>
                    <a:pt x="580" y="36"/>
                    <a:pt x="579" y="36"/>
                  </a:cubicBezTo>
                  <a:cubicBezTo>
                    <a:pt x="578" y="35"/>
                    <a:pt x="577" y="34"/>
                    <a:pt x="576" y="33"/>
                  </a:cubicBezTo>
                  <a:cubicBezTo>
                    <a:pt x="576" y="32"/>
                    <a:pt x="575" y="31"/>
                    <a:pt x="575" y="29"/>
                  </a:cubicBezTo>
                  <a:lnTo>
                    <a:pt x="595" y="29"/>
                  </a:lnTo>
                  <a:close/>
                  <a:moveTo>
                    <a:pt x="576" y="24"/>
                  </a:moveTo>
                  <a:cubicBezTo>
                    <a:pt x="577" y="23"/>
                    <a:pt x="577" y="22"/>
                    <a:pt x="578" y="21"/>
                  </a:cubicBezTo>
                  <a:cubicBezTo>
                    <a:pt x="579" y="20"/>
                    <a:pt x="579" y="19"/>
                    <a:pt x="580" y="18"/>
                  </a:cubicBezTo>
                  <a:cubicBezTo>
                    <a:pt x="581" y="18"/>
                    <a:pt x="583" y="17"/>
                    <a:pt x="584" y="17"/>
                  </a:cubicBezTo>
                  <a:cubicBezTo>
                    <a:pt x="586" y="17"/>
                    <a:pt x="587" y="18"/>
                    <a:pt x="588" y="19"/>
                  </a:cubicBezTo>
                  <a:cubicBezTo>
                    <a:pt x="588" y="19"/>
                    <a:pt x="589" y="21"/>
                    <a:pt x="589" y="22"/>
                  </a:cubicBezTo>
                  <a:cubicBezTo>
                    <a:pt x="589" y="22"/>
                    <a:pt x="589" y="23"/>
                    <a:pt x="589" y="23"/>
                  </a:cubicBezTo>
                  <a:cubicBezTo>
                    <a:pt x="589" y="23"/>
                    <a:pt x="589" y="24"/>
                    <a:pt x="589" y="24"/>
                  </a:cubicBezTo>
                  <a:lnTo>
                    <a:pt x="576" y="24"/>
                  </a:lnTo>
                  <a:close/>
                  <a:moveTo>
                    <a:pt x="621" y="13"/>
                  </a:moveTo>
                  <a:cubicBezTo>
                    <a:pt x="620" y="13"/>
                    <a:pt x="619" y="13"/>
                    <a:pt x="617" y="12"/>
                  </a:cubicBezTo>
                  <a:cubicBezTo>
                    <a:pt x="616" y="12"/>
                    <a:pt x="615" y="12"/>
                    <a:pt x="613" y="12"/>
                  </a:cubicBezTo>
                  <a:cubicBezTo>
                    <a:pt x="612" y="12"/>
                    <a:pt x="611" y="12"/>
                    <a:pt x="610" y="12"/>
                  </a:cubicBezTo>
                  <a:cubicBezTo>
                    <a:pt x="609" y="13"/>
                    <a:pt x="607" y="13"/>
                    <a:pt x="606" y="13"/>
                  </a:cubicBezTo>
                  <a:cubicBezTo>
                    <a:pt x="605" y="14"/>
                    <a:pt x="604" y="14"/>
                    <a:pt x="604" y="15"/>
                  </a:cubicBezTo>
                  <a:cubicBezTo>
                    <a:pt x="603" y="16"/>
                    <a:pt x="602" y="17"/>
                    <a:pt x="602" y="18"/>
                  </a:cubicBezTo>
                  <a:cubicBezTo>
                    <a:pt x="601" y="19"/>
                    <a:pt x="601" y="20"/>
                    <a:pt x="601" y="21"/>
                  </a:cubicBezTo>
                  <a:cubicBezTo>
                    <a:pt x="601" y="22"/>
                    <a:pt x="601" y="23"/>
                    <a:pt x="602" y="24"/>
                  </a:cubicBezTo>
                  <a:cubicBezTo>
                    <a:pt x="602" y="25"/>
                    <a:pt x="603" y="26"/>
                    <a:pt x="603" y="26"/>
                  </a:cubicBezTo>
                  <a:cubicBezTo>
                    <a:pt x="604" y="27"/>
                    <a:pt x="605" y="27"/>
                    <a:pt x="606" y="28"/>
                  </a:cubicBezTo>
                  <a:cubicBezTo>
                    <a:pt x="607" y="29"/>
                    <a:pt x="607" y="29"/>
                    <a:pt x="608" y="29"/>
                  </a:cubicBezTo>
                  <a:cubicBezTo>
                    <a:pt x="609" y="30"/>
                    <a:pt x="609" y="31"/>
                    <a:pt x="610" y="31"/>
                  </a:cubicBezTo>
                  <a:cubicBezTo>
                    <a:pt x="610" y="32"/>
                    <a:pt x="610" y="32"/>
                    <a:pt x="610" y="33"/>
                  </a:cubicBezTo>
                  <a:cubicBezTo>
                    <a:pt x="610" y="34"/>
                    <a:pt x="610" y="34"/>
                    <a:pt x="610" y="35"/>
                  </a:cubicBezTo>
                  <a:cubicBezTo>
                    <a:pt x="610" y="35"/>
                    <a:pt x="609" y="35"/>
                    <a:pt x="609" y="36"/>
                  </a:cubicBezTo>
                  <a:cubicBezTo>
                    <a:pt x="608" y="36"/>
                    <a:pt x="608" y="36"/>
                    <a:pt x="607" y="36"/>
                  </a:cubicBezTo>
                  <a:cubicBezTo>
                    <a:pt x="607" y="36"/>
                    <a:pt x="606" y="36"/>
                    <a:pt x="605" y="36"/>
                  </a:cubicBezTo>
                  <a:cubicBezTo>
                    <a:pt x="605" y="36"/>
                    <a:pt x="604" y="36"/>
                    <a:pt x="603" y="36"/>
                  </a:cubicBezTo>
                  <a:cubicBezTo>
                    <a:pt x="602" y="36"/>
                    <a:pt x="601" y="35"/>
                    <a:pt x="601" y="35"/>
                  </a:cubicBezTo>
                  <a:cubicBezTo>
                    <a:pt x="600" y="35"/>
                    <a:pt x="599" y="34"/>
                    <a:pt x="598" y="34"/>
                  </a:cubicBezTo>
                  <a:cubicBezTo>
                    <a:pt x="597" y="40"/>
                    <a:pt x="597" y="40"/>
                    <a:pt x="597" y="40"/>
                  </a:cubicBezTo>
                  <a:cubicBezTo>
                    <a:pt x="598" y="40"/>
                    <a:pt x="600" y="41"/>
                    <a:pt x="601" y="41"/>
                  </a:cubicBezTo>
                  <a:cubicBezTo>
                    <a:pt x="603" y="41"/>
                    <a:pt x="604" y="42"/>
                    <a:pt x="605" y="42"/>
                  </a:cubicBezTo>
                  <a:cubicBezTo>
                    <a:pt x="607" y="42"/>
                    <a:pt x="608" y="41"/>
                    <a:pt x="609" y="41"/>
                  </a:cubicBezTo>
                  <a:cubicBezTo>
                    <a:pt x="610" y="41"/>
                    <a:pt x="612" y="41"/>
                    <a:pt x="613" y="40"/>
                  </a:cubicBezTo>
                  <a:cubicBezTo>
                    <a:pt x="614" y="40"/>
                    <a:pt x="615" y="39"/>
                    <a:pt x="616" y="39"/>
                  </a:cubicBezTo>
                  <a:cubicBezTo>
                    <a:pt x="616" y="38"/>
                    <a:pt x="617" y="37"/>
                    <a:pt x="617" y="36"/>
                  </a:cubicBezTo>
                  <a:cubicBezTo>
                    <a:pt x="618" y="35"/>
                    <a:pt x="618" y="33"/>
                    <a:pt x="618" y="32"/>
                  </a:cubicBezTo>
                  <a:cubicBezTo>
                    <a:pt x="618" y="31"/>
                    <a:pt x="618" y="30"/>
                    <a:pt x="617" y="29"/>
                  </a:cubicBezTo>
                  <a:cubicBezTo>
                    <a:pt x="617" y="28"/>
                    <a:pt x="616" y="27"/>
                    <a:pt x="616" y="27"/>
                  </a:cubicBezTo>
                  <a:cubicBezTo>
                    <a:pt x="615" y="26"/>
                    <a:pt x="614" y="25"/>
                    <a:pt x="613" y="25"/>
                  </a:cubicBezTo>
                  <a:cubicBezTo>
                    <a:pt x="613" y="24"/>
                    <a:pt x="612" y="24"/>
                    <a:pt x="611" y="23"/>
                  </a:cubicBezTo>
                  <a:cubicBezTo>
                    <a:pt x="610" y="23"/>
                    <a:pt x="610" y="22"/>
                    <a:pt x="609" y="22"/>
                  </a:cubicBezTo>
                  <a:cubicBezTo>
                    <a:pt x="609" y="21"/>
                    <a:pt x="609" y="21"/>
                    <a:pt x="609" y="20"/>
                  </a:cubicBezTo>
                  <a:cubicBezTo>
                    <a:pt x="609" y="20"/>
                    <a:pt x="609" y="19"/>
                    <a:pt x="609" y="19"/>
                  </a:cubicBezTo>
                  <a:cubicBezTo>
                    <a:pt x="609" y="18"/>
                    <a:pt x="610" y="18"/>
                    <a:pt x="610" y="18"/>
                  </a:cubicBezTo>
                  <a:cubicBezTo>
                    <a:pt x="611" y="18"/>
                    <a:pt x="611" y="18"/>
                    <a:pt x="612" y="18"/>
                  </a:cubicBezTo>
                  <a:cubicBezTo>
                    <a:pt x="612" y="17"/>
                    <a:pt x="613" y="17"/>
                    <a:pt x="614" y="17"/>
                  </a:cubicBezTo>
                  <a:cubicBezTo>
                    <a:pt x="615" y="17"/>
                    <a:pt x="616" y="18"/>
                    <a:pt x="617" y="18"/>
                  </a:cubicBezTo>
                  <a:cubicBezTo>
                    <a:pt x="618" y="18"/>
                    <a:pt x="619" y="18"/>
                    <a:pt x="620" y="19"/>
                  </a:cubicBezTo>
                  <a:lnTo>
                    <a:pt x="621" y="1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2400" dirty="0"/>
            </a:p>
          </p:txBody>
        </p:sp>
      </p:grpSp>
      <p:sp>
        <p:nvSpPr>
          <p:cNvPr id="23" name="Text Placeholder 1030"/>
          <p:cNvSpPr>
            <a:spLocks noGrp="1"/>
          </p:cNvSpPr>
          <p:nvPr>
            <p:ph type="body" sz="quarter" idx="10" hasCustomPrompt="1"/>
          </p:nvPr>
        </p:nvSpPr>
        <p:spPr>
          <a:xfrm>
            <a:off x="399133" y="4646313"/>
            <a:ext cx="4858623" cy="463576"/>
          </a:xfrm>
          <a:prstGeom prst="rect">
            <a:avLst/>
          </a:prstGeom>
        </p:spPr>
        <p:txBody>
          <a:bodyPr anchor="ctr"/>
          <a:lstStyle>
            <a:lvl1pPr marL="0" indent="0">
              <a:buNone/>
              <a:defRPr sz="2400"/>
            </a:lvl1pPr>
            <a:lvl2pPr marL="457177" indent="0">
              <a:buNone/>
              <a:defRPr/>
            </a:lvl2pPr>
            <a:lvl3pPr marL="914353" indent="0">
              <a:buNone/>
              <a:defRPr/>
            </a:lvl3pPr>
            <a:lvl4pPr marL="1371531" indent="0">
              <a:buNone/>
              <a:defRPr/>
            </a:lvl4pPr>
            <a:lvl5pPr marL="1828709" indent="0">
              <a:buNone/>
              <a:defRPr/>
            </a:lvl5pPr>
          </a:lstStyle>
          <a:p>
            <a:pPr lvl="0"/>
            <a:r>
              <a:rPr lang="en-US" dirty="0"/>
              <a:t>Name</a:t>
            </a:r>
            <a:endParaRPr lang="en-IN" dirty="0"/>
          </a:p>
        </p:txBody>
      </p:sp>
      <p:sp>
        <p:nvSpPr>
          <p:cNvPr id="24" name="Text Placeholder 1030"/>
          <p:cNvSpPr>
            <a:spLocks noGrp="1"/>
          </p:cNvSpPr>
          <p:nvPr>
            <p:ph type="body" sz="quarter" idx="11" hasCustomPrompt="1"/>
          </p:nvPr>
        </p:nvSpPr>
        <p:spPr>
          <a:xfrm>
            <a:off x="399133" y="5252919"/>
            <a:ext cx="4858623" cy="463576"/>
          </a:xfrm>
          <a:prstGeom prst="rect">
            <a:avLst/>
          </a:prstGeom>
        </p:spPr>
        <p:txBody>
          <a:bodyPr anchor="ctr">
            <a:normAutofit/>
          </a:bodyPr>
          <a:lstStyle>
            <a:lvl1pPr marL="0" indent="0">
              <a:buNone/>
              <a:defRPr sz="2400"/>
            </a:lvl1pPr>
            <a:lvl2pPr marL="457177" indent="0">
              <a:buNone/>
              <a:defRPr/>
            </a:lvl2pPr>
            <a:lvl3pPr marL="914353" indent="0">
              <a:buNone/>
              <a:defRPr/>
            </a:lvl3pPr>
            <a:lvl4pPr marL="1371531" indent="0">
              <a:buNone/>
              <a:defRPr/>
            </a:lvl4pPr>
            <a:lvl5pPr marL="1828709" indent="0">
              <a:buNone/>
              <a:defRPr/>
            </a:lvl5pPr>
          </a:lstStyle>
          <a:p>
            <a:pPr lvl="0"/>
            <a:r>
              <a:rPr lang="en-US" dirty="0"/>
              <a:t>Designation </a:t>
            </a:r>
            <a:endParaRPr lang="en-IN" dirty="0"/>
          </a:p>
        </p:txBody>
      </p:sp>
      <p:sp>
        <p:nvSpPr>
          <p:cNvPr id="26" name="Parallelogram 25"/>
          <p:cNvSpPr/>
          <p:nvPr userDrawn="1"/>
        </p:nvSpPr>
        <p:spPr>
          <a:xfrm>
            <a:off x="5756786" y="3518"/>
            <a:ext cx="6435213" cy="6553269"/>
          </a:xfrm>
          <a:custGeom>
            <a:avLst/>
            <a:gdLst/>
            <a:ahLst/>
            <a:cxnLst/>
            <a:rect l="l" t="t" r="r" b="b"/>
            <a:pathLst>
              <a:path w="5048250" h="5140862">
                <a:moveTo>
                  <a:pt x="3013830" y="0"/>
                </a:moveTo>
                <a:lnTo>
                  <a:pt x="5048250" y="0"/>
                </a:lnTo>
                <a:lnTo>
                  <a:pt x="5048250" y="5140862"/>
                </a:lnTo>
                <a:lnTo>
                  <a:pt x="0" y="5140862"/>
                </a:lnTo>
                <a:close/>
              </a:path>
            </a:pathLst>
          </a:custGeom>
          <a:solidFill>
            <a:schemeClr val="accent1"/>
          </a:solidFill>
          <a:ln>
            <a:noFill/>
          </a:ln>
        </p:spPr>
        <p:txBody>
          <a:bodyPr vert="horz" wrap="square" lIns="121920" tIns="60960" rIns="121920" bIns="60960" numCol="1" anchor="t" anchorCtr="0" compatLnSpc="1">
            <a:prstTxWarp prst="textNoShape">
              <a:avLst/>
            </a:prstTxWarp>
          </a:bodyPr>
          <a:lstStyle/>
          <a:p>
            <a:pPr lvl="0"/>
            <a:endParaRPr lang="en-IN" sz="2400" dirty="0">
              <a:solidFill>
                <a:schemeClr val="tx1"/>
              </a:solidFill>
            </a:endParaRPr>
          </a:p>
        </p:txBody>
      </p:sp>
      <p:sp>
        <p:nvSpPr>
          <p:cNvPr id="28" name="Picture Placeholder 3"/>
          <p:cNvSpPr>
            <a:spLocks noGrp="1"/>
          </p:cNvSpPr>
          <p:nvPr>
            <p:ph type="pic" sz="quarter" idx="14"/>
          </p:nvPr>
        </p:nvSpPr>
        <p:spPr>
          <a:xfrm>
            <a:off x="5839351" y="-1"/>
            <a:ext cx="6352651" cy="6556788"/>
          </a:xfrm>
          <a:custGeom>
            <a:avLst/>
            <a:gdLst/>
            <a:ahLst/>
            <a:cxnLst/>
            <a:rect l="l" t="t" r="r" b="b"/>
            <a:pathLst>
              <a:path w="5052943" h="5125139">
                <a:moveTo>
                  <a:pt x="3057525" y="0"/>
                </a:moveTo>
                <a:lnTo>
                  <a:pt x="5048250" y="0"/>
                </a:lnTo>
                <a:lnTo>
                  <a:pt x="5048250" y="1"/>
                </a:lnTo>
                <a:lnTo>
                  <a:pt x="5048250" y="3152775"/>
                </a:lnTo>
                <a:lnTo>
                  <a:pt x="5052943" y="3152775"/>
                </a:lnTo>
                <a:lnTo>
                  <a:pt x="5052943" y="5125138"/>
                </a:lnTo>
                <a:lnTo>
                  <a:pt x="5048250" y="5125138"/>
                </a:lnTo>
                <a:lnTo>
                  <a:pt x="3057525" y="5125138"/>
                </a:lnTo>
                <a:lnTo>
                  <a:pt x="2052619" y="5125138"/>
                </a:lnTo>
                <a:lnTo>
                  <a:pt x="2052618" y="5125139"/>
                </a:lnTo>
                <a:lnTo>
                  <a:pt x="0" y="5125139"/>
                </a:lnTo>
                <a:lnTo>
                  <a:pt x="2995632" y="1"/>
                </a:lnTo>
                <a:lnTo>
                  <a:pt x="3057525" y="1"/>
                </a:lnTo>
                <a:close/>
              </a:path>
            </a:pathLst>
          </a:custGeom>
          <a:solidFill>
            <a:schemeClr val="bg1">
              <a:lumMod val="85000"/>
            </a:schemeClr>
          </a:solidFill>
        </p:spPr>
        <p:txBody>
          <a:bodyPr lIns="0" tIns="0" rIns="0" bIns="0" anchor="ctr">
            <a:noAutofit/>
          </a:bodyPr>
          <a:lstStyle>
            <a:lvl1pPr marL="0" indent="0" algn="ctr">
              <a:buFont typeface="Arial" panose="020B0604020202020204" pitchFamily="34" charset="0"/>
              <a:buNone/>
              <a:defRPr lang="en-IN" dirty="0"/>
            </a:lvl1pPr>
          </a:lstStyle>
          <a:p>
            <a:endParaRPr lang="en-IN" dirty="0"/>
          </a:p>
        </p:txBody>
      </p:sp>
      <p:grpSp>
        <p:nvGrpSpPr>
          <p:cNvPr id="25" name="Group 24"/>
          <p:cNvGrpSpPr/>
          <p:nvPr userDrawn="1"/>
        </p:nvGrpSpPr>
        <p:grpSpPr>
          <a:xfrm>
            <a:off x="1049700" y="1007106"/>
            <a:ext cx="1065707" cy="1126383"/>
            <a:chOff x="-3330575" y="3005138"/>
            <a:chExt cx="1533526" cy="1620837"/>
          </a:xfrm>
          <a:solidFill>
            <a:srgbClr val="002060"/>
          </a:solidFill>
        </p:grpSpPr>
        <p:sp>
          <p:nvSpPr>
            <p:cNvPr id="27" name="Freeform 6"/>
            <p:cNvSpPr>
              <a:spLocks/>
            </p:cNvSpPr>
            <p:nvPr/>
          </p:nvSpPr>
          <p:spPr bwMode="auto">
            <a:xfrm>
              <a:off x="-3330575" y="3005138"/>
              <a:ext cx="1233488" cy="1620837"/>
            </a:xfrm>
            <a:custGeom>
              <a:avLst/>
              <a:gdLst>
                <a:gd name="T0" fmla="*/ 621 w 777"/>
                <a:gd name="T1" fmla="*/ 0 h 1021"/>
                <a:gd name="T2" fmla="*/ 0 w 777"/>
                <a:gd name="T3" fmla="*/ 1021 h 1021"/>
                <a:gd name="T4" fmla="*/ 621 w 777"/>
                <a:gd name="T5" fmla="*/ 1021 h 1021"/>
                <a:gd name="T6" fmla="*/ 777 w 777"/>
                <a:gd name="T7" fmla="*/ 785 h 1021"/>
                <a:gd name="T8" fmla="*/ 231 w 777"/>
                <a:gd name="T9" fmla="*/ 785 h 1021"/>
                <a:gd name="T10" fmla="*/ 699 w 777"/>
                <a:gd name="T11" fmla="*/ 0 h 1021"/>
                <a:gd name="T12" fmla="*/ 621 w 777"/>
                <a:gd name="T13" fmla="*/ 0 h 1021"/>
              </a:gdLst>
              <a:ahLst/>
              <a:cxnLst>
                <a:cxn ang="0">
                  <a:pos x="T0" y="T1"/>
                </a:cxn>
                <a:cxn ang="0">
                  <a:pos x="T2" y="T3"/>
                </a:cxn>
                <a:cxn ang="0">
                  <a:pos x="T4" y="T5"/>
                </a:cxn>
                <a:cxn ang="0">
                  <a:pos x="T6" y="T7"/>
                </a:cxn>
                <a:cxn ang="0">
                  <a:pos x="T8" y="T9"/>
                </a:cxn>
                <a:cxn ang="0">
                  <a:pos x="T10" y="T11"/>
                </a:cxn>
                <a:cxn ang="0">
                  <a:pos x="T12" y="T13"/>
                </a:cxn>
              </a:cxnLst>
              <a:rect l="0" t="0" r="r" b="b"/>
              <a:pathLst>
                <a:path w="777" h="1021">
                  <a:moveTo>
                    <a:pt x="621" y="0"/>
                  </a:moveTo>
                  <a:lnTo>
                    <a:pt x="0" y="1021"/>
                  </a:lnTo>
                  <a:lnTo>
                    <a:pt x="621" y="1021"/>
                  </a:lnTo>
                  <a:lnTo>
                    <a:pt x="777" y="785"/>
                  </a:lnTo>
                  <a:lnTo>
                    <a:pt x="231" y="785"/>
                  </a:lnTo>
                  <a:lnTo>
                    <a:pt x="699" y="0"/>
                  </a:lnTo>
                  <a:lnTo>
                    <a:pt x="62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dirty="0">
                <a:solidFill>
                  <a:prstClr val="black"/>
                </a:solidFill>
              </a:endParaRPr>
            </a:p>
          </p:txBody>
        </p:sp>
        <p:sp>
          <p:nvSpPr>
            <p:cNvPr id="29" name="Freeform 7"/>
            <p:cNvSpPr>
              <a:spLocks/>
            </p:cNvSpPr>
            <p:nvPr/>
          </p:nvSpPr>
          <p:spPr bwMode="auto">
            <a:xfrm>
              <a:off x="-2611437" y="3005138"/>
              <a:ext cx="814388" cy="1136650"/>
            </a:xfrm>
            <a:custGeom>
              <a:avLst/>
              <a:gdLst>
                <a:gd name="T0" fmla="*/ 435 w 513"/>
                <a:gd name="T1" fmla="*/ 0 h 716"/>
                <a:gd name="T2" fmla="*/ 513 w 513"/>
                <a:gd name="T3" fmla="*/ 0 h 716"/>
                <a:gd name="T4" fmla="*/ 78 w 513"/>
                <a:gd name="T5" fmla="*/ 716 h 716"/>
                <a:gd name="T6" fmla="*/ 0 w 513"/>
                <a:gd name="T7" fmla="*/ 716 h 716"/>
                <a:gd name="T8" fmla="*/ 435 w 513"/>
                <a:gd name="T9" fmla="*/ 0 h 716"/>
              </a:gdLst>
              <a:ahLst/>
              <a:cxnLst>
                <a:cxn ang="0">
                  <a:pos x="T0" y="T1"/>
                </a:cxn>
                <a:cxn ang="0">
                  <a:pos x="T2" y="T3"/>
                </a:cxn>
                <a:cxn ang="0">
                  <a:pos x="T4" y="T5"/>
                </a:cxn>
                <a:cxn ang="0">
                  <a:pos x="T6" y="T7"/>
                </a:cxn>
                <a:cxn ang="0">
                  <a:pos x="T8" y="T9"/>
                </a:cxn>
              </a:cxnLst>
              <a:rect l="0" t="0" r="r" b="b"/>
              <a:pathLst>
                <a:path w="513" h="716">
                  <a:moveTo>
                    <a:pt x="435" y="0"/>
                  </a:moveTo>
                  <a:lnTo>
                    <a:pt x="513" y="0"/>
                  </a:lnTo>
                  <a:lnTo>
                    <a:pt x="78" y="716"/>
                  </a:lnTo>
                  <a:lnTo>
                    <a:pt x="0" y="716"/>
                  </a:lnTo>
                  <a:lnTo>
                    <a:pt x="4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dirty="0">
                <a:solidFill>
                  <a:prstClr val="black"/>
                </a:solidFill>
              </a:endParaRPr>
            </a:p>
          </p:txBody>
        </p:sp>
      </p:grpSp>
      <p:grpSp>
        <p:nvGrpSpPr>
          <p:cNvPr id="30" name="Group 29"/>
          <p:cNvGrpSpPr/>
          <p:nvPr userDrawn="1"/>
        </p:nvGrpSpPr>
        <p:grpSpPr>
          <a:xfrm>
            <a:off x="5412294" y="2199399"/>
            <a:ext cx="996725" cy="1078995"/>
            <a:chOff x="2301081" y="6662108"/>
            <a:chExt cx="1500188" cy="1624012"/>
          </a:xfrm>
          <a:solidFill>
            <a:srgbClr val="002060"/>
          </a:solidFill>
        </p:grpSpPr>
        <p:sp>
          <p:nvSpPr>
            <p:cNvPr id="31" name="Freeform 8"/>
            <p:cNvSpPr>
              <a:spLocks/>
            </p:cNvSpPr>
            <p:nvPr/>
          </p:nvSpPr>
          <p:spPr bwMode="auto">
            <a:xfrm>
              <a:off x="2551906" y="6662108"/>
              <a:ext cx="1249363" cy="393700"/>
            </a:xfrm>
            <a:custGeom>
              <a:avLst/>
              <a:gdLst>
                <a:gd name="T0" fmla="*/ 402 w 787"/>
                <a:gd name="T1" fmla="*/ 248 h 248"/>
                <a:gd name="T2" fmla="*/ 633 w 787"/>
                <a:gd name="T3" fmla="*/ 248 h 248"/>
                <a:gd name="T4" fmla="*/ 787 w 787"/>
                <a:gd name="T5" fmla="*/ 0 h 248"/>
                <a:gd name="T6" fmla="*/ 151 w 787"/>
                <a:gd name="T7" fmla="*/ 0 h 248"/>
                <a:gd name="T8" fmla="*/ 0 w 787"/>
                <a:gd name="T9" fmla="*/ 246 h 248"/>
                <a:gd name="T10" fmla="*/ 402 w 787"/>
                <a:gd name="T11" fmla="*/ 248 h 248"/>
              </a:gdLst>
              <a:ahLst/>
              <a:cxnLst>
                <a:cxn ang="0">
                  <a:pos x="T0" y="T1"/>
                </a:cxn>
                <a:cxn ang="0">
                  <a:pos x="T2" y="T3"/>
                </a:cxn>
                <a:cxn ang="0">
                  <a:pos x="T4" y="T5"/>
                </a:cxn>
                <a:cxn ang="0">
                  <a:pos x="T6" y="T7"/>
                </a:cxn>
                <a:cxn ang="0">
                  <a:pos x="T8" y="T9"/>
                </a:cxn>
                <a:cxn ang="0">
                  <a:pos x="T10" y="T11"/>
                </a:cxn>
              </a:cxnLst>
              <a:rect l="0" t="0" r="r" b="b"/>
              <a:pathLst>
                <a:path w="787" h="248">
                  <a:moveTo>
                    <a:pt x="402" y="248"/>
                  </a:moveTo>
                  <a:lnTo>
                    <a:pt x="633" y="248"/>
                  </a:lnTo>
                  <a:lnTo>
                    <a:pt x="787" y="0"/>
                  </a:lnTo>
                  <a:lnTo>
                    <a:pt x="151" y="0"/>
                  </a:lnTo>
                  <a:lnTo>
                    <a:pt x="0" y="246"/>
                  </a:lnTo>
                  <a:lnTo>
                    <a:pt x="402"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dirty="0">
                <a:solidFill>
                  <a:prstClr val="black"/>
                </a:solidFill>
              </a:endParaRPr>
            </a:p>
          </p:txBody>
        </p:sp>
        <p:sp>
          <p:nvSpPr>
            <p:cNvPr id="32" name="Freeform 9"/>
            <p:cNvSpPr>
              <a:spLocks/>
            </p:cNvSpPr>
            <p:nvPr/>
          </p:nvSpPr>
          <p:spPr bwMode="auto">
            <a:xfrm>
              <a:off x="2683669" y="7162170"/>
              <a:ext cx="809625" cy="1123950"/>
            </a:xfrm>
            <a:custGeom>
              <a:avLst/>
              <a:gdLst>
                <a:gd name="T0" fmla="*/ 435 w 510"/>
                <a:gd name="T1" fmla="*/ 0 h 708"/>
                <a:gd name="T2" fmla="*/ 510 w 510"/>
                <a:gd name="T3" fmla="*/ 0 h 708"/>
                <a:gd name="T4" fmla="*/ 78 w 510"/>
                <a:gd name="T5" fmla="*/ 708 h 708"/>
                <a:gd name="T6" fmla="*/ 0 w 510"/>
                <a:gd name="T7" fmla="*/ 708 h 708"/>
                <a:gd name="T8" fmla="*/ 435 w 510"/>
                <a:gd name="T9" fmla="*/ 0 h 708"/>
              </a:gdLst>
              <a:ahLst/>
              <a:cxnLst>
                <a:cxn ang="0">
                  <a:pos x="T0" y="T1"/>
                </a:cxn>
                <a:cxn ang="0">
                  <a:pos x="T2" y="T3"/>
                </a:cxn>
                <a:cxn ang="0">
                  <a:pos x="T4" y="T5"/>
                </a:cxn>
                <a:cxn ang="0">
                  <a:pos x="T6" y="T7"/>
                </a:cxn>
                <a:cxn ang="0">
                  <a:pos x="T8" y="T9"/>
                </a:cxn>
              </a:cxnLst>
              <a:rect l="0" t="0" r="r" b="b"/>
              <a:pathLst>
                <a:path w="510" h="708">
                  <a:moveTo>
                    <a:pt x="435" y="0"/>
                  </a:moveTo>
                  <a:lnTo>
                    <a:pt x="510" y="0"/>
                  </a:lnTo>
                  <a:lnTo>
                    <a:pt x="78" y="708"/>
                  </a:lnTo>
                  <a:lnTo>
                    <a:pt x="0" y="708"/>
                  </a:lnTo>
                  <a:lnTo>
                    <a:pt x="4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dirty="0">
                <a:solidFill>
                  <a:prstClr val="black"/>
                </a:solidFill>
              </a:endParaRPr>
            </a:p>
          </p:txBody>
        </p:sp>
        <p:sp>
          <p:nvSpPr>
            <p:cNvPr id="33" name="Freeform 10"/>
            <p:cNvSpPr>
              <a:spLocks/>
            </p:cNvSpPr>
            <p:nvPr/>
          </p:nvSpPr>
          <p:spPr bwMode="auto">
            <a:xfrm>
              <a:off x="2301081" y="7162170"/>
              <a:ext cx="803275" cy="1123950"/>
            </a:xfrm>
            <a:custGeom>
              <a:avLst/>
              <a:gdLst>
                <a:gd name="T0" fmla="*/ 430 w 506"/>
                <a:gd name="T1" fmla="*/ 0 h 708"/>
                <a:gd name="T2" fmla="*/ 506 w 506"/>
                <a:gd name="T3" fmla="*/ 0 h 708"/>
                <a:gd name="T4" fmla="*/ 76 w 506"/>
                <a:gd name="T5" fmla="*/ 708 h 708"/>
                <a:gd name="T6" fmla="*/ 0 w 506"/>
                <a:gd name="T7" fmla="*/ 708 h 708"/>
                <a:gd name="T8" fmla="*/ 430 w 506"/>
                <a:gd name="T9" fmla="*/ 0 h 708"/>
              </a:gdLst>
              <a:ahLst/>
              <a:cxnLst>
                <a:cxn ang="0">
                  <a:pos x="T0" y="T1"/>
                </a:cxn>
                <a:cxn ang="0">
                  <a:pos x="T2" y="T3"/>
                </a:cxn>
                <a:cxn ang="0">
                  <a:pos x="T4" y="T5"/>
                </a:cxn>
                <a:cxn ang="0">
                  <a:pos x="T6" y="T7"/>
                </a:cxn>
                <a:cxn ang="0">
                  <a:pos x="T8" y="T9"/>
                </a:cxn>
              </a:cxnLst>
              <a:rect l="0" t="0" r="r" b="b"/>
              <a:pathLst>
                <a:path w="506" h="708">
                  <a:moveTo>
                    <a:pt x="430" y="0"/>
                  </a:moveTo>
                  <a:lnTo>
                    <a:pt x="506" y="0"/>
                  </a:lnTo>
                  <a:lnTo>
                    <a:pt x="76" y="708"/>
                  </a:lnTo>
                  <a:lnTo>
                    <a:pt x="0" y="708"/>
                  </a:lnTo>
                  <a:lnTo>
                    <a:pt x="4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dirty="0">
                <a:solidFill>
                  <a:prstClr val="black"/>
                </a:solidFill>
              </a:endParaRPr>
            </a:p>
          </p:txBody>
        </p:sp>
      </p:grpSp>
    </p:spTree>
    <p:extLst>
      <p:ext uri="{BB962C8B-B14F-4D97-AF65-F5344CB8AC3E}">
        <p14:creationId xmlns:p14="http://schemas.microsoft.com/office/powerpoint/2010/main" val="788100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with_Grid_BG">
    <p:spTree>
      <p:nvGrpSpPr>
        <p:cNvPr id="1" name=""/>
        <p:cNvGrpSpPr/>
        <p:nvPr/>
      </p:nvGrpSpPr>
      <p:grpSpPr>
        <a:xfrm>
          <a:off x="0" y="0"/>
          <a:ext cx="0" cy="0"/>
          <a:chOff x="0" y="0"/>
          <a:chExt cx="0" cy="0"/>
        </a:xfrm>
      </p:grpSpPr>
      <p:sp>
        <p:nvSpPr>
          <p:cNvPr id="9" name="Rectangle 8"/>
          <p:cNvSpPr/>
          <p:nvPr/>
        </p:nvSpPr>
        <p:spPr>
          <a:xfrm>
            <a:off x="0" y="6583685"/>
            <a:ext cx="12192000" cy="2743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9" tIns="45719" rIns="91439" bIns="45719"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TextBox 9"/>
          <p:cNvSpPr txBox="1"/>
          <p:nvPr/>
        </p:nvSpPr>
        <p:spPr>
          <a:xfrm>
            <a:off x="4496676" y="6581380"/>
            <a:ext cx="3228639" cy="276997"/>
          </a:xfrm>
          <a:prstGeom prst="rect">
            <a:avLst/>
          </a:prstGeom>
          <a:noFill/>
        </p:spPr>
        <p:txBody>
          <a:bodyPr wrap="none" lIns="91439" tIns="45719" rIns="91439" bIns="45719" rtlCol="0">
            <a:spAutoFit/>
          </a:bodyP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Confidential | L&amp;T Technology Services | © 2017</a:t>
            </a:r>
          </a:p>
        </p:txBody>
      </p:sp>
      <p:sp>
        <p:nvSpPr>
          <p:cNvPr id="12" name="TextBox 11"/>
          <p:cNvSpPr txBox="1"/>
          <p:nvPr/>
        </p:nvSpPr>
        <p:spPr>
          <a:xfrm>
            <a:off x="11437495" y="6581379"/>
            <a:ext cx="614596" cy="276997"/>
          </a:xfrm>
          <a:prstGeom prst="rect">
            <a:avLst/>
          </a:prstGeom>
          <a:noFill/>
        </p:spPr>
        <p:txBody>
          <a:bodyPr wrap="square" lIns="91439" tIns="45719" rIns="91439" bIns="45719" rtlCol="0">
            <a:spAutoFit/>
          </a:bodyPr>
          <a:lstStyle/>
          <a:p>
            <a:pPr marL="0" marR="0" lvl="0" indent="0" algn="r" defTabSz="914332" rtl="0" eaLnBrk="1" fontAlgn="auto" latinLnBrk="0" hangingPunct="1">
              <a:lnSpc>
                <a:spcPct val="100000"/>
              </a:lnSpc>
              <a:spcBef>
                <a:spcPts val="0"/>
              </a:spcBef>
              <a:spcAft>
                <a:spcPts val="0"/>
              </a:spcAft>
              <a:buClrTx/>
              <a:buSzTx/>
              <a:buFontTx/>
              <a:buNone/>
              <a:tabLst/>
              <a:defRPr/>
            </a:pPr>
            <a:fld id="{D1AD548E-8EA6-684F-9B89-4E9F5DC57BB8}" type="slidenum">
              <a:rPr kumimoji="0" lang="en-US" sz="1200" b="0" i="0" u="none" strike="noStrike" kern="1200" cap="none" spc="0" normalizeH="0" baseline="0" noProof="0" smtClean="0">
                <a:ln>
                  <a:noFill/>
                </a:ln>
                <a:solidFill>
                  <a:srgbClr val="297FD5">
                    <a:lumMod val="75000"/>
                  </a:srgbClr>
                </a:solidFill>
                <a:effectLst/>
                <a:uLnTx/>
                <a:uFillTx/>
                <a:latin typeface="Calibri"/>
                <a:ea typeface="+mn-ea"/>
                <a:cs typeface="+mn-cs"/>
              </a:rPr>
              <a:pPr marL="0" marR="0" lvl="0" indent="0" algn="r" defTabSz="914332"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297FD5">
                  <a:lumMod val="75000"/>
                </a:srgbClr>
              </a:solidFill>
              <a:effectLst/>
              <a:uLnTx/>
              <a:uFillTx/>
              <a:latin typeface="Calibri"/>
              <a:ea typeface="+mn-ea"/>
              <a:cs typeface="+mn-cs"/>
            </a:endParaRPr>
          </a:p>
        </p:txBody>
      </p:sp>
      <p:sp>
        <p:nvSpPr>
          <p:cNvPr id="6" name="Title 1"/>
          <p:cNvSpPr>
            <a:spLocks noGrp="1"/>
          </p:cNvSpPr>
          <p:nvPr>
            <p:ph type="title"/>
          </p:nvPr>
        </p:nvSpPr>
        <p:spPr>
          <a:xfrm>
            <a:off x="650621" y="-40521"/>
            <a:ext cx="11379200" cy="673820"/>
          </a:xfrm>
        </p:spPr>
        <p:txBody>
          <a:bodyPr anchor="b">
            <a:normAutofit/>
          </a:bodyPr>
          <a:lstStyle>
            <a:lvl1pPr>
              <a:defRPr sz="2500" b="1">
                <a:solidFill>
                  <a:schemeClr val="tx1">
                    <a:lumMod val="75000"/>
                    <a:lumOff val="25000"/>
                  </a:schemeClr>
                </a:solidFill>
                <a:latin typeface="+mj-lt"/>
                <a:ea typeface="Calibri" charset="0"/>
                <a:cs typeface="Calibri" charset="0"/>
              </a:defRPr>
            </a:lvl1pPr>
          </a:lstStyle>
          <a:p>
            <a:r>
              <a:rPr lang="en-US" dirty="0"/>
              <a:t>Click to edit Master title style</a:t>
            </a:r>
          </a:p>
        </p:txBody>
      </p:sp>
      <p:sp>
        <p:nvSpPr>
          <p:cNvPr id="7" name="Content Placeholder 2"/>
          <p:cNvSpPr>
            <a:spLocks noGrp="1"/>
          </p:cNvSpPr>
          <p:nvPr>
            <p:ph idx="1"/>
          </p:nvPr>
        </p:nvSpPr>
        <p:spPr>
          <a:xfrm>
            <a:off x="406400" y="889000"/>
            <a:ext cx="11379200" cy="5588000"/>
          </a:xfrm>
        </p:spPr>
        <p:txBody>
          <a:bodyPr>
            <a:normAutofit/>
          </a:bodyPr>
          <a:lstStyle>
            <a:lvl1pPr>
              <a:defRPr sz="3200">
                <a:solidFill>
                  <a:schemeClr val="tx1">
                    <a:lumMod val="75000"/>
                    <a:lumOff val="25000"/>
                  </a:schemeClr>
                </a:solidFill>
              </a:defRPr>
            </a:lvl1pPr>
            <a:lvl2pPr>
              <a:defRPr sz="2400">
                <a:solidFill>
                  <a:schemeClr val="tx1">
                    <a:lumMod val="75000"/>
                    <a:lumOff val="25000"/>
                  </a:schemeClr>
                </a:solidFill>
              </a:defRPr>
            </a:lvl2pPr>
            <a:lvl3pPr>
              <a:defRPr sz="2133">
                <a:solidFill>
                  <a:schemeClr val="tx1">
                    <a:lumMod val="75000"/>
                    <a:lumOff val="25000"/>
                  </a:schemeClr>
                </a:solidFill>
              </a:defRPr>
            </a:lvl3pPr>
            <a:lvl4pPr>
              <a:defRPr sz="1867">
                <a:solidFill>
                  <a:schemeClr val="tx1">
                    <a:lumMod val="75000"/>
                    <a:lumOff val="25000"/>
                  </a:schemeClr>
                </a:solidFill>
              </a:defRPr>
            </a:lvl4pPr>
            <a:lvl5pPr>
              <a:defRPr sz="1867">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2" name="Group 1"/>
          <p:cNvGrpSpPr/>
          <p:nvPr/>
        </p:nvGrpSpPr>
        <p:grpSpPr>
          <a:xfrm>
            <a:off x="333332" y="633676"/>
            <a:ext cx="11525339" cy="144093"/>
            <a:chOff x="249998" y="488319"/>
            <a:chExt cx="8644004" cy="108070"/>
          </a:xfrm>
        </p:grpSpPr>
        <p:sp>
          <p:nvSpPr>
            <p:cNvPr id="18" name="Parallelogram 2"/>
            <p:cNvSpPr/>
            <p:nvPr/>
          </p:nvSpPr>
          <p:spPr>
            <a:xfrm>
              <a:off x="249998" y="488320"/>
              <a:ext cx="8585221" cy="108069"/>
            </a:xfrm>
            <a:custGeom>
              <a:avLst/>
              <a:gdLst/>
              <a:ahLst/>
              <a:cxnLst/>
              <a:rect l="l" t="t" r="r" b="b"/>
              <a:pathLst>
                <a:path w="8585221" h="108069">
                  <a:moveTo>
                    <a:pt x="48252" y="0"/>
                  </a:moveTo>
                  <a:lnTo>
                    <a:pt x="79398" y="0"/>
                  </a:lnTo>
                  <a:lnTo>
                    <a:pt x="48099" y="42519"/>
                  </a:lnTo>
                  <a:lnTo>
                    <a:pt x="8554075" y="42519"/>
                  </a:lnTo>
                  <a:lnTo>
                    <a:pt x="8566173" y="42519"/>
                  </a:lnTo>
                  <a:lnTo>
                    <a:pt x="8585221" y="42519"/>
                  </a:lnTo>
                  <a:lnTo>
                    <a:pt x="8536969" y="108069"/>
                  </a:lnTo>
                  <a:lnTo>
                    <a:pt x="8505823" y="108069"/>
                  </a:lnTo>
                  <a:lnTo>
                    <a:pt x="8537122" y="65550"/>
                  </a:lnTo>
                  <a:lnTo>
                    <a:pt x="31146" y="65550"/>
                  </a:lnTo>
                  <a:lnTo>
                    <a:pt x="22248" y="65550"/>
                  </a:lnTo>
                  <a:lnTo>
                    <a:pt x="0" y="65550"/>
                  </a:lnTo>
                  <a:close/>
                </a:path>
              </a:pathLst>
            </a:custGeom>
            <a:gradFill flip="none" rotWithShape="1">
              <a:gsLst>
                <a:gs pos="0">
                  <a:srgbClr val="FFC000"/>
                </a:gs>
                <a:gs pos="100000">
                  <a:srgbClr val="4A66A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9" name="Parallelogram 2"/>
            <p:cNvSpPr/>
            <p:nvPr/>
          </p:nvSpPr>
          <p:spPr>
            <a:xfrm rot="10800000" flipH="1" flipV="1">
              <a:off x="308781" y="488319"/>
              <a:ext cx="8585221" cy="108069"/>
            </a:xfrm>
            <a:custGeom>
              <a:avLst/>
              <a:gdLst/>
              <a:ahLst/>
              <a:cxnLst/>
              <a:rect l="l" t="t" r="r" b="b"/>
              <a:pathLst>
                <a:path w="8585221" h="108069">
                  <a:moveTo>
                    <a:pt x="48252" y="0"/>
                  </a:moveTo>
                  <a:lnTo>
                    <a:pt x="79398" y="0"/>
                  </a:lnTo>
                  <a:lnTo>
                    <a:pt x="48099" y="42519"/>
                  </a:lnTo>
                  <a:lnTo>
                    <a:pt x="8554075" y="42519"/>
                  </a:lnTo>
                  <a:lnTo>
                    <a:pt x="8566173" y="42519"/>
                  </a:lnTo>
                  <a:lnTo>
                    <a:pt x="8585221" y="42519"/>
                  </a:lnTo>
                  <a:lnTo>
                    <a:pt x="8536969" y="108069"/>
                  </a:lnTo>
                  <a:lnTo>
                    <a:pt x="8505823" y="108069"/>
                  </a:lnTo>
                  <a:lnTo>
                    <a:pt x="8537122" y="65550"/>
                  </a:lnTo>
                  <a:lnTo>
                    <a:pt x="31146" y="65550"/>
                  </a:lnTo>
                  <a:lnTo>
                    <a:pt x="22248" y="65550"/>
                  </a:lnTo>
                  <a:lnTo>
                    <a:pt x="0" y="65550"/>
                  </a:lnTo>
                  <a:close/>
                </a:path>
              </a:pathLst>
            </a:custGeom>
            <a:gradFill flip="none" rotWithShape="1">
              <a:gsLst>
                <a:gs pos="0">
                  <a:srgbClr val="FFC000"/>
                </a:gs>
                <a:gs pos="100000">
                  <a:srgbClr val="4A66A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8222987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TextBox 10"/>
          <p:cNvSpPr txBox="1"/>
          <p:nvPr userDrawn="1"/>
        </p:nvSpPr>
        <p:spPr>
          <a:xfrm>
            <a:off x="3974168" y="6581380"/>
            <a:ext cx="4273668" cy="276997"/>
          </a:xfrm>
          <a:prstGeom prst="rect">
            <a:avLst/>
          </a:prstGeom>
          <a:noFill/>
        </p:spPr>
        <p:txBody>
          <a:bodyPr wrap="none" lIns="91439" tIns="45719" rIns="91439" bIns="45719" rtlCol="0">
            <a:spAutoFit/>
          </a:bodyPr>
          <a:lstStyle/>
          <a:p>
            <a:pPr algn="ctr" defTabSz="914354">
              <a:defRPr/>
            </a:pPr>
            <a:r>
              <a:rPr lang="en-US" sz="1200" dirty="0">
                <a:solidFill>
                  <a:schemeClr val="tx1">
                    <a:lumMod val="75000"/>
                    <a:lumOff val="25000"/>
                  </a:schemeClr>
                </a:solidFill>
                <a:latin typeface="+mn-lt"/>
              </a:rPr>
              <a:t>Restricted Circulation | L&amp;T Technology Services | www.LTTS.com</a:t>
            </a:r>
          </a:p>
        </p:txBody>
      </p:sp>
      <p:sp>
        <p:nvSpPr>
          <p:cNvPr id="12" name="TextBox 11"/>
          <p:cNvSpPr txBox="1"/>
          <p:nvPr userDrawn="1"/>
        </p:nvSpPr>
        <p:spPr>
          <a:xfrm>
            <a:off x="11437495" y="6581379"/>
            <a:ext cx="614596" cy="276997"/>
          </a:xfrm>
          <a:prstGeom prst="rect">
            <a:avLst/>
          </a:prstGeom>
          <a:noFill/>
        </p:spPr>
        <p:txBody>
          <a:bodyPr wrap="square" lIns="91439" tIns="45719" rIns="91439" bIns="45719" rtlCol="0">
            <a:spAutoFit/>
          </a:bodyPr>
          <a:lstStyle/>
          <a:p>
            <a:pPr algn="r" defTabSz="914354"/>
            <a:fld id="{D1AD548E-8EA6-684F-9B89-4E9F5DC57BB8}" type="slidenum">
              <a:rPr lang="en-US" sz="1200" smtClean="0">
                <a:solidFill>
                  <a:schemeClr val="tx1">
                    <a:lumMod val="75000"/>
                    <a:lumOff val="25000"/>
                  </a:schemeClr>
                </a:solidFill>
                <a:latin typeface="Calibri"/>
              </a:rPr>
              <a:pPr algn="r" defTabSz="914354"/>
              <a:t>‹#›</a:t>
            </a:fld>
            <a:endParaRPr lang="en-US" sz="1200" dirty="0">
              <a:solidFill>
                <a:schemeClr val="tx1">
                  <a:lumMod val="75000"/>
                  <a:lumOff val="25000"/>
                </a:schemeClr>
              </a:solidFill>
              <a:latin typeface="Calibri"/>
            </a:endParaRPr>
          </a:p>
        </p:txBody>
      </p:sp>
      <p:sp>
        <p:nvSpPr>
          <p:cNvPr id="16" name="Rectangle: Rounded Corners 15"/>
          <p:cNvSpPr/>
          <p:nvPr userDrawn="1"/>
        </p:nvSpPr>
        <p:spPr>
          <a:xfrm>
            <a:off x="578564" y="628076"/>
            <a:ext cx="1393371" cy="48768"/>
          </a:xfrm>
          <a:prstGeom prst="roundRect">
            <a:avLst/>
          </a:prstGeom>
          <a:solidFill>
            <a:srgbClr val="FFCC2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96345349"/>
      </p:ext>
    </p:extLst>
  </p:cSld>
  <p:clrMap bg1="lt1" tx1="dk1" bg2="lt2" tx2="dk2" accent1="accent1" accent2="accent2" accent3="accent3" accent4="accent4" accent5="accent5" accent6="accent6" hlink="hlink" folHlink="folHlink"/>
  <p:sldLayoutIdLst>
    <p:sldLayoutId id="2147484419" r:id="rId1"/>
    <p:sldLayoutId id="2147484442" r:id="rId2"/>
    <p:sldLayoutId id="2147484420" r:id="rId3"/>
    <p:sldLayoutId id="2147484421" r:id="rId4"/>
    <p:sldLayoutId id="2147484444" r:id="rId5"/>
  </p:sldLayoutIdLst>
  <p:hf hdr="0" ftr="0" dt="0"/>
  <p:txStyles>
    <p:titleStyle>
      <a:lvl1pPr algn="l" defTabSz="914354" rtl="0" eaLnBrk="1" latinLnBrk="0" hangingPunct="1">
        <a:lnSpc>
          <a:spcPct val="90000"/>
        </a:lnSpc>
        <a:spcBef>
          <a:spcPct val="0"/>
        </a:spcBef>
        <a:buNone/>
        <a:defRPr sz="2800" b="1" kern="1200">
          <a:solidFill>
            <a:schemeClr val="bg2"/>
          </a:solidFill>
          <a:latin typeface="+mn-lt"/>
          <a:ea typeface="+mj-ea"/>
          <a:cs typeface="+mj-cs"/>
        </a:defRPr>
      </a:lvl1pPr>
    </p:titleStyle>
    <p:bodyStyle>
      <a:lvl1pPr marL="228589" marR="0" indent="-228589" algn="l" defTabSz="914354" rtl="0" eaLnBrk="1" fontAlgn="auto" latinLnBrk="0" hangingPunct="1">
        <a:lnSpc>
          <a:spcPct val="90000"/>
        </a:lnSpc>
        <a:spcBef>
          <a:spcPts val="1000"/>
        </a:spcBef>
        <a:spcAft>
          <a:spcPts val="0"/>
        </a:spcAft>
        <a:buClrTx/>
        <a:buSzTx/>
        <a:buFontTx/>
        <a:buBlip>
          <a:blip r:embed="rId7"/>
        </a:buBlip>
        <a:tabLst>
          <a:tab pos="241294" algn="l"/>
        </a:tabLst>
        <a:defRPr lang="en-US" sz="2800" kern="1200" smtClean="0">
          <a:solidFill>
            <a:schemeClr val="tx1">
              <a:lumMod val="75000"/>
              <a:lumOff val="25000"/>
            </a:schemeClr>
          </a:solidFill>
          <a:latin typeface="+mn-lt"/>
          <a:ea typeface="+mn-ea"/>
          <a:cs typeface="+mn-cs"/>
        </a:defRPr>
      </a:lvl1pPr>
      <a:lvl2pPr marL="685766" marR="0" indent="-228589" algn="l" defTabSz="914354" rtl="0" eaLnBrk="1" fontAlgn="auto" latinLnBrk="0" hangingPunct="1">
        <a:lnSpc>
          <a:spcPct val="90000"/>
        </a:lnSpc>
        <a:spcBef>
          <a:spcPts val="500"/>
        </a:spcBef>
        <a:spcAft>
          <a:spcPts val="0"/>
        </a:spcAft>
        <a:buClrTx/>
        <a:buSzTx/>
        <a:buFontTx/>
        <a:buBlip>
          <a:blip r:embed="rId7"/>
        </a:buBlip>
        <a:tabLst>
          <a:tab pos="241294" algn="l"/>
        </a:tabLst>
        <a:defRPr lang="en-US" sz="2400" kern="1200" smtClean="0">
          <a:solidFill>
            <a:schemeClr val="tx1">
              <a:lumMod val="75000"/>
              <a:lumOff val="25000"/>
            </a:schemeClr>
          </a:solidFill>
          <a:latin typeface="+mn-lt"/>
          <a:ea typeface="+mn-ea"/>
          <a:cs typeface="+mn-cs"/>
        </a:defRPr>
      </a:lvl2pPr>
      <a:lvl3pPr marL="1142942" marR="0" indent="-228589" algn="l" defTabSz="914354" rtl="0" eaLnBrk="1" fontAlgn="auto" latinLnBrk="0" hangingPunct="1">
        <a:lnSpc>
          <a:spcPct val="90000"/>
        </a:lnSpc>
        <a:spcBef>
          <a:spcPts val="500"/>
        </a:spcBef>
        <a:spcAft>
          <a:spcPts val="0"/>
        </a:spcAft>
        <a:buClrTx/>
        <a:buSzTx/>
        <a:buFontTx/>
        <a:buBlip>
          <a:blip r:embed="rId7"/>
        </a:buBlip>
        <a:tabLst>
          <a:tab pos="241294" algn="l"/>
        </a:tabLst>
        <a:defRPr lang="en-US" sz="2000" kern="1200" smtClean="0">
          <a:solidFill>
            <a:schemeClr val="tx1">
              <a:lumMod val="75000"/>
              <a:lumOff val="25000"/>
            </a:schemeClr>
          </a:solidFill>
          <a:latin typeface="+mn-lt"/>
          <a:ea typeface="+mn-ea"/>
          <a:cs typeface="+mn-cs"/>
        </a:defRPr>
      </a:lvl3pPr>
      <a:lvl4pPr marL="1600120" marR="0" indent="-228589" algn="l" defTabSz="914354" rtl="0" eaLnBrk="1" fontAlgn="auto" latinLnBrk="0" hangingPunct="1">
        <a:lnSpc>
          <a:spcPct val="90000"/>
        </a:lnSpc>
        <a:spcBef>
          <a:spcPts val="500"/>
        </a:spcBef>
        <a:spcAft>
          <a:spcPts val="0"/>
        </a:spcAft>
        <a:buClrTx/>
        <a:buSzTx/>
        <a:buFontTx/>
        <a:buBlip>
          <a:blip r:embed="rId7"/>
        </a:buBlip>
        <a:tabLst>
          <a:tab pos="241294" algn="l"/>
        </a:tabLst>
        <a:defRPr lang="en-US" sz="1867" kern="1200" smtClean="0">
          <a:solidFill>
            <a:schemeClr val="tx1">
              <a:lumMod val="75000"/>
              <a:lumOff val="25000"/>
            </a:schemeClr>
          </a:solidFill>
          <a:latin typeface="+mn-lt"/>
          <a:ea typeface="+mn-ea"/>
          <a:cs typeface="+mn-cs"/>
        </a:defRPr>
      </a:lvl4pPr>
      <a:lvl5pPr marL="2057298" marR="0" indent="-228589" algn="l" defTabSz="914354" rtl="0" eaLnBrk="1" fontAlgn="auto" latinLnBrk="0" hangingPunct="1">
        <a:lnSpc>
          <a:spcPct val="90000"/>
        </a:lnSpc>
        <a:spcBef>
          <a:spcPts val="500"/>
        </a:spcBef>
        <a:spcAft>
          <a:spcPts val="0"/>
        </a:spcAft>
        <a:buClrTx/>
        <a:buSzTx/>
        <a:buFontTx/>
        <a:buBlip>
          <a:blip r:embed="rId7"/>
        </a:buBlip>
        <a:tabLst>
          <a:tab pos="241294" algn="l"/>
        </a:tabLst>
        <a:defRPr lang="en-US" sz="1867" kern="1200">
          <a:solidFill>
            <a:schemeClr val="tx1">
              <a:lumMod val="75000"/>
              <a:lumOff val="25000"/>
            </a:schemeClr>
          </a:solidFill>
          <a:latin typeface="+mn-lt"/>
          <a:ea typeface="+mn-ea"/>
          <a:cs typeface="+mn-cs"/>
        </a:defRPr>
      </a:lvl5pPr>
      <a:lvl6pPr marL="2514474"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9pPr>
    </p:bodyStyle>
    <p:otherStyle>
      <a:defPPr>
        <a:defRPr lang="en-US"/>
      </a:defPPr>
      <a:lvl1pPr marL="0" algn="l" defTabSz="914354" rtl="0" eaLnBrk="1" latinLnBrk="0" hangingPunct="1">
        <a:defRPr sz="1867" kern="1200">
          <a:solidFill>
            <a:schemeClr val="tx1"/>
          </a:solidFill>
          <a:latin typeface="+mn-lt"/>
          <a:ea typeface="+mn-ea"/>
          <a:cs typeface="+mn-cs"/>
        </a:defRPr>
      </a:lvl1pPr>
      <a:lvl2pPr marL="457178" algn="l" defTabSz="914354" rtl="0" eaLnBrk="1" latinLnBrk="0" hangingPunct="1">
        <a:defRPr sz="1867" kern="1200">
          <a:solidFill>
            <a:schemeClr val="tx1"/>
          </a:solidFill>
          <a:latin typeface="+mn-lt"/>
          <a:ea typeface="+mn-ea"/>
          <a:cs typeface="+mn-cs"/>
        </a:defRPr>
      </a:lvl2pPr>
      <a:lvl3pPr marL="914354" algn="l" defTabSz="914354" rtl="0" eaLnBrk="1" latinLnBrk="0" hangingPunct="1">
        <a:defRPr sz="1867" kern="1200">
          <a:solidFill>
            <a:schemeClr val="tx1"/>
          </a:solidFill>
          <a:latin typeface="+mn-lt"/>
          <a:ea typeface="+mn-ea"/>
          <a:cs typeface="+mn-cs"/>
        </a:defRPr>
      </a:lvl3pPr>
      <a:lvl4pPr marL="1371532" algn="l" defTabSz="914354" rtl="0" eaLnBrk="1" latinLnBrk="0" hangingPunct="1">
        <a:defRPr sz="1867" kern="1200">
          <a:solidFill>
            <a:schemeClr val="tx1"/>
          </a:solidFill>
          <a:latin typeface="+mn-lt"/>
          <a:ea typeface="+mn-ea"/>
          <a:cs typeface="+mn-cs"/>
        </a:defRPr>
      </a:lvl4pPr>
      <a:lvl5pPr marL="1828709" algn="l" defTabSz="914354" rtl="0" eaLnBrk="1" latinLnBrk="0" hangingPunct="1">
        <a:defRPr sz="1867" kern="1200">
          <a:solidFill>
            <a:schemeClr val="tx1"/>
          </a:solidFill>
          <a:latin typeface="+mn-lt"/>
          <a:ea typeface="+mn-ea"/>
          <a:cs typeface="+mn-cs"/>
        </a:defRPr>
      </a:lvl5pPr>
      <a:lvl6pPr marL="2285886" algn="l" defTabSz="914354" rtl="0" eaLnBrk="1" latinLnBrk="0" hangingPunct="1">
        <a:defRPr sz="1867" kern="1200">
          <a:solidFill>
            <a:schemeClr val="tx1"/>
          </a:solidFill>
          <a:latin typeface="+mn-lt"/>
          <a:ea typeface="+mn-ea"/>
          <a:cs typeface="+mn-cs"/>
        </a:defRPr>
      </a:lvl6pPr>
      <a:lvl7pPr marL="2743062" algn="l" defTabSz="914354" rtl="0" eaLnBrk="1" latinLnBrk="0" hangingPunct="1">
        <a:defRPr sz="1867" kern="1200">
          <a:solidFill>
            <a:schemeClr val="tx1"/>
          </a:solidFill>
          <a:latin typeface="+mn-lt"/>
          <a:ea typeface="+mn-ea"/>
          <a:cs typeface="+mn-cs"/>
        </a:defRPr>
      </a:lvl7pPr>
      <a:lvl8pPr marL="3200240" algn="l" defTabSz="914354" rtl="0" eaLnBrk="1" latinLnBrk="0" hangingPunct="1">
        <a:defRPr sz="1867" kern="1200">
          <a:solidFill>
            <a:schemeClr val="tx1"/>
          </a:solidFill>
          <a:latin typeface="+mn-lt"/>
          <a:ea typeface="+mn-ea"/>
          <a:cs typeface="+mn-cs"/>
        </a:defRPr>
      </a:lvl8pPr>
      <a:lvl9pPr marL="3657418" algn="l" defTabSz="914354" rtl="0" eaLnBrk="1" latinLnBrk="0" hangingPunct="1">
        <a:defRPr sz="186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emf"/><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image" Target="../media/image69.emf"/><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emf"/><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AE2331-9E5D-4002-95F6-18F5524470BF}"/>
              </a:ext>
            </a:extLst>
          </p:cNvPr>
          <p:cNvSpPr/>
          <p:nvPr/>
        </p:nvSpPr>
        <p:spPr>
          <a:xfrm>
            <a:off x="0" y="13251"/>
            <a:ext cx="12192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endParaRPr lang="en-US" sz="1351" dirty="0">
              <a:solidFill>
                <a:srgbClr val="FFFFFF"/>
              </a:solidFill>
              <a:latin typeface="Calibri"/>
            </a:endParaRPr>
          </a:p>
        </p:txBody>
      </p:sp>
      <p:sp>
        <p:nvSpPr>
          <p:cNvPr id="33" name="Rectangle 32"/>
          <p:cNvSpPr/>
          <p:nvPr/>
        </p:nvSpPr>
        <p:spPr>
          <a:xfrm>
            <a:off x="0" y="13251"/>
            <a:ext cx="12192000" cy="6858000"/>
          </a:xfrm>
          <a:prstGeom prst="rect">
            <a:avLst/>
          </a:prstGeom>
          <a:solidFill>
            <a:schemeClr val="tx1">
              <a:lumMod val="95000"/>
              <a:lumOff val="5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2">
              <a:defRPr/>
            </a:pPr>
            <a:endParaRPr lang="en-US" sz="1351" dirty="0">
              <a:solidFill>
                <a:srgbClr val="FFFFFF"/>
              </a:solidFill>
              <a:latin typeface="Calibri"/>
            </a:endParaRPr>
          </a:p>
        </p:txBody>
      </p:sp>
      <p:pic>
        <p:nvPicPr>
          <p:cNvPr id="62" name="Graphic 61"/>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0" y="362269"/>
            <a:ext cx="4470400" cy="824467"/>
          </a:xfrm>
          <a:prstGeom prst="rect">
            <a:avLst/>
          </a:prstGeom>
        </p:spPr>
      </p:pic>
      <p:grpSp>
        <p:nvGrpSpPr>
          <p:cNvPr id="64" name="Group 63"/>
          <p:cNvGrpSpPr/>
          <p:nvPr/>
        </p:nvGrpSpPr>
        <p:grpSpPr bwMode="gray">
          <a:xfrm>
            <a:off x="1518776" y="1874895"/>
            <a:ext cx="801059" cy="782333"/>
            <a:chOff x="-3330575" y="3005138"/>
            <a:chExt cx="1533526" cy="1620837"/>
          </a:xfrm>
          <a:solidFill>
            <a:srgbClr val="FFCC29"/>
          </a:solidFill>
        </p:grpSpPr>
        <p:sp>
          <p:nvSpPr>
            <p:cNvPr id="65" name="Freeform 6"/>
            <p:cNvSpPr>
              <a:spLocks/>
            </p:cNvSpPr>
            <p:nvPr/>
          </p:nvSpPr>
          <p:spPr bwMode="gray">
            <a:xfrm>
              <a:off x="-3330575" y="3005138"/>
              <a:ext cx="1233488" cy="1620837"/>
            </a:xfrm>
            <a:custGeom>
              <a:avLst/>
              <a:gdLst>
                <a:gd name="T0" fmla="*/ 621 w 777"/>
                <a:gd name="T1" fmla="*/ 0 h 1021"/>
                <a:gd name="T2" fmla="*/ 0 w 777"/>
                <a:gd name="T3" fmla="*/ 1021 h 1021"/>
                <a:gd name="T4" fmla="*/ 621 w 777"/>
                <a:gd name="T5" fmla="*/ 1021 h 1021"/>
                <a:gd name="T6" fmla="*/ 777 w 777"/>
                <a:gd name="T7" fmla="*/ 785 h 1021"/>
                <a:gd name="T8" fmla="*/ 231 w 777"/>
                <a:gd name="T9" fmla="*/ 785 h 1021"/>
                <a:gd name="T10" fmla="*/ 699 w 777"/>
                <a:gd name="T11" fmla="*/ 0 h 1021"/>
                <a:gd name="T12" fmla="*/ 621 w 777"/>
                <a:gd name="T13" fmla="*/ 0 h 1021"/>
              </a:gdLst>
              <a:ahLst/>
              <a:cxnLst>
                <a:cxn ang="0">
                  <a:pos x="T0" y="T1"/>
                </a:cxn>
                <a:cxn ang="0">
                  <a:pos x="T2" y="T3"/>
                </a:cxn>
                <a:cxn ang="0">
                  <a:pos x="T4" y="T5"/>
                </a:cxn>
                <a:cxn ang="0">
                  <a:pos x="T6" y="T7"/>
                </a:cxn>
                <a:cxn ang="0">
                  <a:pos x="T8" y="T9"/>
                </a:cxn>
                <a:cxn ang="0">
                  <a:pos x="T10" y="T11"/>
                </a:cxn>
                <a:cxn ang="0">
                  <a:pos x="T12" y="T13"/>
                </a:cxn>
              </a:cxnLst>
              <a:rect l="0" t="0" r="r" b="b"/>
              <a:pathLst>
                <a:path w="777" h="1021">
                  <a:moveTo>
                    <a:pt x="621" y="0"/>
                  </a:moveTo>
                  <a:lnTo>
                    <a:pt x="0" y="1021"/>
                  </a:lnTo>
                  <a:lnTo>
                    <a:pt x="621" y="1021"/>
                  </a:lnTo>
                  <a:lnTo>
                    <a:pt x="777" y="785"/>
                  </a:lnTo>
                  <a:lnTo>
                    <a:pt x="231" y="785"/>
                  </a:lnTo>
                  <a:lnTo>
                    <a:pt x="699" y="0"/>
                  </a:lnTo>
                  <a:lnTo>
                    <a:pt x="62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796" tIns="60897" rIns="121796" bIns="60897" numCol="1" anchor="t" anchorCtr="0" compatLnSpc="1">
              <a:prstTxWarp prst="textNoShape">
                <a:avLst/>
              </a:prstTxWarp>
            </a:bodyPr>
            <a:lstStyle/>
            <a:p>
              <a:pPr defTabSz="1217736">
                <a:defRPr/>
              </a:pPr>
              <a:endParaRPr lang="en-IN" sz="2396" kern="0" dirty="0">
                <a:solidFill>
                  <a:prstClr val="black"/>
                </a:solidFill>
                <a:latin typeface="Calibri"/>
              </a:endParaRPr>
            </a:p>
          </p:txBody>
        </p:sp>
        <p:sp>
          <p:nvSpPr>
            <p:cNvPr id="66" name="Freeform 7"/>
            <p:cNvSpPr>
              <a:spLocks/>
            </p:cNvSpPr>
            <p:nvPr/>
          </p:nvSpPr>
          <p:spPr bwMode="gray">
            <a:xfrm>
              <a:off x="-2611437" y="3005138"/>
              <a:ext cx="814388" cy="1136650"/>
            </a:xfrm>
            <a:custGeom>
              <a:avLst/>
              <a:gdLst>
                <a:gd name="T0" fmla="*/ 435 w 513"/>
                <a:gd name="T1" fmla="*/ 0 h 716"/>
                <a:gd name="T2" fmla="*/ 513 w 513"/>
                <a:gd name="T3" fmla="*/ 0 h 716"/>
                <a:gd name="T4" fmla="*/ 78 w 513"/>
                <a:gd name="T5" fmla="*/ 716 h 716"/>
                <a:gd name="T6" fmla="*/ 0 w 513"/>
                <a:gd name="T7" fmla="*/ 716 h 716"/>
                <a:gd name="T8" fmla="*/ 435 w 513"/>
                <a:gd name="T9" fmla="*/ 0 h 716"/>
              </a:gdLst>
              <a:ahLst/>
              <a:cxnLst>
                <a:cxn ang="0">
                  <a:pos x="T0" y="T1"/>
                </a:cxn>
                <a:cxn ang="0">
                  <a:pos x="T2" y="T3"/>
                </a:cxn>
                <a:cxn ang="0">
                  <a:pos x="T4" y="T5"/>
                </a:cxn>
                <a:cxn ang="0">
                  <a:pos x="T6" y="T7"/>
                </a:cxn>
                <a:cxn ang="0">
                  <a:pos x="T8" y="T9"/>
                </a:cxn>
              </a:cxnLst>
              <a:rect l="0" t="0" r="r" b="b"/>
              <a:pathLst>
                <a:path w="513" h="716">
                  <a:moveTo>
                    <a:pt x="435" y="0"/>
                  </a:moveTo>
                  <a:lnTo>
                    <a:pt x="513" y="0"/>
                  </a:lnTo>
                  <a:lnTo>
                    <a:pt x="78" y="716"/>
                  </a:lnTo>
                  <a:lnTo>
                    <a:pt x="0" y="716"/>
                  </a:lnTo>
                  <a:lnTo>
                    <a:pt x="4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796" tIns="60897" rIns="121796" bIns="60897" numCol="1" anchor="t" anchorCtr="0" compatLnSpc="1">
              <a:prstTxWarp prst="textNoShape">
                <a:avLst/>
              </a:prstTxWarp>
            </a:bodyPr>
            <a:lstStyle/>
            <a:p>
              <a:pPr defTabSz="1217736">
                <a:defRPr/>
              </a:pPr>
              <a:endParaRPr lang="en-IN" sz="2396" kern="0" dirty="0">
                <a:solidFill>
                  <a:prstClr val="black"/>
                </a:solidFill>
                <a:latin typeface="Calibri"/>
              </a:endParaRPr>
            </a:p>
          </p:txBody>
        </p:sp>
      </p:grpSp>
      <p:grpSp>
        <p:nvGrpSpPr>
          <p:cNvPr id="67" name="Group 66"/>
          <p:cNvGrpSpPr/>
          <p:nvPr/>
        </p:nvGrpSpPr>
        <p:grpSpPr bwMode="gray">
          <a:xfrm>
            <a:off x="9677117" y="4056795"/>
            <a:ext cx="804544" cy="783647"/>
            <a:chOff x="2301081" y="6662108"/>
            <a:chExt cx="1500188" cy="1624012"/>
          </a:xfrm>
          <a:solidFill>
            <a:srgbClr val="FFCC29"/>
          </a:solidFill>
        </p:grpSpPr>
        <p:sp>
          <p:nvSpPr>
            <p:cNvPr id="68" name="Freeform 8"/>
            <p:cNvSpPr>
              <a:spLocks/>
            </p:cNvSpPr>
            <p:nvPr/>
          </p:nvSpPr>
          <p:spPr bwMode="gray">
            <a:xfrm>
              <a:off x="2551906" y="6662108"/>
              <a:ext cx="1249363" cy="393700"/>
            </a:xfrm>
            <a:custGeom>
              <a:avLst/>
              <a:gdLst>
                <a:gd name="T0" fmla="*/ 402 w 787"/>
                <a:gd name="T1" fmla="*/ 248 h 248"/>
                <a:gd name="T2" fmla="*/ 633 w 787"/>
                <a:gd name="T3" fmla="*/ 248 h 248"/>
                <a:gd name="T4" fmla="*/ 787 w 787"/>
                <a:gd name="T5" fmla="*/ 0 h 248"/>
                <a:gd name="T6" fmla="*/ 151 w 787"/>
                <a:gd name="T7" fmla="*/ 0 h 248"/>
                <a:gd name="T8" fmla="*/ 0 w 787"/>
                <a:gd name="T9" fmla="*/ 246 h 248"/>
                <a:gd name="T10" fmla="*/ 402 w 787"/>
                <a:gd name="T11" fmla="*/ 248 h 248"/>
              </a:gdLst>
              <a:ahLst/>
              <a:cxnLst>
                <a:cxn ang="0">
                  <a:pos x="T0" y="T1"/>
                </a:cxn>
                <a:cxn ang="0">
                  <a:pos x="T2" y="T3"/>
                </a:cxn>
                <a:cxn ang="0">
                  <a:pos x="T4" y="T5"/>
                </a:cxn>
                <a:cxn ang="0">
                  <a:pos x="T6" y="T7"/>
                </a:cxn>
                <a:cxn ang="0">
                  <a:pos x="T8" y="T9"/>
                </a:cxn>
                <a:cxn ang="0">
                  <a:pos x="T10" y="T11"/>
                </a:cxn>
              </a:cxnLst>
              <a:rect l="0" t="0" r="r" b="b"/>
              <a:pathLst>
                <a:path w="787" h="248">
                  <a:moveTo>
                    <a:pt x="402" y="248"/>
                  </a:moveTo>
                  <a:lnTo>
                    <a:pt x="633" y="248"/>
                  </a:lnTo>
                  <a:lnTo>
                    <a:pt x="787" y="0"/>
                  </a:lnTo>
                  <a:lnTo>
                    <a:pt x="151" y="0"/>
                  </a:lnTo>
                  <a:lnTo>
                    <a:pt x="0" y="246"/>
                  </a:lnTo>
                  <a:lnTo>
                    <a:pt x="402"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796" tIns="60897" rIns="121796" bIns="60897" numCol="1" anchor="t" anchorCtr="0" compatLnSpc="1">
              <a:prstTxWarp prst="textNoShape">
                <a:avLst/>
              </a:prstTxWarp>
            </a:bodyPr>
            <a:lstStyle/>
            <a:p>
              <a:pPr defTabSz="1217736">
                <a:defRPr/>
              </a:pPr>
              <a:endParaRPr lang="en-IN" sz="2396" kern="0" dirty="0">
                <a:solidFill>
                  <a:prstClr val="black"/>
                </a:solidFill>
                <a:latin typeface="Calibri"/>
              </a:endParaRPr>
            </a:p>
          </p:txBody>
        </p:sp>
        <p:sp>
          <p:nvSpPr>
            <p:cNvPr id="69" name="Freeform 9"/>
            <p:cNvSpPr>
              <a:spLocks/>
            </p:cNvSpPr>
            <p:nvPr/>
          </p:nvSpPr>
          <p:spPr bwMode="gray">
            <a:xfrm>
              <a:off x="2683669" y="7162170"/>
              <a:ext cx="809625" cy="1123950"/>
            </a:xfrm>
            <a:custGeom>
              <a:avLst/>
              <a:gdLst>
                <a:gd name="T0" fmla="*/ 435 w 510"/>
                <a:gd name="T1" fmla="*/ 0 h 708"/>
                <a:gd name="T2" fmla="*/ 510 w 510"/>
                <a:gd name="T3" fmla="*/ 0 h 708"/>
                <a:gd name="T4" fmla="*/ 78 w 510"/>
                <a:gd name="T5" fmla="*/ 708 h 708"/>
                <a:gd name="T6" fmla="*/ 0 w 510"/>
                <a:gd name="T7" fmla="*/ 708 h 708"/>
                <a:gd name="T8" fmla="*/ 435 w 510"/>
                <a:gd name="T9" fmla="*/ 0 h 708"/>
              </a:gdLst>
              <a:ahLst/>
              <a:cxnLst>
                <a:cxn ang="0">
                  <a:pos x="T0" y="T1"/>
                </a:cxn>
                <a:cxn ang="0">
                  <a:pos x="T2" y="T3"/>
                </a:cxn>
                <a:cxn ang="0">
                  <a:pos x="T4" y="T5"/>
                </a:cxn>
                <a:cxn ang="0">
                  <a:pos x="T6" y="T7"/>
                </a:cxn>
                <a:cxn ang="0">
                  <a:pos x="T8" y="T9"/>
                </a:cxn>
              </a:cxnLst>
              <a:rect l="0" t="0" r="r" b="b"/>
              <a:pathLst>
                <a:path w="510" h="708">
                  <a:moveTo>
                    <a:pt x="435" y="0"/>
                  </a:moveTo>
                  <a:lnTo>
                    <a:pt x="510" y="0"/>
                  </a:lnTo>
                  <a:lnTo>
                    <a:pt x="78" y="708"/>
                  </a:lnTo>
                  <a:lnTo>
                    <a:pt x="0" y="708"/>
                  </a:lnTo>
                  <a:lnTo>
                    <a:pt x="4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796" tIns="60897" rIns="121796" bIns="60897" numCol="1" anchor="t" anchorCtr="0" compatLnSpc="1">
              <a:prstTxWarp prst="textNoShape">
                <a:avLst/>
              </a:prstTxWarp>
            </a:bodyPr>
            <a:lstStyle/>
            <a:p>
              <a:pPr defTabSz="1217736">
                <a:defRPr/>
              </a:pPr>
              <a:endParaRPr lang="en-IN" sz="2396" kern="0" dirty="0">
                <a:solidFill>
                  <a:prstClr val="black"/>
                </a:solidFill>
                <a:latin typeface="Calibri"/>
              </a:endParaRPr>
            </a:p>
          </p:txBody>
        </p:sp>
        <p:sp>
          <p:nvSpPr>
            <p:cNvPr id="70" name="Freeform 10"/>
            <p:cNvSpPr>
              <a:spLocks/>
            </p:cNvSpPr>
            <p:nvPr/>
          </p:nvSpPr>
          <p:spPr bwMode="gray">
            <a:xfrm>
              <a:off x="2301081" y="7162170"/>
              <a:ext cx="803275" cy="1123950"/>
            </a:xfrm>
            <a:custGeom>
              <a:avLst/>
              <a:gdLst>
                <a:gd name="T0" fmla="*/ 430 w 506"/>
                <a:gd name="T1" fmla="*/ 0 h 708"/>
                <a:gd name="T2" fmla="*/ 506 w 506"/>
                <a:gd name="T3" fmla="*/ 0 h 708"/>
                <a:gd name="T4" fmla="*/ 76 w 506"/>
                <a:gd name="T5" fmla="*/ 708 h 708"/>
                <a:gd name="T6" fmla="*/ 0 w 506"/>
                <a:gd name="T7" fmla="*/ 708 h 708"/>
                <a:gd name="T8" fmla="*/ 430 w 506"/>
                <a:gd name="T9" fmla="*/ 0 h 708"/>
              </a:gdLst>
              <a:ahLst/>
              <a:cxnLst>
                <a:cxn ang="0">
                  <a:pos x="T0" y="T1"/>
                </a:cxn>
                <a:cxn ang="0">
                  <a:pos x="T2" y="T3"/>
                </a:cxn>
                <a:cxn ang="0">
                  <a:pos x="T4" y="T5"/>
                </a:cxn>
                <a:cxn ang="0">
                  <a:pos x="T6" y="T7"/>
                </a:cxn>
                <a:cxn ang="0">
                  <a:pos x="T8" y="T9"/>
                </a:cxn>
              </a:cxnLst>
              <a:rect l="0" t="0" r="r" b="b"/>
              <a:pathLst>
                <a:path w="506" h="708">
                  <a:moveTo>
                    <a:pt x="430" y="0"/>
                  </a:moveTo>
                  <a:lnTo>
                    <a:pt x="506" y="0"/>
                  </a:lnTo>
                  <a:lnTo>
                    <a:pt x="76" y="708"/>
                  </a:lnTo>
                  <a:lnTo>
                    <a:pt x="0" y="708"/>
                  </a:lnTo>
                  <a:lnTo>
                    <a:pt x="4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796" tIns="60897" rIns="121796" bIns="60897" numCol="1" anchor="t" anchorCtr="0" compatLnSpc="1">
              <a:prstTxWarp prst="textNoShape">
                <a:avLst/>
              </a:prstTxWarp>
            </a:bodyPr>
            <a:lstStyle/>
            <a:p>
              <a:pPr defTabSz="1217736">
                <a:defRPr/>
              </a:pPr>
              <a:endParaRPr lang="en-IN" sz="2396" kern="0" dirty="0">
                <a:solidFill>
                  <a:prstClr val="black"/>
                </a:solidFill>
                <a:latin typeface="Calibri"/>
              </a:endParaRPr>
            </a:p>
          </p:txBody>
        </p:sp>
      </p:grpSp>
      <p:sp>
        <p:nvSpPr>
          <p:cNvPr id="72" name="TextBox 71"/>
          <p:cNvSpPr txBox="1"/>
          <p:nvPr/>
        </p:nvSpPr>
        <p:spPr>
          <a:xfrm>
            <a:off x="2022766" y="2076048"/>
            <a:ext cx="8085144" cy="1062727"/>
          </a:xfrm>
          <a:prstGeom prst="rect">
            <a:avLst/>
          </a:prstGeom>
          <a:noFill/>
        </p:spPr>
        <p:txBody>
          <a:bodyPr wrap="square" rtlCol="0">
            <a:spAutoFit/>
          </a:bodyPr>
          <a:lstStyle/>
          <a:p>
            <a:pPr lvl="0" algn="ctr" defTabSz="171412">
              <a:lnSpc>
                <a:spcPct val="150000"/>
              </a:lnSpc>
              <a:defRPr/>
            </a:pPr>
            <a:r>
              <a:rPr lang="en-US" sz="4800" b="1" dirty="0">
                <a:solidFill>
                  <a:srgbClr val="FFFFFF"/>
                </a:solidFill>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Project Management</a:t>
            </a:r>
          </a:p>
        </p:txBody>
      </p:sp>
      <p:pic>
        <p:nvPicPr>
          <p:cNvPr id="5" name="Picture 4" descr="A picture containing drawing&#10;&#10;Description automatically generated">
            <a:extLst>
              <a:ext uri="{FF2B5EF4-FFF2-40B4-BE49-F238E27FC236}">
                <a16:creationId xmlns:a16="http://schemas.microsoft.com/office/drawing/2014/main" id="{E1BFF4E5-9FC6-4651-A248-3D53933358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77117" y="262872"/>
            <a:ext cx="2370236" cy="711072"/>
          </a:xfrm>
          <a:prstGeom prst="rect">
            <a:avLst/>
          </a:prstGeom>
        </p:spPr>
      </p:pic>
    </p:spTree>
    <p:extLst>
      <p:ext uri="{BB962C8B-B14F-4D97-AF65-F5344CB8AC3E}">
        <p14:creationId xmlns:p14="http://schemas.microsoft.com/office/powerpoint/2010/main" val="2451085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Definitions/Acronyms: </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342891" marR="0" lvl="1" indent="0" algn="l" defTabSz="685783" rtl="0" eaLnBrk="1" fontAlgn="auto" latinLnBrk="0" hangingPunct="1">
              <a:lnSpc>
                <a:spcPct val="90000"/>
              </a:lnSpc>
              <a:spcBef>
                <a:spcPts val="375"/>
              </a:spcBef>
              <a:spcAft>
                <a:spcPts val="0"/>
              </a:spcAft>
              <a:buClrTx/>
              <a:buSzTx/>
              <a:buFont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a:p>
            <a:pPr marL="342891" marR="0" lvl="1" indent="0" algn="l" defTabSz="685783" rtl="0" eaLnBrk="1" fontAlgn="auto" latinLnBrk="0" hangingPunct="1">
              <a:lnSpc>
                <a:spcPct val="90000"/>
              </a:lnSpc>
              <a:spcBef>
                <a:spcPts val="375"/>
              </a:spcBef>
              <a:spcAft>
                <a:spcPts val="0"/>
              </a:spcAft>
              <a:buClrTx/>
              <a:buSzTx/>
              <a:buFont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graphicFrame>
        <p:nvGraphicFramePr>
          <p:cNvPr id="4" name="Table 5">
            <a:extLst>
              <a:ext uri="{FF2B5EF4-FFF2-40B4-BE49-F238E27FC236}">
                <a16:creationId xmlns:a16="http://schemas.microsoft.com/office/drawing/2014/main" id="{1D65E984-49B9-440F-87B8-73A71C19F1C3}"/>
              </a:ext>
            </a:extLst>
          </p:cNvPr>
          <p:cNvGraphicFramePr>
            <a:graphicFrameLocks noGrp="1"/>
          </p:cNvGraphicFramePr>
          <p:nvPr>
            <p:extLst>
              <p:ext uri="{D42A27DB-BD31-4B8C-83A1-F6EECF244321}">
                <p14:modId xmlns:p14="http://schemas.microsoft.com/office/powerpoint/2010/main" val="946963745"/>
              </p:ext>
            </p:extLst>
          </p:nvPr>
        </p:nvGraphicFramePr>
        <p:xfrm>
          <a:off x="513278" y="1577009"/>
          <a:ext cx="9213818" cy="3664226"/>
        </p:xfrm>
        <a:graphic>
          <a:graphicData uri="http://schemas.openxmlformats.org/drawingml/2006/table">
            <a:tbl>
              <a:tblPr firstRow="1" bandRow="1">
                <a:tableStyleId>{72833802-FEF1-4C79-8D5D-14CF1EAF98D9}</a:tableStyleId>
              </a:tblPr>
              <a:tblGrid>
                <a:gridCol w="1951626">
                  <a:extLst>
                    <a:ext uri="{9D8B030D-6E8A-4147-A177-3AD203B41FA5}">
                      <a16:colId xmlns:a16="http://schemas.microsoft.com/office/drawing/2014/main" val="1924955592"/>
                    </a:ext>
                  </a:extLst>
                </a:gridCol>
                <a:gridCol w="7262192">
                  <a:extLst>
                    <a:ext uri="{9D8B030D-6E8A-4147-A177-3AD203B41FA5}">
                      <a16:colId xmlns:a16="http://schemas.microsoft.com/office/drawing/2014/main" val="2858474719"/>
                    </a:ext>
                  </a:extLst>
                </a:gridCol>
              </a:tblGrid>
              <a:tr h="569843">
                <a:tc>
                  <a:txBody>
                    <a:bodyPr/>
                    <a:lstStyle/>
                    <a:p>
                      <a:pPr algn="ctr"/>
                      <a:r>
                        <a:rPr lang="en-US" sz="2000" dirty="0"/>
                        <a:t>Term/Acronym </a:t>
                      </a:r>
                    </a:p>
                  </a:txBody>
                  <a:tcPr/>
                </a:tc>
                <a:tc>
                  <a:txBody>
                    <a:bodyPr/>
                    <a:lstStyle/>
                    <a:p>
                      <a:pPr algn="ctr"/>
                      <a:r>
                        <a:rPr lang="en-US" sz="2000" dirty="0"/>
                        <a:t>Definition</a:t>
                      </a:r>
                    </a:p>
                  </a:txBody>
                  <a:tcPr/>
                </a:tc>
                <a:extLst>
                  <a:ext uri="{0D108BD9-81ED-4DB2-BD59-A6C34878D82A}">
                    <a16:rowId xmlns:a16="http://schemas.microsoft.com/office/drawing/2014/main" val="135878623"/>
                  </a:ext>
                </a:extLst>
              </a:tr>
              <a:tr h="516835">
                <a:tc>
                  <a:txBody>
                    <a:bodyPr/>
                    <a:lstStyle/>
                    <a:p>
                      <a:r>
                        <a:rPr lang="en-US" sz="1800" dirty="0"/>
                        <a:t>A-SPICE </a:t>
                      </a:r>
                    </a:p>
                  </a:txBody>
                  <a:tcPr/>
                </a:tc>
                <a:tc>
                  <a:txBody>
                    <a:bodyPr/>
                    <a:lstStyle/>
                    <a:p>
                      <a:r>
                        <a:rPr lang="en-US" sz="1800" dirty="0"/>
                        <a:t>Automotive Software Process Improvement and Capability Determination</a:t>
                      </a:r>
                    </a:p>
                  </a:txBody>
                  <a:tcPr/>
                </a:tc>
                <a:extLst>
                  <a:ext uri="{0D108BD9-81ED-4DB2-BD59-A6C34878D82A}">
                    <a16:rowId xmlns:a16="http://schemas.microsoft.com/office/drawing/2014/main" val="1031953701"/>
                  </a:ext>
                </a:extLst>
              </a:tr>
              <a:tr h="453887">
                <a:tc>
                  <a:txBody>
                    <a:bodyPr/>
                    <a:lstStyle/>
                    <a:p>
                      <a:r>
                        <a:rPr lang="en-US" sz="1800" dirty="0"/>
                        <a:t>SYS</a:t>
                      </a:r>
                    </a:p>
                  </a:txBody>
                  <a:tcPr/>
                </a:tc>
                <a:tc>
                  <a:txBody>
                    <a:bodyPr/>
                    <a:lstStyle/>
                    <a:p>
                      <a:r>
                        <a:rPr lang="en-US" sz="1800" dirty="0"/>
                        <a:t>System Engineering</a:t>
                      </a:r>
                    </a:p>
                  </a:txBody>
                  <a:tcPr/>
                </a:tc>
                <a:extLst>
                  <a:ext uri="{0D108BD9-81ED-4DB2-BD59-A6C34878D82A}">
                    <a16:rowId xmlns:a16="http://schemas.microsoft.com/office/drawing/2014/main" val="1963118354"/>
                  </a:ext>
                </a:extLst>
              </a:tr>
              <a:tr h="470452">
                <a:tc>
                  <a:txBody>
                    <a:bodyPr/>
                    <a:lstStyle/>
                    <a:p>
                      <a:r>
                        <a:rPr lang="en-US" sz="1800" dirty="0"/>
                        <a:t>SWE</a:t>
                      </a:r>
                    </a:p>
                  </a:txBody>
                  <a:tcPr/>
                </a:tc>
                <a:tc>
                  <a:txBody>
                    <a:bodyPr/>
                    <a:lstStyle/>
                    <a:p>
                      <a:r>
                        <a:rPr lang="en-US" sz="1800" dirty="0"/>
                        <a:t>Software Engineering </a:t>
                      </a:r>
                    </a:p>
                  </a:txBody>
                  <a:tcPr/>
                </a:tc>
                <a:extLst>
                  <a:ext uri="{0D108BD9-81ED-4DB2-BD59-A6C34878D82A}">
                    <a16:rowId xmlns:a16="http://schemas.microsoft.com/office/drawing/2014/main" val="1182131327"/>
                  </a:ext>
                </a:extLst>
              </a:tr>
              <a:tr h="738809">
                <a:tc>
                  <a:txBody>
                    <a:bodyPr/>
                    <a:lstStyle/>
                    <a:p>
                      <a:r>
                        <a:rPr lang="en-US" sz="1800" dirty="0"/>
                        <a:t>Workflow </a:t>
                      </a:r>
                    </a:p>
                  </a:txBody>
                  <a:tcPr/>
                </a:tc>
                <a:tc>
                  <a:txBody>
                    <a:bodyPr/>
                    <a:lstStyle/>
                    <a:p>
                      <a:r>
                        <a:rPr lang="en-US" sz="1800" dirty="0"/>
                        <a:t>Definition, execution and automation of business processes where tasks, information or documents are passed from one participant to another for action, according to a set of procedural rules.</a:t>
                      </a:r>
                    </a:p>
                  </a:txBody>
                  <a:tcPr/>
                </a:tc>
                <a:extLst>
                  <a:ext uri="{0D108BD9-81ED-4DB2-BD59-A6C34878D82A}">
                    <a16:rowId xmlns:a16="http://schemas.microsoft.com/office/drawing/2014/main" val="2931372868"/>
                  </a:ext>
                </a:extLst>
              </a:tr>
              <a:tr h="738809">
                <a:tc>
                  <a:txBody>
                    <a:bodyPr/>
                    <a:lstStyle/>
                    <a:p>
                      <a:r>
                        <a:rPr lang="en-US" sz="1800" dirty="0"/>
                        <a:t>Trace</a:t>
                      </a:r>
                    </a:p>
                  </a:txBody>
                  <a:tcPr/>
                </a:tc>
                <a:tc>
                  <a:txBody>
                    <a:bodyPr/>
                    <a:lstStyle/>
                    <a:p>
                      <a:r>
                        <a:rPr lang="en-US" sz="1800" dirty="0"/>
                        <a:t>Link between two meaningful contents in a document </a:t>
                      </a:r>
                    </a:p>
                  </a:txBody>
                  <a:tcPr/>
                </a:tc>
                <a:extLst>
                  <a:ext uri="{0D108BD9-81ED-4DB2-BD59-A6C34878D82A}">
                    <a16:rowId xmlns:a16="http://schemas.microsoft.com/office/drawing/2014/main" val="3937923885"/>
                  </a:ext>
                </a:extLst>
              </a:tr>
            </a:tbl>
          </a:graphicData>
        </a:graphic>
      </p:graphicFrame>
    </p:spTree>
    <p:extLst>
      <p:ext uri="{BB962C8B-B14F-4D97-AF65-F5344CB8AC3E}">
        <p14:creationId xmlns:p14="http://schemas.microsoft.com/office/powerpoint/2010/main" val="1517598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534141" y="61938"/>
            <a:ext cx="11379200" cy="673820"/>
          </a:xfrm>
        </p:spPr>
        <p:txBody>
          <a:bodyPr>
            <a:normAutofit/>
          </a:bodyPr>
          <a:lstStyle/>
          <a:p>
            <a:r>
              <a:rPr lang="en-US" dirty="0"/>
              <a:t>A-SPICE MODEL OF REQUIREMENT DOCUMENT</a:t>
            </a:r>
          </a:p>
        </p:txBody>
      </p:sp>
      <p:sp>
        <p:nvSpPr>
          <p:cNvPr id="23" name="TextBox 22">
            <a:extLst>
              <a:ext uri="{FF2B5EF4-FFF2-40B4-BE49-F238E27FC236}">
                <a16:creationId xmlns:a16="http://schemas.microsoft.com/office/drawing/2014/main" id="{AFAC35A9-528E-4930-9369-7923F4B5DC2B}"/>
              </a:ext>
            </a:extLst>
          </p:cNvPr>
          <p:cNvSpPr txBox="1"/>
          <p:nvPr/>
        </p:nvSpPr>
        <p:spPr>
          <a:xfrm>
            <a:off x="7076662" y="983087"/>
            <a:ext cx="4836680" cy="5909310"/>
          </a:xfrm>
          <a:prstGeom prst="rect">
            <a:avLst/>
          </a:prstGeom>
          <a:noFill/>
        </p:spPr>
        <p:txBody>
          <a:bodyPr wrap="square">
            <a:spAutoFit/>
          </a:bodyPr>
          <a:lstStyle/>
          <a:p>
            <a:pPr marR="0" lvl="1" indent="-228600" defTabSz="914400" fontAlgn="auto">
              <a:spcBef>
                <a:spcPts val="375"/>
              </a:spcBef>
              <a:spcAft>
                <a:spcPts val="0"/>
              </a:spcAft>
              <a:buClrTx/>
              <a:buSzTx/>
              <a:buFont typeface="Arial" panose="020B0604020202020204" pitchFamily="34" charset="0"/>
              <a:buChar char="•"/>
              <a:tabLst>
                <a:tab pos="180975" algn="l"/>
              </a:tabLst>
              <a:defRPr/>
            </a:pPr>
            <a:endParaRPr lang="en-US" sz="1800" dirty="0">
              <a:solidFill>
                <a:schemeClr val="tx1"/>
              </a:solidFill>
            </a:endParaRPr>
          </a:p>
          <a:p>
            <a:pPr marR="0" lvl="1" indent="-228600" defTabSz="914400" fontAlgn="auto">
              <a:spcBef>
                <a:spcPts val="375"/>
              </a:spcBef>
              <a:spcAft>
                <a:spcPts val="0"/>
              </a:spcAft>
              <a:buClrTx/>
              <a:buSzTx/>
              <a:buFont typeface="Arial" panose="020B0604020202020204" pitchFamily="34" charset="0"/>
              <a:buChar char="•"/>
              <a:tabLst>
                <a:tab pos="180975" algn="l"/>
              </a:tabLst>
              <a:defRPr/>
            </a:pPr>
            <a:endParaRPr lang="en-US" dirty="0"/>
          </a:p>
          <a:p>
            <a:pPr marR="0" lvl="1" indent="-228600" defTabSz="914400" fontAlgn="auto">
              <a:spcBef>
                <a:spcPts val="375"/>
              </a:spcBef>
              <a:spcAft>
                <a:spcPts val="0"/>
              </a:spcAft>
              <a:buClrTx/>
              <a:buSzTx/>
              <a:buFont typeface="Arial" panose="020B0604020202020204" pitchFamily="34" charset="0"/>
              <a:buChar char="•"/>
              <a:tabLst>
                <a:tab pos="180975" algn="l"/>
              </a:tabLst>
              <a:defRPr/>
            </a:pPr>
            <a:endParaRPr lang="en-US" sz="1800" dirty="0">
              <a:solidFill>
                <a:schemeClr val="tx1"/>
              </a:solidFill>
            </a:endParaRPr>
          </a:p>
          <a:p>
            <a:pPr marR="0" lvl="1" indent="-228600" defTabSz="914400" fontAlgn="auto">
              <a:spcBef>
                <a:spcPts val="375"/>
              </a:spcBef>
              <a:spcAft>
                <a:spcPts val="0"/>
              </a:spcAft>
              <a:buClrTx/>
              <a:buSzTx/>
              <a:buFont typeface="Arial" panose="020B0604020202020204" pitchFamily="34" charset="0"/>
              <a:buChar char="•"/>
              <a:tabLst>
                <a:tab pos="180975" algn="l"/>
              </a:tabLst>
              <a:defRPr/>
            </a:pPr>
            <a:r>
              <a:rPr lang="en-US" sz="1800" dirty="0">
                <a:solidFill>
                  <a:schemeClr val="tx1"/>
                </a:solidFill>
              </a:rPr>
              <a:t>Project Requirements Documents are separated into different levels within Integrity on the basis of ASPICE Model.</a:t>
            </a:r>
            <a:endParaRPr lang="en-US" dirty="0"/>
          </a:p>
          <a:p>
            <a:pPr lvl="1" indent="-228600">
              <a:spcBef>
                <a:spcPts val="375"/>
              </a:spcBef>
              <a:buFont typeface="Arial" panose="020B0604020202020204" pitchFamily="34" charset="0"/>
              <a:buChar char="•"/>
              <a:tabLst>
                <a:tab pos="180975" algn="l"/>
              </a:tabLst>
              <a:defRPr/>
            </a:pPr>
            <a:r>
              <a:rPr lang="en-US" dirty="0"/>
              <a:t>Management Process Group covers Project Management, Risk Management and Measurement.</a:t>
            </a:r>
          </a:p>
          <a:p>
            <a:pPr lvl="1" indent="-228600">
              <a:spcBef>
                <a:spcPts val="375"/>
              </a:spcBef>
              <a:buFont typeface="Arial" panose="020B0604020202020204" pitchFamily="34" charset="0"/>
              <a:buChar char="•"/>
              <a:tabLst>
                <a:tab pos="180975" algn="l"/>
              </a:tabLst>
              <a:defRPr/>
            </a:pPr>
            <a:r>
              <a:rPr lang="en-US" dirty="0"/>
              <a:t>Project Management has been extensively enabled in Integrity along with MS Project Integration.</a:t>
            </a:r>
          </a:p>
          <a:p>
            <a:pPr marL="228600" lvl="1">
              <a:spcBef>
                <a:spcPts val="375"/>
              </a:spcBef>
              <a:tabLst>
                <a:tab pos="180975" algn="l"/>
              </a:tabLst>
              <a:defRPr/>
            </a:pPr>
            <a:endParaRPr lang="en-US" dirty="0"/>
          </a:p>
          <a:p>
            <a:endParaRPr lang="en-US" dirty="0"/>
          </a:p>
          <a:p>
            <a:pPr lvl="1" indent="-228600">
              <a:spcBef>
                <a:spcPts val="375"/>
              </a:spcBef>
              <a:buFont typeface="Arial" panose="020B0604020202020204" pitchFamily="34" charset="0"/>
              <a:buChar char="•"/>
              <a:tabLst>
                <a:tab pos="180975" algn="l"/>
              </a:tabLst>
              <a:defRP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sz="1600" dirty="0"/>
          </a:p>
        </p:txBody>
      </p:sp>
      <p:pic>
        <p:nvPicPr>
          <p:cNvPr id="3" name="Picture 2"/>
          <p:cNvPicPr>
            <a:picLocks noChangeAspect="1"/>
          </p:cNvPicPr>
          <p:nvPr/>
        </p:nvPicPr>
        <p:blipFill>
          <a:blip r:embed="rId2"/>
          <a:stretch>
            <a:fillRect/>
          </a:stretch>
        </p:blipFill>
        <p:spPr>
          <a:xfrm>
            <a:off x="534141" y="1383175"/>
            <a:ext cx="6191250" cy="3765599"/>
          </a:xfrm>
          <a:prstGeom prst="rect">
            <a:avLst/>
          </a:prstGeom>
        </p:spPr>
      </p:pic>
    </p:spTree>
    <p:extLst>
      <p:ext uri="{BB962C8B-B14F-4D97-AF65-F5344CB8AC3E}">
        <p14:creationId xmlns:p14="http://schemas.microsoft.com/office/powerpoint/2010/main" val="2102717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534141" y="61938"/>
            <a:ext cx="11379200" cy="673820"/>
          </a:xfrm>
        </p:spPr>
        <p:txBody>
          <a:bodyPr>
            <a:normAutofit/>
          </a:bodyPr>
          <a:lstStyle/>
          <a:p>
            <a:r>
              <a:rPr lang="en-US" dirty="0"/>
              <a:t>What Are Items? </a:t>
            </a:r>
          </a:p>
        </p:txBody>
      </p:sp>
      <p:sp>
        <p:nvSpPr>
          <p:cNvPr id="23" name="TextBox 22">
            <a:extLst>
              <a:ext uri="{FF2B5EF4-FFF2-40B4-BE49-F238E27FC236}">
                <a16:creationId xmlns:a16="http://schemas.microsoft.com/office/drawing/2014/main" id="{AFAC35A9-528E-4930-9369-7923F4B5DC2B}"/>
              </a:ext>
            </a:extLst>
          </p:cNvPr>
          <p:cNvSpPr txBox="1"/>
          <p:nvPr/>
        </p:nvSpPr>
        <p:spPr>
          <a:xfrm>
            <a:off x="6202017" y="983087"/>
            <a:ext cx="5711325" cy="6412012"/>
          </a:xfrm>
          <a:prstGeom prst="rect">
            <a:avLst/>
          </a:prstGeom>
          <a:noFill/>
        </p:spPr>
        <p:txBody>
          <a:bodyPr wrap="square">
            <a:spAutoFit/>
          </a:bodyPr>
          <a:lstStyle/>
          <a:p>
            <a:pPr marL="457200" marR="0" lvl="1" indent="-228600" algn="l" defTabSz="914400" rtl="0" eaLnBrk="1" fontAlgn="auto" latinLnBrk="0" hangingPunct="1">
              <a:lnSpc>
                <a:spcPct val="100000"/>
              </a:lnSpc>
              <a:spcBef>
                <a:spcPts val="375"/>
              </a:spcBef>
              <a:spcAft>
                <a:spcPts val="0"/>
              </a:spcAft>
              <a:buClrTx/>
              <a:buSzTx/>
              <a:buFont typeface="Arial" panose="020B0604020202020204" pitchFamily="34" charset="0"/>
              <a:buChar char="•"/>
              <a:tabLst>
                <a:tab pos="180975" algn="l"/>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514350" marR="0" lvl="1" indent="-285750" algn="l" defTabSz="914400" rtl="0" eaLnBrk="1" fontAlgn="auto" latinLnBrk="0" hangingPunct="1">
              <a:lnSpc>
                <a:spcPct val="100000"/>
              </a:lnSpc>
              <a:spcBef>
                <a:spcPts val="375"/>
              </a:spcBef>
              <a:spcAft>
                <a:spcPts val="0"/>
              </a:spcAft>
              <a:buClrTx/>
              <a:buSzTx/>
              <a:buFont typeface="Arial" panose="020B0604020202020204" pitchFamily="34" charset="0"/>
              <a:buChar char="•"/>
              <a:tabLst>
                <a:tab pos="180975" algn="l"/>
              </a:tabLst>
              <a:defRPr/>
            </a:pPr>
            <a:r>
              <a:rPr lang="en-US" dirty="0"/>
              <a:t>Items are the basic building blocks of the Integrity data model, and represent the information assets and process objects associated with software development.</a:t>
            </a:r>
          </a:p>
          <a:p>
            <a:pPr marL="457200" marR="0" lvl="1" indent="-228600" algn="l" defTabSz="914400" rtl="0" eaLnBrk="1" fontAlgn="auto" latinLnBrk="0" hangingPunct="1">
              <a:lnSpc>
                <a:spcPct val="100000"/>
              </a:lnSpc>
              <a:spcBef>
                <a:spcPts val="375"/>
              </a:spcBef>
              <a:spcAft>
                <a:spcPts val="0"/>
              </a:spcAft>
              <a:buClrTx/>
              <a:buSzTx/>
              <a:buFont typeface="Arial" panose="020B0604020202020204" pitchFamily="34" charset="0"/>
              <a:buChar char="•"/>
              <a:tabLst>
                <a:tab pos="180975" algn="l"/>
              </a:tabLst>
              <a:defRPr/>
            </a:pPr>
            <a:r>
              <a:rPr lang="en-US" dirty="0"/>
              <a:t>For example, items can represent Work items, projects, requirements, test cases, change requests, and defects.</a:t>
            </a:r>
          </a:p>
          <a:p>
            <a:pPr marL="457200" marR="0" lvl="1" indent="-228600" algn="l" defTabSz="914400" rtl="0" eaLnBrk="1" fontAlgn="auto" latinLnBrk="0" hangingPunct="1">
              <a:lnSpc>
                <a:spcPct val="100000"/>
              </a:lnSpc>
              <a:spcBef>
                <a:spcPts val="375"/>
              </a:spcBef>
              <a:spcAft>
                <a:spcPts val="0"/>
              </a:spcAft>
              <a:buClrTx/>
              <a:buSzTx/>
              <a:buFont typeface="Arial" panose="020B0604020202020204" pitchFamily="34" charset="0"/>
              <a:buChar char="•"/>
              <a:tabLst>
                <a:tab pos="180975" algn="l"/>
              </a:tabLst>
              <a:defRPr/>
            </a:pPr>
            <a:r>
              <a:rPr lang="en-US" dirty="0"/>
              <a:t>Every item is configurable and contains metadata and history about that item.</a:t>
            </a:r>
          </a:p>
          <a:p>
            <a:pPr marL="457200" marR="0" lvl="1" indent="-228600" algn="l" defTabSz="914400" rtl="0" eaLnBrk="1" fontAlgn="auto" latinLnBrk="0" hangingPunct="1">
              <a:lnSpc>
                <a:spcPct val="100000"/>
              </a:lnSpc>
              <a:spcBef>
                <a:spcPts val="375"/>
              </a:spcBef>
              <a:spcAft>
                <a:spcPts val="0"/>
              </a:spcAft>
              <a:buClrTx/>
              <a:buSzTx/>
              <a:buFont typeface="Arial" panose="020B0604020202020204" pitchFamily="34" charset="0"/>
              <a:buChar char="•"/>
              <a:tabLst>
                <a:tab pos="180975" algn="l"/>
              </a:tabLst>
              <a:defRPr/>
            </a:pPr>
            <a:r>
              <a:rPr lang="en-US" dirty="0"/>
              <a:t>Every item type has its own enforceable workflow which describes how it moves from state to state, complete with definable rules, full audit trails, and security.</a:t>
            </a:r>
          </a:p>
          <a:p>
            <a:pPr marL="457200" marR="0" lvl="1" indent="-228600" algn="l" defTabSz="914400" rtl="0" eaLnBrk="1" fontAlgn="auto" latinLnBrk="0" hangingPunct="1">
              <a:lnSpc>
                <a:spcPct val="100000"/>
              </a:lnSpc>
              <a:spcBef>
                <a:spcPts val="375"/>
              </a:spcBef>
              <a:spcAft>
                <a:spcPts val="0"/>
              </a:spcAft>
              <a:buClrTx/>
              <a:buSzTx/>
              <a:buFont typeface="Arial" panose="020B0604020202020204" pitchFamily="34" charset="0"/>
              <a:buChar char="•"/>
              <a:tabLst>
                <a:tab pos="180975" algn="l"/>
              </a:tabLst>
              <a:defRPr/>
            </a:pPr>
            <a:r>
              <a:rPr lang="en-US" dirty="0"/>
              <a:t>Escalations, conditional assignments, notifications, and external processes can all be defined and initiated as part of Integrity’s process automation</a:t>
            </a: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3" name="Picture 2">
            <a:extLst>
              <a:ext uri="{FF2B5EF4-FFF2-40B4-BE49-F238E27FC236}">
                <a16:creationId xmlns:a16="http://schemas.microsoft.com/office/drawing/2014/main" id="{96C4F70D-255D-4762-85AF-B1231AF763EE}"/>
              </a:ext>
            </a:extLst>
          </p:cNvPr>
          <p:cNvPicPr>
            <a:picLocks noChangeAspect="1"/>
          </p:cNvPicPr>
          <p:nvPr/>
        </p:nvPicPr>
        <p:blipFill>
          <a:blip r:embed="rId2"/>
          <a:stretch>
            <a:fillRect/>
          </a:stretch>
        </p:blipFill>
        <p:spPr>
          <a:xfrm>
            <a:off x="765727" y="1558645"/>
            <a:ext cx="4591050" cy="4152900"/>
          </a:xfrm>
          <a:prstGeom prst="rect">
            <a:avLst/>
          </a:prstGeom>
        </p:spPr>
      </p:pic>
    </p:spTree>
    <p:extLst>
      <p:ext uri="{BB962C8B-B14F-4D97-AF65-F5344CB8AC3E}">
        <p14:creationId xmlns:p14="http://schemas.microsoft.com/office/powerpoint/2010/main" val="94656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534141" y="61938"/>
            <a:ext cx="11379200" cy="673820"/>
          </a:xfrm>
        </p:spPr>
        <p:txBody>
          <a:bodyPr>
            <a:normAutofit/>
          </a:bodyPr>
          <a:lstStyle/>
          <a:p>
            <a:r>
              <a:rPr lang="en-US" dirty="0"/>
              <a:t>Item Details view</a:t>
            </a:r>
          </a:p>
        </p:txBody>
      </p:sp>
      <p:pic>
        <p:nvPicPr>
          <p:cNvPr id="17" name="Picture 16"/>
          <p:cNvPicPr>
            <a:picLocks noChangeAspect="1"/>
          </p:cNvPicPr>
          <p:nvPr/>
        </p:nvPicPr>
        <p:blipFill rotWithShape="1">
          <a:blip r:embed="rId2"/>
          <a:srcRect l="1095" t="4339" r="35047" b="4887"/>
          <a:stretch/>
        </p:blipFill>
        <p:spPr>
          <a:xfrm>
            <a:off x="6465885" y="4509354"/>
            <a:ext cx="1499554" cy="991608"/>
          </a:xfrm>
          <a:prstGeom prst="rect">
            <a:avLst/>
          </a:prstGeom>
          <a:solidFill>
            <a:schemeClr val="bg1"/>
          </a:solidFill>
          <a:ln w="19050">
            <a:solidFill>
              <a:schemeClr val="accent1">
                <a:shade val="50000"/>
              </a:schemeClr>
            </a:solidFill>
          </a:ln>
        </p:spPr>
      </p:pic>
      <p:sp>
        <p:nvSpPr>
          <p:cNvPr id="34" name="Oval 33">
            <a:extLst>
              <a:ext uri="{FF2B5EF4-FFF2-40B4-BE49-F238E27FC236}">
                <a16:creationId xmlns:a16="http://schemas.microsoft.com/office/drawing/2014/main" id="{4DC1545C-771E-4F68-9C80-CAC090263C98}"/>
              </a:ext>
            </a:extLst>
          </p:cNvPr>
          <p:cNvSpPr/>
          <p:nvPr/>
        </p:nvSpPr>
        <p:spPr>
          <a:xfrm>
            <a:off x="3125247" y="561083"/>
            <a:ext cx="238946" cy="26104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GB" sz="1000" dirty="0"/>
          </a:p>
        </p:txBody>
      </p:sp>
      <p:sp>
        <p:nvSpPr>
          <p:cNvPr id="36" name="Oval 35">
            <a:extLst>
              <a:ext uri="{FF2B5EF4-FFF2-40B4-BE49-F238E27FC236}">
                <a16:creationId xmlns:a16="http://schemas.microsoft.com/office/drawing/2014/main" id="{A3FFD76B-27FB-425F-A759-74FEEA3A5DA9}"/>
              </a:ext>
            </a:extLst>
          </p:cNvPr>
          <p:cNvSpPr/>
          <p:nvPr/>
        </p:nvSpPr>
        <p:spPr>
          <a:xfrm>
            <a:off x="4097907" y="1404178"/>
            <a:ext cx="238946" cy="26104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2</a:t>
            </a:r>
            <a:endParaRPr lang="en-GB" sz="1000" dirty="0"/>
          </a:p>
        </p:txBody>
      </p:sp>
      <p:sp>
        <p:nvSpPr>
          <p:cNvPr id="37" name="Oval 36">
            <a:extLst>
              <a:ext uri="{FF2B5EF4-FFF2-40B4-BE49-F238E27FC236}">
                <a16:creationId xmlns:a16="http://schemas.microsoft.com/office/drawing/2014/main" id="{54CEC4E6-5993-4D9F-BFCE-C25ADD912A7E}"/>
              </a:ext>
            </a:extLst>
          </p:cNvPr>
          <p:cNvSpPr/>
          <p:nvPr/>
        </p:nvSpPr>
        <p:spPr>
          <a:xfrm>
            <a:off x="4890958" y="2422631"/>
            <a:ext cx="238946" cy="26104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3</a:t>
            </a:r>
          </a:p>
        </p:txBody>
      </p:sp>
      <p:sp>
        <p:nvSpPr>
          <p:cNvPr id="38" name="Oval 37">
            <a:extLst>
              <a:ext uri="{FF2B5EF4-FFF2-40B4-BE49-F238E27FC236}">
                <a16:creationId xmlns:a16="http://schemas.microsoft.com/office/drawing/2014/main" id="{0DE2FD3E-0A0D-4FB5-9EFD-5D2459CED567}"/>
              </a:ext>
            </a:extLst>
          </p:cNvPr>
          <p:cNvSpPr/>
          <p:nvPr/>
        </p:nvSpPr>
        <p:spPr>
          <a:xfrm>
            <a:off x="7266303" y="3284280"/>
            <a:ext cx="238946" cy="26104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4</a:t>
            </a:r>
          </a:p>
        </p:txBody>
      </p:sp>
      <p:sp>
        <p:nvSpPr>
          <p:cNvPr id="39" name="Oval 38">
            <a:extLst>
              <a:ext uri="{FF2B5EF4-FFF2-40B4-BE49-F238E27FC236}">
                <a16:creationId xmlns:a16="http://schemas.microsoft.com/office/drawing/2014/main" id="{ADFD7514-DBA5-4559-8452-0AB4F9E23DAF}"/>
              </a:ext>
            </a:extLst>
          </p:cNvPr>
          <p:cNvSpPr/>
          <p:nvPr/>
        </p:nvSpPr>
        <p:spPr>
          <a:xfrm>
            <a:off x="8052465" y="4105249"/>
            <a:ext cx="238946" cy="26104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5</a:t>
            </a:r>
          </a:p>
        </p:txBody>
      </p:sp>
      <p:sp>
        <p:nvSpPr>
          <p:cNvPr id="40" name="Oval 39">
            <a:extLst>
              <a:ext uri="{FF2B5EF4-FFF2-40B4-BE49-F238E27FC236}">
                <a16:creationId xmlns:a16="http://schemas.microsoft.com/office/drawing/2014/main" id="{AF44B619-805A-4AC4-BA48-846C74F1CCEE}"/>
              </a:ext>
            </a:extLst>
          </p:cNvPr>
          <p:cNvSpPr/>
          <p:nvPr/>
        </p:nvSpPr>
        <p:spPr>
          <a:xfrm>
            <a:off x="9467913" y="4874635"/>
            <a:ext cx="238946" cy="26104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6</a:t>
            </a:r>
          </a:p>
        </p:txBody>
      </p:sp>
      <p:pic>
        <p:nvPicPr>
          <p:cNvPr id="10" name="Picture 9" descr="A screenshot of a computer&#10;&#10;Description automatically generated">
            <a:extLst>
              <a:ext uri="{FF2B5EF4-FFF2-40B4-BE49-F238E27FC236}">
                <a16:creationId xmlns:a16="http://schemas.microsoft.com/office/drawing/2014/main" id="{66399F6B-518C-4C91-B36C-5BB1179591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141" y="822129"/>
            <a:ext cx="12095181" cy="5474787"/>
          </a:xfrm>
          <a:prstGeom prst="rect">
            <a:avLst/>
          </a:prstGeom>
        </p:spPr>
      </p:pic>
    </p:spTree>
    <p:extLst>
      <p:ext uri="{BB962C8B-B14F-4D97-AF65-F5344CB8AC3E}">
        <p14:creationId xmlns:p14="http://schemas.microsoft.com/office/powerpoint/2010/main" val="2327867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534141" y="61938"/>
            <a:ext cx="11379200" cy="673820"/>
          </a:xfrm>
        </p:spPr>
        <p:txBody>
          <a:bodyPr>
            <a:normAutofit/>
          </a:bodyPr>
          <a:lstStyle/>
          <a:p>
            <a:r>
              <a:rPr lang="en-US" dirty="0"/>
              <a:t>What Is a Document?</a:t>
            </a:r>
          </a:p>
        </p:txBody>
      </p:sp>
      <p:sp>
        <p:nvSpPr>
          <p:cNvPr id="23" name="TextBox 22">
            <a:extLst>
              <a:ext uri="{FF2B5EF4-FFF2-40B4-BE49-F238E27FC236}">
                <a16:creationId xmlns:a16="http://schemas.microsoft.com/office/drawing/2014/main" id="{AFAC35A9-528E-4930-9369-7923F4B5DC2B}"/>
              </a:ext>
            </a:extLst>
          </p:cNvPr>
          <p:cNvSpPr txBox="1"/>
          <p:nvPr/>
        </p:nvSpPr>
        <p:spPr>
          <a:xfrm>
            <a:off x="381552" y="995787"/>
            <a:ext cx="11086548" cy="3831818"/>
          </a:xfrm>
          <a:prstGeom prst="rect">
            <a:avLst/>
          </a:prstGeom>
          <a:noFill/>
        </p:spPr>
        <p:txBody>
          <a:bodyPr wrap="square">
            <a:spAutoFit/>
          </a:bodyPr>
          <a:lstStyle/>
          <a:p>
            <a:pPr marL="285750" indent="-285750">
              <a:spcBef>
                <a:spcPts val="600"/>
              </a:spcBef>
              <a:spcAft>
                <a:spcPts val="600"/>
              </a:spcAft>
              <a:buFont typeface="Arial" panose="020B0604020202020204" pitchFamily="34" charset="0"/>
              <a:buChar char="•"/>
            </a:pPr>
            <a:r>
              <a:rPr lang="en-US" dirty="0"/>
              <a:t>Documents are typically used in the requirements management and test management domains.</a:t>
            </a:r>
          </a:p>
          <a:p>
            <a:pPr marL="285750" indent="-285750">
              <a:spcBef>
                <a:spcPts val="600"/>
              </a:spcBef>
              <a:spcAft>
                <a:spcPts val="600"/>
              </a:spcAft>
              <a:buFont typeface="Arial" panose="020B0604020202020204" pitchFamily="34" charset="0"/>
              <a:buChar char="•"/>
            </a:pPr>
            <a:r>
              <a:rPr lang="en-US" dirty="0"/>
              <a:t>With the applicable permissions, you can manage all aspects of document and content creation and modification, including creating relationships between content items across and between domains, called trace relationships. </a:t>
            </a:r>
          </a:p>
          <a:p>
            <a:pPr marL="285750" indent="-285750">
              <a:spcBef>
                <a:spcPts val="600"/>
              </a:spcBef>
              <a:spcAft>
                <a:spcPts val="600"/>
              </a:spcAft>
              <a:buFont typeface="Arial" panose="020B0604020202020204" pitchFamily="34" charset="0"/>
              <a:buChar char="•"/>
            </a:pPr>
            <a:r>
              <a:rPr lang="en-US" dirty="0"/>
              <a:t>For example, a requirement item could be verified by a test case and that requirement and test case pair could be connected to a larger test suite document using a relationship that collectively verifies a major software change. </a:t>
            </a:r>
          </a:p>
          <a:p>
            <a:pPr marL="285750" indent="-285750">
              <a:spcBef>
                <a:spcPts val="600"/>
              </a:spcBef>
              <a:spcAft>
                <a:spcPts val="600"/>
              </a:spcAft>
              <a:buFont typeface="Arial" panose="020B0604020202020204" pitchFamily="34" charset="0"/>
              <a:buChar char="•"/>
            </a:pPr>
            <a:r>
              <a:rPr lang="en-US" dirty="0"/>
              <a:t>The </a:t>
            </a:r>
            <a:r>
              <a:rPr lang="en-US" b="1" dirty="0"/>
              <a:t>Document view </a:t>
            </a:r>
            <a:r>
              <a:rPr lang="en-US" dirty="0"/>
              <a:t>is the interface you use to view</a:t>
            </a:r>
          </a:p>
          <a:p>
            <a:pPr>
              <a:spcBef>
                <a:spcPts val="600"/>
              </a:spcBef>
              <a:spcAft>
                <a:spcPts val="600"/>
              </a:spcAft>
            </a:pPr>
            <a:r>
              <a:rPr lang="en-US" dirty="0"/>
              <a:t>      and modify documents and content in a cohesive</a:t>
            </a:r>
          </a:p>
          <a:p>
            <a:pPr>
              <a:spcBef>
                <a:spcPts val="600"/>
              </a:spcBef>
              <a:spcAft>
                <a:spcPts val="600"/>
              </a:spcAft>
            </a:pPr>
            <a:r>
              <a:rPr lang="en-US" dirty="0"/>
              <a:t>      tree structure.</a:t>
            </a:r>
          </a:p>
          <a:p>
            <a:pPr marL="285750" indent="-285750">
              <a:spcBef>
                <a:spcPts val="600"/>
              </a:spcBef>
              <a:spcAft>
                <a:spcPts val="600"/>
              </a:spcAft>
              <a:buFont typeface="Arial" panose="020B0604020202020204" pitchFamily="34" charset="0"/>
              <a:buChar char="•"/>
            </a:pPr>
            <a:endParaRPr lang="en-US" dirty="0"/>
          </a:p>
          <a:p>
            <a:pPr marL="742950" lvl="1" indent="-285750">
              <a:buFont typeface="Arial" panose="020B0604020202020204" pitchFamily="34" charset="0"/>
              <a:buChar char="•"/>
            </a:pPr>
            <a:endParaRPr lang="en-US" sz="1600" dirty="0"/>
          </a:p>
        </p:txBody>
      </p:sp>
      <p:pic>
        <p:nvPicPr>
          <p:cNvPr id="3" name="Picture 2">
            <a:extLst>
              <a:ext uri="{FF2B5EF4-FFF2-40B4-BE49-F238E27FC236}">
                <a16:creationId xmlns:a16="http://schemas.microsoft.com/office/drawing/2014/main" id="{342C7A43-32E5-472B-90B3-8AAF79860BC3}"/>
              </a:ext>
            </a:extLst>
          </p:cNvPr>
          <p:cNvPicPr>
            <a:picLocks noChangeAspect="1"/>
          </p:cNvPicPr>
          <p:nvPr/>
        </p:nvPicPr>
        <p:blipFill>
          <a:blip r:embed="rId2"/>
          <a:stretch>
            <a:fillRect/>
          </a:stretch>
        </p:blipFill>
        <p:spPr>
          <a:xfrm>
            <a:off x="5715000" y="2759075"/>
            <a:ext cx="6477000" cy="3752850"/>
          </a:xfrm>
          <a:prstGeom prst="rect">
            <a:avLst/>
          </a:prstGeom>
        </p:spPr>
      </p:pic>
    </p:spTree>
    <p:extLst>
      <p:ext uri="{BB962C8B-B14F-4D97-AF65-F5344CB8AC3E}">
        <p14:creationId xmlns:p14="http://schemas.microsoft.com/office/powerpoint/2010/main" val="2235344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Document View</a:t>
            </a:r>
          </a:p>
        </p:txBody>
      </p:sp>
      <p:pic>
        <p:nvPicPr>
          <p:cNvPr id="4" name="Picture 3">
            <a:extLst>
              <a:ext uri="{FF2B5EF4-FFF2-40B4-BE49-F238E27FC236}">
                <a16:creationId xmlns:a16="http://schemas.microsoft.com/office/drawing/2014/main" id="{D09E09E3-FA8C-4F21-B9E5-F5EB22CE886A}"/>
              </a:ext>
            </a:extLst>
          </p:cNvPr>
          <p:cNvPicPr>
            <a:picLocks noChangeAspect="1"/>
          </p:cNvPicPr>
          <p:nvPr/>
        </p:nvPicPr>
        <p:blipFill>
          <a:blip r:embed="rId2"/>
          <a:stretch>
            <a:fillRect/>
          </a:stretch>
        </p:blipFill>
        <p:spPr>
          <a:xfrm>
            <a:off x="1285460" y="1276349"/>
            <a:ext cx="7421218" cy="4607615"/>
          </a:xfrm>
          <a:prstGeom prst="rect">
            <a:avLst/>
          </a:prstGeom>
        </p:spPr>
      </p:pic>
    </p:spTree>
    <p:extLst>
      <p:ext uri="{BB962C8B-B14F-4D97-AF65-F5344CB8AC3E}">
        <p14:creationId xmlns:p14="http://schemas.microsoft.com/office/powerpoint/2010/main" val="992669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Document Structure</a:t>
            </a:r>
          </a:p>
        </p:txBody>
      </p:sp>
      <p:sp>
        <p:nvSpPr>
          <p:cNvPr id="3" name="Rectangle 2"/>
          <p:cNvSpPr/>
          <p:nvPr/>
        </p:nvSpPr>
        <p:spPr>
          <a:xfrm>
            <a:off x="612033" y="829046"/>
            <a:ext cx="5364697" cy="4247317"/>
          </a:xfrm>
          <a:prstGeom prst="rect">
            <a:avLst/>
          </a:prstGeom>
        </p:spPr>
        <p:txBody>
          <a:bodyPr wrap="square">
            <a:spAutoFit/>
          </a:bodyPr>
          <a:lstStyle/>
          <a:p>
            <a:endParaRPr lang="en-US" dirty="0"/>
          </a:p>
          <a:p>
            <a:endParaRPr lang="en-US" dirty="0"/>
          </a:p>
          <a:p>
            <a:endParaRPr lang="en-US" dirty="0"/>
          </a:p>
          <a:p>
            <a:endParaRPr lang="en-US" dirty="0"/>
          </a:p>
          <a:p>
            <a:pPr marL="285750" indent="-285750">
              <a:buFont typeface="Arial" panose="020B0604020202020204" pitchFamily="34" charset="0"/>
              <a:buChar char="•"/>
            </a:pPr>
            <a:r>
              <a:rPr lang="en-US" b="1" dirty="0"/>
              <a:t>Segment</a:t>
            </a:r>
            <a:r>
              <a:rPr lang="en-US" dirty="0"/>
              <a:t> is a root document, the container for all content.</a:t>
            </a:r>
          </a:p>
          <a:p>
            <a:endParaRPr lang="en-US" dirty="0"/>
          </a:p>
          <a:p>
            <a:pPr marL="285750" indent="-285750">
              <a:buFont typeface="Arial" panose="020B0604020202020204" pitchFamily="34" charset="0"/>
              <a:buChar char="•"/>
            </a:pPr>
            <a:r>
              <a:rPr lang="en-US" b="1" dirty="0"/>
              <a:t>Node</a:t>
            </a:r>
            <a:r>
              <a:rPr lang="en-US" dirty="0"/>
              <a:t> is any content within that root document including individual content items and sub-segments</a:t>
            </a:r>
          </a:p>
          <a:p>
            <a:endParaRPr lang="en-US" dirty="0"/>
          </a:p>
          <a:p>
            <a:pPr marL="285750" indent="-285750">
              <a:buFont typeface="Arial" panose="020B0604020202020204" pitchFamily="34" charset="0"/>
              <a:buChar char="•"/>
            </a:pPr>
            <a:r>
              <a:rPr lang="en-US" b="1" dirty="0"/>
              <a:t>Shared item </a:t>
            </a:r>
            <a:r>
              <a:rPr lang="en-US" dirty="0"/>
              <a:t>is the shared content. </a:t>
            </a:r>
          </a:p>
          <a:p>
            <a:endParaRPr lang="en-US" dirty="0"/>
          </a:p>
          <a:p>
            <a:pPr marL="285750" indent="-285750">
              <a:buFont typeface="Arial" panose="020B0604020202020204" pitchFamily="34" charset="0"/>
              <a:buChar char="•"/>
            </a:pPr>
            <a:r>
              <a:rPr lang="en-US" dirty="0"/>
              <a:t>A </a:t>
            </a:r>
            <a:r>
              <a:rPr lang="en-US" b="1" dirty="0"/>
              <a:t>Grouped Hierarchy </a:t>
            </a:r>
            <a:r>
              <a:rPr lang="en-US" dirty="0"/>
              <a:t>of nodes in a document, for example: section 1.4 and its children, 1.4.1, 1.4.2 or section 3.4.2 and its children 3.4.2.1, 3.4.2.2.</a:t>
            </a:r>
          </a:p>
        </p:txBody>
      </p:sp>
      <p:pic>
        <p:nvPicPr>
          <p:cNvPr id="5" name="Picture 4">
            <a:extLst>
              <a:ext uri="{FF2B5EF4-FFF2-40B4-BE49-F238E27FC236}">
                <a16:creationId xmlns:a16="http://schemas.microsoft.com/office/drawing/2014/main" id="{EF944693-E821-4881-8A25-5C7EC444E63B}"/>
              </a:ext>
            </a:extLst>
          </p:cNvPr>
          <p:cNvPicPr>
            <a:picLocks noChangeAspect="1"/>
          </p:cNvPicPr>
          <p:nvPr/>
        </p:nvPicPr>
        <p:blipFill>
          <a:blip r:embed="rId2"/>
          <a:stretch>
            <a:fillRect/>
          </a:stretch>
        </p:blipFill>
        <p:spPr>
          <a:xfrm>
            <a:off x="7312767" y="1290711"/>
            <a:ext cx="4267200" cy="3409950"/>
          </a:xfrm>
          <a:prstGeom prst="rect">
            <a:avLst/>
          </a:prstGeom>
        </p:spPr>
      </p:pic>
    </p:spTree>
    <p:extLst>
      <p:ext uri="{BB962C8B-B14F-4D97-AF65-F5344CB8AC3E}">
        <p14:creationId xmlns:p14="http://schemas.microsoft.com/office/powerpoint/2010/main" val="560263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AE2331-9E5D-4002-95F6-18F5524470BF}"/>
              </a:ext>
            </a:extLst>
          </p:cNvPr>
          <p:cNvSpPr/>
          <p:nvPr/>
        </p:nvSpPr>
        <p:spPr>
          <a:xfrm>
            <a:off x="0" y="13251"/>
            <a:ext cx="12192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endParaRPr lang="en-US" sz="1351" dirty="0">
              <a:solidFill>
                <a:srgbClr val="FFFFFF"/>
              </a:solidFill>
              <a:latin typeface="Calibri"/>
            </a:endParaRPr>
          </a:p>
        </p:txBody>
      </p:sp>
      <p:sp>
        <p:nvSpPr>
          <p:cNvPr id="33" name="Rectangle 32"/>
          <p:cNvSpPr/>
          <p:nvPr/>
        </p:nvSpPr>
        <p:spPr>
          <a:xfrm>
            <a:off x="0" y="13251"/>
            <a:ext cx="12192000" cy="6858000"/>
          </a:xfrm>
          <a:prstGeom prst="rect">
            <a:avLst/>
          </a:prstGeom>
          <a:solidFill>
            <a:schemeClr val="tx1">
              <a:lumMod val="95000"/>
              <a:lumOff val="5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2">
              <a:defRPr/>
            </a:pPr>
            <a:endParaRPr lang="en-US" sz="1351" dirty="0">
              <a:solidFill>
                <a:srgbClr val="FFFFFF"/>
              </a:solidFill>
              <a:latin typeface="Calibri"/>
            </a:endParaRPr>
          </a:p>
        </p:txBody>
      </p:sp>
      <p:sp>
        <p:nvSpPr>
          <p:cNvPr id="20" name="Text Placeholder 4">
            <a:extLst>
              <a:ext uri="{FF2B5EF4-FFF2-40B4-BE49-F238E27FC236}">
                <a16:creationId xmlns:a16="http://schemas.microsoft.com/office/drawing/2014/main" id="{28C5F6E7-2567-4C4E-8288-40A604867A15}"/>
              </a:ext>
            </a:extLst>
          </p:cNvPr>
          <p:cNvSpPr txBox="1">
            <a:spLocks/>
          </p:cNvSpPr>
          <p:nvPr/>
        </p:nvSpPr>
        <p:spPr>
          <a:xfrm>
            <a:off x="1855305" y="2666308"/>
            <a:ext cx="8971838" cy="991292"/>
          </a:xfrm>
          <a:prstGeom prst="parallelogram">
            <a:avLst/>
          </a:prstGeom>
          <a:solidFill>
            <a:srgbClr val="1F1A17">
              <a:alpha val="69804"/>
            </a:srgbClr>
          </a:solidFill>
        </p:spPr>
        <p:txBody>
          <a:bodyPr vert="horz" lIns="48000" tIns="96000" rIns="48000" bIns="48000" rtlCol="0" anchor="ctr">
            <a:noAutofit/>
          </a:bodyPr>
          <a:lstStyle>
            <a:defPPr>
              <a:defRPr lang="en-US"/>
            </a:defPPr>
            <a:lvl1pPr marR="0" lvl="0" indent="0" defTabSz="1625358" fontAlgn="auto">
              <a:lnSpc>
                <a:spcPct val="90000"/>
              </a:lnSpc>
              <a:spcBef>
                <a:spcPts val="1777"/>
              </a:spcBef>
              <a:spcAft>
                <a:spcPts val="0"/>
              </a:spcAft>
              <a:buClrTx/>
              <a:buSzTx/>
              <a:buFontTx/>
              <a:buNone/>
              <a:tabLst>
                <a:tab pos="428927" algn="l"/>
              </a:tabLst>
              <a:defRPr kumimoji="0" sz="1867" b="1" i="0" u="none" strike="noStrike" cap="none" spc="0" normalizeH="0" baseline="0">
                <a:ln>
                  <a:noFill/>
                </a:ln>
                <a:solidFill>
                  <a:srgbClr val="FFCC29"/>
                </a:solidFill>
                <a:effectLst/>
                <a:uLnTx/>
                <a:uFillTx/>
                <a:latin typeface="Calibri"/>
              </a:defRPr>
            </a:lvl1pPr>
            <a:lvl2pPr marL="685750" marR="0" indent="-228584" defTabSz="914332" fontAlgn="auto">
              <a:lnSpc>
                <a:spcPct val="90000"/>
              </a:lnSpc>
              <a:spcBef>
                <a:spcPts val="500"/>
              </a:spcBef>
              <a:spcAft>
                <a:spcPts val="0"/>
              </a:spcAft>
              <a:buClrTx/>
              <a:buSzTx/>
              <a:buFontTx/>
              <a:buBlip>
                <a:blip r:embed="rId3"/>
              </a:buBlip>
              <a:tabLst>
                <a:tab pos="241289" algn="l"/>
              </a:tabLst>
              <a:defRPr sz="2400">
                <a:solidFill>
                  <a:schemeClr val="tx1">
                    <a:lumMod val="75000"/>
                    <a:lumOff val="25000"/>
                  </a:schemeClr>
                </a:solidFill>
              </a:defRPr>
            </a:lvl2pPr>
            <a:lvl3pPr marL="1142914" marR="0" indent="-228584" defTabSz="914332" fontAlgn="auto">
              <a:lnSpc>
                <a:spcPct val="90000"/>
              </a:lnSpc>
              <a:spcBef>
                <a:spcPts val="500"/>
              </a:spcBef>
              <a:spcAft>
                <a:spcPts val="0"/>
              </a:spcAft>
              <a:buClrTx/>
              <a:buSzTx/>
              <a:buFontTx/>
              <a:buBlip>
                <a:blip r:embed="rId3"/>
              </a:buBlip>
              <a:tabLst>
                <a:tab pos="241289" algn="l"/>
              </a:tabLst>
              <a:defRPr sz="2000">
                <a:solidFill>
                  <a:schemeClr val="tx1">
                    <a:lumMod val="75000"/>
                    <a:lumOff val="25000"/>
                  </a:schemeClr>
                </a:solidFill>
              </a:defRPr>
            </a:lvl3pPr>
            <a:lvl4pPr marL="1600080"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4pPr>
            <a:lvl5pPr marL="2057247"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5pPr>
            <a:lvl6pPr marL="2514412" indent="-228584" defTabSz="914332">
              <a:lnSpc>
                <a:spcPct val="90000"/>
              </a:lnSpc>
              <a:spcBef>
                <a:spcPts val="500"/>
              </a:spcBef>
              <a:buFont typeface="Arial"/>
              <a:buChar char="•"/>
              <a:defRPr sz="1867"/>
            </a:lvl6pPr>
            <a:lvl7pPr marL="2971578" indent="-228584" defTabSz="914332">
              <a:lnSpc>
                <a:spcPct val="90000"/>
              </a:lnSpc>
              <a:spcBef>
                <a:spcPts val="500"/>
              </a:spcBef>
              <a:buFont typeface="Arial"/>
              <a:buChar char="•"/>
              <a:defRPr sz="1867"/>
            </a:lvl7pPr>
            <a:lvl8pPr marL="3428744" indent="-228584" defTabSz="914332">
              <a:lnSpc>
                <a:spcPct val="90000"/>
              </a:lnSpc>
              <a:spcBef>
                <a:spcPts val="500"/>
              </a:spcBef>
              <a:buFont typeface="Arial"/>
              <a:buChar char="•"/>
              <a:defRPr sz="1867"/>
            </a:lvl8pPr>
            <a:lvl9pPr marL="3885910" indent="-228584" defTabSz="914332">
              <a:lnSpc>
                <a:spcPct val="90000"/>
              </a:lnSpc>
              <a:spcBef>
                <a:spcPts val="500"/>
              </a:spcBef>
              <a:buFont typeface="Arial"/>
              <a:buChar char="•"/>
              <a:defRPr sz="1867"/>
            </a:lvl9pPr>
          </a:lstStyle>
          <a:p>
            <a:r>
              <a:rPr lang="en-US" sz="2400" dirty="0"/>
              <a:t>Finding Documents or Items               </a:t>
            </a:r>
          </a:p>
        </p:txBody>
      </p:sp>
      <p:sp>
        <p:nvSpPr>
          <p:cNvPr id="24" name="Text Placeholder 6">
            <a:extLst>
              <a:ext uri="{FF2B5EF4-FFF2-40B4-BE49-F238E27FC236}">
                <a16:creationId xmlns:a16="http://schemas.microsoft.com/office/drawing/2014/main" id="{999EE348-DCFE-48B2-824C-148A5F3249BB}"/>
              </a:ext>
            </a:extLst>
          </p:cNvPr>
          <p:cNvSpPr txBox="1">
            <a:spLocks/>
          </p:cNvSpPr>
          <p:nvPr/>
        </p:nvSpPr>
        <p:spPr>
          <a:xfrm>
            <a:off x="231775" y="174172"/>
            <a:ext cx="4760913" cy="784225"/>
          </a:xfrm>
          <a:prstGeom prst="rect">
            <a:avLst/>
          </a:prstGeom>
        </p:spPr>
        <p:txBody>
          <a:bodyPr/>
          <a:lstStyle>
            <a:lvl1pPr marL="228589" marR="0" indent="-228589" algn="l" defTabSz="914354" rtl="0" eaLnBrk="1" fontAlgn="auto" latinLnBrk="0" hangingPunct="1">
              <a:lnSpc>
                <a:spcPct val="90000"/>
              </a:lnSpc>
              <a:spcBef>
                <a:spcPts val="1000"/>
              </a:spcBef>
              <a:spcAft>
                <a:spcPts val="0"/>
              </a:spcAft>
              <a:buClrTx/>
              <a:buSzTx/>
              <a:buFontTx/>
              <a:buBlip>
                <a:blip r:embed="rId3"/>
              </a:buBlip>
              <a:tabLst>
                <a:tab pos="241294" algn="l"/>
              </a:tabLst>
              <a:defRPr lang="en-US" sz="2800" kern="1200" smtClean="0">
                <a:solidFill>
                  <a:schemeClr val="tx1">
                    <a:lumMod val="75000"/>
                    <a:lumOff val="25000"/>
                  </a:schemeClr>
                </a:solidFill>
                <a:latin typeface="+mn-lt"/>
                <a:ea typeface="+mn-ea"/>
                <a:cs typeface="+mn-cs"/>
              </a:defRPr>
            </a:lvl1pPr>
            <a:lvl2pPr marL="685766"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400" kern="1200" smtClean="0">
                <a:solidFill>
                  <a:schemeClr val="tx1">
                    <a:lumMod val="75000"/>
                    <a:lumOff val="25000"/>
                  </a:schemeClr>
                </a:solidFill>
                <a:latin typeface="+mn-lt"/>
                <a:ea typeface="+mn-ea"/>
                <a:cs typeface="+mn-cs"/>
              </a:defRPr>
            </a:lvl2pPr>
            <a:lvl3pPr marL="1142942"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000" kern="1200" smtClean="0">
                <a:solidFill>
                  <a:schemeClr val="tx1">
                    <a:lumMod val="75000"/>
                    <a:lumOff val="25000"/>
                  </a:schemeClr>
                </a:solidFill>
                <a:latin typeface="+mn-lt"/>
                <a:ea typeface="+mn-ea"/>
                <a:cs typeface="+mn-cs"/>
              </a:defRPr>
            </a:lvl3pPr>
            <a:lvl4pPr marL="1600120"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smtClean="0">
                <a:solidFill>
                  <a:schemeClr val="tx1">
                    <a:lumMod val="75000"/>
                    <a:lumOff val="25000"/>
                  </a:schemeClr>
                </a:solidFill>
                <a:latin typeface="+mn-lt"/>
                <a:ea typeface="+mn-ea"/>
                <a:cs typeface="+mn-cs"/>
              </a:defRPr>
            </a:lvl4pPr>
            <a:lvl5pPr marL="2057298"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a:solidFill>
                  <a:schemeClr val="tx1">
                    <a:lumMod val="75000"/>
                    <a:lumOff val="25000"/>
                  </a:schemeClr>
                </a:solidFill>
                <a:latin typeface="+mn-lt"/>
                <a:ea typeface="+mn-ea"/>
                <a:cs typeface="+mn-cs"/>
              </a:defRPr>
            </a:lvl5pPr>
            <a:lvl6pPr marL="2514474"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9pPr>
          </a:lstStyle>
          <a:p>
            <a:pPr marL="0" indent="0">
              <a:buNone/>
            </a:pPr>
            <a:endParaRPr lang="en-US" sz="3200" dirty="0">
              <a:solidFill>
                <a:schemeClr val="bg1"/>
              </a:solidFill>
            </a:endParaRPr>
          </a:p>
        </p:txBody>
      </p:sp>
    </p:spTree>
    <p:extLst>
      <p:ext uri="{BB962C8B-B14F-4D97-AF65-F5344CB8AC3E}">
        <p14:creationId xmlns:p14="http://schemas.microsoft.com/office/powerpoint/2010/main" val="3307021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Finding Documents or Items</a:t>
            </a:r>
          </a:p>
        </p:txBody>
      </p:sp>
      <p:sp>
        <p:nvSpPr>
          <p:cNvPr id="3" name="Rectangle 2"/>
          <p:cNvSpPr/>
          <p:nvPr/>
        </p:nvSpPr>
        <p:spPr>
          <a:xfrm>
            <a:off x="172279" y="829046"/>
            <a:ext cx="5804452" cy="3693319"/>
          </a:xfrm>
          <a:prstGeom prst="rect">
            <a:avLst/>
          </a:prstGeom>
        </p:spPr>
        <p:txBody>
          <a:bodyPr wrap="square">
            <a:spAutoFit/>
          </a:bodyPr>
          <a:lstStyle/>
          <a:p>
            <a:endParaRPr lang="en-US" dirty="0"/>
          </a:p>
          <a:p>
            <a:endParaRPr lang="en-US" dirty="0"/>
          </a:p>
          <a:p>
            <a:endParaRPr lang="en-US" dirty="0"/>
          </a:p>
          <a:p>
            <a:endParaRPr lang="en-US" dirty="0"/>
          </a:p>
          <a:p>
            <a:r>
              <a:rPr lang="en-US" dirty="0"/>
              <a:t>In order to make it easy for the users, Integrity Client has the functionality to search for documents and Items with the help of query option.</a:t>
            </a:r>
          </a:p>
          <a:p>
            <a:endParaRPr lang="en-US" dirty="0"/>
          </a:p>
          <a:p>
            <a:r>
              <a:rPr lang="en-US" dirty="0"/>
              <a:t>To find any document or item, follow the below steps: </a:t>
            </a:r>
          </a:p>
          <a:p>
            <a:endParaRPr lang="en-US" dirty="0"/>
          </a:p>
          <a:p>
            <a:pPr marL="285750" indent="-285750">
              <a:buFont typeface="Arial" panose="020B0604020202020204" pitchFamily="34" charset="0"/>
              <a:buChar char="•"/>
            </a:pPr>
            <a:r>
              <a:rPr lang="en-US" dirty="0"/>
              <a:t>Open Integrity Client.</a:t>
            </a:r>
          </a:p>
          <a:p>
            <a:pPr marL="285750" indent="-285750">
              <a:buFont typeface="Arial" panose="020B0604020202020204" pitchFamily="34" charset="0"/>
              <a:buChar char="•"/>
            </a:pPr>
            <a:r>
              <a:rPr lang="en-US" dirty="0"/>
              <a:t>Select Query in the menu..</a:t>
            </a:r>
          </a:p>
          <a:p>
            <a:pPr marL="285750" indent="-285750">
              <a:buFont typeface="Arial" panose="020B0604020202020204" pitchFamily="34" charset="0"/>
              <a:buChar char="•"/>
            </a:pPr>
            <a:r>
              <a:rPr lang="en-US" dirty="0"/>
              <a:t>In the drop down, select “Manage Queries”. </a:t>
            </a:r>
          </a:p>
        </p:txBody>
      </p:sp>
      <p:pic>
        <p:nvPicPr>
          <p:cNvPr id="4" name="Picture 3">
            <a:extLst>
              <a:ext uri="{FF2B5EF4-FFF2-40B4-BE49-F238E27FC236}">
                <a16:creationId xmlns:a16="http://schemas.microsoft.com/office/drawing/2014/main" id="{DDB500C4-6F8F-413C-A468-F6D0E5C0D9DA}"/>
              </a:ext>
            </a:extLst>
          </p:cNvPr>
          <p:cNvPicPr>
            <a:picLocks noChangeAspect="1"/>
          </p:cNvPicPr>
          <p:nvPr/>
        </p:nvPicPr>
        <p:blipFill>
          <a:blip r:embed="rId2"/>
          <a:stretch>
            <a:fillRect/>
          </a:stretch>
        </p:blipFill>
        <p:spPr>
          <a:xfrm>
            <a:off x="6285757" y="1892591"/>
            <a:ext cx="5705475" cy="2629774"/>
          </a:xfrm>
          <a:prstGeom prst="rect">
            <a:avLst/>
          </a:prstGeom>
        </p:spPr>
      </p:pic>
    </p:spTree>
    <p:extLst>
      <p:ext uri="{BB962C8B-B14F-4D97-AF65-F5344CB8AC3E}">
        <p14:creationId xmlns:p14="http://schemas.microsoft.com/office/powerpoint/2010/main" val="85495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Finding Documents or Items</a:t>
            </a:r>
          </a:p>
        </p:txBody>
      </p:sp>
      <p:sp>
        <p:nvSpPr>
          <p:cNvPr id="3" name="Rectangle 2"/>
          <p:cNvSpPr/>
          <p:nvPr/>
        </p:nvSpPr>
        <p:spPr>
          <a:xfrm>
            <a:off x="212035" y="734119"/>
            <a:ext cx="12391229" cy="923330"/>
          </a:xfrm>
          <a:prstGeom prst="rect">
            <a:avLst/>
          </a:prstGeom>
        </p:spPr>
        <p:txBody>
          <a:bodyPr wrap="square">
            <a:spAutoFit/>
          </a:bodyPr>
          <a:lstStyle/>
          <a:p>
            <a:pPr marL="285750" indent="-285750">
              <a:buFont typeface="Arial" panose="020B0604020202020204" pitchFamily="34" charset="0"/>
              <a:buChar char="•"/>
            </a:pPr>
            <a:r>
              <a:rPr lang="en-US" dirty="0"/>
              <a:t>Selecting Manage Queries will display a list of queries that will assist user in finding the documents based on types and other factors</a:t>
            </a:r>
            <a:r>
              <a:rPr lang="en-US" dirty="0">
                <a:solidFill>
                  <a:schemeClr val="tx1">
                    <a:lumMod val="75000"/>
                    <a:lumOff val="25000"/>
                  </a:schemeClr>
                </a:solidFill>
              </a:rPr>
              <a:t>. </a:t>
            </a:r>
          </a:p>
          <a:p>
            <a:pPr marL="285750" indent="-285750">
              <a:buFont typeface="Arial" panose="020B0604020202020204" pitchFamily="34" charset="0"/>
              <a:buChar char="•"/>
            </a:pPr>
            <a:r>
              <a:rPr lang="en-US" dirty="0"/>
              <a:t>For example, if the user wants to look for a System Requirements Document, he/she can search for it using the search bar. </a:t>
            </a:r>
            <a:endParaRPr lang="en-US" dirty="0">
              <a:solidFill>
                <a:schemeClr val="tx1">
                  <a:lumMod val="75000"/>
                  <a:lumOff val="25000"/>
                </a:schemeClr>
              </a:solidFill>
            </a:endParaRPr>
          </a:p>
        </p:txBody>
      </p:sp>
      <p:sp>
        <p:nvSpPr>
          <p:cNvPr id="4" name="Rectangle 3"/>
          <p:cNvSpPr/>
          <p:nvPr/>
        </p:nvSpPr>
        <p:spPr>
          <a:xfrm>
            <a:off x="344558" y="1647565"/>
            <a:ext cx="11533664" cy="2523768"/>
          </a:xfrm>
          <a:prstGeom prst="rect">
            <a:avLst/>
          </a:prstGeom>
        </p:spPr>
        <p:txBody>
          <a:bodyPr wrap="square">
            <a:spAutoFit/>
          </a:bodyPr>
          <a:lstStyle/>
          <a:p>
            <a:pPr>
              <a:spcBef>
                <a:spcPts val="600"/>
              </a:spcBef>
              <a:spcAft>
                <a:spcPts val="600"/>
              </a:spcAft>
            </a:pPr>
            <a:endParaRPr lang="en-US" b="1" dirty="0"/>
          </a:p>
          <a:p>
            <a:pPr>
              <a:spcBef>
                <a:spcPts val="600"/>
              </a:spcBef>
              <a:spcAft>
                <a:spcPts val="600"/>
              </a:spcAft>
            </a:pPr>
            <a:endParaRPr lang="en-US" b="1" dirty="0"/>
          </a:p>
          <a:p>
            <a:pPr>
              <a:spcBef>
                <a:spcPts val="600"/>
              </a:spcBef>
              <a:spcAft>
                <a:spcPts val="600"/>
              </a:spcAft>
            </a:pPr>
            <a:endParaRPr lang="en-US" b="1" dirty="0"/>
          </a:p>
          <a:p>
            <a:pPr>
              <a:spcBef>
                <a:spcPts val="600"/>
              </a:spcBef>
              <a:spcAft>
                <a:spcPts val="600"/>
              </a:spcAft>
            </a:pPr>
            <a:endParaRPr lang="en-US" dirty="0"/>
          </a:p>
          <a:p>
            <a:pPr marL="285750" indent="-285750">
              <a:spcBef>
                <a:spcPts val="600"/>
              </a:spcBef>
              <a:spcAft>
                <a:spcPts val="600"/>
              </a:spcAft>
              <a:buFont typeface="Arial" panose="020B0604020202020204" pitchFamily="34" charset="0"/>
              <a:buChar char="•"/>
            </a:pPr>
            <a:r>
              <a:rPr lang="en-US" dirty="0"/>
              <a:t>Select “All System Requirement Document” query in order to open the list of System Requirements Documents.</a:t>
            </a:r>
            <a:r>
              <a:rPr lang="en-US" b="1" dirty="0"/>
              <a:t> </a:t>
            </a:r>
            <a:endParaRPr lang="en-US" dirty="0"/>
          </a:p>
          <a:p>
            <a:pPr marL="285750" indent="-285750">
              <a:spcBef>
                <a:spcPts val="600"/>
              </a:spcBef>
              <a:spcAft>
                <a:spcPts val="600"/>
              </a:spcAft>
              <a:buFont typeface="Arial" panose="020B0604020202020204" pitchFamily="34" charset="0"/>
              <a:buChar char="•"/>
            </a:pPr>
            <a:r>
              <a:rPr lang="en-US" dirty="0"/>
              <a:t>From the displayed list of documents, select the necessary document.</a:t>
            </a:r>
          </a:p>
        </p:txBody>
      </p:sp>
      <p:pic>
        <p:nvPicPr>
          <p:cNvPr id="7" name="Picture 6">
            <a:extLst>
              <a:ext uri="{FF2B5EF4-FFF2-40B4-BE49-F238E27FC236}">
                <a16:creationId xmlns:a16="http://schemas.microsoft.com/office/drawing/2014/main" id="{5FAC0CE2-59F5-47EF-A18B-1A57935388D4}"/>
              </a:ext>
            </a:extLst>
          </p:cNvPr>
          <p:cNvPicPr>
            <a:picLocks noChangeAspect="1"/>
          </p:cNvPicPr>
          <p:nvPr/>
        </p:nvPicPr>
        <p:blipFill>
          <a:blip r:embed="rId2"/>
          <a:stretch>
            <a:fillRect/>
          </a:stretch>
        </p:blipFill>
        <p:spPr>
          <a:xfrm>
            <a:off x="536417" y="1669639"/>
            <a:ext cx="4314825" cy="1381125"/>
          </a:xfrm>
          <a:prstGeom prst="rect">
            <a:avLst/>
          </a:prstGeom>
        </p:spPr>
      </p:pic>
      <p:pic>
        <p:nvPicPr>
          <p:cNvPr id="5" name="Picture 4">
            <a:extLst>
              <a:ext uri="{FF2B5EF4-FFF2-40B4-BE49-F238E27FC236}">
                <a16:creationId xmlns:a16="http://schemas.microsoft.com/office/drawing/2014/main" id="{736F9B68-5255-4631-8046-6C971A9AB441}"/>
              </a:ext>
            </a:extLst>
          </p:cNvPr>
          <p:cNvPicPr>
            <a:picLocks noChangeAspect="1"/>
          </p:cNvPicPr>
          <p:nvPr/>
        </p:nvPicPr>
        <p:blipFill>
          <a:blip r:embed="rId3"/>
          <a:stretch>
            <a:fillRect/>
          </a:stretch>
        </p:blipFill>
        <p:spPr>
          <a:xfrm>
            <a:off x="612032" y="4196022"/>
            <a:ext cx="9372600" cy="2028825"/>
          </a:xfrm>
          <a:prstGeom prst="rect">
            <a:avLst/>
          </a:prstGeom>
        </p:spPr>
      </p:pic>
    </p:spTree>
    <p:extLst>
      <p:ext uri="{BB962C8B-B14F-4D97-AF65-F5344CB8AC3E}">
        <p14:creationId xmlns:p14="http://schemas.microsoft.com/office/powerpoint/2010/main" val="4201270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Finding Documents or Items</a:t>
            </a:r>
          </a:p>
        </p:txBody>
      </p:sp>
      <p:sp>
        <p:nvSpPr>
          <p:cNvPr id="3" name="Rectangle 2"/>
          <p:cNvSpPr/>
          <p:nvPr/>
        </p:nvSpPr>
        <p:spPr>
          <a:xfrm>
            <a:off x="212035" y="734119"/>
            <a:ext cx="12391229" cy="2031325"/>
          </a:xfrm>
          <a:prstGeom prst="rect">
            <a:avLst/>
          </a:prstGeom>
        </p:spPr>
        <p:txBody>
          <a:bodyPr wrap="square">
            <a:spAutoFit/>
          </a:bodyPr>
          <a:lstStyle/>
          <a:p>
            <a:endParaRPr lang="en-US" dirty="0"/>
          </a:p>
          <a:p>
            <a:r>
              <a:rPr lang="en-US" dirty="0"/>
              <a:t>    Integrity also provides an option wherein user can directly search for the Document/Item using its unique ID.</a:t>
            </a:r>
          </a:p>
          <a:p>
            <a:r>
              <a:rPr lang="en-US" dirty="0"/>
              <a:t>    As Item ID for every created content is unique, the search will thus open the required document/item seamlessly. </a:t>
            </a:r>
          </a:p>
          <a:p>
            <a:r>
              <a:rPr lang="en-US" dirty="0"/>
              <a:t>    To search the Document/Item using its Unique Item ID, </a:t>
            </a:r>
          </a:p>
          <a:p>
            <a:endParaRPr lang="en-US" dirty="0"/>
          </a:p>
          <a:p>
            <a:pPr marL="285750" indent="-285750">
              <a:buFont typeface="Arial" panose="020B0604020202020204" pitchFamily="34" charset="0"/>
              <a:buChar char="•"/>
            </a:pPr>
            <a:r>
              <a:rPr lang="en-US" dirty="0"/>
              <a:t>Go to the toolbar below menu.</a:t>
            </a:r>
          </a:p>
          <a:p>
            <a:endParaRPr lang="en-US" dirty="0">
              <a:solidFill>
                <a:schemeClr val="tx1">
                  <a:lumMod val="75000"/>
                  <a:lumOff val="25000"/>
                </a:schemeClr>
              </a:solidFill>
            </a:endParaRPr>
          </a:p>
        </p:txBody>
      </p:sp>
      <p:sp>
        <p:nvSpPr>
          <p:cNvPr id="4" name="Rectangle 3"/>
          <p:cNvSpPr/>
          <p:nvPr/>
        </p:nvSpPr>
        <p:spPr>
          <a:xfrm>
            <a:off x="344558" y="1647565"/>
            <a:ext cx="11533664" cy="3385542"/>
          </a:xfrm>
          <a:prstGeom prst="rect">
            <a:avLst/>
          </a:prstGeom>
        </p:spPr>
        <p:txBody>
          <a:bodyPr wrap="square">
            <a:spAutoFit/>
          </a:bodyPr>
          <a:lstStyle/>
          <a:p>
            <a:pPr>
              <a:spcBef>
                <a:spcPts val="600"/>
              </a:spcBef>
              <a:spcAft>
                <a:spcPts val="600"/>
              </a:spcAft>
            </a:pPr>
            <a:endParaRPr lang="en-US" b="1" dirty="0"/>
          </a:p>
          <a:p>
            <a:pPr>
              <a:spcBef>
                <a:spcPts val="600"/>
              </a:spcBef>
              <a:spcAft>
                <a:spcPts val="600"/>
              </a:spcAft>
            </a:pPr>
            <a:r>
              <a:rPr lang="en-US" b="1" dirty="0"/>
              <a:t>       </a:t>
            </a:r>
          </a:p>
          <a:p>
            <a:pPr>
              <a:spcBef>
                <a:spcPts val="600"/>
              </a:spcBef>
              <a:spcAft>
                <a:spcPts val="600"/>
              </a:spcAft>
            </a:pPr>
            <a:endParaRPr lang="en-US" b="1" dirty="0"/>
          </a:p>
          <a:p>
            <a:pPr>
              <a:spcBef>
                <a:spcPts val="600"/>
              </a:spcBef>
              <a:spcAft>
                <a:spcPts val="600"/>
              </a:spcAft>
            </a:pPr>
            <a:endParaRPr lang="en-US" dirty="0"/>
          </a:p>
          <a:p>
            <a:pPr>
              <a:spcBef>
                <a:spcPts val="600"/>
              </a:spcBef>
              <a:spcAft>
                <a:spcPts val="600"/>
              </a:spcAft>
            </a:pPr>
            <a:endParaRPr lang="en-US" dirty="0"/>
          </a:p>
          <a:p>
            <a:pPr>
              <a:spcBef>
                <a:spcPts val="600"/>
              </a:spcBef>
              <a:spcAft>
                <a:spcPts val="600"/>
              </a:spcAft>
            </a:pPr>
            <a:endParaRPr lang="en-US" dirty="0"/>
          </a:p>
          <a:p>
            <a:pPr marL="285750" indent="-285750">
              <a:spcBef>
                <a:spcPts val="600"/>
              </a:spcBef>
              <a:spcAft>
                <a:spcPts val="600"/>
              </a:spcAft>
              <a:buFont typeface="Arial" panose="020B0604020202020204" pitchFamily="34" charset="0"/>
              <a:buChar char="•"/>
            </a:pPr>
            <a:r>
              <a:rPr lang="en-US" dirty="0"/>
              <a:t> In the search bar with the title as “Item”, type your Item ID and press Enter.</a:t>
            </a:r>
            <a:r>
              <a:rPr lang="en-US" b="1" dirty="0"/>
              <a:t> </a:t>
            </a:r>
            <a:endParaRPr lang="en-US" dirty="0"/>
          </a:p>
          <a:p>
            <a:pPr marL="285750" indent="-285750">
              <a:spcBef>
                <a:spcPts val="600"/>
              </a:spcBef>
              <a:spcAft>
                <a:spcPts val="600"/>
              </a:spcAft>
              <a:buFont typeface="Arial" panose="020B0604020202020204" pitchFamily="34" charset="0"/>
              <a:buChar char="•"/>
            </a:pPr>
            <a:r>
              <a:rPr lang="en-US" dirty="0"/>
              <a:t>The Document/Item will be displayed.</a:t>
            </a:r>
          </a:p>
        </p:txBody>
      </p:sp>
      <p:pic>
        <p:nvPicPr>
          <p:cNvPr id="5" name="Picture 4">
            <a:extLst>
              <a:ext uri="{FF2B5EF4-FFF2-40B4-BE49-F238E27FC236}">
                <a16:creationId xmlns:a16="http://schemas.microsoft.com/office/drawing/2014/main" id="{AC6C1F7C-CA33-4709-9DBF-81819EC7F548}"/>
              </a:ext>
            </a:extLst>
          </p:cNvPr>
          <p:cNvPicPr>
            <a:picLocks noChangeAspect="1"/>
          </p:cNvPicPr>
          <p:nvPr/>
        </p:nvPicPr>
        <p:blipFill>
          <a:blip r:embed="rId2"/>
          <a:stretch>
            <a:fillRect/>
          </a:stretch>
        </p:blipFill>
        <p:spPr>
          <a:xfrm>
            <a:off x="612032" y="2520578"/>
            <a:ext cx="6305603" cy="739457"/>
          </a:xfrm>
          <a:prstGeom prst="rect">
            <a:avLst/>
          </a:prstGeom>
        </p:spPr>
      </p:pic>
      <p:pic>
        <p:nvPicPr>
          <p:cNvPr id="6" name="Picture 5">
            <a:extLst>
              <a:ext uri="{FF2B5EF4-FFF2-40B4-BE49-F238E27FC236}">
                <a16:creationId xmlns:a16="http://schemas.microsoft.com/office/drawing/2014/main" id="{DA22AE0E-619E-4DD7-AF3B-C999F4F2E4E1}"/>
              </a:ext>
            </a:extLst>
          </p:cNvPr>
          <p:cNvPicPr>
            <a:picLocks noChangeAspect="1"/>
          </p:cNvPicPr>
          <p:nvPr/>
        </p:nvPicPr>
        <p:blipFill>
          <a:blip r:embed="rId3"/>
          <a:stretch>
            <a:fillRect/>
          </a:stretch>
        </p:blipFill>
        <p:spPr>
          <a:xfrm>
            <a:off x="2380422" y="3564892"/>
            <a:ext cx="1600200" cy="438150"/>
          </a:xfrm>
          <a:prstGeom prst="rect">
            <a:avLst/>
          </a:prstGeom>
        </p:spPr>
      </p:pic>
    </p:spTree>
    <p:extLst>
      <p:ext uri="{BB962C8B-B14F-4D97-AF65-F5344CB8AC3E}">
        <p14:creationId xmlns:p14="http://schemas.microsoft.com/office/powerpoint/2010/main" val="1479530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Baseline </a:t>
            </a:r>
          </a:p>
        </p:txBody>
      </p:sp>
      <p:sp>
        <p:nvSpPr>
          <p:cNvPr id="4" name="Rectangle 3"/>
          <p:cNvSpPr/>
          <p:nvPr/>
        </p:nvSpPr>
        <p:spPr>
          <a:xfrm>
            <a:off x="331304" y="1142252"/>
            <a:ext cx="10991677" cy="3754874"/>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en-US" dirty="0"/>
              <a:t> A Baseline is a special label that can only be added to documents. You create a document baseline to mark an important project milestone. For example, you could create document baselines for an approved design document, a legal reference document, a contract, or a bill of materials. You can use document baselines for internal records and for recording external documents. </a:t>
            </a:r>
          </a:p>
          <a:p>
            <a:pPr marL="285750" indent="-285750">
              <a:spcBef>
                <a:spcPts val="600"/>
              </a:spcBef>
              <a:spcAft>
                <a:spcPts val="600"/>
              </a:spcAft>
              <a:buFont typeface="Arial" panose="020B0604020202020204" pitchFamily="34" charset="0"/>
              <a:buChar char="•"/>
            </a:pPr>
            <a:r>
              <a:rPr lang="en-US" dirty="0"/>
              <a:t> To create the baseline, you select the individual documents that are required to represent the information for your milestone. When you baseline, Integrity creates a baseline label on each of the selected documents. Each label contains the same timestamp. </a:t>
            </a:r>
          </a:p>
          <a:p>
            <a:pPr marL="285750" indent="-285750">
              <a:spcBef>
                <a:spcPts val="600"/>
              </a:spcBef>
              <a:spcAft>
                <a:spcPts val="600"/>
              </a:spcAft>
              <a:buFont typeface="Arial" panose="020B0604020202020204" pitchFamily="34" charset="0"/>
              <a:buChar char="•"/>
            </a:pPr>
            <a:r>
              <a:rPr lang="en-US" dirty="0"/>
              <a:t>Note:  </a:t>
            </a:r>
          </a:p>
          <a:p>
            <a:pPr marL="285750" indent="-285750">
              <a:spcBef>
                <a:spcPts val="600"/>
              </a:spcBef>
              <a:spcAft>
                <a:spcPts val="600"/>
              </a:spcAft>
              <a:buFont typeface="Arial" panose="020B0604020202020204" pitchFamily="34" charset="0"/>
              <a:buChar char="•"/>
            </a:pPr>
            <a:r>
              <a:rPr lang="en-US" dirty="0"/>
              <a:t>Generally, a label may be any alphanumeric string without control characters. </a:t>
            </a:r>
          </a:p>
          <a:p>
            <a:pPr marL="285750" indent="-285750">
              <a:spcBef>
                <a:spcPts val="600"/>
              </a:spcBef>
              <a:spcAft>
                <a:spcPts val="600"/>
              </a:spcAft>
              <a:buFont typeface="Arial" panose="020B0604020202020204" pitchFamily="34" charset="0"/>
              <a:buChar char="•"/>
            </a:pPr>
            <a:r>
              <a:rPr lang="en-US" dirty="0"/>
              <a:t> Labels may also include spaces and punctuation. If versioning is enabled for  the type, the label may not use the same syntax that is used for the version  identifier (that is, </a:t>
            </a:r>
            <a:r>
              <a:rPr lang="en-US" dirty="0" err="1"/>
              <a:t>major.minor</a:t>
            </a:r>
            <a:r>
              <a:rPr lang="en-US" dirty="0"/>
              <a:t>). </a:t>
            </a:r>
          </a:p>
        </p:txBody>
      </p:sp>
    </p:spTree>
    <p:extLst>
      <p:ext uri="{BB962C8B-B14F-4D97-AF65-F5344CB8AC3E}">
        <p14:creationId xmlns:p14="http://schemas.microsoft.com/office/powerpoint/2010/main" val="3338430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Baselining a Document</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6" y="1173330"/>
            <a:ext cx="11712937" cy="6093976"/>
          </a:xfrm>
          <a:prstGeom prst="rect">
            <a:avLst/>
          </a:prstGeom>
        </p:spPr>
        <p:txBody>
          <a:bodyPr wrap="square">
            <a:spAutoFit/>
          </a:bodyPr>
          <a:lstStyle/>
          <a:p>
            <a:pPr>
              <a:spcBef>
                <a:spcPts val="600"/>
              </a:spcBef>
              <a:spcAft>
                <a:spcPts val="600"/>
              </a:spcAft>
            </a:pPr>
            <a:r>
              <a:rPr lang="en-US" dirty="0"/>
              <a:t>1. For the document you want to baseline, do one of the following:</a:t>
            </a:r>
          </a:p>
          <a:p>
            <a:pPr>
              <a:spcBef>
                <a:spcPts val="600"/>
              </a:spcBef>
              <a:spcAft>
                <a:spcPts val="600"/>
              </a:spcAft>
            </a:pPr>
            <a:r>
              <a:rPr lang="en-US" dirty="0"/>
              <a:t>   •  Open the document in the Document view. </a:t>
            </a:r>
          </a:p>
          <a:p>
            <a:pPr>
              <a:spcBef>
                <a:spcPts val="600"/>
              </a:spcBef>
              <a:spcAft>
                <a:spcPts val="600"/>
              </a:spcAft>
            </a:pPr>
            <a:r>
              <a:rPr lang="en-US" dirty="0"/>
              <a:t>   • Select the document from an applicable view or field, for example, the Items view or a relationship field. </a:t>
            </a:r>
          </a:p>
          <a:p>
            <a:pPr>
              <a:spcBef>
                <a:spcPts val="600"/>
              </a:spcBef>
              <a:spcAft>
                <a:spcPts val="600"/>
              </a:spcAft>
            </a:pPr>
            <a:r>
              <a:rPr lang="en-US" dirty="0"/>
              <a:t> 2. Select Document ▶ Baseline. The Baseline dialog box displays.</a:t>
            </a:r>
          </a:p>
          <a:p>
            <a:pPr>
              <a:spcBef>
                <a:spcPts val="600"/>
              </a:spcBef>
              <a:spcAft>
                <a:spcPts val="600"/>
              </a:spcAft>
            </a:pPr>
            <a:r>
              <a:rPr lang="en-US" dirty="0"/>
              <a:t> 3. Type the name of the Label for the baseline, for example, Design 2. The specified label name must be unique (not already used for the Selected document). If the label name already exists, a red X icon displays and the name must be changed before you can complete the baseline. A green check mark icon displays when a unique label name is specified</a:t>
            </a:r>
          </a:p>
          <a:p>
            <a:pPr>
              <a:spcBef>
                <a:spcPts val="600"/>
              </a:spcBef>
              <a:spcAft>
                <a:spcPts val="600"/>
              </a:spcAft>
            </a:pPr>
            <a:r>
              <a:rPr lang="en-US" b="1" dirty="0"/>
              <a:t>TIP:</a:t>
            </a:r>
          </a:p>
          <a:p>
            <a:pPr>
              <a:spcBef>
                <a:spcPts val="600"/>
              </a:spcBef>
              <a:spcAft>
                <a:spcPts val="600"/>
              </a:spcAft>
            </a:pPr>
            <a:r>
              <a:rPr lang="en-US" dirty="0"/>
              <a:t>To make it easier to find a unique label name, </a:t>
            </a:r>
          </a:p>
          <a:p>
            <a:pPr>
              <a:spcBef>
                <a:spcPts val="600"/>
              </a:spcBef>
              <a:spcAft>
                <a:spcPts val="600"/>
              </a:spcAft>
            </a:pPr>
            <a:r>
              <a:rPr lang="en-US" dirty="0"/>
              <a:t>click the Expand to view all button to display a list of existing </a:t>
            </a:r>
          </a:p>
          <a:p>
            <a:pPr>
              <a:spcBef>
                <a:spcPts val="600"/>
              </a:spcBef>
              <a:spcAft>
                <a:spcPts val="600"/>
              </a:spcAft>
            </a:pPr>
            <a:r>
              <a:rPr lang="en-US" dirty="0"/>
              <a:t>label names as shown.</a:t>
            </a:r>
          </a:p>
          <a:p>
            <a:pPr>
              <a:spcBef>
                <a:spcPts val="600"/>
              </a:spcBef>
              <a:spcAft>
                <a:spcPts val="600"/>
              </a:spcAft>
            </a:pPr>
            <a:endParaRPr lang="en-US" dirty="0"/>
          </a:p>
          <a:p>
            <a:pPr>
              <a:spcBef>
                <a:spcPts val="600"/>
              </a:spcBef>
              <a:spcAft>
                <a:spcPts val="600"/>
              </a:spcAft>
            </a:pPr>
            <a:endParaRPr lang="en-US" dirty="0"/>
          </a:p>
          <a:p>
            <a:pPr>
              <a:spcBef>
                <a:spcPts val="600"/>
              </a:spcBef>
              <a:spcAft>
                <a:spcPts val="600"/>
              </a:spcAft>
            </a:pPr>
            <a:endParaRPr lang="en-US" dirty="0"/>
          </a:p>
          <a:p>
            <a:pPr>
              <a:spcBef>
                <a:spcPts val="600"/>
              </a:spcBef>
              <a:spcAft>
                <a:spcPts val="600"/>
              </a:spcAft>
            </a:pPr>
            <a:endParaRPr lang="en-IN" dirty="0"/>
          </a:p>
        </p:txBody>
      </p:sp>
      <p:pic>
        <p:nvPicPr>
          <p:cNvPr id="11" name="Picture 10">
            <a:extLst>
              <a:ext uri="{FF2B5EF4-FFF2-40B4-BE49-F238E27FC236}">
                <a16:creationId xmlns:a16="http://schemas.microsoft.com/office/drawing/2014/main" id="{D939F6D3-7BEC-4250-88EB-8742B2523DBA}"/>
              </a:ext>
            </a:extLst>
          </p:cNvPr>
          <p:cNvPicPr>
            <a:picLocks noChangeAspect="1"/>
          </p:cNvPicPr>
          <p:nvPr/>
        </p:nvPicPr>
        <p:blipFill>
          <a:blip r:embed="rId2"/>
          <a:stretch>
            <a:fillRect/>
          </a:stretch>
        </p:blipFill>
        <p:spPr>
          <a:xfrm>
            <a:off x="6281530" y="3820208"/>
            <a:ext cx="5534373" cy="2800350"/>
          </a:xfrm>
          <a:prstGeom prst="rect">
            <a:avLst/>
          </a:prstGeom>
        </p:spPr>
      </p:pic>
    </p:spTree>
    <p:extLst>
      <p:ext uri="{BB962C8B-B14F-4D97-AF65-F5344CB8AC3E}">
        <p14:creationId xmlns:p14="http://schemas.microsoft.com/office/powerpoint/2010/main" val="3777865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Baselining a Document</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6" y="1173330"/>
            <a:ext cx="6308033" cy="5509200"/>
          </a:xfrm>
          <a:prstGeom prst="rect">
            <a:avLst/>
          </a:prstGeom>
        </p:spPr>
        <p:txBody>
          <a:bodyPr wrap="square">
            <a:spAutoFit/>
          </a:bodyPr>
          <a:lstStyle/>
          <a:p>
            <a:pPr>
              <a:spcBef>
                <a:spcPts val="600"/>
              </a:spcBef>
              <a:spcAft>
                <a:spcPts val="600"/>
              </a:spcAft>
            </a:pPr>
            <a:r>
              <a:rPr lang="en-US" dirty="0"/>
              <a:t>4. Select the applicable As Of option from the list. The default option is Now, indicating the current date and time. If you are baselining a historical item, the associated date and time displays by default in the As Of field.</a:t>
            </a:r>
          </a:p>
          <a:p>
            <a:pPr>
              <a:spcBef>
                <a:spcPts val="600"/>
              </a:spcBef>
              <a:spcAft>
                <a:spcPts val="600"/>
              </a:spcAft>
            </a:pPr>
            <a:endParaRPr lang="en-US" dirty="0"/>
          </a:p>
          <a:p>
            <a:pPr>
              <a:spcBef>
                <a:spcPts val="600"/>
              </a:spcBef>
              <a:spcAft>
                <a:spcPts val="600"/>
              </a:spcAft>
            </a:pPr>
            <a:r>
              <a:rPr lang="en-US" dirty="0"/>
              <a:t> Further, As Of field will have the following options: ₋</a:t>
            </a:r>
          </a:p>
          <a:p>
            <a:pPr>
              <a:spcBef>
                <a:spcPts val="600"/>
              </a:spcBef>
              <a:spcAft>
                <a:spcPts val="600"/>
              </a:spcAft>
            </a:pPr>
            <a:r>
              <a:rPr lang="en-US" dirty="0"/>
              <a:t>   -Now – Current Time and Date </a:t>
            </a:r>
          </a:p>
          <a:p>
            <a:pPr>
              <a:spcBef>
                <a:spcPts val="600"/>
              </a:spcBef>
              <a:spcAft>
                <a:spcPts val="600"/>
              </a:spcAft>
            </a:pPr>
            <a:r>
              <a:rPr lang="en-US" dirty="0"/>
              <a:t>   -Revision – List of revisions of the document </a:t>
            </a:r>
          </a:p>
          <a:p>
            <a:pPr>
              <a:spcBef>
                <a:spcPts val="600"/>
              </a:spcBef>
              <a:spcAft>
                <a:spcPts val="600"/>
              </a:spcAft>
            </a:pPr>
            <a:r>
              <a:rPr lang="en-US" dirty="0"/>
              <a:t>   ₋Label – List of labels (Baselines) of the document</a:t>
            </a:r>
          </a:p>
          <a:p>
            <a:pPr>
              <a:spcBef>
                <a:spcPts val="600"/>
              </a:spcBef>
              <a:spcAft>
                <a:spcPts val="600"/>
              </a:spcAft>
            </a:pPr>
            <a:r>
              <a:rPr lang="en-US" dirty="0"/>
              <a:t>   ₋Branch – List of branches of the document</a:t>
            </a:r>
          </a:p>
          <a:p>
            <a:pPr>
              <a:spcBef>
                <a:spcPts val="600"/>
              </a:spcBef>
              <a:spcAft>
                <a:spcPts val="600"/>
              </a:spcAft>
            </a:pPr>
            <a:r>
              <a:rPr lang="en-US" dirty="0"/>
              <a:t>   ₋Edit – History of all the edits with modified timestamp </a:t>
            </a:r>
          </a:p>
          <a:p>
            <a:pPr>
              <a:spcBef>
                <a:spcPts val="600"/>
              </a:spcBef>
              <a:spcAft>
                <a:spcPts val="600"/>
              </a:spcAft>
            </a:pPr>
            <a:r>
              <a:rPr lang="en-US" dirty="0"/>
              <a:t>   ₋Date – Calendar to select date of the document</a:t>
            </a:r>
          </a:p>
          <a:p>
            <a:pPr>
              <a:spcBef>
                <a:spcPts val="600"/>
              </a:spcBef>
              <a:spcAft>
                <a:spcPts val="600"/>
              </a:spcAft>
            </a:pPr>
            <a:endParaRPr lang="en-US" dirty="0"/>
          </a:p>
          <a:p>
            <a:pPr>
              <a:spcBef>
                <a:spcPts val="600"/>
              </a:spcBef>
              <a:spcAft>
                <a:spcPts val="600"/>
              </a:spcAft>
            </a:pPr>
            <a:endParaRPr lang="en-IN" dirty="0"/>
          </a:p>
        </p:txBody>
      </p:sp>
      <p:pic>
        <p:nvPicPr>
          <p:cNvPr id="5" name="Picture 4">
            <a:extLst>
              <a:ext uri="{FF2B5EF4-FFF2-40B4-BE49-F238E27FC236}">
                <a16:creationId xmlns:a16="http://schemas.microsoft.com/office/drawing/2014/main" id="{69C9634A-C551-4403-94A5-55331EA6C58A}"/>
              </a:ext>
            </a:extLst>
          </p:cNvPr>
          <p:cNvPicPr>
            <a:picLocks noChangeAspect="1"/>
          </p:cNvPicPr>
          <p:nvPr/>
        </p:nvPicPr>
        <p:blipFill>
          <a:blip r:embed="rId2"/>
          <a:stretch>
            <a:fillRect/>
          </a:stretch>
        </p:blipFill>
        <p:spPr>
          <a:xfrm>
            <a:off x="7500108" y="1352549"/>
            <a:ext cx="3991052" cy="5114511"/>
          </a:xfrm>
          <a:prstGeom prst="rect">
            <a:avLst/>
          </a:prstGeom>
        </p:spPr>
      </p:pic>
    </p:spTree>
    <p:extLst>
      <p:ext uri="{BB962C8B-B14F-4D97-AF65-F5344CB8AC3E}">
        <p14:creationId xmlns:p14="http://schemas.microsoft.com/office/powerpoint/2010/main" val="6179233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As Of options for Baselining a Document </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342891" marR="0" lvl="1" indent="0" algn="l" defTabSz="685783" rtl="0" eaLnBrk="1" fontAlgn="auto" latinLnBrk="0" hangingPunct="1">
              <a:lnSpc>
                <a:spcPct val="90000"/>
              </a:lnSpc>
              <a:spcBef>
                <a:spcPts val="375"/>
              </a:spcBef>
              <a:spcAft>
                <a:spcPts val="0"/>
              </a:spcAft>
              <a:buClrTx/>
              <a:buSz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graphicFrame>
        <p:nvGraphicFramePr>
          <p:cNvPr id="4" name="Table 5">
            <a:extLst>
              <a:ext uri="{FF2B5EF4-FFF2-40B4-BE49-F238E27FC236}">
                <a16:creationId xmlns:a16="http://schemas.microsoft.com/office/drawing/2014/main" id="{1D65E984-49B9-440F-87B8-73A71C19F1C3}"/>
              </a:ext>
            </a:extLst>
          </p:cNvPr>
          <p:cNvGraphicFramePr>
            <a:graphicFrameLocks noGrp="1"/>
          </p:cNvGraphicFramePr>
          <p:nvPr>
            <p:extLst>
              <p:ext uri="{D42A27DB-BD31-4B8C-83A1-F6EECF244321}">
                <p14:modId xmlns:p14="http://schemas.microsoft.com/office/powerpoint/2010/main" val="807572157"/>
              </p:ext>
            </p:extLst>
          </p:nvPr>
        </p:nvGraphicFramePr>
        <p:xfrm>
          <a:off x="513278" y="1334771"/>
          <a:ext cx="9213818" cy="6152724"/>
        </p:xfrm>
        <a:graphic>
          <a:graphicData uri="http://schemas.openxmlformats.org/drawingml/2006/table">
            <a:tbl>
              <a:tblPr firstRow="1" bandRow="1">
                <a:tableStyleId>{72833802-FEF1-4C79-8D5D-14CF1EAF98D9}</a:tableStyleId>
              </a:tblPr>
              <a:tblGrid>
                <a:gridCol w="1951626">
                  <a:extLst>
                    <a:ext uri="{9D8B030D-6E8A-4147-A177-3AD203B41FA5}">
                      <a16:colId xmlns:a16="http://schemas.microsoft.com/office/drawing/2014/main" val="1924955592"/>
                    </a:ext>
                  </a:extLst>
                </a:gridCol>
                <a:gridCol w="7262192">
                  <a:extLst>
                    <a:ext uri="{9D8B030D-6E8A-4147-A177-3AD203B41FA5}">
                      <a16:colId xmlns:a16="http://schemas.microsoft.com/office/drawing/2014/main" val="2858474719"/>
                    </a:ext>
                  </a:extLst>
                </a:gridCol>
              </a:tblGrid>
              <a:tr h="966329">
                <a:tc>
                  <a:txBody>
                    <a:bodyPr/>
                    <a:lstStyle/>
                    <a:p>
                      <a:pPr algn="ctr"/>
                      <a:r>
                        <a:rPr lang="en-US" sz="2000" dirty="0"/>
                        <a:t>To baseline a document As Of...</a:t>
                      </a:r>
                    </a:p>
                  </a:txBody>
                  <a:tcPr/>
                </a:tc>
                <a:tc>
                  <a:txBody>
                    <a:bodyPr/>
                    <a:lstStyle/>
                    <a:p>
                      <a:pPr algn="l"/>
                      <a:r>
                        <a:rPr lang="en-US" sz="2000" dirty="0"/>
                        <a:t>Do this... </a:t>
                      </a:r>
                    </a:p>
                  </a:txBody>
                  <a:tcPr/>
                </a:tc>
                <a:extLst>
                  <a:ext uri="{0D108BD9-81ED-4DB2-BD59-A6C34878D82A}">
                    <a16:rowId xmlns:a16="http://schemas.microsoft.com/office/drawing/2014/main" val="135878623"/>
                  </a:ext>
                </a:extLst>
              </a:tr>
              <a:tr h="709788">
                <a:tc>
                  <a:txBody>
                    <a:bodyPr/>
                    <a:lstStyle/>
                    <a:p>
                      <a:r>
                        <a:rPr lang="en-US" sz="1800" dirty="0"/>
                        <a:t>Now</a:t>
                      </a:r>
                    </a:p>
                  </a:txBody>
                  <a:tcPr/>
                </a:tc>
                <a:tc>
                  <a:txBody>
                    <a:bodyPr/>
                    <a:lstStyle/>
                    <a:p>
                      <a:r>
                        <a:rPr lang="en-US" sz="1800"/>
                        <a:t>Select Now to baseline the current version of the document</a:t>
                      </a:r>
                      <a:endParaRPr lang="en-US" sz="1800" dirty="0"/>
                    </a:p>
                  </a:txBody>
                  <a:tcPr/>
                </a:tc>
                <a:extLst>
                  <a:ext uri="{0D108BD9-81ED-4DB2-BD59-A6C34878D82A}">
                    <a16:rowId xmlns:a16="http://schemas.microsoft.com/office/drawing/2014/main" val="1031953701"/>
                  </a:ext>
                </a:extLst>
              </a:tr>
              <a:tr h="709788">
                <a:tc>
                  <a:txBody>
                    <a:bodyPr/>
                    <a:lstStyle/>
                    <a:p>
                      <a:r>
                        <a:rPr lang="en-US" sz="1800" dirty="0"/>
                        <a:t>Revision </a:t>
                      </a:r>
                    </a:p>
                  </a:txBody>
                  <a:tcPr/>
                </a:tc>
                <a:tc>
                  <a:txBody>
                    <a:bodyPr/>
                    <a:lstStyle/>
                    <a:p>
                      <a:r>
                        <a:rPr lang="en-US" sz="1800" dirty="0"/>
                        <a:t>This option is only available if you are baselining a document that allows versioning. Select Revision. A list of all the labels associated with revisions displays. The labels use the format major. minor. Select the revision that corresponds to the time you want to create the baseline as of.</a:t>
                      </a:r>
                    </a:p>
                  </a:txBody>
                  <a:tcPr/>
                </a:tc>
                <a:extLst>
                  <a:ext uri="{0D108BD9-81ED-4DB2-BD59-A6C34878D82A}">
                    <a16:rowId xmlns:a16="http://schemas.microsoft.com/office/drawing/2014/main" val="1963118354"/>
                  </a:ext>
                </a:extLst>
              </a:tr>
              <a:tr h="709788">
                <a:tc>
                  <a:txBody>
                    <a:bodyPr/>
                    <a:lstStyle/>
                    <a:p>
                      <a:r>
                        <a:rPr lang="en-US" sz="1800" dirty="0"/>
                        <a:t>Label</a:t>
                      </a:r>
                    </a:p>
                  </a:txBody>
                  <a:tcPr/>
                </a:tc>
                <a:tc>
                  <a:txBody>
                    <a:bodyPr/>
                    <a:lstStyle/>
                    <a:p>
                      <a:r>
                        <a:rPr lang="en-US" sz="1800" dirty="0"/>
                        <a:t>Select Label. A list of all the labels on the document displays. Select the label that corresponds to the time you want to create the baseline as of.</a:t>
                      </a:r>
                    </a:p>
                  </a:txBody>
                  <a:tcPr/>
                </a:tc>
                <a:extLst>
                  <a:ext uri="{0D108BD9-81ED-4DB2-BD59-A6C34878D82A}">
                    <a16:rowId xmlns:a16="http://schemas.microsoft.com/office/drawing/2014/main" val="1182131327"/>
                  </a:ext>
                </a:extLst>
              </a:tr>
              <a:tr h="709788">
                <a:tc>
                  <a:txBody>
                    <a:bodyPr/>
                    <a:lstStyle/>
                    <a:p>
                      <a:r>
                        <a:rPr lang="en-US" sz="1800" dirty="0"/>
                        <a:t>Branch</a:t>
                      </a:r>
                    </a:p>
                  </a:txBody>
                  <a:tcPr/>
                </a:tc>
                <a:tc>
                  <a:txBody>
                    <a:bodyPr/>
                    <a:lstStyle/>
                    <a:p>
                      <a:r>
                        <a:rPr lang="en-US" sz="1800" dirty="0"/>
                        <a:t>Select Branch. A list of all the branches associated with the document displays. Select the branch that corresponds to the time you want to create the baseline as of.</a:t>
                      </a:r>
                    </a:p>
                  </a:txBody>
                  <a:tcPr/>
                </a:tc>
                <a:extLst>
                  <a:ext uri="{0D108BD9-81ED-4DB2-BD59-A6C34878D82A}">
                    <a16:rowId xmlns:a16="http://schemas.microsoft.com/office/drawing/2014/main" val="3313035755"/>
                  </a:ext>
                </a:extLst>
              </a:tr>
              <a:tr h="709788">
                <a:tc>
                  <a:txBody>
                    <a:bodyPr/>
                    <a:lstStyle/>
                    <a:p>
                      <a:r>
                        <a:rPr lang="en-US" sz="1800" dirty="0"/>
                        <a:t>Edit</a:t>
                      </a:r>
                    </a:p>
                  </a:txBody>
                  <a:tcPr/>
                </a:tc>
                <a:tc>
                  <a:txBody>
                    <a:bodyPr/>
                    <a:lstStyle/>
                    <a:p>
                      <a:r>
                        <a:rPr lang="en-US" sz="1800" dirty="0"/>
                        <a:t>Select Edit. A list of all the dates at which the document item was significantly modified displays. Select the date that corresponds to the time you want to baseline as of.</a:t>
                      </a:r>
                    </a:p>
                  </a:txBody>
                  <a:tcPr/>
                </a:tc>
                <a:extLst>
                  <a:ext uri="{0D108BD9-81ED-4DB2-BD59-A6C34878D82A}">
                    <a16:rowId xmlns:a16="http://schemas.microsoft.com/office/drawing/2014/main" val="3693102264"/>
                  </a:ext>
                </a:extLst>
              </a:tr>
              <a:tr h="709788">
                <a:tc>
                  <a:txBody>
                    <a:bodyPr/>
                    <a:lstStyle/>
                    <a:p>
                      <a:r>
                        <a:rPr lang="en-US" sz="1800" dirty="0"/>
                        <a:t>Date</a:t>
                      </a:r>
                    </a:p>
                  </a:txBody>
                  <a:tcPr/>
                </a:tc>
                <a:tc>
                  <a:txBody>
                    <a:bodyPr/>
                    <a:lstStyle/>
                    <a:p>
                      <a:r>
                        <a:rPr lang="en-US" sz="1800" dirty="0"/>
                        <a:t>Select Date. This option allows you to select an arbitrary date for the baseline using the calendar, select the date that corresponds.</a:t>
                      </a:r>
                    </a:p>
                  </a:txBody>
                  <a:tcPr/>
                </a:tc>
                <a:extLst>
                  <a:ext uri="{0D108BD9-81ED-4DB2-BD59-A6C34878D82A}">
                    <a16:rowId xmlns:a16="http://schemas.microsoft.com/office/drawing/2014/main" val="2072076154"/>
                  </a:ext>
                </a:extLst>
              </a:tr>
            </a:tbl>
          </a:graphicData>
        </a:graphic>
      </p:graphicFrame>
    </p:spTree>
    <p:extLst>
      <p:ext uri="{BB962C8B-B14F-4D97-AF65-F5344CB8AC3E}">
        <p14:creationId xmlns:p14="http://schemas.microsoft.com/office/powerpoint/2010/main" val="575164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Baseline multiple documents</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6" y="1173330"/>
            <a:ext cx="11712937" cy="2800767"/>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en-US" dirty="0"/>
              <a:t> For the documents you want to baseline, select the documents from an applicable view or field, for example, the Items view or a relationship field</a:t>
            </a:r>
          </a:p>
          <a:p>
            <a:pPr marL="285750" indent="-285750">
              <a:spcBef>
                <a:spcPts val="600"/>
              </a:spcBef>
              <a:spcAft>
                <a:spcPts val="600"/>
              </a:spcAft>
              <a:buFont typeface="Arial" panose="020B0604020202020204" pitchFamily="34" charset="0"/>
              <a:buChar char="•"/>
            </a:pPr>
            <a:r>
              <a:rPr lang="en-US" dirty="0"/>
              <a:t>Select Document ▶ Baseline. The Baseline dialog box displays.</a:t>
            </a:r>
            <a:endParaRPr lang="en-US" b="1" dirty="0"/>
          </a:p>
          <a:p>
            <a:pPr marL="285750" indent="-285750">
              <a:spcBef>
                <a:spcPts val="600"/>
              </a:spcBef>
              <a:spcAft>
                <a:spcPts val="600"/>
              </a:spcAft>
              <a:buFont typeface="Arial" panose="020B0604020202020204" pitchFamily="34" charset="0"/>
              <a:buChar char="•"/>
            </a:pPr>
            <a:r>
              <a:rPr lang="en-US" dirty="0"/>
              <a:t>Type the name of the Label for the baseline, for example, Project ABC System.</a:t>
            </a:r>
          </a:p>
          <a:p>
            <a:pPr>
              <a:spcBef>
                <a:spcPts val="600"/>
              </a:spcBef>
              <a:spcAft>
                <a:spcPts val="600"/>
              </a:spcAft>
            </a:pPr>
            <a:endParaRPr lang="en-US" dirty="0"/>
          </a:p>
          <a:p>
            <a:pPr>
              <a:spcBef>
                <a:spcPts val="600"/>
              </a:spcBef>
              <a:spcAft>
                <a:spcPts val="600"/>
              </a:spcAft>
            </a:pPr>
            <a:endParaRPr lang="en-US" dirty="0"/>
          </a:p>
          <a:p>
            <a:pPr>
              <a:spcBef>
                <a:spcPts val="600"/>
              </a:spcBef>
              <a:spcAft>
                <a:spcPts val="600"/>
              </a:spcAft>
            </a:pPr>
            <a:endParaRPr lang="en-IN" dirty="0"/>
          </a:p>
        </p:txBody>
      </p:sp>
      <p:pic>
        <p:nvPicPr>
          <p:cNvPr id="5" name="Picture 4">
            <a:extLst>
              <a:ext uri="{FF2B5EF4-FFF2-40B4-BE49-F238E27FC236}">
                <a16:creationId xmlns:a16="http://schemas.microsoft.com/office/drawing/2014/main" id="{F46857D3-B989-4DF6-946B-871797FF6759}"/>
              </a:ext>
            </a:extLst>
          </p:cNvPr>
          <p:cNvPicPr>
            <a:picLocks noChangeAspect="1"/>
          </p:cNvPicPr>
          <p:nvPr/>
        </p:nvPicPr>
        <p:blipFill>
          <a:blip r:embed="rId2"/>
          <a:stretch>
            <a:fillRect/>
          </a:stretch>
        </p:blipFill>
        <p:spPr>
          <a:xfrm>
            <a:off x="1736035" y="3088169"/>
            <a:ext cx="8097078" cy="2941569"/>
          </a:xfrm>
          <a:prstGeom prst="rect">
            <a:avLst/>
          </a:prstGeom>
        </p:spPr>
      </p:pic>
    </p:spTree>
    <p:extLst>
      <p:ext uri="{BB962C8B-B14F-4D97-AF65-F5344CB8AC3E}">
        <p14:creationId xmlns:p14="http://schemas.microsoft.com/office/powerpoint/2010/main" val="22068965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Baseline multiple documents</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6" y="1173330"/>
            <a:ext cx="11712937" cy="1231106"/>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en-US" dirty="0"/>
              <a:t> Select the applicable As Of option from the list. The default option is Now, indicating the current date and time</a:t>
            </a:r>
          </a:p>
          <a:p>
            <a:pPr>
              <a:spcBef>
                <a:spcPts val="600"/>
              </a:spcBef>
              <a:spcAft>
                <a:spcPts val="600"/>
              </a:spcAft>
            </a:pPr>
            <a:endParaRPr lang="en-US" dirty="0"/>
          </a:p>
          <a:p>
            <a:pPr>
              <a:spcBef>
                <a:spcPts val="600"/>
              </a:spcBef>
              <a:spcAft>
                <a:spcPts val="600"/>
              </a:spcAft>
            </a:pPr>
            <a:endParaRPr lang="en-IN" dirty="0"/>
          </a:p>
        </p:txBody>
      </p:sp>
      <p:pic>
        <p:nvPicPr>
          <p:cNvPr id="6" name="Picture 5">
            <a:extLst>
              <a:ext uri="{FF2B5EF4-FFF2-40B4-BE49-F238E27FC236}">
                <a16:creationId xmlns:a16="http://schemas.microsoft.com/office/drawing/2014/main" id="{FC1C567D-30F1-4C54-B99C-CA044367C9EC}"/>
              </a:ext>
            </a:extLst>
          </p:cNvPr>
          <p:cNvPicPr>
            <a:picLocks noChangeAspect="1"/>
          </p:cNvPicPr>
          <p:nvPr/>
        </p:nvPicPr>
        <p:blipFill>
          <a:blip r:embed="rId2"/>
          <a:stretch>
            <a:fillRect/>
          </a:stretch>
        </p:blipFill>
        <p:spPr>
          <a:xfrm>
            <a:off x="612031" y="1788883"/>
            <a:ext cx="3443133" cy="3790282"/>
          </a:xfrm>
          <a:prstGeom prst="rect">
            <a:avLst/>
          </a:prstGeom>
        </p:spPr>
      </p:pic>
      <p:graphicFrame>
        <p:nvGraphicFramePr>
          <p:cNvPr id="7" name="Table 7">
            <a:extLst>
              <a:ext uri="{FF2B5EF4-FFF2-40B4-BE49-F238E27FC236}">
                <a16:creationId xmlns:a16="http://schemas.microsoft.com/office/drawing/2014/main" id="{B006419B-14BA-48FF-87C0-AA9E63A5C5E4}"/>
              </a:ext>
            </a:extLst>
          </p:cNvPr>
          <p:cNvGraphicFramePr>
            <a:graphicFrameLocks noGrp="1"/>
          </p:cNvGraphicFramePr>
          <p:nvPr>
            <p:extLst>
              <p:ext uri="{D42A27DB-BD31-4B8C-83A1-F6EECF244321}">
                <p14:modId xmlns:p14="http://schemas.microsoft.com/office/powerpoint/2010/main" val="4126568875"/>
              </p:ext>
            </p:extLst>
          </p:nvPr>
        </p:nvGraphicFramePr>
        <p:xfrm>
          <a:off x="4597885" y="2404436"/>
          <a:ext cx="6462644" cy="3119755"/>
        </p:xfrm>
        <a:graphic>
          <a:graphicData uri="http://schemas.openxmlformats.org/drawingml/2006/table">
            <a:tbl>
              <a:tblPr firstRow="1" bandRow="1">
                <a:tableStyleId>{72833802-FEF1-4C79-8D5D-14CF1EAF98D9}</a:tableStyleId>
              </a:tblPr>
              <a:tblGrid>
                <a:gridCol w="2120967">
                  <a:extLst>
                    <a:ext uri="{9D8B030D-6E8A-4147-A177-3AD203B41FA5}">
                      <a16:colId xmlns:a16="http://schemas.microsoft.com/office/drawing/2014/main" val="678914367"/>
                    </a:ext>
                  </a:extLst>
                </a:gridCol>
                <a:gridCol w="4341677">
                  <a:extLst>
                    <a:ext uri="{9D8B030D-6E8A-4147-A177-3AD203B41FA5}">
                      <a16:colId xmlns:a16="http://schemas.microsoft.com/office/drawing/2014/main" val="1819925855"/>
                    </a:ext>
                  </a:extLst>
                </a:gridCol>
              </a:tblGrid>
              <a:tr h="0">
                <a:tc>
                  <a:txBody>
                    <a:bodyPr/>
                    <a:lstStyle/>
                    <a:p>
                      <a:r>
                        <a:rPr lang="en-US" dirty="0"/>
                        <a:t>To baseline a document As Of... </a:t>
                      </a:r>
                    </a:p>
                  </a:txBody>
                  <a:tcPr/>
                </a:tc>
                <a:tc>
                  <a:txBody>
                    <a:bodyPr/>
                    <a:lstStyle/>
                    <a:p>
                      <a:r>
                        <a:rPr lang="en-US" dirty="0"/>
                        <a:t>Do this...</a:t>
                      </a:r>
                    </a:p>
                  </a:txBody>
                  <a:tcPr/>
                </a:tc>
                <a:extLst>
                  <a:ext uri="{0D108BD9-81ED-4DB2-BD59-A6C34878D82A}">
                    <a16:rowId xmlns:a16="http://schemas.microsoft.com/office/drawing/2014/main" val="3299837034"/>
                  </a:ext>
                </a:extLst>
              </a:tr>
              <a:tr h="370840">
                <a:tc>
                  <a:txBody>
                    <a:bodyPr/>
                    <a:lstStyle/>
                    <a:p>
                      <a:r>
                        <a:rPr lang="en-US" dirty="0"/>
                        <a:t>Now</a:t>
                      </a:r>
                    </a:p>
                  </a:txBody>
                  <a:tcPr/>
                </a:tc>
                <a:tc>
                  <a:txBody>
                    <a:bodyPr/>
                    <a:lstStyle/>
                    <a:p>
                      <a:r>
                        <a:rPr lang="en-US" dirty="0"/>
                        <a:t>Select Now to baseline the current version of the document. </a:t>
                      </a:r>
                    </a:p>
                  </a:txBody>
                  <a:tcPr/>
                </a:tc>
                <a:extLst>
                  <a:ext uri="{0D108BD9-81ED-4DB2-BD59-A6C34878D82A}">
                    <a16:rowId xmlns:a16="http://schemas.microsoft.com/office/drawing/2014/main" val="909658992"/>
                  </a:ext>
                </a:extLst>
              </a:tr>
              <a:tr h="370840">
                <a:tc>
                  <a:txBody>
                    <a:bodyPr/>
                    <a:lstStyle/>
                    <a:p>
                      <a:r>
                        <a:rPr lang="en-US" dirty="0"/>
                        <a:t>Date</a:t>
                      </a:r>
                    </a:p>
                  </a:txBody>
                  <a:tcPr/>
                </a:tc>
                <a:tc>
                  <a:txBody>
                    <a:bodyPr/>
                    <a:lstStyle/>
                    <a:p>
                      <a:r>
                        <a:rPr lang="en-US" dirty="0"/>
                        <a:t>Select Date. This option allows you to select an arbitrary date for the baseline using the calendar, select the date that corresponds. Note: The date selected must not precede the most recent created date of the selected documents.</a:t>
                      </a:r>
                    </a:p>
                  </a:txBody>
                  <a:tcPr/>
                </a:tc>
                <a:extLst>
                  <a:ext uri="{0D108BD9-81ED-4DB2-BD59-A6C34878D82A}">
                    <a16:rowId xmlns:a16="http://schemas.microsoft.com/office/drawing/2014/main" val="2011940272"/>
                  </a:ext>
                </a:extLst>
              </a:tr>
            </a:tbl>
          </a:graphicData>
        </a:graphic>
      </p:graphicFrame>
    </p:spTree>
    <p:extLst>
      <p:ext uri="{BB962C8B-B14F-4D97-AF65-F5344CB8AC3E}">
        <p14:creationId xmlns:p14="http://schemas.microsoft.com/office/powerpoint/2010/main" val="2095902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Removing Baselines From Documents</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6" y="1173330"/>
            <a:ext cx="11542643" cy="4616648"/>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en-US" dirty="0"/>
              <a:t>A baseline is a special label added to documents that captures a meaningful point in the document’s history. Typically, PTC does not recommend removing a baseline; however, you may want to remove a document baseline if you want the baseline label to refer to a new date and time. </a:t>
            </a:r>
          </a:p>
          <a:p>
            <a:pPr marL="285750" indent="-285750">
              <a:spcBef>
                <a:spcPts val="600"/>
              </a:spcBef>
              <a:spcAft>
                <a:spcPts val="600"/>
              </a:spcAft>
              <a:buFont typeface="Arial" panose="020B0604020202020204" pitchFamily="34" charset="0"/>
              <a:buChar char="•"/>
            </a:pPr>
            <a:r>
              <a:rPr lang="en-US" dirty="0"/>
              <a:t>To remove a baseline, select the documents containing the baseline you want to remove. If you select more than one document, you can only remove baselines that are common to all the selected documents. This means that only baseline labels containing the same name across all the selected documents can be removed at once.</a:t>
            </a:r>
          </a:p>
          <a:p>
            <a:pPr marL="285750" indent="-285750">
              <a:spcBef>
                <a:spcPts val="600"/>
              </a:spcBef>
              <a:spcAft>
                <a:spcPts val="600"/>
              </a:spcAft>
              <a:buFont typeface="Arial" panose="020B0604020202020204" pitchFamily="34" charset="0"/>
              <a:buChar char="•"/>
            </a:pPr>
            <a:r>
              <a:rPr lang="en-US" dirty="0"/>
              <a:t>Key Considerations</a:t>
            </a:r>
          </a:p>
          <a:p>
            <a:pPr marL="742950" lvl="1" indent="-285750">
              <a:spcBef>
                <a:spcPts val="600"/>
              </a:spcBef>
              <a:spcAft>
                <a:spcPts val="600"/>
              </a:spcAft>
              <a:buFont typeface="Arial" panose="020B0604020202020204" pitchFamily="34" charset="0"/>
              <a:buChar char="•"/>
            </a:pPr>
            <a:r>
              <a:rPr lang="en-US" dirty="0"/>
              <a:t>Your Integrity administrator determines who can create baselines by configuring the rules associated with removing labels on your document type.</a:t>
            </a:r>
          </a:p>
          <a:p>
            <a:pPr marL="742950" lvl="1" indent="-285750">
              <a:spcBef>
                <a:spcPts val="600"/>
              </a:spcBef>
              <a:spcAft>
                <a:spcPts val="600"/>
              </a:spcAft>
              <a:buFont typeface="Arial" panose="020B0604020202020204" pitchFamily="34" charset="0"/>
              <a:buChar char="•"/>
            </a:pPr>
            <a:r>
              <a:rPr lang="en-US" dirty="0"/>
              <a:t>If you specify a node in the remove baseline operation, the operation is applied to the document that node is contained in.</a:t>
            </a:r>
          </a:p>
          <a:p>
            <a:pPr>
              <a:spcBef>
                <a:spcPts val="600"/>
              </a:spcBef>
              <a:spcAft>
                <a:spcPts val="600"/>
              </a:spcAft>
            </a:pPr>
            <a:endParaRPr lang="en-US" dirty="0"/>
          </a:p>
          <a:p>
            <a:pPr>
              <a:spcBef>
                <a:spcPts val="600"/>
              </a:spcBef>
              <a:spcAft>
                <a:spcPts val="600"/>
              </a:spcAft>
            </a:pPr>
            <a:endParaRPr lang="en-IN" dirty="0"/>
          </a:p>
        </p:txBody>
      </p:sp>
    </p:spTree>
    <p:extLst>
      <p:ext uri="{BB962C8B-B14F-4D97-AF65-F5344CB8AC3E}">
        <p14:creationId xmlns:p14="http://schemas.microsoft.com/office/powerpoint/2010/main" val="37084127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To remove a baseline from a document</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7" y="1173330"/>
            <a:ext cx="6149008" cy="6093976"/>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en-US" dirty="0"/>
              <a:t>For the document you want to remove a baseline from, do one of the following: </a:t>
            </a:r>
          </a:p>
          <a:p>
            <a:pPr marL="742950" lvl="1" indent="-285750">
              <a:spcBef>
                <a:spcPts val="600"/>
              </a:spcBef>
              <a:spcAft>
                <a:spcPts val="600"/>
              </a:spcAft>
              <a:buFont typeface="Arial" panose="020B0604020202020204" pitchFamily="34" charset="0"/>
              <a:buChar char="•"/>
            </a:pPr>
            <a:r>
              <a:rPr lang="en-US" dirty="0"/>
              <a:t>Open the document in the Document view.</a:t>
            </a:r>
          </a:p>
          <a:p>
            <a:pPr marL="742950" lvl="1" indent="-285750">
              <a:spcBef>
                <a:spcPts val="600"/>
              </a:spcBef>
              <a:spcAft>
                <a:spcPts val="600"/>
              </a:spcAft>
              <a:buFont typeface="Arial" panose="020B0604020202020204" pitchFamily="34" charset="0"/>
              <a:buChar char="•"/>
            </a:pPr>
            <a:r>
              <a:rPr lang="en-US" dirty="0"/>
              <a:t>Select the document from an applicable view or field, for example, the Items view or a relationship field.</a:t>
            </a:r>
          </a:p>
          <a:p>
            <a:pPr marL="285750" indent="-285750">
              <a:spcBef>
                <a:spcPts val="600"/>
              </a:spcBef>
              <a:spcAft>
                <a:spcPts val="600"/>
              </a:spcAft>
              <a:buFont typeface="Arial" panose="020B0604020202020204" pitchFamily="34" charset="0"/>
              <a:buChar char="•"/>
            </a:pPr>
            <a:r>
              <a:rPr lang="en-US" dirty="0"/>
              <a:t>Select Document ▶ Remove Baseline.</a:t>
            </a:r>
          </a:p>
          <a:p>
            <a:pPr>
              <a:spcBef>
                <a:spcPts val="600"/>
              </a:spcBef>
              <a:spcAft>
                <a:spcPts val="600"/>
              </a:spcAft>
            </a:pPr>
            <a:r>
              <a:rPr lang="en-US" dirty="0"/>
              <a:t>    The Remove Baseline dialog box displays.</a:t>
            </a:r>
          </a:p>
          <a:p>
            <a:pPr marL="285750" indent="-285750">
              <a:spcBef>
                <a:spcPts val="600"/>
              </a:spcBef>
              <a:spcAft>
                <a:spcPts val="600"/>
              </a:spcAft>
              <a:buFont typeface="Arial" panose="020B0604020202020204" pitchFamily="34" charset="0"/>
              <a:buChar char="•"/>
            </a:pPr>
            <a:r>
              <a:rPr lang="en-US" dirty="0"/>
              <a:t>From the Labels list, select the name of </a:t>
            </a:r>
          </a:p>
          <a:p>
            <a:pPr>
              <a:spcBef>
                <a:spcPts val="600"/>
              </a:spcBef>
              <a:spcAft>
                <a:spcPts val="600"/>
              </a:spcAft>
            </a:pPr>
            <a:r>
              <a:rPr lang="en-US" dirty="0"/>
              <a:t>     the baseline label you want to remove.</a:t>
            </a:r>
          </a:p>
          <a:p>
            <a:pPr>
              <a:spcBef>
                <a:spcPts val="600"/>
              </a:spcBef>
              <a:spcAft>
                <a:spcPts val="600"/>
              </a:spcAft>
            </a:pPr>
            <a:r>
              <a:rPr lang="en-US" dirty="0"/>
              <a:t>    Only labels associated with a baseline are</a:t>
            </a:r>
          </a:p>
          <a:p>
            <a:pPr>
              <a:spcBef>
                <a:spcPts val="600"/>
              </a:spcBef>
              <a:spcAft>
                <a:spcPts val="600"/>
              </a:spcAft>
            </a:pPr>
            <a:r>
              <a:rPr lang="en-US" dirty="0"/>
              <a:t>     available for selection.</a:t>
            </a:r>
          </a:p>
          <a:p>
            <a:pPr marL="285750" indent="-285750">
              <a:spcBef>
                <a:spcPts val="600"/>
              </a:spcBef>
              <a:spcAft>
                <a:spcPts val="600"/>
              </a:spcAft>
              <a:buFont typeface="Arial" panose="020B0604020202020204" pitchFamily="34" charset="0"/>
              <a:buChar char="•"/>
            </a:pPr>
            <a:r>
              <a:rPr lang="en-US" dirty="0"/>
              <a:t>Click OK.</a:t>
            </a:r>
          </a:p>
          <a:p>
            <a:pPr>
              <a:spcBef>
                <a:spcPts val="600"/>
              </a:spcBef>
              <a:spcAft>
                <a:spcPts val="600"/>
              </a:spcAft>
            </a:pPr>
            <a:endParaRPr lang="en-US" dirty="0"/>
          </a:p>
          <a:p>
            <a:pPr>
              <a:spcBef>
                <a:spcPts val="600"/>
              </a:spcBef>
              <a:spcAft>
                <a:spcPts val="600"/>
              </a:spcAft>
            </a:pPr>
            <a:endParaRPr lang="en-US" dirty="0"/>
          </a:p>
          <a:p>
            <a:pPr>
              <a:spcBef>
                <a:spcPts val="600"/>
              </a:spcBef>
              <a:spcAft>
                <a:spcPts val="600"/>
              </a:spcAft>
            </a:pPr>
            <a:endParaRPr lang="en-IN" dirty="0"/>
          </a:p>
        </p:txBody>
      </p:sp>
      <p:pic>
        <p:nvPicPr>
          <p:cNvPr id="5" name="Picture 4">
            <a:extLst>
              <a:ext uri="{FF2B5EF4-FFF2-40B4-BE49-F238E27FC236}">
                <a16:creationId xmlns:a16="http://schemas.microsoft.com/office/drawing/2014/main" id="{6840CAE0-B7C4-4700-986B-518FF9B56CA7}"/>
              </a:ext>
            </a:extLst>
          </p:cNvPr>
          <p:cNvPicPr>
            <a:picLocks noChangeAspect="1"/>
          </p:cNvPicPr>
          <p:nvPr/>
        </p:nvPicPr>
        <p:blipFill>
          <a:blip r:embed="rId2"/>
          <a:stretch>
            <a:fillRect/>
          </a:stretch>
        </p:blipFill>
        <p:spPr>
          <a:xfrm>
            <a:off x="7801258" y="1156765"/>
            <a:ext cx="3689902" cy="4955070"/>
          </a:xfrm>
          <a:prstGeom prst="rect">
            <a:avLst/>
          </a:prstGeom>
        </p:spPr>
      </p:pic>
      <p:pic>
        <p:nvPicPr>
          <p:cNvPr id="6" name="Picture 5">
            <a:extLst>
              <a:ext uri="{FF2B5EF4-FFF2-40B4-BE49-F238E27FC236}">
                <a16:creationId xmlns:a16="http://schemas.microsoft.com/office/drawing/2014/main" id="{7826013F-678C-4B90-B463-C989578CAC5A}"/>
              </a:ext>
            </a:extLst>
          </p:cNvPr>
          <p:cNvPicPr>
            <a:picLocks noChangeAspect="1"/>
          </p:cNvPicPr>
          <p:nvPr/>
        </p:nvPicPr>
        <p:blipFill>
          <a:blip r:embed="rId3"/>
          <a:stretch>
            <a:fillRect/>
          </a:stretch>
        </p:blipFill>
        <p:spPr>
          <a:xfrm>
            <a:off x="4929809" y="3248326"/>
            <a:ext cx="2623929" cy="2965487"/>
          </a:xfrm>
          <a:prstGeom prst="rect">
            <a:avLst/>
          </a:prstGeom>
        </p:spPr>
      </p:pic>
    </p:spTree>
    <p:extLst>
      <p:ext uri="{BB962C8B-B14F-4D97-AF65-F5344CB8AC3E}">
        <p14:creationId xmlns:p14="http://schemas.microsoft.com/office/powerpoint/2010/main" val="17032719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To remove a baseline from all document </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7" y="1173330"/>
            <a:ext cx="6149008" cy="5509200"/>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en-US" dirty="0"/>
              <a:t>For the documents containing the baseline you want to remove, select the documents from an applicable view or field, for example, the Items view or a relationship field.</a:t>
            </a:r>
          </a:p>
          <a:p>
            <a:pPr marL="285750" indent="-285750">
              <a:spcBef>
                <a:spcPts val="600"/>
              </a:spcBef>
              <a:spcAft>
                <a:spcPts val="600"/>
              </a:spcAft>
              <a:buFont typeface="Arial" panose="020B0604020202020204" pitchFamily="34" charset="0"/>
              <a:buChar char="•"/>
            </a:pPr>
            <a:r>
              <a:rPr lang="en-US" dirty="0"/>
              <a:t>Select Document ▶ Remove Baseline. The Remove Baselines dialog box displays.</a:t>
            </a:r>
          </a:p>
          <a:p>
            <a:pPr marL="285750" indent="-285750">
              <a:spcBef>
                <a:spcPts val="600"/>
              </a:spcBef>
              <a:spcAft>
                <a:spcPts val="600"/>
              </a:spcAft>
              <a:buFont typeface="Arial" panose="020B0604020202020204" pitchFamily="34" charset="0"/>
              <a:buChar char="•"/>
            </a:pPr>
            <a:r>
              <a:rPr lang="en-US" dirty="0"/>
              <a:t>From the Labels list, select the name of the</a:t>
            </a:r>
          </a:p>
          <a:p>
            <a:pPr>
              <a:spcBef>
                <a:spcPts val="600"/>
              </a:spcBef>
              <a:spcAft>
                <a:spcPts val="600"/>
              </a:spcAft>
            </a:pPr>
            <a:r>
              <a:rPr lang="en-US" dirty="0"/>
              <a:t>     baseline label you want to remove. Only</a:t>
            </a:r>
          </a:p>
          <a:p>
            <a:pPr>
              <a:spcBef>
                <a:spcPts val="600"/>
              </a:spcBef>
              <a:spcAft>
                <a:spcPts val="600"/>
              </a:spcAft>
            </a:pPr>
            <a:r>
              <a:rPr lang="en-US" dirty="0"/>
              <a:t>     labels containing the same name across </a:t>
            </a:r>
          </a:p>
          <a:p>
            <a:pPr>
              <a:spcBef>
                <a:spcPts val="600"/>
              </a:spcBef>
              <a:spcAft>
                <a:spcPts val="600"/>
              </a:spcAft>
            </a:pPr>
            <a:r>
              <a:rPr lang="en-US" dirty="0"/>
              <a:t>     all selected documents are available for </a:t>
            </a:r>
          </a:p>
          <a:p>
            <a:pPr>
              <a:spcBef>
                <a:spcPts val="600"/>
              </a:spcBef>
              <a:spcAft>
                <a:spcPts val="600"/>
              </a:spcAft>
            </a:pPr>
            <a:r>
              <a:rPr lang="en-US" dirty="0"/>
              <a:t>     selection.</a:t>
            </a:r>
          </a:p>
          <a:p>
            <a:pPr marL="285750" indent="-285750">
              <a:spcBef>
                <a:spcPts val="600"/>
              </a:spcBef>
              <a:spcAft>
                <a:spcPts val="600"/>
              </a:spcAft>
              <a:buFont typeface="Arial" panose="020B0604020202020204" pitchFamily="34" charset="0"/>
              <a:buChar char="•"/>
            </a:pPr>
            <a:r>
              <a:rPr lang="en-US" dirty="0"/>
              <a:t>Click OK.</a:t>
            </a:r>
          </a:p>
          <a:p>
            <a:pPr>
              <a:spcBef>
                <a:spcPts val="600"/>
              </a:spcBef>
              <a:spcAft>
                <a:spcPts val="600"/>
              </a:spcAft>
            </a:pPr>
            <a:endParaRPr lang="en-US" dirty="0"/>
          </a:p>
          <a:p>
            <a:pPr>
              <a:spcBef>
                <a:spcPts val="600"/>
              </a:spcBef>
              <a:spcAft>
                <a:spcPts val="600"/>
              </a:spcAft>
            </a:pPr>
            <a:endParaRPr lang="en-US" dirty="0"/>
          </a:p>
          <a:p>
            <a:pPr>
              <a:spcBef>
                <a:spcPts val="600"/>
              </a:spcBef>
              <a:spcAft>
                <a:spcPts val="600"/>
              </a:spcAft>
            </a:pPr>
            <a:endParaRPr lang="en-IN" dirty="0"/>
          </a:p>
        </p:txBody>
      </p:sp>
      <p:pic>
        <p:nvPicPr>
          <p:cNvPr id="6" name="Picture 5">
            <a:extLst>
              <a:ext uri="{FF2B5EF4-FFF2-40B4-BE49-F238E27FC236}">
                <a16:creationId xmlns:a16="http://schemas.microsoft.com/office/drawing/2014/main" id="{7826013F-678C-4B90-B463-C989578CAC5A}"/>
              </a:ext>
            </a:extLst>
          </p:cNvPr>
          <p:cNvPicPr>
            <a:picLocks noChangeAspect="1"/>
          </p:cNvPicPr>
          <p:nvPr/>
        </p:nvPicPr>
        <p:blipFill>
          <a:blip r:embed="rId2"/>
          <a:stretch>
            <a:fillRect/>
          </a:stretch>
        </p:blipFill>
        <p:spPr>
          <a:xfrm>
            <a:off x="4929809" y="3248326"/>
            <a:ext cx="2623929" cy="2965487"/>
          </a:xfrm>
          <a:prstGeom prst="rect">
            <a:avLst/>
          </a:prstGeom>
        </p:spPr>
      </p:pic>
      <p:pic>
        <p:nvPicPr>
          <p:cNvPr id="7" name="Picture 6">
            <a:extLst>
              <a:ext uri="{FF2B5EF4-FFF2-40B4-BE49-F238E27FC236}">
                <a16:creationId xmlns:a16="http://schemas.microsoft.com/office/drawing/2014/main" id="{078A0629-4718-427F-993D-FFD856AA59EF}"/>
              </a:ext>
            </a:extLst>
          </p:cNvPr>
          <p:cNvPicPr>
            <a:picLocks noChangeAspect="1"/>
          </p:cNvPicPr>
          <p:nvPr/>
        </p:nvPicPr>
        <p:blipFill>
          <a:blip r:embed="rId3"/>
          <a:stretch>
            <a:fillRect/>
          </a:stretch>
        </p:blipFill>
        <p:spPr>
          <a:xfrm>
            <a:off x="8041104" y="1481438"/>
            <a:ext cx="3726826" cy="4732375"/>
          </a:xfrm>
          <a:prstGeom prst="rect">
            <a:avLst/>
          </a:prstGeom>
        </p:spPr>
      </p:pic>
    </p:spTree>
    <p:extLst>
      <p:ext uri="{BB962C8B-B14F-4D97-AF65-F5344CB8AC3E}">
        <p14:creationId xmlns:p14="http://schemas.microsoft.com/office/powerpoint/2010/main" val="3120084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Comparing Documents</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524000"/>
            <a:ext cx="11227747" cy="4691270"/>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0" indent="0">
              <a:buNone/>
            </a:pPr>
            <a:r>
              <a:rPr lang="en-US" sz="2000" b="1" dirty="0"/>
              <a:t> </a:t>
            </a:r>
          </a:p>
          <a:p>
            <a:pPr>
              <a:buFont typeface="Wingdings" panose="05000000000000000000" pitchFamily="2" charset="2"/>
              <a:buChar char="§"/>
            </a:pPr>
            <a:r>
              <a:rPr lang="en-US" dirty="0"/>
              <a:t>Compare content and field-level differences between two document selections using the Document Difference view. </a:t>
            </a:r>
          </a:p>
          <a:p>
            <a:pPr>
              <a:buFont typeface="Wingdings" panose="05000000000000000000" pitchFamily="2" charset="2"/>
              <a:buChar char="§"/>
            </a:pPr>
            <a:r>
              <a:rPr lang="en-US" dirty="0"/>
              <a:t>For example, user can select a requirements document with two baseline labels and relevant fields of interest to see how the document has changed over time. </a:t>
            </a:r>
          </a:p>
          <a:p>
            <a:pPr>
              <a:buFont typeface="Wingdings" panose="05000000000000000000" pitchFamily="2" charset="2"/>
              <a:buChar char="§"/>
            </a:pPr>
            <a:r>
              <a:rPr lang="en-US" dirty="0"/>
              <a:t>The view presents structural and content changes side-by-side in two document panes. Item and field additions, deletions, moves, changes, as well as text differences are highlighted.</a:t>
            </a:r>
          </a:p>
          <a:p>
            <a:pPr>
              <a:buFont typeface="Wingdings" panose="05000000000000000000" pitchFamily="2" charset="2"/>
              <a:buChar char="§"/>
            </a:pPr>
            <a:r>
              <a:rPr lang="en-US" dirty="0"/>
              <a:t>User can use navigation tools to efficiently review and navigate the document differences</a:t>
            </a:r>
          </a:p>
          <a:p>
            <a:pPr>
              <a:buFont typeface="Wingdings" panose="05000000000000000000" pitchFamily="2" charset="2"/>
              <a:buChar char="§"/>
            </a:pPr>
            <a:endParaRPr lang="en-US" dirty="0"/>
          </a:p>
          <a:p>
            <a:pPr marL="342891" lvl="1" indent="0">
              <a:buNone/>
            </a:pPr>
            <a:endParaRPr lang="en-US" sz="1400" dirty="0">
              <a:solidFill>
                <a:schemeClr val="tx1"/>
              </a:solidFill>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endParaRPr lang="en-US" dirty="0"/>
          </a:p>
          <a:p>
            <a:endParaRPr lang="en-US" sz="2000" dirty="0"/>
          </a:p>
        </p:txBody>
      </p:sp>
    </p:spTree>
    <p:extLst>
      <p:ext uri="{BB962C8B-B14F-4D97-AF65-F5344CB8AC3E}">
        <p14:creationId xmlns:p14="http://schemas.microsoft.com/office/powerpoint/2010/main" val="16934331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Key Considerations for Field Selections</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524000"/>
            <a:ext cx="11227747" cy="4691270"/>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0" indent="0">
              <a:buNone/>
            </a:pPr>
            <a:r>
              <a:rPr lang="en-US" sz="2000" b="1" dirty="0"/>
              <a:t> </a:t>
            </a:r>
          </a:p>
          <a:p>
            <a:pPr>
              <a:buFont typeface="Wingdings" panose="05000000000000000000" pitchFamily="2" charset="2"/>
              <a:buChar char="§"/>
            </a:pPr>
            <a:r>
              <a:rPr lang="en-US" dirty="0"/>
              <a:t>The primary text field is always compared.</a:t>
            </a:r>
          </a:p>
          <a:p>
            <a:pPr>
              <a:buFont typeface="Wingdings" panose="05000000000000000000" pitchFamily="2" charset="2"/>
              <a:buChar char="§"/>
            </a:pPr>
            <a:r>
              <a:rPr lang="en-US" dirty="0"/>
              <a:t>You can only compare content fields that are relevant to the content type for the selected document type. Supported field types for comparison include the following types: long text, rich text, short text, Picklist, attachment, category, trace relationship, integer, floating point, state, logical, date, FVA to long text, FVA to rich text, FVA to short text, FVA to picklist, FVA to attachment, FVA to integer, FVA to floating point, FVA to logical, and FVA to date. Unsupported field types may contain differences; however, the document comparison algorithm ignores differences in unsupported field types. </a:t>
            </a:r>
          </a:p>
          <a:p>
            <a:pPr>
              <a:buFont typeface="Wingdings" panose="05000000000000000000" pitchFamily="2" charset="2"/>
              <a:buChar char="§"/>
            </a:pPr>
            <a:r>
              <a:rPr lang="en-US" dirty="0"/>
              <a:t>Except for the text field, any field you do not choose to compare may contain differences; however the document comparison algorithm ignores differences in fields that are left out of the document comparison.</a:t>
            </a:r>
          </a:p>
          <a:p>
            <a:pPr marL="342891" lvl="1" indent="0">
              <a:buNone/>
            </a:pPr>
            <a:endParaRPr lang="en-US" sz="1400" dirty="0">
              <a:solidFill>
                <a:schemeClr val="tx1"/>
              </a:solidFill>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endParaRPr lang="en-US" dirty="0"/>
          </a:p>
          <a:p>
            <a:endParaRPr lang="en-US" sz="2000" dirty="0"/>
          </a:p>
        </p:txBody>
      </p:sp>
    </p:spTree>
    <p:extLst>
      <p:ext uri="{BB962C8B-B14F-4D97-AF65-F5344CB8AC3E}">
        <p14:creationId xmlns:p14="http://schemas.microsoft.com/office/powerpoint/2010/main" val="42138776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Selecting Documents to Compare</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524000"/>
            <a:ext cx="11227747" cy="4691270"/>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0" indent="0">
              <a:buNone/>
            </a:pPr>
            <a:r>
              <a:rPr lang="en-US" sz="2000" b="1" dirty="0"/>
              <a:t> </a:t>
            </a:r>
            <a:endParaRPr lang="en-US" b="1" dirty="0"/>
          </a:p>
          <a:p>
            <a:pPr lvl="1">
              <a:buFont typeface="Wingdings" panose="05000000000000000000" pitchFamily="2" charset="2"/>
              <a:buChar char="§"/>
            </a:pPr>
            <a:r>
              <a:rPr lang="en-US" sz="1800" dirty="0"/>
              <a:t>You can specify the following types of document selections:</a:t>
            </a:r>
          </a:p>
          <a:p>
            <a:pPr lvl="2">
              <a:buFont typeface="Wingdings" panose="05000000000000000000" pitchFamily="2" charset="2"/>
              <a:buChar char="§"/>
            </a:pPr>
            <a:r>
              <a:rPr lang="en-US" sz="1800" dirty="0"/>
              <a:t>One document at two different points in time.</a:t>
            </a:r>
          </a:p>
          <a:p>
            <a:pPr lvl="2">
              <a:buFont typeface="Wingdings" panose="05000000000000000000" pitchFamily="2" charset="2"/>
              <a:buChar char="§"/>
            </a:pPr>
            <a:r>
              <a:rPr lang="en-US" sz="1800" dirty="0"/>
              <a:t>Two versions of the same document (and optionally at different points in time).</a:t>
            </a:r>
          </a:p>
          <a:p>
            <a:pPr lvl="2">
              <a:buFont typeface="Wingdings" panose="05000000000000000000" pitchFamily="2" charset="2"/>
              <a:buChar char="§"/>
            </a:pPr>
            <a:r>
              <a:rPr lang="en-US" sz="1800" dirty="0"/>
              <a:t>Two branched documents that share a common branch ancestor item ID (and  optionally at different points in time). For example, you can compare a versioned document to a document that was branched. </a:t>
            </a:r>
          </a:p>
          <a:p>
            <a:pPr lvl="1">
              <a:buFont typeface="Wingdings" panose="05000000000000000000" pitchFamily="2" charset="2"/>
              <a:buChar char="§"/>
            </a:pPr>
            <a:r>
              <a:rPr lang="en-US" sz="1800" dirty="0"/>
              <a:t>To access the Document Difference view in the GUI, select Document ▶ View Differences.</a:t>
            </a:r>
          </a:p>
          <a:p>
            <a:pPr lvl="1">
              <a:buFont typeface="Wingdings" panose="05000000000000000000" pitchFamily="2" charset="2"/>
              <a:buChar char="§"/>
            </a:pPr>
            <a:r>
              <a:rPr lang="en-US" sz="1800" dirty="0"/>
              <a:t>The steps for comparing documents includes the following steps:</a:t>
            </a:r>
          </a:p>
          <a:p>
            <a:pPr lvl="2">
              <a:buFont typeface="Wingdings" panose="05000000000000000000" pitchFamily="2" charset="2"/>
              <a:buChar char="§"/>
            </a:pPr>
            <a:r>
              <a:rPr lang="en-US" sz="1800" dirty="0"/>
              <a:t>Select documents to compare.</a:t>
            </a:r>
          </a:p>
          <a:p>
            <a:pPr lvl="2">
              <a:buFont typeface="Wingdings" panose="05000000000000000000" pitchFamily="2" charset="2"/>
              <a:buChar char="§"/>
            </a:pPr>
            <a:r>
              <a:rPr lang="en-US" sz="1800" dirty="0"/>
              <a:t>Select fields to compare. </a:t>
            </a:r>
          </a:p>
          <a:p>
            <a:pPr lvl="2">
              <a:buFont typeface="Wingdings" panose="05000000000000000000" pitchFamily="2" charset="2"/>
              <a:buChar char="§"/>
            </a:pPr>
            <a:r>
              <a:rPr lang="en-US" sz="1800" dirty="0"/>
              <a:t>Filter comparison results in the view</a:t>
            </a:r>
          </a:p>
          <a:p>
            <a:pPr lvl="2">
              <a:buFont typeface="Wingdings" panose="05000000000000000000" pitchFamily="2" charset="2"/>
              <a:buChar char="§"/>
            </a:pPr>
            <a:r>
              <a:rPr lang="en-US" sz="1800" dirty="0"/>
              <a:t>Review document differences.</a:t>
            </a: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endParaRPr lang="en-US" dirty="0"/>
          </a:p>
          <a:p>
            <a:endParaRPr lang="en-US" sz="2000" dirty="0"/>
          </a:p>
        </p:txBody>
      </p:sp>
    </p:spTree>
    <p:extLst>
      <p:ext uri="{BB962C8B-B14F-4D97-AF65-F5344CB8AC3E}">
        <p14:creationId xmlns:p14="http://schemas.microsoft.com/office/powerpoint/2010/main" val="1508674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Selecting Documents to Compare</a:t>
            </a:r>
          </a:p>
        </p:txBody>
      </p:sp>
      <p:sp>
        <p:nvSpPr>
          <p:cNvPr id="3" name="TextBox 2"/>
          <p:cNvSpPr txBox="1"/>
          <p:nvPr/>
        </p:nvSpPr>
        <p:spPr>
          <a:xfrm>
            <a:off x="10629899" y="6346058"/>
            <a:ext cx="861261" cy="369332"/>
          </a:xfrm>
          <a:prstGeom prst="rect">
            <a:avLst/>
          </a:prstGeom>
          <a:noFill/>
        </p:spPr>
        <p:txBody>
          <a:bodyPr wrap="none" rtlCol="0">
            <a:spAutoFit/>
          </a:bodyPr>
          <a:lstStyle/>
          <a:p>
            <a:r>
              <a:rPr lang="en-US" dirty="0"/>
              <a:t>Contd..</a:t>
            </a:r>
          </a:p>
        </p:txBody>
      </p:sp>
      <p:sp>
        <p:nvSpPr>
          <p:cNvPr id="4" name="Rectangle 3"/>
          <p:cNvSpPr/>
          <p:nvPr/>
        </p:nvSpPr>
        <p:spPr>
          <a:xfrm>
            <a:off x="278296" y="1173330"/>
            <a:ext cx="11712937" cy="3385542"/>
          </a:xfrm>
          <a:prstGeom prst="rect">
            <a:avLst/>
          </a:prstGeom>
        </p:spPr>
        <p:txBody>
          <a:bodyPr wrap="square">
            <a:spAutoFit/>
          </a:bodyPr>
          <a:lstStyle/>
          <a:p>
            <a:pPr>
              <a:spcBef>
                <a:spcPts val="600"/>
              </a:spcBef>
              <a:spcAft>
                <a:spcPts val="600"/>
              </a:spcAft>
            </a:pPr>
            <a:r>
              <a:rPr lang="en-US" b="1" dirty="0"/>
              <a:t>Selecting Fields to Compare </a:t>
            </a:r>
          </a:p>
          <a:p>
            <a:pPr marL="285750" indent="-285750">
              <a:spcBef>
                <a:spcPts val="600"/>
              </a:spcBef>
              <a:spcAft>
                <a:spcPts val="600"/>
              </a:spcAft>
              <a:buFont typeface="Arial" panose="020B0604020202020204" pitchFamily="34" charset="0"/>
              <a:buChar char="•"/>
            </a:pPr>
            <a:r>
              <a:rPr lang="en-US" dirty="0"/>
              <a:t>Expand Options and select the content fields you want to compare:</a:t>
            </a:r>
          </a:p>
          <a:p>
            <a:pPr marL="742950" lvl="1" indent="-285750">
              <a:spcBef>
                <a:spcPts val="600"/>
              </a:spcBef>
              <a:spcAft>
                <a:spcPts val="600"/>
              </a:spcAft>
              <a:buFont typeface="Arial" panose="020B0604020202020204" pitchFamily="34" charset="0"/>
              <a:buChar char="•"/>
            </a:pPr>
            <a:r>
              <a:rPr lang="en-US" dirty="0"/>
              <a:t>specifies fields to add to the Additional fields to compare list. You can filter the list of fields.</a:t>
            </a:r>
          </a:p>
          <a:p>
            <a:pPr marL="742950" lvl="1" indent="-285750">
              <a:spcBef>
                <a:spcPts val="600"/>
              </a:spcBef>
              <a:spcAft>
                <a:spcPts val="600"/>
              </a:spcAft>
              <a:buFont typeface="Arial" panose="020B0604020202020204" pitchFamily="34" charset="0"/>
              <a:buChar char="•"/>
            </a:pPr>
            <a:r>
              <a:rPr lang="en-US" dirty="0"/>
              <a:t>removes selected fields from the Additional fields to compare list.</a:t>
            </a:r>
          </a:p>
          <a:p>
            <a:pPr marL="742950" lvl="1" indent="-285750">
              <a:spcBef>
                <a:spcPts val="600"/>
              </a:spcBef>
              <a:spcAft>
                <a:spcPts val="600"/>
              </a:spcAft>
              <a:buFont typeface="Arial" panose="020B0604020202020204" pitchFamily="34" charset="0"/>
              <a:buChar char="•"/>
            </a:pPr>
            <a:r>
              <a:rPr lang="en-US" dirty="0"/>
              <a:t>adjusts the order in which the fields display in the Document Difference view.</a:t>
            </a:r>
          </a:p>
          <a:p>
            <a:pPr marL="285750" indent="-285750">
              <a:spcBef>
                <a:spcPts val="600"/>
              </a:spcBef>
              <a:spcAft>
                <a:spcPts val="600"/>
              </a:spcAft>
              <a:buFont typeface="Arial" panose="020B0604020202020204" pitchFamily="34" charset="0"/>
              <a:buChar char="•"/>
            </a:pPr>
            <a:r>
              <a:rPr lang="en-US" dirty="0"/>
              <a:t>Click OK. Your field selections are remembered the next time you compare documents of the same document type.</a:t>
            </a:r>
          </a:p>
          <a:p>
            <a:pPr>
              <a:spcBef>
                <a:spcPts val="600"/>
              </a:spcBef>
              <a:spcAft>
                <a:spcPts val="600"/>
              </a:spcAft>
            </a:pPr>
            <a:r>
              <a:rPr lang="en-US" dirty="0"/>
              <a:t>   </a:t>
            </a:r>
          </a:p>
          <a:p>
            <a:pPr>
              <a:spcBef>
                <a:spcPts val="600"/>
              </a:spcBef>
              <a:spcAft>
                <a:spcPts val="600"/>
              </a:spcAft>
            </a:pPr>
            <a:endParaRPr lang="en-IN" dirty="0"/>
          </a:p>
        </p:txBody>
      </p:sp>
      <p:pic>
        <p:nvPicPr>
          <p:cNvPr id="5" name="Picture 4">
            <a:extLst>
              <a:ext uri="{FF2B5EF4-FFF2-40B4-BE49-F238E27FC236}">
                <a16:creationId xmlns:a16="http://schemas.microsoft.com/office/drawing/2014/main" id="{CC4B6954-DAC8-4FCA-97E3-0C40D6DABB9B}"/>
              </a:ext>
            </a:extLst>
          </p:cNvPr>
          <p:cNvPicPr>
            <a:picLocks noChangeAspect="1"/>
          </p:cNvPicPr>
          <p:nvPr/>
        </p:nvPicPr>
        <p:blipFill>
          <a:blip r:embed="rId2"/>
          <a:stretch>
            <a:fillRect/>
          </a:stretch>
        </p:blipFill>
        <p:spPr>
          <a:xfrm>
            <a:off x="1563758" y="3749103"/>
            <a:ext cx="7089912" cy="2770967"/>
          </a:xfrm>
          <a:prstGeom prst="rect">
            <a:avLst/>
          </a:prstGeom>
        </p:spPr>
      </p:pic>
    </p:spTree>
    <p:extLst>
      <p:ext uri="{BB962C8B-B14F-4D97-AF65-F5344CB8AC3E}">
        <p14:creationId xmlns:p14="http://schemas.microsoft.com/office/powerpoint/2010/main" val="1192879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Types of Document Differences</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342891" marR="0" lvl="1" indent="0" algn="l" defTabSz="685783" rtl="0" eaLnBrk="1" fontAlgn="auto" latinLnBrk="0" hangingPunct="1">
              <a:lnSpc>
                <a:spcPct val="90000"/>
              </a:lnSpc>
              <a:spcBef>
                <a:spcPts val="375"/>
              </a:spcBef>
              <a:spcAft>
                <a:spcPts val="0"/>
              </a:spcAft>
              <a:buClrTx/>
              <a:buSz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graphicFrame>
        <p:nvGraphicFramePr>
          <p:cNvPr id="4" name="Table 5">
            <a:extLst>
              <a:ext uri="{FF2B5EF4-FFF2-40B4-BE49-F238E27FC236}">
                <a16:creationId xmlns:a16="http://schemas.microsoft.com/office/drawing/2014/main" id="{1D65E984-49B9-440F-87B8-73A71C19F1C3}"/>
              </a:ext>
            </a:extLst>
          </p:cNvPr>
          <p:cNvGraphicFramePr>
            <a:graphicFrameLocks noGrp="1"/>
          </p:cNvGraphicFramePr>
          <p:nvPr>
            <p:extLst>
              <p:ext uri="{D42A27DB-BD31-4B8C-83A1-F6EECF244321}">
                <p14:modId xmlns:p14="http://schemas.microsoft.com/office/powerpoint/2010/main" val="937376161"/>
              </p:ext>
            </p:extLst>
          </p:nvPr>
        </p:nvGraphicFramePr>
        <p:xfrm>
          <a:off x="513278" y="1334771"/>
          <a:ext cx="9213819" cy="2194560"/>
        </p:xfrm>
        <a:graphic>
          <a:graphicData uri="http://schemas.openxmlformats.org/drawingml/2006/table">
            <a:tbl>
              <a:tblPr firstRow="1" bandRow="1">
                <a:tableStyleId>{72833802-FEF1-4C79-8D5D-14CF1EAF98D9}</a:tableStyleId>
              </a:tblPr>
              <a:tblGrid>
                <a:gridCol w="5609226">
                  <a:extLst>
                    <a:ext uri="{9D8B030D-6E8A-4147-A177-3AD203B41FA5}">
                      <a16:colId xmlns:a16="http://schemas.microsoft.com/office/drawing/2014/main" val="1924955592"/>
                    </a:ext>
                  </a:extLst>
                </a:gridCol>
                <a:gridCol w="2014331">
                  <a:extLst>
                    <a:ext uri="{9D8B030D-6E8A-4147-A177-3AD203B41FA5}">
                      <a16:colId xmlns:a16="http://schemas.microsoft.com/office/drawing/2014/main" val="2858474719"/>
                    </a:ext>
                  </a:extLst>
                </a:gridCol>
                <a:gridCol w="1590262">
                  <a:extLst>
                    <a:ext uri="{9D8B030D-6E8A-4147-A177-3AD203B41FA5}">
                      <a16:colId xmlns:a16="http://schemas.microsoft.com/office/drawing/2014/main" val="2532874485"/>
                    </a:ext>
                  </a:extLst>
                </a:gridCol>
              </a:tblGrid>
              <a:tr h="966329">
                <a:tc>
                  <a:txBody>
                    <a:bodyPr/>
                    <a:lstStyle/>
                    <a:p>
                      <a:pPr algn="ctr"/>
                      <a:r>
                        <a:rPr lang="en-US" sz="2000" dirty="0"/>
                        <a:t>Type of Document Difference</a:t>
                      </a:r>
                    </a:p>
                  </a:txBody>
                  <a:tcPr/>
                </a:tc>
                <a:tc>
                  <a:txBody>
                    <a:bodyPr/>
                    <a:lstStyle/>
                    <a:p>
                      <a:pPr algn="l"/>
                      <a:r>
                        <a:rPr lang="en-US" sz="2000" dirty="0"/>
                        <a:t>Highlight/ Connector Arrow Color</a:t>
                      </a:r>
                    </a:p>
                  </a:txBody>
                  <a:tcPr/>
                </a:tc>
                <a:tc>
                  <a:txBody>
                    <a:bodyPr/>
                    <a:lstStyle/>
                    <a:p>
                      <a:pPr algn="l"/>
                      <a:r>
                        <a:rPr lang="en-US" sz="2000" dirty="0"/>
                        <a:t>Interface Icon </a:t>
                      </a:r>
                    </a:p>
                  </a:txBody>
                  <a:tcPr/>
                </a:tc>
                <a:extLst>
                  <a:ext uri="{0D108BD9-81ED-4DB2-BD59-A6C34878D82A}">
                    <a16:rowId xmlns:a16="http://schemas.microsoft.com/office/drawing/2014/main" val="135878623"/>
                  </a:ext>
                </a:extLst>
              </a:tr>
              <a:tr h="709788">
                <a:tc>
                  <a:txBody>
                    <a:bodyPr/>
                    <a:lstStyle/>
                    <a:p>
                      <a:r>
                        <a:rPr lang="en-US" sz="1800" dirty="0"/>
                        <a:t>Added content An item that is not present in the source document but is present in the target document. A placeholder offers a visual indication of where the addition was made in the source document</a:t>
                      </a:r>
                    </a:p>
                  </a:txBody>
                  <a:tcPr/>
                </a:tc>
                <a:tc>
                  <a:txBody>
                    <a:bodyPr/>
                    <a:lstStyle/>
                    <a:p>
                      <a:r>
                        <a:rPr lang="en-US" sz="1800" dirty="0"/>
                        <a:t>Green</a:t>
                      </a:r>
                    </a:p>
                  </a:txBody>
                  <a:tcPr/>
                </a:tc>
                <a:tc>
                  <a:txBody>
                    <a:bodyPr/>
                    <a:lstStyle/>
                    <a:p>
                      <a:endParaRPr lang="en-US" sz="1800" dirty="0"/>
                    </a:p>
                  </a:txBody>
                  <a:tcPr/>
                </a:tc>
                <a:extLst>
                  <a:ext uri="{0D108BD9-81ED-4DB2-BD59-A6C34878D82A}">
                    <a16:rowId xmlns:a16="http://schemas.microsoft.com/office/drawing/2014/main" val="1031953701"/>
                  </a:ext>
                </a:extLst>
              </a:tr>
            </a:tbl>
          </a:graphicData>
        </a:graphic>
      </p:graphicFrame>
      <p:pic>
        <p:nvPicPr>
          <p:cNvPr id="6" name="Picture 5">
            <a:extLst>
              <a:ext uri="{FF2B5EF4-FFF2-40B4-BE49-F238E27FC236}">
                <a16:creationId xmlns:a16="http://schemas.microsoft.com/office/drawing/2014/main" id="{A6C80DE5-008C-4BA7-98A5-0AE2BBC0FE64}"/>
              </a:ext>
            </a:extLst>
          </p:cNvPr>
          <p:cNvPicPr>
            <a:picLocks noChangeAspect="1"/>
          </p:cNvPicPr>
          <p:nvPr/>
        </p:nvPicPr>
        <p:blipFill>
          <a:blip r:embed="rId3"/>
          <a:stretch>
            <a:fillRect/>
          </a:stretch>
        </p:blipFill>
        <p:spPr>
          <a:xfrm>
            <a:off x="8320087" y="2608442"/>
            <a:ext cx="428625" cy="381000"/>
          </a:xfrm>
          <a:prstGeom prst="rect">
            <a:avLst/>
          </a:prstGeom>
        </p:spPr>
      </p:pic>
    </p:spTree>
    <p:extLst>
      <p:ext uri="{BB962C8B-B14F-4D97-AF65-F5344CB8AC3E}">
        <p14:creationId xmlns:p14="http://schemas.microsoft.com/office/powerpoint/2010/main" val="31056589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534141" y="61938"/>
            <a:ext cx="11379200" cy="673820"/>
          </a:xfrm>
        </p:spPr>
        <p:txBody>
          <a:bodyPr>
            <a:normAutofit/>
          </a:bodyPr>
          <a:lstStyle/>
          <a:p>
            <a:r>
              <a:rPr lang="en-US" dirty="0"/>
              <a:t>View Differences – Comparison Indicators </a:t>
            </a:r>
          </a:p>
        </p:txBody>
      </p:sp>
      <p:sp>
        <p:nvSpPr>
          <p:cNvPr id="23" name="TextBox 22">
            <a:extLst>
              <a:ext uri="{FF2B5EF4-FFF2-40B4-BE49-F238E27FC236}">
                <a16:creationId xmlns:a16="http://schemas.microsoft.com/office/drawing/2014/main" id="{AFAC35A9-528E-4930-9369-7923F4B5DC2B}"/>
              </a:ext>
            </a:extLst>
          </p:cNvPr>
          <p:cNvSpPr txBox="1"/>
          <p:nvPr/>
        </p:nvSpPr>
        <p:spPr>
          <a:xfrm>
            <a:off x="765727" y="1046483"/>
            <a:ext cx="11379201" cy="892552"/>
          </a:xfrm>
          <a:prstGeom prst="rect">
            <a:avLst/>
          </a:prstGeom>
          <a:noFill/>
        </p:spPr>
        <p:txBody>
          <a:bodyPr wrap="square">
            <a:spAutoFit/>
          </a:bodyPr>
          <a:lstStyle/>
          <a:p>
            <a:pPr marL="457200" marR="0" lvl="1" indent="-228600" algn="l" defTabSz="914400" rtl="0" eaLnBrk="1" fontAlgn="auto" latinLnBrk="0" hangingPunct="1">
              <a:lnSpc>
                <a:spcPct val="100000"/>
              </a:lnSpc>
              <a:spcBef>
                <a:spcPts val="375"/>
              </a:spcBef>
              <a:spcAft>
                <a:spcPts val="0"/>
              </a:spcAft>
              <a:buClrTx/>
              <a:buSzTx/>
              <a:buFont typeface="Arial" panose="020B0604020202020204" pitchFamily="34" charset="0"/>
              <a:buChar char="•"/>
              <a:tabLst>
                <a:tab pos="180975" algn="l"/>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en-US" dirty="0"/>
              <a:t>Green Link indicates new content has been added compared to first document.</a:t>
            </a: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5" name="Picture 4" descr="A screenshot of a social media post&#10;&#10;Description automatically generated">
            <a:extLst>
              <a:ext uri="{FF2B5EF4-FFF2-40B4-BE49-F238E27FC236}">
                <a16:creationId xmlns:a16="http://schemas.microsoft.com/office/drawing/2014/main" id="{CA8B9F25-C3C5-4682-909A-1B2FF9BB3A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8044" y="2144850"/>
            <a:ext cx="8754913" cy="4123428"/>
          </a:xfrm>
          <a:prstGeom prst="rect">
            <a:avLst/>
          </a:prstGeom>
        </p:spPr>
      </p:pic>
    </p:spTree>
    <p:extLst>
      <p:ext uri="{BB962C8B-B14F-4D97-AF65-F5344CB8AC3E}">
        <p14:creationId xmlns:p14="http://schemas.microsoft.com/office/powerpoint/2010/main" val="37204081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Types of Document Differences</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342891" marR="0" lvl="1" indent="0" algn="l" defTabSz="685783" rtl="0" eaLnBrk="1" fontAlgn="auto" latinLnBrk="0" hangingPunct="1">
              <a:lnSpc>
                <a:spcPct val="90000"/>
              </a:lnSpc>
              <a:spcBef>
                <a:spcPts val="375"/>
              </a:spcBef>
              <a:spcAft>
                <a:spcPts val="0"/>
              </a:spcAft>
              <a:buClrTx/>
              <a:buSz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graphicFrame>
        <p:nvGraphicFramePr>
          <p:cNvPr id="4" name="Table 5">
            <a:extLst>
              <a:ext uri="{FF2B5EF4-FFF2-40B4-BE49-F238E27FC236}">
                <a16:creationId xmlns:a16="http://schemas.microsoft.com/office/drawing/2014/main" id="{1D65E984-49B9-440F-87B8-73A71C19F1C3}"/>
              </a:ext>
            </a:extLst>
          </p:cNvPr>
          <p:cNvGraphicFramePr>
            <a:graphicFrameLocks noGrp="1"/>
          </p:cNvGraphicFramePr>
          <p:nvPr>
            <p:extLst>
              <p:ext uri="{D42A27DB-BD31-4B8C-83A1-F6EECF244321}">
                <p14:modId xmlns:p14="http://schemas.microsoft.com/office/powerpoint/2010/main" val="634105075"/>
              </p:ext>
            </p:extLst>
          </p:nvPr>
        </p:nvGraphicFramePr>
        <p:xfrm>
          <a:off x="513278" y="1334771"/>
          <a:ext cx="9213819" cy="2194560"/>
        </p:xfrm>
        <a:graphic>
          <a:graphicData uri="http://schemas.openxmlformats.org/drawingml/2006/table">
            <a:tbl>
              <a:tblPr firstRow="1" bandRow="1">
                <a:tableStyleId>{72833802-FEF1-4C79-8D5D-14CF1EAF98D9}</a:tableStyleId>
              </a:tblPr>
              <a:tblGrid>
                <a:gridCol w="5609226">
                  <a:extLst>
                    <a:ext uri="{9D8B030D-6E8A-4147-A177-3AD203B41FA5}">
                      <a16:colId xmlns:a16="http://schemas.microsoft.com/office/drawing/2014/main" val="1924955592"/>
                    </a:ext>
                  </a:extLst>
                </a:gridCol>
                <a:gridCol w="2014331">
                  <a:extLst>
                    <a:ext uri="{9D8B030D-6E8A-4147-A177-3AD203B41FA5}">
                      <a16:colId xmlns:a16="http://schemas.microsoft.com/office/drawing/2014/main" val="2858474719"/>
                    </a:ext>
                  </a:extLst>
                </a:gridCol>
                <a:gridCol w="1590262">
                  <a:extLst>
                    <a:ext uri="{9D8B030D-6E8A-4147-A177-3AD203B41FA5}">
                      <a16:colId xmlns:a16="http://schemas.microsoft.com/office/drawing/2014/main" val="2532874485"/>
                    </a:ext>
                  </a:extLst>
                </a:gridCol>
              </a:tblGrid>
              <a:tr h="966329">
                <a:tc>
                  <a:txBody>
                    <a:bodyPr/>
                    <a:lstStyle/>
                    <a:p>
                      <a:pPr algn="ctr"/>
                      <a:r>
                        <a:rPr lang="en-US" sz="2000" dirty="0"/>
                        <a:t>Type of Document Difference</a:t>
                      </a:r>
                    </a:p>
                  </a:txBody>
                  <a:tcPr/>
                </a:tc>
                <a:tc>
                  <a:txBody>
                    <a:bodyPr/>
                    <a:lstStyle/>
                    <a:p>
                      <a:pPr algn="l"/>
                      <a:r>
                        <a:rPr lang="en-US" sz="2000" dirty="0"/>
                        <a:t>Highlight/ Connector Arrow Color</a:t>
                      </a:r>
                    </a:p>
                  </a:txBody>
                  <a:tcPr/>
                </a:tc>
                <a:tc>
                  <a:txBody>
                    <a:bodyPr/>
                    <a:lstStyle/>
                    <a:p>
                      <a:pPr algn="l"/>
                      <a:r>
                        <a:rPr lang="en-US" sz="2000" dirty="0"/>
                        <a:t>Interface Icon </a:t>
                      </a:r>
                    </a:p>
                  </a:txBody>
                  <a:tcPr/>
                </a:tc>
                <a:extLst>
                  <a:ext uri="{0D108BD9-81ED-4DB2-BD59-A6C34878D82A}">
                    <a16:rowId xmlns:a16="http://schemas.microsoft.com/office/drawing/2014/main" val="135878623"/>
                  </a:ext>
                </a:extLst>
              </a:tr>
              <a:tr h="709788">
                <a:tc>
                  <a:txBody>
                    <a:bodyPr/>
                    <a:lstStyle/>
                    <a:p>
                      <a:r>
                        <a:rPr lang="en-US" sz="1800" dirty="0"/>
                        <a:t>Deleted content An item that is present in the source document but is not present in the target document. A placeholder offers a visual indication of where the deletion was made in the target document.</a:t>
                      </a:r>
                    </a:p>
                  </a:txBody>
                  <a:tcPr/>
                </a:tc>
                <a:tc>
                  <a:txBody>
                    <a:bodyPr/>
                    <a:lstStyle/>
                    <a:p>
                      <a:r>
                        <a:rPr lang="en-US" sz="1800" dirty="0"/>
                        <a:t>Red</a:t>
                      </a:r>
                    </a:p>
                  </a:txBody>
                  <a:tcPr/>
                </a:tc>
                <a:tc>
                  <a:txBody>
                    <a:bodyPr/>
                    <a:lstStyle/>
                    <a:p>
                      <a:endParaRPr lang="en-US" sz="1800" dirty="0"/>
                    </a:p>
                  </a:txBody>
                  <a:tcPr/>
                </a:tc>
                <a:extLst>
                  <a:ext uri="{0D108BD9-81ED-4DB2-BD59-A6C34878D82A}">
                    <a16:rowId xmlns:a16="http://schemas.microsoft.com/office/drawing/2014/main" val="1031953701"/>
                  </a:ext>
                </a:extLst>
              </a:tr>
            </a:tbl>
          </a:graphicData>
        </a:graphic>
      </p:graphicFrame>
      <p:pic>
        <p:nvPicPr>
          <p:cNvPr id="7" name="Picture 6">
            <a:extLst>
              <a:ext uri="{FF2B5EF4-FFF2-40B4-BE49-F238E27FC236}">
                <a16:creationId xmlns:a16="http://schemas.microsoft.com/office/drawing/2014/main" id="{A3CDF45A-9548-4116-B109-172C43777722}"/>
              </a:ext>
            </a:extLst>
          </p:cNvPr>
          <p:cNvPicPr>
            <a:picLocks noChangeAspect="1"/>
          </p:cNvPicPr>
          <p:nvPr/>
        </p:nvPicPr>
        <p:blipFill>
          <a:blip r:embed="rId3"/>
          <a:stretch>
            <a:fillRect/>
          </a:stretch>
        </p:blipFill>
        <p:spPr>
          <a:xfrm>
            <a:off x="8235812" y="2628692"/>
            <a:ext cx="438150" cy="142875"/>
          </a:xfrm>
          <a:prstGeom prst="rect">
            <a:avLst/>
          </a:prstGeom>
        </p:spPr>
      </p:pic>
    </p:spTree>
    <p:extLst>
      <p:ext uri="{BB962C8B-B14F-4D97-AF65-F5344CB8AC3E}">
        <p14:creationId xmlns:p14="http://schemas.microsoft.com/office/powerpoint/2010/main" val="23034540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534141" y="61938"/>
            <a:ext cx="11379200" cy="673820"/>
          </a:xfrm>
        </p:spPr>
        <p:txBody>
          <a:bodyPr>
            <a:normAutofit/>
          </a:bodyPr>
          <a:lstStyle/>
          <a:p>
            <a:r>
              <a:rPr lang="en-US" dirty="0"/>
              <a:t>View Differences – Comparison Indicators </a:t>
            </a:r>
          </a:p>
        </p:txBody>
      </p:sp>
      <p:sp>
        <p:nvSpPr>
          <p:cNvPr id="23" name="TextBox 22">
            <a:extLst>
              <a:ext uri="{FF2B5EF4-FFF2-40B4-BE49-F238E27FC236}">
                <a16:creationId xmlns:a16="http://schemas.microsoft.com/office/drawing/2014/main" id="{AFAC35A9-528E-4930-9369-7923F4B5DC2B}"/>
              </a:ext>
            </a:extLst>
          </p:cNvPr>
          <p:cNvSpPr txBox="1"/>
          <p:nvPr/>
        </p:nvSpPr>
        <p:spPr>
          <a:xfrm>
            <a:off x="765727" y="1046483"/>
            <a:ext cx="11379201" cy="615553"/>
          </a:xfrm>
          <a:prstGeom prst="rect">
            <a:avLst/>
          </a:prstGeom>
          <a:noFill/>
        </p:spPr>
        <p:txBody>
          <a:bodyPr wrap="square">
            <a:spAutoFit/>
          </a:bodyPr>
          <a:lstStyle/>
          <a:p>
            <a:pPr marL="228600" marR="0" lvl="1" algn="l" defTabSz="914400" rtl="0" eaLnBrk="1" fontAlgn="auto" latinLnBrk="0" hangingPunct="1">
              <a:lnSpc>
                <a:spcPct val="100000"/>
              </a:lnSpc>
              <a:spcBef>
                <a:spcPts val="375"/>
              </a:spcBef>
              <a:spcAft>
                <a:spcPts val="0"/>
              </a:spcAft>
              <a:buClrTx/>
              <a:buSzTx/>
              <a:tabLst>
                <a:tab pos="180975" algn="l"/>
              </a:tabLst>
              <a:defRPr/>
            </a:pPr>
            <a:r>
              <a:rPr lang="en-US" dirty="0"/>
              <a:t>Red Link indicates content is missing compared to first document.</a:t>
            </a: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4" name="Picture 3" descr="A screenshot of a social media post&#10;&#10;Description automatically generated">
            <a:extLst>
              <a:ext uri="{FF2B5EF4-FFF2-40B4-BE49-F238E27FC236}">
                <a16:creationId xmlns:a16="http://schemas.microsoft.com/office/drawing/2014/main" id="{A1043EF0-60AE-4C42-9A36-C94C8CA86E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4799" y="1662036"/>
            <a:ext cx="6895238" cy="4380955"/>
          </a:xfrm>
          <a:prstGeom prst="rect">
            <a:avLst/>
          </a:prstGeom>
        </p:spPr>
      </p:pic>
    </p:spTree>
    <p:extLst>
      <p:ext uri="{BB962C8B-B14F-4D97-AF65-F5344CB8AC3E}">
        <p14:creationId xmlns:p14="http://schemas.microsoft.com/office/powerpoint/2010/main" val="24156028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Types of Document Differences</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342891" marR="0" lvl="1" indent="0" algn="l" defTabSz="685783" rtl="0" eaLnBrk="1" fontAlgn="auto" latinLnBrk="0" hangingPunct="1">
              <a:lnSpc>
                <a:spcPct val="90000"/>
              </a:lnSpc>
              <a:spcBef>
                <a:spcPts val="375"/>
              </a:spcBef>
              <a:spcAft>
                <a:spcPts val="0"/>
              </a:spcAft>
              <a:buClrTx/>
              <a:buSz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graphicFrame>
        <p:nvGraphicFramePr>
          <p:cNvPr id="4" name="Table 5">
            <a:extLst>
              <a:ext uri="{FF2B5EF4-FFF2-40B4-BE49-F238E27FC236}">
                <a16:creationId xmlns:a16="http://schemas.microsoft.com/office/drawing/2014/main" id="{1D65E984-49B9-440F-87B8-73A71C19F1C3}"/>
              </a:ext>
            </a:extLst>
          </p:cNvPr>
          <p:cNvGraphicFramePr>
            <a:graphicFrameLocks noGrp="1"/>
          </p:cNvGraphicFramePr>
          <p:nvPr>
            <p:extLst>
              <p:ext uri="{D42A27DB-BD31-4B8C-83A1-F6EECF244321}">
                <p14:modId xmlns:p14="http://schemas.microsoft.com/office/powerpoint/2010/main" val="1279365188"/>
              </p:ext>
            </p:extLst>
          </p:nvPr>
        </p:nvGraphicFramePr>
        <p:xfrm>
          <a:off x="513278" y="1334771"/>
          <a:ext cx="9213819" cy="1715628"/>
        </p:xfrm>
        <a:graphic>
          <a:graphicData uri="http://schemas.openxmlformats.org/drawingml/2006/table">
            <a:tbl>
              <a:tblPr firstRow="1" bandRow="1">
                <a:tableStyleId>{72833802-FEF1-4C79-8D5D-14CF1EAF98D9}</a:tableStyleId>
              </a:tblPr>
              <a:tblGrid>
                <a:gridCol w="5609226">
                  <a:extLst>
                    <a:ext uri="{9D8B030D-6E8A-4147-A177-3AD203B41FA5}">
                      <a16:colId xmlns:a16="http://schemas.microsoft.com/office/drawing/2014/main" val="1924955592"/>
                    </a:ext>
                  </a:extLst>
                </a:gridCol>
                <a:gridCol w="2014331">
                  <a:extLst>
                    <a:ext uri="{9D8B030D-6E8A-4147-A177-3AD203B41FA5}">
                      <a16:colId xmlns:a16="http://schemas.microsoft.com/office/drawing/2014/main" val="2858474719"/>
                    </a:ext>
                  </a:extLst>
                </a:gridCol>
                <a:gridCol w="1590262">
                  <a:extLst>
                    <a:ext uri="{9D8B030D-6E8A-4147-A177-3AD203B41FA5}">
                      <a16:colId xmlns:a16="http://schemas.microsoft.com/office/drawing/2014/main" val="2532874485"/>
                    </a:ext>
                  </a:extLst>
                </a:gridCol>
              </a:tblGrid>
              <a:tr h="966329">
                <a:tc>
                  <a:txBody>
                    <a:bodyPr/>
                    <a:lstStyle/>
                    <a:p>
                      <a:pPr algn="ctr"/>
                      <a:r>
                        <a:rPr lang="en-US" sz="2000" dirty="0"/>
                        <a:t>Type of Document Difference</a:t>
                      </a:r>
                    </a:p>
                  </a:txBody>
                  <a:tcPr/>
                </a:tc>
                <a:tc>
                  <a:txBody>
                    <a:bodyPr/>
                    <a:lstStyle/>
                    <a:p>
                      <a:pPr algn="l"/>
                      <a:r>
                        <a:rPr lang="en-US" sz="2000" dirty="0"/>
                        <a:t>Highlight/ Connector Arrow Color</a:t>
                      </a:r>
                    </a:p>
                  </a:txBody>
                  <a:tcPr/>
                </a:tc>
                <a:tc>
                  <a:txBody>
                    <a:bodyPr/>
                    <a:lstStyle/>
                    <a:p>
                      <a:pPr algn="l"/>
                      <a:r>
                        <a:rPr lang="en-US" sz="2000" dirty="0"/>
                        <a:t>Interface Icon </a:t>
                      </a:r>
                    </a:p>
                  </a:txBody>
                  <a:tcPr/>
                </a:tc>
                <a:extLst>
                  <a:ext uri="{0D108BD9-81ED-4DB2-BD59-A6C34878D82A}">
                    <a16:rowId xmlns:a16="http://schemas.microsoft.com/office/drawing/2014/main" val="135878623"/>
                  </a:ext>
                </a:extLst>
              </a:tr>
              <a:tr h="709788">
                <a:tc>
                  <a:txBody>
                    <a:bodyPr/>
                    <a:lstStyle/>
                    <a:p>
                      <a:r>
                        <a:rPr lang="en-US" sz="1800" dirty="0"/>
                        <a:t>Modified content Any non-structural change to item or field content.</a:t>
                      </a:r>
                    </a:p>
                  </a:txBody>
                  <a:tcPr/>
                </a:tc>
                <a:tc>
                  <a:txBody>
                    <a:bodyPr/>
                    <a:lstStyle/>
                    <a:p>
                      <a:r>
                        <a:rPr lang="en-US" sz="1800" dirty="0"/>
                        <a:t>Yellow</a:t>
                      </a:r>
                    </a:p>
                  </a:txBody>
                  <a:tcPr/>
                </a:tc>
                <a:tc>
                  <a:txBody>
                    <a:bodyPr/>
                    <a:lstStyle/>
                    <a:p>
                      <a:endParaRPr lang="en-US" sz="1800" dirty="0"/>
                    </a:p>
                  </a:txBody>
                  <a:tcPr/>
                </a:tc>
                <a:extLst>
                  <a:ext uri="{0D108BD9-81ED-4DB2-BD59-A6C34878D82A}">
                    <a16:rowId xmlns:a16="http://schemas.microsoft.com/office/drawing/2014/main" val="1031953701"/>
                  </a:ext>
                </a:extLst>
              </a:tr>
            </a:tbl>
          </a:graphicData>
        </a:graphic>
      </p:graphicFrame>
      <p:pic>
        <p:nvPicPr>
          <p:cNvPr id="6" name="Picture 5">
            <a:extLst>
              <a:ext uri="{FF2B5EF4-FFF2-40B4-BE49-F238E27FC236}">
                <a16:creationId xmlns:a16="http://schemas.microsoft.com/office/drawing/2014/main" id="{9CEAD596-984C-468B-BBFA-E5259F9A4C6C}"/>
              </a:ext>
            </a:extLst>
          </p:cNvPr>
          <p:cNvPicPr>
            <a:picLocks noChangeAspect="1"/>
          </p:cNvPicPr>
          <p:nvPr/>
        </p:nvPicPr>
        <p:blipFill>
          <a:blip r:embed="rId3"/>
          <a:stretch>
            <a:fillRect/>
          </a:stretch>
        </p:blipFill>
        <p:spPr>
          <a:xfrm>
            <a:off x="8355702" y="2427467"/>
            <a:ext cx="542925" cy="561975"/>
          </a:xfrm>
          <a:prstGeom prst="rect">
            <a:avLst/>
          </a:prstGeom>
        </p:spPr>
      </p:pic>
    </p:spTree>
    <p:extLst>
      <p:ext uri="{BB962C8B-B14F-4D97-AF65-F5344CB8AC3E}">
        <p14:creationId xmlns:p14="http://schemas.microsoft.com/office/powerpoint/2010/main" val="29509953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534141" y="61938"/>
            <a:ext cx="11379200" cy="673820"/>
          </a:xfrm>
        </p:spPr>
        <p:txBody>
          <a:bodyPr>
            <a:normAutofit/>
          </a:bodyPr>
          <a:lstStyle/>
          <a:p>
            <a:r>
              <a:rPr lang="en-US" dirty="0"/>
              <a:t>View Differences – Comparison Indicators </a:t>
            </a:r>
          </a:p>
        </p:txBody>
      </p:sp>
      <p:sp>
        <p:nvSpPr>
          <p:cNvPr id="23" name="TextBox 22">
            <a:extLst>
              <a:ext uri="{FF2B5EF4-FFF2-40B4-BE49-F238E27FC236}">
                <a16:creationId xmlns:a16="http://schemas.microsoft.com/office/drawing/2014/main" id="{AFAC35A9-528E-4930-9369-7923F4B5DC2B}"/>
              </a:ext>
            </a:extLst>
          </p:cNvPr>
          <p:cNvSpPr txBox="1"/>
          <p:nvPr/>
        </p:nvSpPr>
        <p:spPr>
          <a:xfrm>
            <a:off x="765727" y="1046483"/>
            <a:ext cx="11379201" cy="615553"/>
          </a:xfrm>
          <a:prstGeom prst="rect">
            <a:avLst/>
          </a:prstGeom>
          <a:noFill/>
        </p:spPr>
        <p:txBody>
          <a:bodyPr wrap="square">
            <a:spAutoFit/>
          </a:bodyPr>
          <a:lstStyle/>
          <a:p>
            <a:pPr marL="228600" marR="0" lvl="1" algn="l" defTabSz="914400" rtl="0" eaLnBrk="1" fontAlgn="auto" latinLnBrk="0" hangingPunct="1">
              <a:lnSpc>
                <a:spcPct val="100000"/>
              </a:lnSpc>
              <a:spcBef>
                <a:spcPts val="375"/>
              </a:spcBef>
              <a:spcAft>
                <a:spcPts val="0"/>
              </a:spcAft>
              <a:buClrTx/>
              <a:buSzTx/>
              <a:tabLst>
                <a:tab pos="180975" algn="l"/>
              </a:tabLst>
              <a:defRPr/>
            </a:pPr>
            <a:r>
              <a:rPr lang="en-US" dirty="0"/>
              <a:t>Yellow Link indicates that text has been changed since last edit.</a:t>
            </a: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5" name="Picture 4" descr="A screenshot of a computer&#10;&#10;Description automatically generated">
            <a:extLst>
              <a:ext uri="{FF2B5EF4-FFF2-40B4-BE49-F238E27FC236}">
                <a16:creationId xmlns:a16="http://schemas.microsoft.com/office/drawing/2014/main" id="{9D7F45A1-F8A6-44B1-9626-189B1BEC33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2453" y="1557571"/>
            <a:ext cx="8230214" cy="4617942"/>
          </a:xfrm>
          <a:prstGeom prst="rect">
            <a:avLst/>
          </a:prstGeom>
        </p:spPr>
      </p:pic>
    </p:spTree>
    <p:extLst>
      <p:ext uri="{BB962C8B-B14F-4D97-AF65-F5344CB8AC3E}">
        <p14:creationId xmlns:p14="http://schemas.microsoft.com/office/powerpoint/2010/main" val="24757336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Types of Document Differences</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342891" marR="0" lvl="1" indent="0" algn="l" defTabSz="685783" rtl="0" eaLnBrk="1" fontAlgn="auto" latinLnBrk="0" hangingPunct="1">
              <a:lnSpc>
                <a:spcPct val="90000"/>
              </a:lnSpc>
              <a:spcBef>
                <a:spcPts val="375"/>
              </a:spcBef>
              <a:spcAft>
                <a:spcPts val="0"/>
              </a:spcAft>
              <a:buClrTx/>
              <a:buSz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graphicFrame>
        <p:nvGraphicFramePr>
          <p:cNvPr id="4" name="Table 5">
            <a:extLst>
              <a:ext uri="{FF2B5EF4-FFF2-40B4-BE49-F238E27FC236}">
                <a16:creationId xmlns:a16="http://schemas.microsoft.com/office/drawing/2014/main" id="{1D65E984-49B9-440F-87B8-73A71C19F1C3}"/>
              </a:ext>
            </a:extLst>
          </p:cNvPr>
          <p:cNvGraphicFramePr>
            <a:graphicFrameLocks noGrp="1"/>
          </p:cNvGraphicFramePr>
          <p:nvPr>
            <p:extLst>
              <p:ext uri="{D42A27DB-BD31-4B8C-83A1-F6EECF244321}">
                <p14:modId xmlns:p14="http://schemas.microsoft.com/office/powerpoint/2010/main" val="271900194"/>
              </p:ext>
            </p:extLst>
          </p:nvPr>
        </p:nvGraphicFramePr>
        <p:xfrm>
          <a:off x="513278" y="1334770"/>
          <a:ext cx="9213819" cy="4188458"/>
        </p:xfrm>
        <a:graphic>
          <a:graphicData uri="http://schemas.openxmlformats.org/drawingml/2006/table">
            <a:tbl>
              <a:tblPr firstRow="1" bandRow="1">
                <a:tableStyleId>{72833802-FEF1-4C79-8D5D-14CF1EAF98D9}</a:tableStyleId>
              </a:tblPr>
              <a:tblGrid>
                <a:gridCol w="5609226">
                  <a:extLst>
                    <a:ext uri="{9D8B030D-6E8A-4147-A177-3AD203B41FA5}">
                      <a16:colId xmlns:a16="http://schemas.microsoft.com/office/drawing/2014/main" val="1924955592"/>
                    </a:ext>
                  </a:extLst>
                </a:gridCol>
                <a:gridCol w="2014331">
                  <a:extLst>
                    <a:ext uri="{9D8B030D-6E8A-4147-A177-3AD203B41FA5}">
                      <a16:colId xmlns:a16="http://schemas.microsoft.com/office/drawing/2014/main" val="2858474719"/>
                    </a:ext>
                  </a:extLst>
                </a:gridCol>
                <a:gridCol w="1590262">
                  <a:extLst>
                    <a:ext uri="{9D8B030D-6E8A-4147-A177-3AD203B41FA5}">
                      <a16:colId xmlns:a16="http://schemas.microsoft.com/office/drawing/2014/main" val="2532874485"/>
                    </a:ext>
                  </a:extLst>
                </a:gridCol>
              </a:tblGrid>
              <a:tr h="1052801">
                <a:tc>
                  <a:txBody>
                    <a:bodyPr/>
                    <a:lstStyle/>
                    <a:p>
                      <a:pPr algn="ctr"/>
                      <a:r>
                        <a:rPr lang="en-US" sz="2000" dirty="0"/>
                        <a:t>Type of Document Difference</a:t>
                      </a:r>
                    </a:p>
                  </a:txBody>
                  <a:tcPr/>
                </a:tc>
                <a:tc>
                  <a:txBody>
                    <a:bodyPr/>
                    <a:lstStyle/>
                    <a:p>
                      <a:pPr algn="l"/>
                      <a:r>
                        <a:rPr lang="en-US" sz="2000" dirty="0"/>
                        <a:t>Highlight/ Connector Arrow Color</a:t>
                      </a:r>
                    </a:p>
                  </a:txBody>
                  <a:tcPr/>
                </a:tc>
                <a:tc>
                  <a:txBody>
                    <a:bodyPr/>
                    <a:lstStyle/>
                    <a:p>
                      <a:pPr algn="l"/>
                      <a:r>
                        <a:rPr lang="en-US" sz="2000" dirty="0"/>
                        <a:t>Interface Icon </a:t>
                      </a:r>
                    </a:p>
                  </a:txBody>
                  <a:tcPr/>
                </a:tc>
                <a:extLst>
                  <a:ext uri="{0D108BD9-81ED-4DB2-BD59-A6C34878D82A}">
                    <a16:rowId xmlns:a16="http://schemas.microsoft.com/office/drawing/2014/main" val="135878623"/>
                  </a:ext>
                </a:extLst>
              </a:tr>
              <a:tr h="2392730">
                <a:tc>
                  <a:txBody>
                    <a:bodyPr/>
                    <a:lstStyle/>
                    <a:p>
                      <a:r>
                        <a:rPr lang="en-US" sz="1800" dirty="0"/>
                        <a:t>Moved content An item present in both the source document and target document that: </a:t>
                      </a:r>
                    </a:p>
                    <a:p>
                      <a:pPr marL="285750" indent="-285750">
                        <a:buFont typeface="Arial" panose="020B0604020202020204" pitchFamily="34" charset="0"/>
                        <a:buChar char="•"/>
                      </a:pPr>
                      <a:r>
                        <a:rPr lang="en-US" sz="1800" dirty="0"/>
                        <a:t>has a different parent</a:t>
                      </a:r>
                    </a:p>
                    <a:p>
                      <a:pPr marL="285750" indent="-285750">
                        <a:buFont typeface="Arial" panose="020B0604020202020204" pitchFamily="34" charset="0"/>
                        <a:buChar char="•"/>
                      </a:pPr>
                      <a:r>
                        <a:rPr lang="en-US" sz="1800" dirty="0"/>
                        <a:t>has the same parent but is in a different relative position  </a:t>
                      </a:r>
                    </a:p>
                    <a:p>
                      <a:pPr marL="285750" indent="-285750">
                        <a:buFont typeface="Arial" panose="020B0604020202020204" pitchFamily="34" charset="0"/>
                        <a:buChar char="•"/>
                      </a:pPr>
                      <a:r>
                        <a:rPr lang="en-US" sz="1800" dirty="0"/>
                        <a:t>has a parent that has been moved.</a:t>
                      </a:r>
                    </a:p>
                    <a:p>
                      <a:r>
                        <a:rPr lang="en-US" sz="1800" dirty="0"/>
                        <a:t>     </a:t>
                      </a:r>
                    </a:p>
                    <a:p>
                      <a:pPr marL="285750" indent="-285750">
                        <a:buFont typeface="Arial" panose="020B0604020202020204" pitchFamily="34" charset="0"/>
                        <a:buChar char="•"/>
                      </a:pPr>
                      <a:endParaRPr lang="en-US" sz="1800" dirty="0"/>
                    </a:p>
                  </a:txBody>
                  <a:tcPr/>
                </a:tc>
                <a:tc>
                  <a:txBody>
                    <a:bodyPr/>
                    <a:lstStyle/>
                    <a:p>
                      <a:r>
                        <a:rPr lang="en-US" sz="1800" dirty="0"/>
                        <a:t>Blue</a:t>
                      </a:r>
                    </a:p>
                  </a:txBody>
                  <a:tcPr/>
                </a:tc>
                <a:tc>
                  <a:txBody>
                    <a:bodyPr/>
                    <a:lstStyle/>
                    <a:p>
                      <a:endParaRPr lang="en-US" sz="1800" dirty="0"/>
                    </a:p>
                  </a:txBody>
                  <a:tcPr/>
                </a:tc>
                <a:extLst>
                  <a:ext uri="{0D108BD9-81ED-4DB2-BD59-A6C34878D82A}">
                    <a16:rowId xmlns:a16="http://schemas.microsoft.com/office/drawing/2014/main" val="1031953701"/>
                  </a:ext>
                </a:extLst>
              </a:tr>
              <a:tr h="742927">
                <a:tc>
                  <a:txBody>
                    <a:bodyPr/>
                    <a:lstStyle/>
                    <a:p>
                      <a:r>
                        <a:rPr lang="en-US" sz="1800" dirty="0"/>
                        <a:t>Moved and modified content </a:t>
                      </a:r>
                    </a:p>
                  </a:txBody>
                  <a:tcPr/>
                </a:tc>
                <a:tc>
                  <a:txBody>
                    <a:bodyPr/>
                    <a:lstStyle/>
                    <a:p>
                      <a:r>
                        <a:rPr lang="en-US" sz="1800" dirty="0"/>
                        <a:t>Blue and Pencil </a:t>
                      </a:r>
                    </a:p>
                  </a:txBody>
                  <a:tcPr/>
                </a:tc>
                <a:tc>
                  <a:txBody>
                    <a:bodyPr/>
                    <a:lstStyle/>
                    <a:p>
                      <a:endParaRPr lang="en-US" sz="1800" dirty="0"/>
                    </a:p>
                  </a:txBody>
                  <a:tcPr/>
                </a:tc>
                <a:extLst>
                  <a:ext uri="{0D108BD9-81ED-4DB2-BD59-A6C34878D82A}">
                    <a16:rowId xmlns:a16="http://schemas.microsoft.com/office/drawing/2014/main" val="2139622794"/>
                  </a:ext>
                </a:extLst>
              </a:tr>
            </a:tbl>
          </a:graphicData>
        </a:graphic>
      </p:graphicFrame>
      <p:pic>
        <p:nvPicPr>
          <p:cNvPr id="7" name="Picture 6">
            <a:extLst>
              <a:ext uri="{FF2B5EF4-FFF2-40B4-BE49-F238E27FC236}">
                <a16:creationId xmlns:a16="http://schemas.microsoft.com/office/drawing/2014/main" id="{E9E293FD-7608-4264-9497-26785DFC0556}"/>
              </a:ext>
            </a:extLst>
          </p:cNvPr>
          <p:cNvPicPr>
            <a:picLocks noChangeAspect="1"/>
          </p:cNvPicPr>
          <p:nvPr/>
        </p:nvPicPr>
        <p:blipFill>
          <a:blip r:embed="rId3"/>
          <a:stretch>
            <a:fillRect/>
          </a:stretch>
        </p:blipFill>
        <p:spPr>
          <a:xfrm>
            <a:off x="8393803" y="2575478"/>
            <a:ext cx="466725" cy="514350"/>
          </a:xfrm>
          <a:prstGeom prst="rect">
            <a:avLst/>
          </a:prstGeom>
        </p:spPr>
      </p:pic>
      <p:pic>
        <p:nvPicPr>
          <p:cNvPr id="8" name="Picture 7">
            <a:extLst>
              <a:ext uri="{FF2B5EF4-FFF2-40B4-BE49-F238E27FC236}">
                <a16:creationId xmlns:a16="http://schemas.microsoft.com/office/drawing/2014/main" id="{539817A4-1972-4677-BAEC-C155AA41B3D0}"/>
              </a:ext>
            </a:extLst>
          </p:cNvPr>
          <p:cNvPicPr>
            <a:picLocks noChangeAspect="1"/>
          </p:cNvPicPr>
          <p:nvPr/>
        </p:nvPicPr>
        <p:blipFill>
          <a:blip r:embed="rId4"/>
          <a:stretch>
            <a:fillRect/>
          </a:stretch>
        </p:blipFill>
        <p:spPr>
          <a:xfrm>
            <a:off x="8403328" y="4789388"/>
            <a:ext cx="457200" cy="790575"/>
          </a:xfrm>
          <a:prstGeom prst="rect">
            <a:avLst/>
          </a:prstGeom>
        </p:spPr>
      </p:pic>
    </p:spTree>
    <p:extLst>
      <p:ext uri="{BB962C8B-B14F-4D97-AF65-F5344CB8AC3E}">
        <p14:creationId xmlns:p14="http://schemas.microsoft.com/office/powerpoint/2010/main" val="15399768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534141" y="61938"/>
            <a:ext cx="11379200" cy="673820"/>
          </a:xfrm>
        </p:spPr>
        <p:txBody>
          <a:bodyPr>
            <a:normAutofit/>
          </a:bodyPr>
          <a:lstStyle/>
          <a:p>
            <a:r>
              <a:rPr lang="en-US" dirty="0"/>
              <a:t>View Differences – Comparison Indicators </a:t>
            </a:r>
          </a:p>
        </p:txBody>
      </p:sp>
      <p:sp>
        <p:nvSpPr>
          <p:cNvPr id="23" name="TextBox 22">
            <a:extLst>
              <a:ext uri="{FF2B5EF4-FFF2-40B4-BE49-F238E27FC236}">
                <a16:creationId xmlns:a16="http://schemas.microsoft.com/office/drawing/2014/main" id="{AFAC35A9-528E-4930-9369-7923F4B5DC2B}"/>
              </a:ext>
            </a:extLst>
          </p:cNvPr>
          <p:cNvSpPr txBox="1"/>
          <p:nvPr/>
        </p:nvSpPr>
        <p:spPr>
          <a:xfrm>
            <a:off x="765727" y="1046483"/>
            <a:ext cx="11379201" cy="615553"/>
          </a:xfrm>
          <a:prstGeom prst="rect">
            <a:avLst/>
          </a:prstGeom>
          <a:noFill/>
        </p:spPr>
        <p:txBody>
          <a:bodyPr wrap="square">
            <a:spAutoFit/>
          </a:bodyPr>
          <a:lstStyle/>
          <a:p>
            <a:pPr marL="228600" marR="0" lvl="1" algn="l" defTabSz="914400" rtl="0" eaLnBrk="1" fontAlgn="auto" latinLnBrk="0" hangingPunct="1">
              <a:lnSpc>
                <a:spcPct val="100000"/>
              </a:lnSpc>
              <a:spcBef>
                <a:spcPts val="375"/>
              </a:spcBef>
              <a:spcAft>
                <a:spcPts val="0"/>
              </a:spcAft>
              <a:buClrTx/>
              <a:buSzTx/>
              <a:tabLst>
                <a:tab pos="180975" algn="l"/>
              </a:tabLst>
              <a:defRPr/>
            </a:pPr>
            <a:r>
              <a:rPr lang="en-US" dirty="0"/>
              <a:t>Blue Link indicates that content has been moved.</a:t>
            </a: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0000"/>
              </a:solidFill>
              <a:effectLst/>
              <a:uLnTx/>
              <a:uFillTx/>
              <a:latin typeface="Calibri"/>
              <a:ea typeface="+mn-ea"/>
              <a:cs typeface="+mn-cs"/>
            </a:endParaRPr>
          </a:p>
        </p:txBody>
      </p:sp>
      <p:pic>
        <p:nvPicPr>
          <p:cNvPr id="4" name="Picture 3" descr="A screenshot of a computer&#10;&#10;Description automatically generated">
            <a:extLst>
              <a:ext uri="{FF2B5EF4-FFF2-40B4-BE49-F238E27FC236}">
                <a16:creationId xmlns:a16="http://schemas.microsoft.com/office/drawing/2014/main" id="{9AD5B390-3537-44FD-83DE-AA6681DF15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4330" y="1571856"/>
            <a:ext cx="7405479" cy="4537395"/>
          </a:xfrm>
          <a:prstGeom prst="rect">
            <a:avLst/>
          </a:prstGeom>
        </p:spPr>
      </p:pic>
    </p:spTree>
    <p:extLst>
      <p:ext uri="{BB962C8B-B14F-4D97-AF65-F5344CB8AC3E}">
        <p14:creationId xmlns:p14="http://schemas.microsoft.com/office/powerpoint/2010/main" val="25653805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Navigating Document Difference</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a:buFont typeface="Wingdings" panose="05000000000000000000" pitchFamily="2" charset="2"/>
              <a:buChar char="§"/>
            </a:pPr>
            <a:r>
              <a:rPr lang="en-US" dirty="0"/>
              <a:t>You can navigate incrementally through each difference in the current document pane using View menu options, or by using the following toolbar or shortcut key options: </a:t>
            </a:r>
          </a:p>
          <a:p>
            <a:pPr lvl="1">
              <a:buFont typeface="Wingdings" panose="05000000000000000000" pitchFamily="2" charset="2"/>
              <a:buChar char="§"/>
            </a:pPr>
            <a:r>
              <a:rPr lang="en-US" sz="1800" dirty="0"/>
              <a:t>Previous difference:    or press F7</a:t>
            </a:r>
          </a:p>
          <a:p>
            <a:pPr lvl="1">
              <a:buFont typeface="Wingdings" panose="05000000000000000000" pitchFamily="2" charset="2"/>
              <a:buChar char="§"/>
            </a:pPr>
            <a:r>
              <a:rPr lang="en-US" sz="1800" dirty="0"/>
              <a:t>Next difference:    or press F8 </a:t>
            </a:r>
          </a:p>
          <a:p>
            <a:pPr lvl="1">
              <a:buFont typeface="Wingdings" panose="05000000000000000000" pitchFamily="2" charset="2"/>
              <a:buChar char="§"/>
            </a:pPr>
            <a:r>
              <a:rPr lang="en-US" sz="1800" dirty="0"/>
              <a:t>First difference:     or press CTRL+F7</a:t>
            </a:r>
          </a:p>
          <a:p>
            <a:pPr lvl="1">
              <a:buFont typeface="Wingdings" panose="05000000000000000000" pitchFamily="2" charset="2"/>
              <a:buChar char="§"/>
            </a:pPr>
            <a:r>
              <a:rPr lang="en-US" sz="1800" dirty="0"/>
              <a:t>Last difference:    or press CTRL+F8 </a:t>
            </a:r>
          </a:p>
          <a:p>
            <a:pPr>
              <a:buFont typeface="Wingdings" panose="05000000000000000000" pitchFamily="2" charset="2"/>
              <a:buChar char="§"/>
            </a:pPr>
            <a:r>
              <a:rPr lang="en-US" dirty="0"/>
              <a:t>Select View ▶ Wrap Difference Search to configure the Previous and Next difference search options to wrap to the top or bottom of the document pane.</a:t>
            </a:r>
          </a:p>
          <a:p>
            <a:pPr>
              <a:buFont typeface="Wingdings" panose="05000000000000000000" pitchFamily="2" charset="2"/>
              <a:buChar char="§"/>
            </a:pPr>
            <a:r>
              <a:rPr lang="en-US" dirty="0"/>
              <a:t>Clear the Wrap Difference Search option to stop at the beginning or end of the document pane.</a:t>
            </a:r>
          </a:p>
          <a:p>
            <a:pPr lvl="1">
              <a:buFont typeface="Wingdings" panose="05000000000000000000" pitchFamily="2" charset="2"/>
              <a:buChar char="§"/>
            </a:pPr>
            <a:endParaRPr lang="en-US" sz="1400" dirty="0">
              <a:solidFill>
                <a:schemeClr val="tx1"/>
              </a:solidFill>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endParaRPr lang="en-US" dirty="0"/>
          </a:p>
          <a:p>
            <a:endParaRPr lang="en-US" sz="2000" dirty="0"/>
          </a:p>
        </p:txBody>
      </p:sp>
      <p:pic>
        <p:nvPicPr>
          <p:cNvPr id="4" name="Picture 3">
            <a:extLst>
              <a:ext uri="{FF2B5EF4-FFF2-40B4-BE49-F238E27FC236}">
                <a16:creationId xmlns:a16="http://schemas.microsoft.com/office/drawing/2014/main" id="{C25896BA-0937-4C3D-838C-3153125EE9AB}"/>
              </a:ext>
            </a:extLst>
          </p:cNvPr>
          <p:cNvPicPr>
            <a:picLocks noChangeAspect="1"/>
          </p:cNvPicPr>
          <p:nvPr/>
        </p:nvPicPr>
        <p:blipFill>
          <a:blip r:embed="rId3"/>
          <a:stretch>
            <a:fillRect/>
          </a:stretch>
        </p:blipFill>
        <p:spPr>
          <a:xfrm>
            <a:off x="2864746" y="1760468"/>
            <a:ext cx="180975" cy="209550"/>
          </a:xfrm>
          <a:prstGeom prst="rect">
            <a:avLst/>
          </a:prstGeom>
        </p:spPr>
      </p:pic>
      <p:pic>
        <p:nvPicPr>
          <p:cNvPr id="6" name="Picture 5">
            <a:extLst>
              <a:ext uri="{FF2B5EF4-FFF2-40B4-BE49-F238E27FC236}">
                <a16:creationId xmlns:a16="http://schemas.microsoft.com/office/drawing/2014/main" id="{1F0CC81F-C4A4-4A91-A66F-2BC68389675A}"/>
              </a:ext>
            </a:extLst>
          </p:cNvPr>
          <p:cNvPicPr>
            <a:picLocks noChangeAspect="1"/>
          </p:cNvPicPr>
          <p:nvPr/>
        </p:nvPicPr>
        <p:blipFill>
          <a:blip r:embed="rId4"/>
          <a:stretch>
            <a:fillRect/>
          </a:stretch>
        </p:blipFill>
        <p:spPr>
          <a:xfrm>
            <a:off x="2524953" y="2050139"/>
            <a:ext cx="171450" cy="209550"/>
          </a:xfrm>
          <a:prstGeom prst="rect">
            <a:avLst/>
          </a:prstGeom>
        </p:spPr>
      </p:pic>
      <p:pic>
        <p:nvPicPr>
          <p:cNvPr id="7" name="Picture 6">
            <a:extLst>
              <a:ext uri="{FF2B5EF4-FFF2-40B4-BE49-F238E27FC236}">
                <a16:creationId xmlns:a16="http://schemas.microsoft.com/office/drawing/2014/main" id="{9FABE756-D60D-4CB1-80FD-00FF3A45AC5D}"/>
              </a:ext>
            </a:extLst>
          </p:cNvPr>
          <p:cNvPicPr>
            <a:picLocks noChangeAspect="1"/>
          </p:cNvPicPr>
          <p:nvPr/>
        </p:nvPicPr>
        <p:blipFill>
          <a:blip r:embed="rId5"/>
          <a:stretch>
            <a:fillRect/>
          </a:stretch>
        </p:blipFill>
        <p:spPr>
          <a:xfrm>
            <a:off x="2501140" y="2388083"/>
            <a:ext cx="219075" cy="200025"/>
          </a:xfrm>
          <a:prstGeom prst="rect">
            <a:avLst/>
          </a:prstGeom>
        </p:spPr>
      </p:pic>
      <p:pic>
        <p:nvPicPr>
          <p:cNvPr id="8" name="Picture 7">
            <a:extLst>
              <a:ext uri="{FF2B5EF4-FFF2-40B4-BE49-F238E27FC236}">
                <a16:creationId xmlns:a16="http://schemas.microsoft.com/office/drawing/2014/main" id="{028EFD00-826F-4EA7-8EF6-D81F3554F38D}"/>
              </a:ext>
            </a:extLst>
          </p:cNvPr>
          <p:cNvPicPr>
            <a:picLocks noChangeAspect="1"/>
          </p:cNvPicPr>
          <p:nvPr/>
        </p:nvPicPr>
        <p:blipFill>
          <a:blip r:embed="rId6"/>
          <a:stretch>
            <a:fillRect/>
          </a:stretch>
        </p:blipFill>
        <p:spPr>
          <a:xfrm>
            <a:off x="2405890" y="2646542"/>
            <a:ext cx="238125" cy="228600"/>
          </a:xfrm>
          <a:prstGeom prst="rect">
            <a:avLst/>
          </a:prstGeom>
        </p:spPr>
      </p:pic>
    </p:spTree>
    <p:extLst>
      <p:ext uri="{BB962C8B-B14F-4D97-AF65-F5344CB8AC3E}">
        <p14:creationId xmlns:p14="http://schemas.microsoft.com/office/powerpoint/2010/main" val="31519735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Navigating the Document Pane</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4"/>
            <a:ext cx="11227747" cy="677108"/>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0" indent="0">
              <a:buNone/>
            </a:pPr>
            <a:r>
              <a:rPr lang="en-US" dirty="0"/>
              <a:t>The following document pane keyboard navigation options are available in the Document Difference view for the current document pane.</a:t>
            </a:r>
          </a:p>
          <a:p>
            <a:pPr marL="342891" lvl="1" indent="0">
              <a:buNone/>
            </a:pPr>
            <a:endParaRPr lang="en-US" sz="1400" dirty="0">
              <a:solidFill>
                <a:schemeClr val="tx1"/>
              </a:solidFill>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endParaRPr lang="en-US" dirty="0"/>
          </a:p>
          <a:p>
            <a:endParaRPr lang="en-US" sz="2000" dirty="0"/>
          </a:p>
        </p:txBody>
      </p:sp>
      <p:graphicFrame>
        <p:nvGraphicFramePr>
          <p:cNvPr id="4" name="Table 5">
            <a:extLst>
              <a:ext uri="{FF2B5EF4-FFF2-40B4-BE49-F238E27FC236}">
                <a16:creationId xmlns:a16="http://schemas.microsoft.com/office/drawing/2014/main" id="{3BE6BF1B-8200-4ADA-A47E-A91BC2FAC66D}"/>
              </a:ext>
            </a:extLst>
          </p:cNvPr>
          <p:cNvGraphicFramePr>
            <a:graphicFrameLocks noGrp="1"/>
          </p:cNvGraphicFramePr>
          <p:nvPr>
            <p:extLst>
              <p:ext uri="{D42A27DB-BD31-4B8C-83A1-F6EECF244321}">
                <p14:modId xmlns:p14="http://schemas.microsoft.com/office/powerpoint/2010/main" val="4165473201"/>
              </p:ext>
            </p:extLst>
          </p:nvPr>
        </p:nvGraphicFramePr>
        <p:xfrm>
          <a:off x="605645" y="2011878"/>
          <a:ext cx="8128000" cy="4044383"/>
        </p:xfrm>
        <a:graphic>
          <a:graphicData uri="http://schemas.openxmlformats.org/drawingml/2006/table">
            <a:tbl>
              <a:tblPr firstRow="1" bandRow="1">
                <a:tableStyleId>{72833802-FEF1-4C79-8D5D-14CF1EAF98D9}</a:tableStyleId>
              </a:tblPr>
              <a:tblGrid>
                <a:gridCol w="2270077">
                  <a:extLst>
                    <a:ext uri="{9D8B030D-6E8A-4147-A177-3AD203B41FA5}">
                      <a16:colId xmlns:a16="http://schemas.microsoft.com/office/drawing/2014/main" val="1107827088"/>
                    </a:ext>
                  </a:extLst>
                </a:gridCol>
                <a:gridCol w="5857923">
                  <a:extLst>
                    <a:ext uri="{9D8B030D-6E8A-4147-A177-3AD203B41FA5}">
                      <a16:colId xmlns:a16="http://schemas.microsoft.com/office/drawing/2014/main" val="2578007440"/>
                    </a:ext>
                  </a:extLst>
                </a:gridCol>
              </a:tblGrid>
              <a:tr h="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412069572"/>
                  </a:ext>
                </a:extLst>
              </a:tr>
              <a:tr h="370840">
                <a:tc>
                  <a:txBody>
                    <a:bodyPr/>
                    <a:lstStyle/>
                    <a:p>
                      <a:r>
                        <a:rPr lang="en-US" dirty="0"/>
                        <a:t>CTRL+TAB</a:t>
                      </a:r>
                    </a:p>
                  </a:txBody>
                  <a:tcPr/>
                </a:tc>
                <a:tc>
                  <a:txBody>
                    <a:bodyPr/>
                    <a:lstStyle/>
                    <a:p>
                      <a:r>
                        <a:rPr lang="en-US" dirty="0"/>
                        <a:t>Switches the focus to the other document pane.</a:t>
                      </a:r>
                    </a:p>
                  </a:txBody>
                  <a:tcPr/>
                </a:tc>
                <a:extLst>
                  <a:ext uri="{0D108BD9-81ED-4DB2-BD59-A6C34878D82A}">
                    <a16:rowId xmlns:a16="http://schemas.microsoft.com/office/drawing/2014/main" val="1842172676"/>
                  </a:ext>
                </a:extLst>
              </a:tr>
              <a:tr h="370840">
                <a:tc>
                  <a:txBody>
                    <a:bodyPr/>
                    <a:lstStyle/>
                    <a:p>
                      <a:r>
                        <a:rPr lang="en-US" dirty="0"/>
                        <a:t>TAB</a:t>
                      </a:r>
                    </a:p>
                  </a:txBody>
                  <a:tcPr/>
                </a:tc>
                <a:tc>
                  <a:txBody>
                    <a:bodyPr/>
                    <a:lstStyle/>
                    <a:p>
                      <a:r>
                        <a:rPr lang="en-US" dirty="0"/>
                        <a:t>Selects the next field.</a:t>
                      </a:r>
                    </a:p>
                  </a:txBody>
                  <a:tcPr/>
                </a:tc>
                <a:extLst>
                  <a:ext uri="{0D108BD9-81ED-4DB2-BD59-A6C34878D82A}">
                    <a16:rowId xmlns:a16="http://schemas.microsoft.com/office/drawing/2014/main" val="2026736438"/>
                  </a:ext>
                </a:extLst>
              </a:tr>
              <a:tr h="370840">
                <a:tc>
                  <a:txBody>
                    <a:bodyPr/>
                    <a:lstStyle/>
                    <a:p>
                      <a:r>
                        <a:rPr lang="en-US" dirty="0"/>
                        <a:t>UP arrow key </a:t>
                      </a:r>
                    </a:p>
                  </a:txBody>
                  <a:tcPr/>
                </a:tc>
                <a:tc>
                  <a:txBody>
                    <a:bodyPr/>
                    <a:lstStyle/>
                    <a:p>
                      <a:r>
                        <a:rPr lang="en-US" dirty="0"/>
                        <a:t>Selects the previous row header.</a:t>
                      </a:r>
                    </a:p>
                  </a:txBody>
                  <a:tcPr/>
                </a:tc>
                <a:extLst>
                  <a:ext uri="{0D108BD9-81ED-4DB2-BD59-A6C34878D82A}">
                    <a16:rowId xmlns:a16="http://schemas.microsoft.com/office/drawing/2014/main" val="3875025236"/>
                  </a:ext>
                </a:extLst>
              </a:tr>
              <a:tr h="370840">
                <a:tc>
                  <a:txBody>
                    <a:bodyPr/>
                    <a:lstStyle/>
                    <a:p>
                      <a:r>
                        <a:rPr lang="en-US" dirty="0"/>
                        <a:t>DOWN arrow key</a:t>
                      </a:r>
                    </a:p>
                  </a:txBody>
                  <a:tcPr/>
                </a:tc>
                <a:tc>
                  <a:txBody>
                    <a:bodyPr/>
                    <a:lstStyle/>
                    <a:p>
                      <a:r>
                        <a:rPr lang="en-US" dirty="0"/>
                        <a:t>Selects the next row header.</a:t>
                      </a:r>
                    </a:p>
                  </a:txBody>
                  <a:tcPr/>
                </a:tc>
                <a:extLst>
                  <a:ext uri="{0D108BD9-81ED-4DB2-BD59-A6C34878D82A}">
                    <a16:rowId xmlns:a16="http://schemas.microsoft.com/office/drawing/2014/main" val="1959304214"/>
                  </a:ext>
                </a:extLst>
              </a:tr>
              <a:tr h="370840">
                <a:tc>
                  <a:txBody>
                    <a:bodyPr/>
                    <a:lstStyle/>
                    <a:p>
                      <a:r>
                        <a:rPr lang="en-US" dirty="0"/>
                        <a:t>HOME</a:t>
                      </a:r>
                    </a:p>
                  </a:txBody>
                  <a:tcPr/>
                </a:tc>
                <a:tc>
                  <a:txBody>
                    <a:bodyPr/>
                    <a:lstStyle/>
                    <a:p>
                      <a:r>
                        <a:rPr lang="en-US" dirty="0"/>
                        <a:t>Selects the first row header.</a:t>
                      </a:r>
                    </a:p>
                  </a:txBody>
                  <a:tcPr/>
                </a:tc>
                <a:extLst>
                  <a:ext uri="{0D108BD9-81ED-4DB2-BD59-A6C34878D82A}">
                    <a16:rowId xmlns:a16="http://schemas.microsoft.com/office/drawing/2014/main" val="2733550643"/>
                  </a:ext>
                </a:extLst>
              </a:tr>
              <a:tr h="370840">
                <a:tc>
                  <a:txBody>
                    <a:bodyPr/>
                    <a:lstStyle/>
                    <a:p>
                      <a:r>
                        <a:rPr lang="en-US" dirty="0"/>
                        <a:t>END</a:t>
                      </a:r>
                    </a:p>
                  </a:txBody>
                  <a:tcPr/>
                </a:tc>
                <a:tc>
                  <a:txBody>
                    <a:bodyPr/>
                    <a:lstStyle/>
                    <a:p>
                      <a:r>
                        <a:rPr lang="en-US" dirty="0"/>
                        <a:t>Selects the last row header</a:t>
                      </a:r>
                    </a:p>
                  </a:txBody>
                  <a:tcPr/>
                </a:tc>
                <a:extLst>
                  <a:ext uri="{0D108BD9-81ED-4DB2-BD59-A6C34878D82A}">
                    <a16:rowId xmlns:a16="http://schemas.microsoft.com/office/drawing/2014/main" val="1813112353"/>
                  </a:ext>
                </a:extLst>
              </a:tr>
              <a:tr h="370840">
                <a:tc>
                  <a:txBody>
                    <a:bodyPr/>
                    <a:lstStyle/>
                    <a:p>
                      <a:r>
                        <a:rPr lang="en-US" dirty="0"/>
                        <a:t>SPACEBAR</a:t>
                      </a:r>
                    </a:p>
                  </a:txBody>
                  <a:tcPr/>
                </a:tc>
                <a:tc>
                  <a:txBody>
                    <a:bodyPr/>
                    <a:lstStyle/>
                    <a:p>
                      <a:r>
                        <a:rPr lang="en-US" dirty="0"/>
                        <a:t>Selects the row header icon in focus and moves to the corresponding difference in the other document pane.</a:t>
                      </a:r>
                    </a:p>
                  </a:txBody>
                  <a:tcPr/>
                </a:tc>
                <a:extLst>
                  <a:ext uri="{0D108BD9-81ED-4DB2-BD59-A6C34878D82A}">
                    <a16:rowId xmlns:a16="http://schemas.microsoft.com/office/drawing/2014/main" val="2879009935"/>
                  </a:ext>
                </a:extLst>
              </a:tr>
              <a:tr h="370840">
                <a:tc>
                  <a:txBody>
                    <a:bodyPr/>
                    <a:lstStyle/>
                    <a:p>
                      <a:r>
                        <a:rPr lang="en-US" dirty="0"/>
                        <a:t>PAGE UP</a:t>
                      </a:r>
                    </a:p>
                  </a:txBody>
                  <a:tcPr/>
                </a:tc>
                <a:tc>
                  <a:txBody>
                    <a:bodyPr/>
                    <a:lstStyle/>
                    <a:p>
                      <a:r>
                        <a:rPr lang="en-US" dirty="0"/>
                        <a:t>Scrolls up approximately one page. </a:t>
                      </a:r>
                    </a:p>
                  </a:txBody>
                  <a:tcPr/>
                </a:tc>
                <a:extLst>
                  <a:ext uri="{0D108BD9-81ED-4DB2-BD59-A6C34878D82A}">
                    <a16:rowId xmlns:a16="http://schemas.microsoft.com/office/drawing/2014/main" val="750940465"/>
                  </a:ext>
                </a:extLst>
              </a:tr>
              <a:tr h="370840">
                <a:tc>
                  <a:txBody>
                    <a:bodyPr/>
                    <a:lstStyle/>
                    <a:p>
                      <a:r>
                        <a:rPr lang="en-US" dirty="0"/>
                        <a:t>PAGE DOWN</a:t>
                      </a:r>
                    </a:p>
                  </a:txBody>
                  <a:tcPr/>
                </a:tc>
                <a:tc>
                  <a:txBody>
                    <a:bodyPr/>
                    <a:lstStyle/>
                    <a:p>
                      <a:r>
                        <a:rPr lang="en-US" dirty="0"/>
                        <a:t>Scrolls down approximately one page.</a:t>
                      </a:r>
                    </a:p>
                  </a:txBody>
                  <a:tcPr/>
                </a:tc>
                <a:extLst>
                  <a:ext uri="{0D108BD9-81ED-4DB2-BD59-A6C34878D82A}">
                    <a16:rowId xmlns:a16="http://schemas.microsoft.com/office/drawing/2014/main" val="2013419369"/>
                  </a:ext>
                </a:extLst>
              </a:tr>
            </a:tbl>
          </a:graphicData>
        </a:graphic>
      </p:graphicFrame>
    </p:spTree>
    <p:extLst>
      <p:ext uri="{BB962C8B-B14F-4D97-AF65-F5344CB8AC3E}">
        <p14:creationId xmlns:p14="http://schemas.microsoft.com/office/powerpoint/2010/main" val="533169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AE2331-9E5D-4002-95F6-18F5524470BF}"/>
              </a:ext>
            </a:extLst>
          </p:cNvPr>
          <p:cNvSpPr/>
          <p:nvPr/>
        </p:nvSpPr>
        <p:spPr>
          <a:xfrm>
            <a:off x="0" y="13251"/>
            <a:ext cx="12192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endParaRPr lang="en-US" sz="1351" dirty="0">
              <a:solidFill>
                <a:srgbClr val="FFFFFF"/>
              </a:solidFill>
              <a:latin typeface="Calibri"/>
            </a:endParaRPr>
          </a:p>
        </p:txBody>
      </p:sp>
      <p:sp>
        <p:nvSpPr>
          <p:cNvPr id="33" name="Rectangle 32"/>
          <p:cNvSpPr/>
          <p:nvPr/>
        </p:nvSpPr>
        <p:spPr>
          <a:xfrm>
            <a:off x="0" y="13251"/>
            <a:ext cx="12192000" cy="6858000"/>
          </a:xfrm>
          <a:prstGeom prst="rect">
            <a:avLst/>
          </a:prstGeom>
          <a:solidFill>
            <a:schemeClr val="tx1">
              <a:lumMod val="95000"/>
              <a:lumOff val="5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2">
              <a:defRPr/>
            </a:pPr>
            <a:endParaRPr lang="en-US" sz="1351" dirty="0">
              <a:solidFill>
                <a:srgbClr val="FFFFFF"/>
              </a:solidFill>
              <a:latin typeface="Calibri"/>
            </a:endParaRPr>
          </a:p>
        </p:txBody>
      </p:sp>
      <p:sp>
        <p:nvSpPr>
          <p:cNvPr id="20" name="Text Placeholder 4">
            <a:extLst>
              <a:ext uri="{FF2B5EF4-FFF2-40B4-BE49-F238E27FC236}">
                <a16:creationId xmlns:a16="http://schemas.microsoft.com/office/drawing/2014/main" id="{28C5F6E7-2567-4C4E-8288-40A604867A15}"/>
              </a:ext>
            </a:extLst>
          </p:cNvPr>
          <p:cNvSpPr txBox="1">
            <a:spLocks/>
          </p:cNvSpPr>
          <p:nvPr/>
        </p:nvSpPr>
        <p:spPr>
          <a:xfrm>
            <a:off x="1855305" y="2666308"/>
            <a:ext cx="8971838" cy="991292"/>
          </a:xfrm>
          <a:prstGeom prst="parallelogram">
            <a:avLst/>
          </a:prstGeom>
          <a:solidFill>
            <a:srgbClr val="1F1A17">
              <a:alpha val="69804"/>
            </a:srgbClr>
          </a:solidFill>
        </p:spPr>
        <p:txBody>
          <a:bodyPr vert="horz" lIns="48000" tIns="96000" rIns="48000" bIns="48000" rtlCol="0" anchor="ctr">
            <a:noAutofit/>
          </a:bodyPr>
          <a:lstStyle>
            <a:defPPr>
              <a:defRPr lang="en-US"/>
            </a:defPPr>
            <a:lvl1pPr marR="0" lvl="0" indent="0" defTabSz="1625358" fontAlgn="auto">
              <a:lnSpc>
                <a:spcPct val="90000"/>
              </a:lnSpc>
              <a:spcBef>
                <a:spcPts val="1777"/>
              </a:spcBef>
              <a:spcAft>
                <a:spcPts val="0"/>
              </a:spcAft>
              <a:buClrTx/>
              <a:buSzTx/>
              <a:buFontTx/>
              <a:buNone/>
              <a:tabLst>
                <a:tab pos="428927" algn="l"/>
              </a:tabLst>
              <a:defRPr kumimoji="0" sz="1867" b="1" i="0" u="none" strike="noStrike" cap="none" spc="0" normalizeH="0" baseline="0">
                <a:ln>
                  <a:noFill/>
                </a:ln>
                <a:solidFill>
                  <a:srgbClr val="FFCC29"/>
                </a:solidFill>
                <a:effectLst/>
                <a:uLnTx/>
                <a:uFillTx/>
                <a:latin typeface="Calibri"/>
              </a:defRPr>
            </a:lvl1pPr>
            <a:lvl2pPr marL="685750" marR="0" indent="-228584" defTabSz="914332" fontAlgn="auto">
              <a:lnSpc>
                <a:spcPct val="90000"/>
              </a:lnSpc>
              <a:spcBef>
                <a:spcPts val="500"/>
              </a:spcBef>
              <a:spcAft>
                <a:spcPts val="0"/>
              </a:spcAft>
              <a:buClrTx/>
              <a:buSzTx/>
              <a:buFontTx/>
              <a:buBlip>
                <a:blip r:embed="rId3"/>
              </a:buBlip>
              <a:tabLst>
                <a:tab pos="241289" algn="l"/>
              </a:tabLst>
              <a:defRPr sz="2400">
                <a:solidFill>
                  <a:schemeClr val="tx1">
                    <a:lumMod val="75000"/>
                    <a:lumOff val="25000"/>
                  </a:schemeClr>
                </a:solidFill>
              </a:defRPr>
            </a:lvl2pPr>
            <a:lvl3pPr marL="1142914" marR="0" indent="-228584" defTabSz="914332" fontAlgn="auto">
              <a:lnSpc>
                <a:spcPct val="90000"/>
              </a:lnSpc>
              <a:spcBef>
                <a:spcPts val="500"/>
              </a:spcBef>
              <a:spcAft>
                <a:spcPts val="0"/>
              </a:spcAft>
              <a:buClrTx/>
              <a:buSzTx/>
              <a:buFontTx/>
              <a:buBlip>
                <a:blip r:embed="rId3"/>
              </a:buBlip>
              <a:tabLst>
                <a:tab pos="241289" algn="l"/>
              </a:tabLst>
              <a:defRPr sz="2000">
                <a:solidFill>
                  <a:schemeClr val="tx1">
                    <a:lumMod val="75000"/>
                    <a:lumOff val="25000"/>
                  </a:schemeClr>
                </a:solidFill>
              </a:defRPr>
            </a:lvl3pPr>
            <a:lvl4pPr marL="1600080"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4pPr>
            <a:lvl5pPr marL="2057247"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5pPr>
            <a:lvl6pPr marL="2514412" indent="-228584" defTabSz="914332">
              <a:lnSpc>
                <a:spcPct val="90000"/>
              </a:lnSpc>
              <a:spcBef>
                <a:spcPts val="500"/>
              </a:spcBef>
              <a:buFont typeface="Arial"/>
              <a:buChar char="•"/>
              <a:defRPr sz="1867"/>
            </a:lvl6pPr>
            <a:lvl7pPr marL="2971578" indent="-228584" defTabSz="914332">
              <a:lnSpc>
                <a:spcPct val="90000"/>
              </a:lnSpc>
              <a:spcBef>
                <a:spcPts val="500"/>
              </a:spcBef>
              <a:buFont typeface="Arial"/>
              <a:buChar char="•"/>
              <a:defRPr sz="1867"/>
            </a:lvl7pPr>
            <a:lvl8pPr marL="3428744" indent="-228584" defTabSz="914332">
              <a:lnSpc>
                <a:spcPct val="90000"/>
              </a:lnSpc>
              <a:spcBef>
                <a:spcPts val="500"/>
              </a:spcBef>
              <a:buFont typeface="Arial"/>
              <a:buChar char="•"/>
              <a:defRPr sz="1867"/>
            </a:lvl8pPr>
            <a:lvl9pPr marL="3885910" indent="-228584" defTabSz="914332">
              <a:lnSpc>
                <a:spcPct val="90000"/>
              </a:lnSpc>
              <a:spcBef>
                <a:spcPts val="500"/>
              </a:spcBef>
              <a:buFont typeface="Arial"/>
              <a:buChar char="•"/>
              <a:defRPr sz="1867"/>
            </a:lvl9pPr>
          </a:lstStyle>
          <a:p>
            <a:r>
              <a:rPr lang="en-US" sz="2400" dirty="0"/>
              <a:t>Creating a new  Project</a:t>
            </a:r>
          </a:p>
        </p:txBody>
      </p:sp>
      <p:sp>
        <p:nvSpPr>
          <p:cNvPr id="24" name="Text Placeholder 6">
            <a:extLst>
              <a:ext uri="{FF2B5EF4-FFF2-40B4-BE49-F238E27FC236}">
                <a16:creationId xmlns:a16="http://schemas.microsoft.com/office/drawing/2014/main" id="{999EE348-DCFE-48B2-824C-148A5F3249BB}"/>
              </a:ext>
            </a:extLst>
          </p:cNvPr>
          <p:cNvSpPr txBox="1">
            <a:spLocks/>
          </p:cNvSpPr>
          <p:nvPr/>
        </p:nvSpPr>
        <p:spPr>
          <a:xfrm>
            <a:off x="231775" y="174172"/>
            <a:ext cx="4760913" cy="784225"/>
          </a:xfrm>
          <a:prstGeom prst="rect">
            <a:avLst/>
          </a:prstGeom>
        </p:spPr>
        <p:txBody>
          <a:bodyPr/>
          <a:lstStyle>
            <a:lvl1pPr marL="228589" marR="0" indent="-228589" algn="l" defTabSz="914354" rtl="0" eaLnBrk="1" fontAlgn="auto" latinLnBrk="0" hangingPunct="1">
              <a:lnSpc>
                <a:spcPct val="90000"/>
              </a:lnSpc>
              <a:spcBef>
                <a:spcPts val="1000"/>
              </a:spcBef>
              <a:spcAft>
                <a:spcPts val="0"/>
              </a:spcAft>
              <a:buClrTx/>
              <a:buSzTx/>
              <a:buFontTx/>
              <a:buBlip>
                <a:blip r:embed="rId3"/>
              </a:buBlip>
              <a:tabLst>
                <a:tab pos="241294" algn="l"/>
              </a:tabLst>
              <a:defRPr lang="en-US" sz="2800" kern="1200" smtClean="0">
                <a:solidFill>
                  <a:schemeClr val="tx1">
                    <a:lumMod val="75000"/>
                    <a:lumOff val="25000"/>
                  </a:schemeClr>
                </a:solidFill>
                <a:latin typeface="+mn-lt"/>
                <a:ea typeface="+mn-ea"/>
                <a:cs typeface="+mn-cs"/>
              </a:defRPr>
            </a:lvl1pPr>
            <a:lvl2pPr marL="685766"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400" kern="1200" smtClean="0">
                <a:solidFill>
                  <a:schemeClr val="tx1">
                    <a:lumMod val="75000"/>
                    <a:lumOff val="25000"/>
                  </a:schemeClr>
                </a:solidFill>
                <a:latin typeface="+mn-lt"/>
                <a:ea typeface="+mn-ea"/>
                <a:cs typeface="+mn-cs"/>
              </a:defRPr>
            </a:lvl2pPr>
            <a:lvl3pPr marL="1142942"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000" kern="1200" smtClean="0">
                <a:solidFill>
                  <a:schemeClr val="tx1">
                    <a:lumMod val="75000"/>
                    <a:lumOff val="25000"/>
                  </a:schemeClr>
                </a:solidFill>
                <a:latin typeface="+mn-lt"/>
                <a:ea typeface="+mn-ea"/>
                <a:cs typeface="+mn-cs"/>
              </a:defRPr>
            </a:lvl3pPr>
            <a:lvl4pPr marL="1600120"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smtClean="0">
                <a:solidFill>
                  <a:schemeClr val="tx1">
                    <a:lumMod val="75000"/>
                    <a:lumOff val="25000"/>
                  </a:schemeClr>
                </a:solidFill>
                <a:latin typeface="+mn-lt"/>
                <a:ea typeface="+mn-ea"/>
                <a:cs typeface="+mn-cs"/>
              </a:defRPr>
            </a:lvl4pPr>
            <a:lvl5pPr marL="2057298"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a:solidFill>
                  <a:schemeClr val="tx1">
                    <a:lumMod val="75000"/>
                    <a:lumOff val="25000"/>
                  </a:schemeClr>
                </a:solidFill>
                <a:latin typeface="+mn-lt"/>
                <a:ea typeface="+mn-ea"/>
                <a:cs typeface="+mn-cs"/>
              </a:defRPr>
            </a:lvl5pPr>
            <a:lvl6pPr marL="2514474"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9pPr>
          </a:lstStyle>
          <a:p>
            <a:pPr marL="0" indent="0">
              <a:buNone/>
            </a:pPr>
            <a:endParaRPr lang="en-US" sz="3200" dirty="0">
              <a:solidFill>
                <a:schemeClr val="bg1"/>
              </a:solidFill>
            </a:endParaRPr>
          </a:p>
        </p:txBody>
      </p:sp>
    </p:spTree>
    <p:extLst>
      <p:ext uri="{BB962C8B-B14F-4D97-AF65-F5344CB8AC3E}">
        <p14:creationId xmlns:p14="http://schemas.microsoft.com/office/powerpoint/2010/main" val="36694591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 new project</a:t>
            </a:r>
          </a:p>
        </p:txBody>
      </p:sp>
      <p:sp>
        <p:nvSpPr>
          <p:cNvPr id="7" name="Rectangle 6"/>
          <p:cNvSpPr/>
          <p:nvPr/>
        </p:nvSpPr>
        <p:spPr>
          <a:xfrm>
            <a:off x="612032" y="734019"/>
            <a:ext cx="11049771" cy="2308324"/>
          </a:xfrm>
          <a:prstGeom prst="rect">
            <a:avLst/>
          </a:prstGeom>
        </p:spPr>
        <p:txBody>
          <a:bodyPr wrap="square">
            <a:spAutoFit/>
          </a:bodyPr>
          <a:lstStyle/>
          <a:p>
            <a:endParaRPr lang="en-US" dirty="0"/>
          </a:p>
          <a:p>
            <a:endParaRPr lang="en-US" dirty="0"/>
          </a:p>
          <a:p>
            <a:pPr marL="285750" indent="-285750">
              <a:buFont typeface="Arial" panose="020B0604020202020204" pitchFamily="34" charset="0"/>
              <a:buChar char="•"/>
            </a:pPr>
            <a:r>
              <a:rPr lang="en-US" dirty="0"/>
              <a:t>To create a new project in Integrity, follow the steps given:</a:t>
            </a:r>
          </a:p>
          <a:p>
            <a:endParaRPr lang="en-US" dirty="0"/>
          </a:p>
          <a:p>
            <a:pPr marL="742950" lvl="1" indent="-285750">
              <a:buFont typeface="Arial" panose="020B0604020202020204" pitchFamily="34" charset="0"/>
              <a:buChar char="•"/>
            </a:pPr>
            <a:r>
              <a:rPr lang="en-US" dirty="0"/>
              <a:t>Open Integrity Client. </a:t>
            </a:r>
          </a:p>
          <a:p>
            <a:pPr marL="742950" lvl="1" indent="-285750">
              <a:buFont typeface="Arial" panose="020B0604020202020204" pitchFamily="34" charset="0"/>
              <a:buChar char="•"/>
            </a:pPr>
            <a:r>
              <a:rPr lang="en-US" dirty="0"/>
              <a:t>Click on “Item” and select “Create” option. </a:t>
            </a:r>
          </a:p>
          <a:p>
            <a:pPr lvl="1"/>
            <a:endParaRPr lang="en-US" dirty="0"/>
          </a:p>
          <a:p>
            <a:endParaRPr lang="en-US" dirty="0"/>
          </a:p>
        </p:txBody>
      </p:sp>
      <p:pic>
        <p:nvPicPr>
          <p:cNvPr id="3" name="Picture 2"/>
          <p:cNvPicPr>
            <a:picLocks noChangeAspect="1"/>
          </p:cNvPicPr>
          <p:nvPr/>
        </p:nvPicPr>
        <p:blipFill>
          <a:blip r:embed="rId2"/>
          <a:stretch>
            <a:fillRect/>
          </a:stretch>
        </p:blipFill>
        <p:spPr>
          <a:xfrm>
            <a:off x="3122254" y="2589993"/>
            <a:ext cx="6134288" cy="3318438"/>
          </a:xfrm>
          <a:prstGeom prst="rect">
            <a:avLst/>
          </a:prstGeom>
        </p:spPr>
      </p:pic>
    </p:spTree>
    <p:extLst>
      <p:ext uri="{BB962C8B-B14F-4D97-AF65-F5344CB8AC3E}">
        <p14:creationId xmlns:p14="http://schemas.microsoft.com/office/powerpoint/2010/main" val="35691554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 new project</a:t>
            </a:r>
          </a:p>
        </p:txBody>
      </p:sp>
      <p:sp>
        <p:nvSpPr>
          <p:cNvPr id="7" name="Rectangle 6"/>
          <p:cNvSpPr/>
          <p:nvPr/>
        </p:nvSpPr>
        <p:spPr>
          <a:xfrm>
            <a:off x="731520" y="734019"/>
            <a:ext cx="10930283" cy="1477328"/>
          </a:xfrm>
          <a:prstGeom prst="rect">
            <a:avLst/>
          </a:prstGeom>
        </p:spPr>
        <p:txBody>
          <a:bodyPr wrap="square">
            <a:spAutoFit/>
          </a:bodyPr>
          <a:lstStyle/>
          <a:p>
            <a:endParaRPr lang="en-US" dirty="0"/>
          </a:p>
          <a:p>
            <a:endParaRPr lang="en-US" dirty="0"/>
          </a:p>
          <a:p>
            <a:pPr marL="285750" indent="-285750">
              <a:buFont typeface="Arial" panose="020B0604020202020204" pitchFamily="34" charset="0"/>
              <a:buChar char="•"/>
            </a:pPr>
            <a:r>
              <a:rPr lang="en-US" dirty="0"/>
              <a:t>There will be two create options in the “Item” menu. Both of them display same options.</a:t>
            </a:r>
          </a:p>
          <a:p>
            <a:pPr marL="285750" indent="-285750">
              <a:buFont typeface="Arial" panose="020B0604020202020204" pitchFamily="34" charset="0"/>
              <a:buChar char="•"/>
            </a:pPr>
            <a:r>
              <a:rPr lang="en-US" dirty="0"/>
              <a:t>Between the two create options, any one can be selected.</a:t>
            </a:r>
          </a:p>
          <a:p>
            <a:pPr marL="285750" indent="-285750">
              <a:buFont typeface="Arial" panose="020B0604020202020204" pitchFamily="34" charset="0"/>
              <a:buChar char="•"/>
            </a:pPr>
            <a:r>
              <a:rPr lang="en-US" dirty="0"/>
              <a:t>From the list of options in create, select “Project” option. </a:t>
            </a:r>
          </a:p>
        </p:txBody>
      </p:sp>
      <p:pic>
        <p:nvPicPr>
          <p:cNvPr id="4" name="Picture 3"/>
          <p:cNvPicPr>
            <a:picLocks noChangeAspect="1"/>
          </p:cNvPicPr>
          <p:nvPr/>
        </p:nvPicPr>
        <p:blipFill>
          <a:blip r:embed="rId2"/>
          <a:stretch>
            <a:fillRect/>
          </a:stretch>
        </p:blipFill>
        <p:spPr>
          <a:xfrm>
            <a:off x="2196904" y="2567427"/>
            <a:ext cx="5737274" cy="3678628"/>
          </a:xfrm>
          <a:prstGeom prst="rect">
            <a:avLst/>
          </a:prstGeom>
        </p:spPr>
      </p:pic>
    </p:spTree>
    <p:extLst>
      <p:ext uri="{BB962C8B-B14F-4D97-AF65-F5344CB8AC3E}">
        <p14:creationId xmlns:p14="http://schemas.microsoft.com/office/powerpoint/2010/main" val="29124011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Project Item</a:t>
            </a:r>
          </a:p>
        </p:txBody>
      </p:sp>
      <p:sp>
        <p:nvSpPr>
          <p:cNvPr id="7" name="Rectangle 6"/>
          <p:cNvSpPr/>
          <p:nvPr/>
        </p:nvSpPr>
        <p:spPr>
          <a:xfrm>
            <a:off x="1014524" y="734019"/>
            <a:ext cx="10647279" cy="1477328"/>
          </a:xfrm>
          <a:prstGeom prst="rect">
            <a:avLst/>
          </a:prstGeom>
        </p:spPr>
        <p:txBody>
          <a:bodyPr wrap="square">
            <a:spAutoFit/>
          </a:bodyPr>
          <a:lstStyle/>
          <a:p>
            <a:endParaRPr lang="en-US" dirty="0"/>
          </a:p>
          <a:p>
            <a:pPr marL="285750" indent="-285750">
              <a:buFont typeface="Arial" panose="020B0604020202020204" pitchFamily="34" charset="0"/>
              <a:buChar char="•"/>
            </a:pPr>
            <a:r>
              <a:rPr lang="en-US" dirty="0"/>
              <a:t>After clicking on Project, a window will appear on screen which is called the “Project Item”.</a:t>
            </a:r>
          </a:p>
          <a:p>
            <a:pPr marL="285750" indent="-285750">
              <a:buFont typeface="Arial" panose="020B0604020202020204" pitchFamily="34" charset="0"/>
              <a:buChar char="•"/>
            </a:pPr>
            <a:r>
              <a:rPr lang="en-US" dirty="0"/>
              <a:t>Project Item will contain list of fields that must be filled in order to create a project with appropriate information.</a:t>
            </a:r>
          </a:p>
          <a:p>
            <a:pPr marL="285750" indent="-285750">
              <a:buFont typeface="Arial" panose="020B0604020202020204" pitchFamily="34" charset="0"/>
              <a:buChar char="•"/>
            </a:pPr>
            <a:r>
              <a:rPr lang="en-US" dirty="0"/>
              <a:t>Following is the project creation window with all the fields: </a:t>
            </a:r>
          </a:p>
        </p:txBody>
      </p:sp>
      <p:pic>
        <p:nvPicPr>
          <p:cNvPr id="3" name="Picture 2"/>
          <p:cNvPicPr>
            <a:picLocks noChangeAspect="1"/>
          </p:cNvPicPr>
          <p:nvPr/>
        </p:nvPicPr>
        <p:blipFill>
          <a:blip r:embed="rId2"/>
          <a:stretch>
            <a:fillRect/>
          </a:stretch>
        </p:blipFill>
        <p:spPr>
          <a:xfrm>
            <a:off x="1014524" y="2243380"/>
            <a:ext cx="10574215" cy="4202864"/>
          </a:xfrm>
          <a:prstGeom prst="rect">
            <a:avLst/>
          </a:prstGeom>
        </p:spPr>
      </p:pic>
    </p:spTree>
    <p:extLst>
      <p:ext uri="{BB962C8B-B14F-4D97-AF65-F5344CB8AC3E}">
        <p14:creationId xmlns:p14="http://schemas.microsoft.com/office/powerpoint/2010/main" val="3448459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Project Item – Details tab</a:t>
            </a:r>
          </a:p>
        </p:txBody>
      </p:sp>
      <p:sp>
        <p:nvSpPr>
          <p:cNvPr id="7" name="Rectangle 6"/>
          <p:cNvSpPr/>
          <p:nvPr/>
        </p:nvSpPr>
        <p:spPr>
          <a:xfrm>
            <a:off x="612032" y="734019"/>
            <a:ext cx="11049771" cy="5632311"/>
          </a:xfrm>
          <a:prstGeom prst="rect">
            <a:avLst/>
          </a:prstGeom>
        </p:spPr>
        <p:txBody>
          <a:bodyPr wrap="square">
            <a:spAutoFit/>
          </a:bodyPr>
          <a:lstStyle/>
          <a:p>
            <a:endParaRPr lang="en-US" dirty="0"/>
          </a:p>
          <a:p>
            <a:endParaRPr lang="en-US" dirty="0"/>
          </a:p>
          <a:p>
            <a:endParaRPr lang="en-US" dirty="0"/>
          </a:p>
          <a:p>
            <a:pPr marL="285750" indent="-285750">
              <a:buFont typeface="Arial" panose="020B0604020202020204" pitchFamily="34" charset="0"/>
              <a:buChar char="•"/>
            </a:pPr>
            <a:r>
              <a:rPr lang="en-US" dirty="0"/>
              <a:t>Details Tab is divided into section; namely:</a:t>
            </a:r>
          </a:p>
          <a:p>
            <a:pPr marL="742950" lvl="1" indent="-285750">
              <a:buFont typeface="Arial" panose="020B0604020202020204" pitchFamily="34" charset="0"/>
              <a:buChar char="•"/>
            </a:pPr>
            <a:r>
              <a:rPr lang="en-US" dirty="0"/>
              <a:t>Name</a:t>
            </a:r>
          </a:p>
          <a:p>
            <a:pPr marL="742950" lvl="1" indent="-285750">
              <a:buFont typeface="Arial" panose="020B0604020202020204" pitchFamily="34" charset="0"/>
              <a:buChar char="•"/>
            </a:pPr>
            <a:r>
              <a:rPr lang="en-US" dirty="0"/>
              <a:t>General</a:t>
            </a:r>
          </a:p>
          <a:p>
            <a:pPr marL="742950" lvl="1" indent="-285750">
              <a:buFont typeface="Arial" panose="020B0604020202020204" pitchFamily="34" charset="0"/>
              <a:buChar char="•"/>
            </a:pPr>
            <a:r>
              <a:rPr lang="en-US" dirty="0"/>
              <a:t>Project Details</a:t>
            </a:r>
          </a:p>
          <a:p>
            <a:endParaRPr lang="en-US" dirty="0"/>
          </a:p>
          <a:p>
            <a:pPr marL="285750" indent="-285750">
              <a:buFont typeface="Arial" panose="020B0604020202020204" pitchFamily="34" charset="0"/>
              <a:buChar char="•"/>
            </a:pPr>
            <a:r>
              <a:rPr lang="en-US" dirty="0"/>
              <a:t>Name Section: </a:t>
            </a:r>
          </a:p>
          <a:p>
            <a:pPr marL="742950" lvl="1" indent="-285750">
              <a:buFont typeface="Arial" panose="020B0604020202020204" pitchFamily="34" charset="0"/>
              <a:buChar char="•"/>
            </a:pPr>
            <a:r>
              <a:rPr lang="en-US" dirty="0"/>
              <a:t>According to the naming convention, Name of the Project must given based on some set of set rule.</a:t>
            </a:r>
          </a:p>
          <a:p>
            <a:pPr marL="742950" lvl="1" indent="-285750">
              <a:buFont typeface="Arial" panose="020B0604020202020204" pitchFamily="34" charset="0"/>
              <a:buChar char="•"/>
            </a:pPr>
            <a:r>
              <a:rPr lang="en-US" dirty="0"/>
              <a:t>The syntax for entering a project name is as follows:</a:t>
            </a:r>
          </a:p>
          <a:p>
            <a:pPr lvl="1"/>
            <a:endParaRPr lang="en-US" dirty="0"/>
          </a:p>
          <a:p>
            <a:r>
              <a:rPr lang="en-US" dirty="0"/>
              <a:t>                            </a:t>
            </a:r>
            <a:r>
              <a:rPr lang="en-US" b="1" dirty="0" err="1"/>
              <a:t>CustomerName_ProductCategoryAcronymn_ProjectCode</a:t>
            </a:r>
            <a:endParaRPr lang="en-US" b="1" dirty="0"/>
          </a:p>
          <a:p>
            <a:endParaRPr lang="en-US" b="1" dirty="0"/>
          </a:p>
          <a:p>
            <a:r>
              <a:rPr lang="en-US" dirty="0"/>
              <a:t>Notice that underscore ( _ ) is used between the names to separate instead of spaces. Check the example below:</a:t>
            </a:r>
          </a:p>
          <a:p>
            <a:endParaRPr lang="en-US" dirty="0"/>
          </a:p>
          <a:p>
            <a:endParaRPr lang="en-US" dirty="0"/>
          </a:p>
          <a:p>
            <a:endParaRPr lang="en-US" dirty="0"/>
          </a:p>
          <a:p>
            <a:endParaRPr lang="en-US" dirty="0"/>
          </a:p>
          <a:p>
            <a:r>
              <a:rPr lang="en-US" dirty="0"/>
              <a:t>Here, Customer Name: HONDA ; Product Category: Instrument Cluster (IC) ; Project Code: K55H.</a:t>
            </a:r>
          </a:p>
        </p:txBody>
      </p:sp>
      <p:pic>
        <p:nvPicPr>
          <p:cNvPr id="4" name="Picture 3"/>
          <p:cNvPicPr>
            <a:picLocks noChangeAspect="1"/>
          </p:cNvPicPr>
          <p:nvPr/>
        </p:nvPicPr>
        <p:blipFill>
          <a:blip r:embed="rId2"/>
          <a:stretch>
            <a:fillRect/>
          </a:stretch>
        </p:blipFill>
        <p:spPr>
          <a:xfrm>
            <a:off x="742364" y="5054477"/>
            <a:ext cx="6515100" cy="828675"/>
          </a:xfrm>
          <a:prstGeom prst="rect">
            <a:avLst/>
          </a:prstGeom>
        </p:spPr>
      </p:pic>
    </p:spTree>
    <p:extLst>
      <p:ext uri="{BB962C8B-B14F-4D97-AF65-F5344CB8AC3E}">
        <p14:creationId xmlns:p14="http://schemas.microsoft.com/office/powerpoint/2010/main" val="6598770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Project Item – Details tab</a:t>
            </a:r>
          </a:p>
        </p:txBody>
      </p:sp>
      <p:sp>
        <p:nvSpPr>
          <p:cNvPr id="7" name="Rectangle 6"/>
          <p:cNvSpPr/>
          <p:nvPr/>
        </p:nvSpPr>
        <p:spPr>
          <a:xfrm>
            <a:off x="612032" y="734019"/>
            <a:ext cx="11049771" cy="3416320"/>
          </a:xfrm>
          <a:prstGeom prst="rect">
            <a:avLst/>
          </a:prstGeom>
        </p:spPr>
        <p:txBody>
          <a:bodyPr wrap="square">
            <a:spAutoFit/>
          </a:bodyPr>
          <a:lstStyle/>
          <a:p>
            <a:endParaRPr lang="en-US" dirty="0"/>
          </a:p>
          <a:p>
            <a:endParaRPr lang="en-US" dirty="0"/>
          </a:p>
          <a:p>
            <a:r>
              <a:rPr lang="en-US" dirty="0"/>
              <a:t>General Section:</a:t>
            </a:r>
          </a:p>
          <a:p>
            <a:endParaRPr lang="en-US" dirty="0"/>
          </a:p>
          <a:p>
            <a:r>
              <a:rPr lang="en-US" b="1" dirty="0"/>
              <a:t>Project</a:t>
            </a:r>
            <a:r>
              <a:rPr lang="en-US" dirty="0"/>
              <a:t> -The field project will be auto-populated with the name of the project the user enters after the project item       is saved.</a:t>
            </a:r>
          </a:p>
          <a:p>
            <a:r>
              <a:rPr lang="en-US" b="1" dirty="0"/>
              <a:t>State </a:t>
            </a:r>
            <a:r>
              <a:rPr lang="en-US" dirty="0"/>
              <a:t>-Based on the maturity of the project, the state of the project can be transited accordingly.</a:t>
            </a:r>
          </a:p>
          <a:p>
            <a:r>
              <a:rPr lang="en-US" b="1" dirty="0"/>
              <a:t>Project Health </a:t>
            </a:r>
            <a:r>
              <a:rPr lang="en-US" dirty="0"/>
              <a:t>–Health of the project will be auto-calculated based on various factors that include Budget &amp; Efforts.</a:t>
            </a:r>
          </a:p>
          <a:p>
            <a:r>
              <a:rPr lang="en-US" b="1" dirty="0"/>
              <a:t>Risk</a:t>
            </a:r>
            <a:r>
              <a:rPr lang="en-US" dirty="0"/>
              <a:t> -Project Manager can select risk of the project as Low, Medium, High and Critical.</a:t>
            </a:r>
          </a:p>
          <a:p>
            <a:r>
              <a:rPr lang="en-US" b="1" dirty="0"/>
              <a:t>Planned Start Date </a:t>
            </a:r>
            <a:r>
              <a:rPr lang="en-US" dirty="0"/>
              <a:t>–The planned start date of the project.</a:t>
            </a:r>
          </a:p>
          <a:p>
            <a:r>
              <a:rPr lang="en-US" b="1" dirty="0"/>
              <a:t>Planned End Date </a:t>
            </a:r>
            <a:r>
              <a:rPr lang="en-US" dirty="0"/>
              <a:t>–The planned end date of the project.</a:t>
            </a:r>
          </a:p>
          <a:p>
            <a:r>
              <a:rPr lang="en-US" b="1" dirty="0"/>
              <a:t>Description</a:t>
            </a:r>
            <a:r>
              <a:rPr lang="en-US" dirty="0"/>
              <a:t>–Explanation regarding the project. </a:t>
            </a:r>
          </a:p>
        </p:txBody>
      </p:sp>
      <p:pic>
        <p:nvPicPr>
          <p:cNvPr id="4" name="Picture 3"/>
          <p:cNvPicPr>
            <a:picLocks noChangeAspect="1"/>
          </p:cNvPicPr>
          <p:nvPr/>
        </p:nvPicPr>
        <p:blipFill>
          <a:blip r:embed="rId2"/>
          <a:stretch>
            <a:fillRect/>
          </a:stretch>
        </p:blipFill>
        <p:spPr>
          <a:xfrm>
            <a:off x="2308787" y="4376298"/>
            <a:ext cx="8924925" cy="1819275"/>
          </a:xfrm>
          <a:prstGeom prst="rect">
            <a:avLst/>
          </a:prstGeom>
        </p:spPr>
      </p:pic>
    </p:spTree>
    <p:extLst>
      <p:ext uri="{BB962C8B-B14F-4D97-AF65-F5344CB8AC3E}">
        <p14:creationId xmlns:p14="http://schemas.microsoft.com/office/powerpoint/2010/main" val="7095772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Project Item – Details tab</a:t>
            </a:r>
          </a:p>
        </p:txBody>
      </p:sp>
      <p:sp>
        <p:nvSpPr>
          <p:cNvPr id="7" name="Rectangle 6"/>
          <p:cNvSpPr/>
          <p:nvPr/>
        </p:nvSpPr>
        <p:spPr>
          <a:xfrm>
            <a:off x="612032" y="734019"/>
            <a:ext cx="11049771" cy="3416320"/>
          </a:xfrm>
          <a:prstGeom prst="rect">
            <a:avLst/>
          </a:prstGeom>
        </p:spPr>
        <p:txBody>
          <a:bodyPr wrap="square">
            <a:spAutoFit/>
          </a:bodyPr>
          <a:lstStyle/>
          <a:p>
            <a:endParaRPr lang="en-US" dirty="0"/>
          </a:p>
          <a:p>
            <a:endParaRPr lang="en-US" dirty="0"/>
          </a:p>
          <a:p>
            <a:r>
              <a:rPr lang="en-US" dirty="0"/>
              <a:t>Project Details Section:</a:t>
            </a:r>
          </a:p>
          <a:p>
            <a:endParaRPr lang="en-US" dirty="0"/>
          </a:p>
          <a:p>
            <a:r>
              <a:rPr lang="en-US" b="1" dirty="0"/>
              <a:t>Customer</a:t>
            </a:r>
            <a:r>
              <a:rPr lang="en-US" dirty="0"/>
              <a:t>: Name of Customer</a:t>
            </a:r>
          </a:p>
          <a:p>
            <a:r>
              <a:rPr lang="en-US" b="1" dirty="0"/>
              <a:t>Customer Part Number</a:t>
            </a:r>
            <a:r>
              <a:rPr lang="en-US" dirty="0"/>
              <a:t>: Unique Part number</a:t>
            </a:r>
          </a:p>
          <a:p>
            <a:r>
              <a:rPr lang="en-US" b="1" dirty="0"/>
              <a:t>Inhouse Part Numbe</a:t>
            </a:r>
            <a:r>
              <a:rPr lang="en-US" dirty="0"/>
              <a:t>r: Varroc Internal Part Number</a:t>
            </a:r>
          </a:p>
          <a:p>
            <a:r>
              <a:rPr lang="en-US" b="1" dirty="0"/>
              <a:t>Functionality</a:t>
            </a:r>
            <a:r>
              <a:rPr lang="en-US" dirty="0"/>
              <a:t>: Select functionality of the project</a:t>
            </a:r>
          </a:p>
          <a:p>
            <a:r>
              <a:rPr lang="en-US" b="1" dirty="0"/>
              <a:t>Product Category</a:t>
            </a:r>
            <a:r>
              <a:rPr lang="en-US" dirty="0"/>
              <a:t>: Product of which the project is undertaken</a:t>
            </a:r>
          </a:p>
          <a:p>
            <a:r>
              <a:rPr lang="en-US" b="1" dirty="0"/>
              <a:t>Product Sub Category</a:t>
            </a:r>
            <a:r>
              <a:rPr lang="en-US" dirty="0"/>
              <a:t>: Sub category of product</a:t>
            </a:r>
          </a:p>
          <a:p>
            <a:r>
              <a:rPr lang="en-US" b="1" dirty="0"/>
              <a:t>Assigned User</a:t>
            </a:r>
            <a:r>
              <a:rPr lang="en-US" dirty="0"/>
              <a:t>: Responsible person for project management</a:t>
            </a:r>
          </a:p>
          <a:p>
            <a:r>
              <a:rPr lang="en-US" b="1" dirty="0"/>
              <a:t>Source Project</a:t>
            </a:r>
            <a:r>
              <a:rPr lang="en-US" dirty="0"/>
              <a:t>: Related SCCM project .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8223" y="3855993"/>
            <a:ext cx="5973009" cy="2381582"/>
          </a:xfrm>
          <a:prstGeom prst="rect">
            <a:avLst/>
          </a:prstGeom>
        </p:spPr>
      </p:pic>
    </p:spTree>
    <p:extLst>
      <p:ext uri="{BB962C8B-B14F-4D97-AF65-F5344CB8AC3E}">
        <p14:creationId xmlns:p14="http://schemas.microsoft.com/office/powerpoint/2010/main" val="28078988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Project Item – Teams tab</a:t>
            </a:r>
          </a:p>
        </p:txBody>
      </p:sp>
      <p:sp>
        <p:nvSpPr>
          <p:cNvPr id="7" name="Rectangle 6"/>
          <p:cNvSpPr/>
          <p:nvPr/>
        </p:nvSpPr>
        <p:spPr>
          <a:xfrm>
            <a:off x="612032" y="734019"/>
            <a:ext cx="11049771" cy="3970318"/>
          </a:xfrm>
          <a:prstGeom prst="rect">
            <a:avLst/>
          </a:prstGeom>
        </p:spPr>
        <p:txBody>
          <a:bodyPr wrap="square">
            <a:spAutoFit/>
          </a:bodyPr>
          <a:lstStyle/>
          <a:p>
            <a:endParaRPr lang="en-US" dirty="0"/>
          </a:p>
          <a:p>
            <a:endParaRPr lang="en-US" dirty="0"/>
          </a:p>
          <a:p>
            <a:pPr marL="285750" indent="-285750">
              <a:buFont typeface="Arial" panose="020B0604020202020204" pitchFamily="34" charset="0"/>
              <a:buChar char="•"/>
            </a:pPr>
            <a:r>
              <a:rPr lang="en-US" dirty="0"/>
              <a:t>Team tab enables Project managers to enter team members related to project with respect to the roles of the users for the project. </a:t>
            </a:r>
          </a:p>
          <a:p>
            <a:pPr marL="285750" indent="-285750">
              <a:buFont typeface="Arial" panose="020B0604020202020204" pitchFamily="34" charset="0"/>
              <a:buChar char="•"/>
            </a:pPr>
            <a:r>
              <a:rPr lang="en-US" dirty="0"/>
              <a:t>In each of the fields, Managers can select users from the list of users in the system.</a:t>
            </a:r>
          </a:p>
          <a:p>
            <a:pPr marL="285750" indent="-285750">
              <a:buFont typeface="Arial" panose="020B0604020202020204" pitchFamily="34" charset="0"/>
              <a:buChar char="•"/>
            </a:pPr>
            <a:r>
              <a:rPr lang="en-US" dirty="0"/>
              <a:t>Managers must ensure that they enter correct names according to the role of the project responsibilities.</a:t>
            </a:r>
          </a:p>
          <a:p>
            <a:pPr marL="285750" indent="-285750">
              <a:buFont typeface="Arial" panose="020B0604020202020204" pitchFamily="34" charset="0"/>
              <a:buChar char="•"/>
            </a:pPr>
            <a:r>
              <a:rPr lang="en-US" dirty="0">
                <a:solidFill>
                  <a:srgbClr val="FF0000"/>
                </a:solidFill>
              </a:rPr>
              <a:t>Mandatory Fields</a:t>
            </a:r>
            <a:r>
              <a:rPr lang="en-US" dirty="0"/>
              <a:t>: (Although all fields are not mandatory initially, Mangers are recommended to enter all users by roles).</a:t>
            </a:r>
          </a:p>
          <a:p>
            <a:r>
              <a:rPr lang="en-US" dirty="0"/>
              <a:t>     	Project Manager			Testing and Validation Engineer</a:t>
            </a:r>
          </a:p>
          <a:p>
            <a:r>
              <a:rPr lang="en-US" dirty="0"/>
              <a:t>	Change Implementer		Quality Engineer</a:t>
            </a:r>
          </a:p>
          <a:p>
            <a:r>
              <a:rPr lang="en-US" dirty="0"/>
              <a:t>	System Engineer </a:t>
            </a:r>
          </a:p>
          <a:p>
            <a:endParaRPr lang="en-US" dirty="0"/>
          </a:p>
          <a:p>
            <a:endParaRPr lang="en-US" dirty="0"/>
          </a:p>
          <a:p>
            <a:r>
              <a:rPr lang="en-US" dirty="0"/>
              <a:t>. </a:t>
            </a:r>
          </a:p>
        </p:txBody>
      </p:sp>
      <p:pic>
        <p:nvPicPr>
          <p:cNvPr id="3" name="Picture 2"/>
          <p:cNvPicPr>
            <a:picLocks noChangeAspect="1"/>
          </p:cNvPicPr>
          <p:nvPr/>
        </p:nvPicPr>
        <p:blipFill>
          <a:blip r:embed="rId2"/>
          <a:stretch>
            <a:fillRect/>
          </a:stretch>
        </p:blipFill>
        <p:spPr>
          <a:xfrm>
            <a:off x="3849346" y="3523592"/>
            <a:ext cx="6772275" cy="2694330"/>
          </a:xfrm>
          <a:prstGeom prst="rect">
            <a:avLst/>
          </a:prstGeom>
        </p:spPr>
      </p:pic>
    </p:spTree>
    <p:extLst>
      <p:ext uri="{BB962C8B-B14F-4D97-AF65-F5344CB8AC3E}">
        <p14:creationId xmlns:p14="http://schemas.microsoft.com/office/powerpoint/2010/main" val="34220959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Saving Project Item and Creation</a:t>
            </a:r>
          </a:p>
        </p:txBody>
      </p:sp>
      <p:sp>
        <p:nvSpPr>
          <p:cNvPr id="7" name="Rectangle 6"/>
          <p:cNvSpPr/>
          <p:nvPr/>
        </p:nvSpPr>
        <p:spPr>
          <a:xfrm>
            <a:off x="612032" y="734019"/>
            <a:ext cx="11049771" cy="6186309"/>
          </a:xfrm>
          <a:prstGeom prst="rect">
            <a:avLst/>
          </a:prstGeom>
        </p:spPr>
        <p:txBody>
          <a:bodyPr wrap="square">
            <a:spAutoFit/>
          </a:bodyPr>
          <a:lstStyle/>
          <a:p>
            <a:endParaRPr lang="en-US" dirty="0"/>
          </a:p>
          <a:p>
            <a:pPr marL="285750" indent="-285750">
              <a:buFont typeface="Arial" panose="020B0604020202020204" pitchFamily="34" charset="0"/>
              <a:buChar char="•"/>
            </a:pPr>
            <a:r>
              <a:rPr lang="en-US" dirty="0"/>
              <a:t>Once the basic and initial mandatory fields are completed, user can notice that a bright green symbol on the left hand top corner of the screen is displayed indicating that the user can now save his/her project.</a:t>
            </a:r>
          </a:p>
          <a:p>
            <a:endParaRPr lang="en-US" dirty="0"/>
          </a:p>
          <a:p>
            <a:pPr marL="285750" indent="-285750">
              <a:buFont typeface="Arial" panose="020B0604020202020204" pitchFamily="34" charset="0"/>
              <a:buChar char="•"/>
            </a:pPr>
            <a:r>
              <a:rPr lang="en-US" dirty="0"/>
              <a:t>Before filling mandatory fields				After  filling mandatory fields</a:t>
            </a:r>
          </a:p>
          <a:p>
            <a:endParaRPr lang="en-US" dirty="0"/>
          </a:p>
          <a:p>
            <a:endParaRPr lang="en-US" dirty="0"/>
          </a:p>
          <a:p>
            <a:endParaRPr lang="en-US" dirty="0"/>
          </a:p>
          <a:p>
            <a:endParaRPr lang="en-US" dirty="0"/>
          </a:p>
          <a:p>
            <a:endParaRPr lang="en-US" dirty="0"/>
          </a:p>
          <a:p>
            <a:pPr marL="285750" indent="-285750">
              <a:buFont typeface="Arial" panose="020B0604020202020204" pitchFamily="34" charset="0"/>
              <a:buChar char="•"/>
            </a:pPr>
            <a:r>
              <a:rPr lang="en-US" dirty="0"/>
              <a:t>Clicking Apply will create a project in the system. </a:t>
            </a:r>
          </a:p>
          <a:p>
            <a:pPr marL="285750" indent="-285750">
              <a:buFont typeface="Arial" panose="020B0604020202020204" pitchFamily="34" charset="0"/>
              <a:buChar char="•"/>
            </a:pPr>
            <a:r>
              <a:rPr lang="en-US" dirty="0"/>
              <a:t>Notice that Project field is auto-populated with the name entered in Name field once project is created. The Project is created with a ‘/’ (Forward Slash) which is the Integrity Configuration convention.</a:t>
            </a:r>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r>
              <a:rPr lang="en-US" dirty="0"/>
              <a:t>If this field is empty after the user saves this project, then the user has entered the name of the project wrongly without following the nomenclature(Naming Convention). In such case, user must create another project item. </a:t>
            </a:r>
          </a:p>
          <a:p>
            <a:pPr marL="285750" indent="-285750">
              <a:buFont typeface="Arial" panose="020B0604020202020204" pitchFamily="34" charset="0"/>
              <a:buChar char="•"/>
            </a:pPr>
            <a:endParaRPr lang="en-US" dirty="0"/>
          </a:p>
          <a:p>
            <a:endParaRPr lang="en-US" dirty="0"/>
          </a:p>
          <a:p>
            <a:endParaRPr lang="en-US" dirty="0"/>
          </a:p>
        </p:txBody>
      </p:sp>
      <p:pic>
        <p:nvPicPr>
          <p:cNvPr id="5" name="Picture 4"/>
          <p:cNvPicPr>
            <a:picLocks noChangeAspect="1"/>
          </p:cNvPicPr>
          <p:nvPr/>
        </p:nvPicPr>
        <p:blipFill>
          <a:blip r:embed="rId2"/>
          <a:stretch>
            <a:fillRect/>
          </a:stretch>
        </p:blipFill>
        <p:spPr>
          <a:xfrm>
            <a:off x="1187327" y="2195658"/>
            <a:ext cx="2924175" cy="1228725"/>
          </a:xfrm>
          <a:prstGeom prst="rect">
            <a:avLst/>
          </a:prstGeom>
        </p:spPr>
      </p:pic>
      <p:pic>
        <p:nvPicPr>
          <p:cNvPr id="6" name="Picture 5"/>
          <p:cNvPicPr>
            <a:picLocks noChangeAspect="1"/>
          </p:cNvPicPr>
          <p:nvPr/>
        </p:nvPicPr>
        <p:blipFill>
          <a:blip r:embed="rId3"/>
          <a:stretch>
            <a:fillRect/>
          </a:stretch>
        </p:blipFill>
        <p:spPr>
          <a:xfrm>
            <a:off x="6733443" y="2195658"/>
            <a:ext cx="3086100" cy="1476375"/>
          </a:xfrm>
          <a:prstGeom prst="rect">
            <a:avLst/>
          </a:prstGeom>
        </p:spPr>
      </p:pic>
      <p:pic>
        <p:nvPicPr>
          <p:cNvPr id="8" name="Picture 7"/>
          <p:cNvPicPr>
            <a:picLocks noChangeAspect="1"/>
          </p:cNvPicPr>
          <p:nvPr/>
        </p:nvPicPr>
        <p:blipFill>
          <a:blip r:embed="rId4"/>
          <a:stretch>
            <a:fillRect/>
          </a:stretch>
        </p:blipFill>
        <p:spPr>
          <a:xfrm>
            <a:off x="4320540" y="4781830"/>
            <a:ext cx="2819400" cy="514350"/>
          </a:xfrm>
          <a:prstGeom prst="rect">
            <a:avLst/>
          </a:prstGeom>
        </p:spPr>
      </p:pic>
    </p:spTree>
    <p:extLst>
      <p:ext uri="{BB962C8B-B14F-4D97-AF65-F5344CB8AC3E}">
        <p14:creationId xmlns:p14="http://schemas.microsoft.com/office/powerpoint/2010/main" val="33829479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Defining the Project </a:t>
            </a:r>
          </a:p>
        </p:txBody>
      </p:sp>
      <p:sp>
        <p:nvSpPr>
          <p:cNvPr id="7" name="Rectangle 6"/>
          <p:cNvSpPr/>
          <p:nvPr/>
        </p:nvSpPr>
        <p:spPr>
          <a:xfrm>
            <a:off x="612032" y="734019"/>
            <a:ext cx="11049771" cy="3693319"/>
          </a:xfrm>
          <a:prstGeom prst="rect">
            <a:avLst/>
          </a:prstGeom>
        </p:spPr>
        <p:txBody>
          <a:bodyPr wrap="square">
            <a:spAutoFit/>
          </a:bodyPr>
          <a:lstStyle/>
          <a:p>
            <a:endParaRPr lang="en-US" dirty="0"/>
          </a:p>
          <a:p>
            <a:r>
              <a:rPr lang="en-US" dirty="0"/>
              <a:t>Even though the project is created, Managers are recommended to Mature the project further to “Defined” state.</a:t>
            </a:r>
          </a:p>
          <a:p>
            <a:r>
              <a:rPr lang="en-US" dirty="0"/>
              <a:t>This is included in the project creation as defining a project will help explain significance of the project in much more detail.</a:t>
            </a:r>
          </a:p>
          <a:p>
            <a:endParaRPr lang="en-US" dirty="0"/>
          </a:p>
          <a:p>
            <a:r>
              <a:rPr lang="en-US" dirty="0"/>
              <a:t>Steps to Mature project to Defined state:</a:t>
            </a:r>
          </a:p>
          <a:p>
            <a:endParaRPr lang="en-US" dirty="0"/>
          </a:p>
          <a:p>
            <a:endParaRPr lang="en-US" dirty="0"/>
          </a:p>
          <a:p>
            <a:pPr marL="285750" indent="-285750">
              <a:buFont typeface="Arial" panose="020B0604020202020204" pitchFamily="34" charset="0"/>
              <a:buChar char="•"/>
            </a:pPr>
            <a:r>
              <a:rPr lang="en-US" dirty="0"/>
              <a:t> Go to Details Tab of the Project Item.</a:t>
            </a:r>
          </a:p>
          <a:p>
            <a:pPr marL="285750" indent="-285750">
              <a:buFont typeface="Arial" panose="020B0604020202020204" pitchFamily="34" charset="0"/>
              <a:buChar char="•"/>
            </a:pPr>
            <a:r>
              <a:rPr lang="en-US" dirty="0"/>
              <a:t> Select state as “Defined”. Some fields will become mandatory and will be marked as Red.</a:t>
            </a:r>
          </a:p>
          <a:p>
            <a:pPr marL="285750" indent="-285750">
              <a:buFont typeface="Arial" panose="020B0604020202020204" pitchFamily="34" charset="0"/>
              <a:buChar char="•"/>
            </a:pPr>
            <a:r>
              <a:rPr lang="en-US" dirty="0"/>
              <a:t> Ensure all Project Details are filled. </a:t>
            </a:r>
          </a:p>
          <a:p>
            <a:pPr marL="285750" indent="-285750">
              <a:buFont typeface="Arial" panose="020B0604020202020204" pitchFamily="34" charset="0"/>
              <a:buChar char="•"/>
            </a:pPr>
            <a:r>
              <a:rPr lang="en-US" dirty="0"/>
              <a:t> Go to </a:t>
            </a:r>
            <a:r>
              <a:rPr lang="en-US" dirty="0" err="1"/>
              <a:t>Milestonetab</a:t>
            </a:r>
            <a:r>
              <a:rPr lang="en-US" dirty="0"/>
              <a:t>. Here Manager needs to enter the milestones for the project with all the dates and deliverable   details related to the milestones. </a:t>
            </a:r>
          </a:p>
        </p:txBody>
      </p:sp>
    </p:spTree>
    <p:extLst>
      <p:ext uri="{BB962C8B-B14F-4D97-AF65-F5344CB8AC3E}">
        <p14:creationId xmlns:p14="http://schemas.microsoft.com/office/powerpoint/2010/main" val="1407958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Project Item –Milestone Tab</a:t>
            </a:r>
          </a:p>
        </p:txBody>
      </p:sp>
      <p:sp>
        <p:nvSpPr>
          <p:cNvPr id="7" name="Rectangle 6"/>
          <p:cNvSpPr/>
          <p:nvPr/>
        </p:nvSpPr>
        <p:spPr>
          <a:xfrm>
            <a:off x="612032" y="734019"/>
            <a:ext cx="11049771" cy="1200329"/>
          </a:xfrm>
          <a:prstGeom prst="rect">
            <a:avLst/>
          </a:prstGeom>
        </p:spPr>
        <p:txBody>
          <a:bodyPr wrap="square">
            <a:spAutoFit/>
          </a:bodyPr>
          <a:lstStyle/>
          <a:p>
            <a:endParaRPr lang="en-US" dirty="0"/>
          </a:p>
          <a:p>
            <a:r>
              <a:rPr lang="en-US" dirty="0"/>
              <a:t>To make the project “Defined”, Milestones need to added to Project Item in Milestones Tab.</a:t>
            </a:r>
          </a:p>
          <a:p>
            <a:endParaRPr lang="en-US" dirty="0"/>
          </a:p>
          <a:p>
            <a:r>
              <a:rPr lang="en-US" dirty="0"/>
              <a:t>Milestones become mandatory when user tries to make transition from Proposed to Defined state.</a:t>
            </a:r>
          </a:p>
        </p:txBody>
      </p:sp>
      <p:pic>
        <p:nvPicPr>
          <p:cNvPr id="4" name="Picture 3"/>
          <p:cNvPicPr>
            <a:picLocks noChangeAspect="1"/>
          </p:cNvPicPr>
          <p:nvPr/>
        </p:nvPicPr>
        <p:blipFill>
          <a:blip r:embed="rId2"/>
          <a:stretch>
            <a:fillRect/>
          </a:stretch>
        </p:blipFill>
        <p:spPr>
          <a:xfrm>
            <a:off x="1664091" y="2446679"/>
            <a:ext cx="6781800" cy="3343275"/>
          </a:xfrm>
          <a:prstGeom prst="rect">
            <a:avLst/>
          </a:prstGeom>
        </p:spPr>
      </p:pic>
    </p:spTree>
    <p:extLst>
      <p:ext uri="{BB962C8B-B14F-4D97-AF65-F5344CB8AC3E}">
        <p14:creationId xmlns:p14="http://schemas.microsoft.com/office/powerpoint/2010/main" val="24048727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Project Item –Relationships Tab</a:t>
            </a:r>
          </a:p>
        </p:txBody>
      </p:sp>
      <p:sp>
        <p:nvSpPr>
          <p:cNvPr id="7" name="Rectangle 6"/>
          <p:cNvSpPr/>
          <p:nvPr/>
        </p:nvSpPr>
        <p:spPr>
          <a:xfrm>
            <a:off x="612032" y="719951"/>
            <a:ext cx="11049771" cy="4801314"/>
          </a:xfrm>
          <a:prstGeom prst="rect">
            <a:avLst/>
          </a:prstGeom>
        </p:spPr>
        <p:txBody>
          <a:bodyPr wrap="square">
            <a:spAutoFit/>
          </a:bodyPr>
          <a:lstStyle/>
          <a:p>
            <a:endParaRPr lang="en-US" dirty="0"/>
          </a:p>
          <a:p>
            <a:endParaRPr lang="en-US" dirty="0"/>
          </a:p>
          <a:p>
            <a:endParaRPr lang="en-US" dirty="0"/>
          </a:p>
          <a:p>
            <a:r>
              <a:rPr lang="en-US" dirty="0"/>
              <a:t>Relationship fields:</a:t>
            </a:r>
          </a:p>
          <a:p>
            <a:endParaRPr lang="en-US" dirty="0"/>
          </a:p>
          <a:p>
            <a:r>
              <a:rPr lang="en-US" b="1" dirty="0"/>
              <a:t>Documented By</a:t>
            </a:r>
            <a:r>
              <a:rPr lang="en-US" dirty="0"/>
              <a:t>: All Project related documents will be auto-populated here.</a:t>
            </a:r>
          </a:p>
          <a:p>
            <a:r>
              <a:rPr lang="en-US" b="1" dirty="0"/>
              <a:t>Strategies</a:t>
            </a:r>
            <a:r>
              <a:rPr lang="en-US" dirty="0"/>
              <a:t>: All Project related Strategies will be auto-populated here.</a:t>
            </a:r>
          </a:p>
          <a:p>
            <a:r>
              <a:rPr lang="en-US" b="1" dirty="0"/>
              <a:t>Test Plans</a:t>
            </a:r>
            <a:r>
              <a:rPr lang="en-US" dirty="0"/>
              <a:t>: All Project related Test Plans will be auto-populated here.</a:t>
            </a:r>
          </a:p>
          <a:p>
            <a:r>
              <a:rPr lang="en-US" b="1" dirty="0"/>
              <a:t>Product Release Plans</a:t>
            </a:r>
            <a:r>
              <a:rPr lang="en-US" dirty="0"/>
              <a:t>: All Project related Product Release Plans will be auto-populated here.</a:t>
            </a:r>
          </a:p>
          <a:p>
            <a:r>
              <a:rPr lang="en-US" b="1" dirty="0"/>
              <a:t>Change Requests</a:t>
            </a:r>
            <a:r>
              <a:rPr lang="en-US" dirty="0"/>
              <a:t>: All Change Requests related to project will be auto-populated here.</a:t>
            </a:r>
          </a:p>
          <a:p>
            <a:r>
              <a:rPr lang="en-US" b="1" dirty="0"/>
              <a:t>Parent Of/ Child Of</a:t>
            </a:r>
            <a:r>
              <a:rPr lang="en-US" dirty="0"/>
              <a:t>: It mentions parent or child project if any such hierarchy is followed in the system.</a:t>
            </a:r>
          </a:p>
          <a:p>
            <a:r>
              <a:rPr lang="en-US" b="1" dirty="0"/>
              <a:t>Work Items</a:t>
            </a:r>
            <a:r>
              <a:rPr lang="en-US" dirty="0"/>
              <a:t>: All work items related to project are displayed here.</a:t>
            </a:r>
          </a:p>
          <a:p>
            <a:r>
              <a:rPr lang="en-US" b="1" dirty="0"/>
              <a:t>Defects</a:t>
            </a:r>
            <a:r>
              <a:rPr lang="en-US" dirty="0"/>
              <a:t>: All defects related to project are displayed here.</a:t>
            </a:r>
          </a:p>
          <a:p>
            <a:r>
              <a:rPr lang="en-US" b="1" dirty="0"/>
              <a:t>Risk Analysis Report</a:t>
            </a:r>
            <a:r>
              <a:rPr lang="en-US" dirty="0"/>
              <a:t>: Manager needs to create a risk analysis report before the project state is made defined.</a:t>
            </a:r>
          </a:p>
          <a:p>
            <a:endParaRPr lang="en-US" dirty="0"/>
          </a:p>
          <a:p>
            <a:r>
              <a:rPr lang="en-US" dirty="0"/>
              <a:t>All the remaining objects related to projects will be available in Relationship tab and it will display all related objects for the project. </a:t>
            </a:r>
          </a:p>
        </p:txBody>
      </p:sp>
    </p:spTree>
    <p:extLst>
      <p:ext uri="{BB962C8B-B14F-4D97-AF65-F5344CB8AC3E}">
        <p14:creationId xmlns:p14="http://schemas.microsoft.com/office/powerpoint/2010/main" val="4943340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Defining the Project</a:t>
            </a:r>
          </a:p>
        </p:txBody>
      </p:sp>
      <p:sp>
        <p:nvSpPr>
          <p:cNvPr id="7" name="Rectangle 6"/>
          <p:cNvSpPr/>
          <p:nvPr/>
        </p:nvSpPr>
        <p:spPr>
          <a:xfrm>
            <a:off x="612032" y="734019"/>
            <a:ext cx="11049771" cy="3139321"/>
          </a:xfrm>
          <a:prstGeom prst="rect">
            <a:avLst/>
          </a:prstGeom>
        </p:spPr>
        <p:txBody>
          <a:bodyPr wrap="square">
            <a:spAutoFit/>
          </a:bodyPr>
          <a:lstStyle/>
          <a:p>
            <a:endParaRPr lang="en-US" dirty="0"/>
          </a:p>
          <a:p>
            <a:endParaRPr lang="en-US" dirty="0"/>
          </a:p>
          <a:p>
            <a:r>
              <a:rPr lang="en-US" dirty="0"/>
              <a:t>•Once all mandatory fields for are filled completely, the Project Manager can successfully change his/her project to “Defined” state.</a:t>
            </a:r>
          </a:p>
          <a:p>
            <a:endParaRPr lang="en-US" dirty="0"/>
          </a:p>
          <a:p>
            <a:r>
              <a:rPr lang="en-US" dirty="0"/>
              <a:t>•Changing the state to Defined is only possible if Risk Analysis Document is attached in the Relationship tab.</a:t>
            </a:r>
          </a:p>
          <a:p>
            <a:endParaRPr lang="en-US" dirty="0"/>
          </a:p>
          <a:p>
            <a:r>
              <a:rPr lang="en-US" dirty="0"/>
              <a:t>•All mandatory fields including Milestones and other information must be filled to successfully save the Project. </a:t>
            </a:r>
          </a:p>
          <a:p>
            <a:endParaRPr lang="en-US" dirty="0"/>
          </a:p>
          <a:p>
            <a:endParaRPr lang="en-US" dirty="0"/>
          </a:p>
          <a:p>
            <a:endParaRPr lang="en-US" dirty="0"/>
          </a:p>
        </p:txBody>
      </p:sp>
      <p:pic>
        <p:nvPicPr>
          <p:cNvPr id="4" name="Picture 3"/>
          <p:cNvPicPr>
            <a:picLocks noChangeAspect="1"/>
          </p:cNvPicPr>
          <p:nvPr/>
        </p:nvPicPr>
        <p:blipFill>
          <a:blip r:embed="rId2"/>
          <a:stretch>
            <a:fillRect/>
          </a:stretch>
        </p:blipFill>
        <p:spPr>
          <a:xfrm>
            <a:off x="612032" y="3873340"/>
            <a:ext cx="10456236" cy="1933031"/>
          </a:xfrm>
          <a:prstGeom prst="rect">
            <a:avLst/>
          </a:prstGeom>
        </p:spPr>
      </p:pic>
    </p:spTree>
    <p:extLst>
      <p:ext uri="{BB962C8B-B14F-4D97-AF65-F5344CB8AC3E}">
        <p14:creationId xmlns:p14="http://schemas.microsoft.com/office/powerpoint/2010/main" val="1540513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AE2331-9E5D-4002-95F6-18F5524470BF}"/>
              </a:ext>
            </a:extLst>
          </p:cNvPr>
          <p:cNvSpPr/>
          <p:nvPr/>
        </p:nvSpPr>
        <p:spPr>
          <a:xfrm>
            <a:off x="0" y="13251"/>
            <a:ext cx="12192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endParaRPr lang="en-US" sz="1351" dirty="0">
              <a:solidFill>
                <a:srgbClr val="FFFFFF"/>
              </a:solidFill>
              <a:latin typeface="Calibri"/>
            </a:endParaRPr>
          </a:p>
        </p:txBody>
      </p:sp>
      <p:sp>
        <p:nvSpPr>
          <p:cNvPr id="33" name="Rectangle 32"/>
          <p:cNvSpPr/>
          <p:nvPr/>
        </p:nvSpPr>
        <p:spPr>
          <a:xfrm>
            <a:off x="0" y="13251"/>
            <a:ext cx="12192000" cy="6858000"/>
          </a:xfrm>
          <a:prstGeom prst="rect">
            <a:avLst/>
          </a:prstGeom>
          <a:solidFill>
            <a:schemeClr val="tx1">
              <a:lumMod val="95000"/>
              <a:lumOff val="5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2">
              <a:defRPr/>
            </a:pPr>
            <a:endParaRPr lang="en-US" sz="1351" dirty="0">
              <a:solidFill>
                <a:srgbClr val="FFFFFF"/>
              </a:solidFill>
              <a:latin typeface="Calibri"/>
            </a:endParaRPr>
          </a:p>
        </p:txBody>
      </p:sp>
      <p:sp>
        <p:nvSpPr>
          <p:cNvPr id="20" name="Text Placeholder 4">
            <a:extLst>
              <a:ext uri="{FF2B5EF4-FFF2-40B4-BE49-F238E27FC236}">
                <a16:creationId xmlns:a16="http://schemas.microsoft.com/office/drawing/2014/main" id="{28C5F6E7-2567-4C4E-8288-40A604867A15}"/>
              </a:ext>
            </a:extLst>
          </p:cNvPr>
          <p:cNvSpPr txBox="1">
            <a:spLocks/>
          </p:cNvSpPr>
          <p:nvPr/>
        </p:nvSpPr>
        <p:spPr>
          <a:xfrm>
            <a:off x="1948732" y="2160104"/>
            <a:ext cx="8785530" cy="993914"/>
          </a:xfrm>
          <a:prstGeom prst="parallelogram">
            <a:avLst/>
          </a:prstGeom>
          <a:solidFill>
            <a:srgbClr val="1F1A17">
              <a:alpha val="69804"/>
            </a:srgbClr>
          </a:solidFill>
        </p:spPr>
        <p:txBody>
          <a:bodyPr vert="horz" lIns="48000" tIns="96000" rIns="48000" bIns="48000" rtlCol="0" anchor="ctr">
            <a:noAutofit/>
          </a:bodyPr>
          <a:lstStyle>
            <a:defPPr>
              <a:defRPr lang="en-US"/>
            </a:defPPr>
            <a:lvl1pPr marR="0" lvl="0" indent="0" defTabSz="1625358" fontAlgn="auto">
              <a:lnSpc>
                <a:spcPct val="90000"/>
              </a:lnSpc>
              <a:spcBef>
                <a:spcPts val="1777"/>
              </a:spcBef>
              <a:spcAft>
                <a:spcPts val="0"/>
              </a:spcAft>
              <a:buClrTx/>
              <a:buSzTx/>
              <a:buFontTx/>
              <a:buNone/>
              <a:tabLst>
                <a:tab pos="428927" algn="l"/>
              </a:tabLst>
              <a:defRPr kumimoji="0" sz="1867" b="1" i="0" u="none" strike="noStrike" cap="none" spc="0" normalizeH="0" baseline="0">
                <a:ln>
                  <a:noFill/>
                </a:ln>
                <a:solidFill>
                  <a:srgbClr val="FFCC29"/>
                </a:solidFill>
                <a:effectLst/>
                <a:uLnTx/>
                <a:uFillTx/>
                <a:latin typeface="Calibri"/>
              </a:defRPr>
            </a:lvl1pPr>
            <a:lvl2pPr marL="685750" marR="0" indent="-228584" defTabSz="914332" fontAlgn="auto">
              <a:lnSpc>
                <a:spcPct val="90000"/>
              </a:lnSpc>
              <a:spcBef>
                <a:spcPts val="500"/>
              </a:spcBef>
              <a:spcAft>
                <a:spcPts val="0"/>
              </a:spcAft>
              <a:buClrTx/>
              <a:buSzTx/>
              <a:buFontTx/>
              <a:buBlip>
                <a:blip r:embed="rId3"/>
              </a:buBlip>
              <a:tabLst>
                <a:tab pos="241289" algn="l"/>
              </a:tabLst>
              <a:defRPr sz="2400">
                <a:solidFill>
                  <a:schemeClr val="tx1">
                    <a:lumMod val="75000"/>
                    <a:lumOff val="25000"/>
                  </a:schemeClr>
                </a:solidFill>
              </a:defRPr>
            </a:lvl2pPr>
            <a:lvl3pPr marL="1142914" marR="0" indent="-228584" defTabSz="914332" fontAlgn="auto">
              <a:lnSpc>
                <a:spcPct val="90000"/>
              </a:lnSpc>
              <a:spcBef>
                <a:spcPts val="500"/>
              </a:spcBef>
              <a:spcAft>
                <a:spcPts val="0"/>
              </a:spcAft>
              <a:buClrTx/>
              <a:buSzTx/>
              <a:buFontTx/>
              <a:buBlip>
                <a:blip r:embed="rId3"/>
              </a:buBlip>
              <a:tabLst>
                <a:tab pos="241289" algn="l"/>
              </a:tabLst>
              <a:defRPr sz="2000">
                <a:solidFill>
                  <a:schemeClr val="tx1">
                    <a:lumMod val="75000"/>
                    <a:lumOff val="25000"/>
                  </a:schemeClr>
                </a:solidFill>
              </a:defRPr>
            </a:lvl3pPr>
            <a:lvl4pPr marL="1600080"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4pPr>
            <a:lvl5pPr marL="2057247"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5pPr>
            <a:lvl6pPr marL="2514412" indent="-228584" defTabSz="914332">
              <a:lnSpc>
                <a:spcPct val="90000"/>
              </a:lnSpc>
              <a:spcBef>
                <a:spcPts val="500"/>
              </a:spcBef>
              <a:buFont typeface="Arial"/>
              <a:buChar char="•"/>
              <a:defRPr sz="1867"/>
            </a:lvl6pPr>
            <a:lvl7pPr marL="2971578" indent="-228584" defTabSz="914332">
              <a:lnSpc>
                <a:spcPct val="90000"/>
              </a:lnSpc>
              <a:spcBef>
                <a:spcPts val="500"/>
              </a:spcBef>
              <a:buFont typeface="Arial"/>
              <a:buChar char="•"/>
              <a:defRPr sz="1867"/>
            </a:lvl7pPr>
            <a:lvl8pPr marL="3428744" indent="-228584" defTabSz="914332">
              <a:lnSpc>
                <a:spcPct val="90000"/>
              </a:lnSpc>
              <a:spcBef>
                <a:spcPts val="500"/>
              </a:spcBef>
              <a:buFont typeface="Arial"/>
              <a:buChar char="•"/>
              <a:defRPr sz="1867"/>
            </a:lvl8pPr>
            <a:lvl9pPr marL="3885910" indent="-228584" defTabSz="914332">
              <a:lnSpc>
                <a:spcPct val="90000"/>
              </a:lnSpc>
              <a:spcBef>
                <a:spcPts val="500"/>
              </a:spcBef>
              <a:buFont typeface="Arial"/>
              <a:buChar char="•"/>
              <a:defRPr sz="1867"/>
            </a:lvl9pPr>
          </a:lstStyle>
          <a:p>
            <a:r>
              <a:rPr lang="en-US" sz="2400" dirty="0"/>
              <a:t>Creating Risk Analysis Document </a:t>
            </a:r>
          </a:p>
          <a:p>
            <a:r>
              <a:rPr lang="en-US" sz="2400" dirty="0"/>
              <a:t>		(Create a Document) </a:t>
            </a:r>
          </a:p>
        </p:txBody>
      </p:sp>
      <p:sp>
        <p:nvSpPr>
          <p:cNvPr id="24" name="Text Placeholder 6">
            <a:extLst>
              <a:ext uri="{FF2B5EF4-FFF2-40B4-BE49-F238E27FC236}">
                <a16:creationId xmlns:a16="http://schemas.microsoft.com/office/drawing/2014/main" id="{999EE348-DCFE-48B2-824C-148A5F3249BB}"/>
              </a:ext>
            </a:extLst>
          </p:cNvPr>
          <p:cNvSpPr txBox="1">
            <a:spLocks/>
          </p:cNvSpPr>
          <p:nvPr/>
        </p:nvSpPr>
        <p:spPr>
          <a:xfrm>
            <a:off x="231775" y="174172"/>
            <a:ext cx="4760913" cy="784225"/>
          </a:xfrm>
          <a:prstGeom prst="rect">
            <a:avLst/>
          </a:prstGeom>
        </p:spPr>
        <p:txBody>
          <a:bodyPr/>
          <a:lstStyle>
            <a:lvl1pPr marL="228589" marR="0" indent="-228589" algn="l" defTabSz="914354" rtl="0" eaLnBrk="1" fontAlgn="auto" latinLnBrk="0" hangingPunct="1">
              <a:lnSpc>
                <a:spcPct val="90000"/>
              </a:lnSpc>
              <a:spcBef>
                <a:spcPts val="1000"/>
              </a:spcBef>
              <a:spcAft>
                <a:spcPts val="0"/>
              </a:spcAft>
              <a:buClrTx/>
              <a:buSzTx/>
              <a:buFontTx/>
              <a:buBlip>
                <a:blip r:embed="rId3"/>
              </a:buBlip>
              <a:tabLst>
                <a:tab pos="241294" algn="l"/>
              </a:tabLst>
              <a:defRPr lang="en-US" sz="2800" kern="1200" smtClean="0">
                <a:solidFill>
                  <a:schemeClr val="tx1">
                    <a:lumMod val="75000"/>
                    <a:lumOff val="25000"/>
                  </a:schemeClr>
                </a:solidFill>
                <a:latin typeface="+mn-lt"/>
                <a:ea typeface="+mn-ea"/>
                <a:cs typeface="+mn-cs"/>
              </a:defRPr>
            </a:lvl1pPr>
            <a:lvl2pPr marL="685766"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400" kern="1200" smtClean="0">
                <a:solidFill>
                  <a:schemeClr val="tx1">
                    <a:lumMod val="75000"/>
                    <a:lumOff val="25000"/>
                  </a:schemeClr>
                </a:solidFill>
                <a:latin typeface="+mn-lt"/>
                <a:ea typeface="+mn-ea"/>
                <a:cs typeface="+mn-cs"/>
              </a:defRPr>
            </a:lvl2pPr>
            <a:lvl3pPr marL="1142942"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000" kern="1200" smtClean="0">
                <a:solidFill>
                  <a:schemeClr val="tx1">
                    <a:lumMod val="75000"/>
                    <a:lumOff val="25000"/>
                  </a:schemeClr>
                </a:solidFill>
                <a:latin typeface="+mn-lt"/>
                <a:ea typeface="+mn-ea"/>
                <a:cs typeface="+mn-cs"/>
              </a:defRPr>
            </a:lvl3pPr>
            <a:lvl4pPr marL="1600120"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smtClean="0">
                <a:solidFill>
                  <a:schemeClr val="tx1">
                    <a:lumMod val="75000"/>
                    <a:lumOff val="25000"/>
                  </a:schemeClr>
                </a:solidFill>
                <a:latin typeface="+mn-lt"/>
                <a:ea typeface="+mn-ea"/>
                <a:cs typeface="+mn-cs"/>
              </a:defRPr>
            </a:lvl4pPr>
            <a:lvl5pPr marL="2057298"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a:solidFill>
                  <a:schemeClr val="tx1">
                    <a:lumMod val="75000"/>
                    <a:lumOff val="25000"/>
                  </a:schemeClr>
                </a:solidFill>
                <a:latin typeface="+mn-lt"/>
                <a:ea typeface="+mn-ea"/>
                <a:cs typeface="+mn-cs"/>
              </a:defRPr>
            </a:lvl5pPr>
            <a:lvl6pPr marL="2514474"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9pPr>
          </a:lstStyle>
          <a:p>
            <a:pPr marL="0" indent="0">
              <a:buNone/>
            </a:pPr>
            <a:endParaRPr lang="en-US" sz="3200" dirty="0">
              <a:solidFill>
                <a:schemeClr val="bg1"/>
              </a:solidFill>
            </a:endParaRPr>
          </a:p>
        </p:txBody>
      </p:sp>
    </p:spTree>
    <p:extLst>
      <p:ext uri="{BB962C8B-B14F-4D97-AF65-F5344CB8AC3E}">
        <p14:creationId xmlns:p14="http://schemas.microsoft.com/office/powerpoint/2010/main" val="41018328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a:t>
            </a:r>
          </a:p>
        </p:txBody>
      </p:sp>
      <p:sp>
        <p:nvSpPr>
          <p:cNvPr id="7" name="Rectangle 6"/>
          <p:cNvSpPr/>
          <p:nvPr/>
        </p:nvSpPr>
        <p:spPr>
          <a:xfrm>
            <a:off x="4664765" y="734019"/>
            <a:ext cx="6997038" cy="923330"/>
          </a:xfrm>
          <a:prstGeom prst="rect">
            <a:avLst/>
          </a:prstGeom>
        </p:spPr>
        <p:txBody>
          <a:bodyPr wrap="square">
            <a:spAutoFit/>
          </a:bodyPr>
          <a:lstStyle/>
          <a:p>
            <a:endParaRPr lang="en-US" dirty="0"/>
          </a:p>
          <a:p>
            <a:r>
              <a:rPr lang="en-US" dirty="0"/>
              <a:t>Select Create Document menu to create a new document in Integrity. </a:t>
            </a:r>
          </a:p>
          <a:p>
            <a:endParaRPr lang="en-US" dirty="0"/>
          </a:p>
        </p:txBody>
      </p:sp>
      <p:sp>
        <p:nvSpPr>
          <p:cNvPr id="9" name="Rectangle 8"/>
          <p:cNvSpPr/>
          <p:nvPr/>
        </p:nvSpPr>
        <p:spPr>
          <a:xfrm>
            <a:off x="393896" y="1268990"/>
            <a:ext cx="4135901"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a:t>
            </a:r>
            <a:r>
              <a:rPr lang="en-US" b="1" dirty="0"/>
              <a:t>.Creating Risk Analysis document </a:t>
            </a:r>
          </a:p>
          <a:p>
            <a:r>
              <a:rPr lang="en-US" dirty="0"/>
              <a:t>2.Select Appropriate Project</a:t>
            </a:r>
          </a:p>
          <a:p>
            <a:r>
              <a:rPr lang="en-US" dirty="0"/>
              <a:t>3.Editing data in Item view</a:t>
            </a:r>
          </a:p>
          <a:p>
            <a:r>
              <a:rPr lang="en-US" dirty="0"/>
              <a:t>4.Applying changes in created  document</a:t>
            </a:r>
          </a:p>
          <a:p>
            <a:r>
              <a:rPr lang="en-US" dirty="0"/>
              <a:t>5.Document view</a:t>
            </a:r>
          </a:p>
          <a:p>
            <a:r>
              <a:rPr lang="en-US" dirty="0"/>
              <a:t>6.Creating/Editing contents </a:t>
            </a:r>
          </a:p>
          <a:p>
            <a:endParaRPr lang="en-US" dirty="0"/>
          </a:p>
          <a:p>
            <a:endParaRPr lang="en-US" dirty="0"/>
          </a:p>
          <a:p>
            <a:endParaRPr lang="en-US" dirty="0"/>
          </a:p>
        </p:txBody>
      </p:sp>
      <p:pic>
        <p:nvPicPr>
          <p:cNvPr id="4" name="Picture 3"/>
          <p:cNvPicPr>
            <a:picLocks noChangeAspect="1"/>
          </p:cNvPicPr>
          <p:nvPr/>
        </p:nvPicPr>
        <p:blipFill>
          <a:blip r:embed="rId2"/>
          <a:stretch>
            <a:fillRect/>
          </a:stretch>
        </p:blipFill>
        <p:spPr>
          <a:xfrm>
            <a:off x="5141595" y="1841842"/>
            <a:ext cx="5507648" cy="2997444"/>
          </a:xfrm>
          <a:prstGeom prst="rect">
            <a:avLst/>
          </a:prstGeom>
        </p:spPr>
      </p:pic>
    </p:spTree>
    <p:extLst>
      <p:ext uri="{BB962C8B-B14F-4D97-AF65-F5344CB8AC3E}">
        <p14:creationId xmlns:p14="http://schemas.microsoft.com/office/powerpoint/2010/main" val="2555054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a:t>
            </a:r>
          </a:p>
        </p:txBody>
      </p:sp>
      <p:sp>
        <p:nvSpPr>
          <p:cNvPr id="7" name="Rectangle 6"/>
          <p:cNvSpPr/>
          <p:nvPr/>
        </p:nvSpPr>
        <p:spPr>
          <a:xfrm>
            <a:off x="4664765" y="734019"/>
            <a:ext cx="6997038" cy="1477328"/>
          </a:xfrm>
          <a:prstGeom prst="rect">
            <a:avLst/>
          </a:prstGeom>
        </p:spPr>
        <p:txBody>
          <a:bodyPr wrap="square">
            <a:spAutoFit/>
          </a:bodyPr>
          <a:lstStyle/>
          <a:p>
            <a:endParaRPr lang="en-US" dirty="0"/>
          </a:p>
          <a:p>
            <a:r>
              <a:rPr lang="en-US" dirty="0"/>
              <a:t>Select a project under which document needs to be created then Click “OK” button.</a:t>
            </a:r>
          </a:p>
          <a:p>
            <a:endParaRPr lang="en-US" dirty="0"/>
          </a:p>
          <a:p>
            <a:endParaRPr lang="en-US" dirty="0"/>
          </a:p>
        </p:txBody>
      </p:sp>
      <p:sp>
        <p:nvSpPr>
          <p:cNvPr id="9" name="Rectangle 8"/>
          <p:cNvSpPr/>
          <p:nvPr/>
        </p:nvSpPr>
        <p:spPr>
          <a:xfrm>
            <a:off x="393896" y="1268990"/>
            <a:ext cx="4135901"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a:t>
            </a:r>
            <a:r>
              <a:rPr lang="en-US" b="1" dirty="0"/>
              <a:t>.</a:t>
            </a:r>
            <a:r>
              <a:rPr lang="en-US" dirty="0"/>
              <a:t>Creating Risk Analysis document </a:t>
            </a:r>
          </a:p>
          <a:p>
            <a:r>
              <a:rPr lang="en-US" dirty="0"/>
              <a:t>2.</a:t>
            </a:r>
            <a:r>
              <a:rPr lang="en-US" b="1" dirty="0"/>
              <a:t>Select Appropriate Project</a:t>
            </a:r>
          </a:p>
          <a:p>
            <a:r>
              <a:rPr lang="en-US" dirty="0"/>
              <a:t>3.Editing data in Item view</a:t>
            </a:r>
          </a:p>
          <a:p>
            <a:r>
              <a:rPr lang="en-US" dirty="0"/>
              <a:t>4.Applying changes in created  document</a:t>
            </a:r>
          </a:p>
          <a:p>
            <a:r>
              <a:rPr lang="en-US" dirty="0"/>
              <a:t>5.Document view</a:t>
            </a:r>
          </a:p>
          <a:p>
            <a:r>
              <a:rPr lang="en-US" dirty="0"/>
              <a:t>6.Creating/Editing contents </a:t>
            </a:r>
          </a:p>
          <a:p>
            <a:endParaRPr lang="en-US" dirty="0"/>
          </a:p>
          <a:p>
            <a:endParaRPr lang="en-US" dirty="0"/>
          </a:p>
          <a:p>
            <a:endParaRPr lang="en-US" dirty="0"/>
          </a:p>
        </p:txBody>
      </p:sp>
      <p:pic>
        <p:nvPicPr>
          <p:cNvPr id="3" name="Picture 2"/>
          <p:cNvPicPr>
            <a:picLocks noChangeAspect="1"/>
          </p:cNvPicPr>
          <p:nvPr/>
        </p:nvPicPr>
        <p:blipFill>
          <a:blip r:embed="rId2"/>
          <a:stretch>
            <a:fillRect/>
          </a:stretch>
        </p:blipFill>
        <p:spPr>
          <a:xfrm>
            <a:off x="5797721" y="1781377"/>
            <a:ext cx="4893725" cy="3705023"/>
          </a:xfrm>
          <a:prstGeom prst="rect">
            <a:avLst/>
          </a:prstGeom>
        </p:spPr>
      </p:pic>
    </p:spTree>
    <p:extLst>
      <p:ext uri="{BB962C8B-B14F-4D97-AF65-F5344CB8AC3E}">
        <p14:creationId xmlns:p14="http://schemas.microsoft.com/office/powerpoint/2010/main" val="35548775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a:t>
            </a:r>
          </a:p>
        </p:txBody>
      </p:sp>
      <p:sp>
        <p:nvSpPr>
          <p:cNvPr id="7" name="Rectangle 6"/>
          <p:cNvSpPr/>
          <p:nvPr/>
        </p:nvSpPr>
        <p:spPr>
          <a:xfrm>
            <a:off x="4664765" y="734019"/>
            <a:ext cx="6997038" cy="1477328"/>
          </a:xfrm>
          <a:prstGeom prst="rect">
            <a:avLst/>
          </a:prstGeom>
        </p:spPr>
        <p:txBody>
          <a:bodyPr wrap="square">
            <a:spAutoFit/>
          </a:bodyPr>
          <a:lstStyle/>
          <a:p>
            <a:endParaRPr lang="en-US" dirty="0"/>
          </a:p>
          <a:p>
            <a:r>
              <a:rPr lang="en-US" dirty="0"/>
              <a:t>Document item view will open up. Enter or select correct values for the fields present. Project field will be populated as per selection in step 2. </a:t>
            </a:r>
          </a:p>
          <a:p>
            <a:endParaRPr lang="en-US" dirty="0"/>
          </a:p>
          <a:p>
            <a:endParaRPr lang="en-US" dirty="0"/>
          </a:p>
        </p:txBody>
      </p:sp>
      <p:sp>
        <p:nvSpPr>
          <p:cNvPr id="9" name="Rectangle 8"/>
          <p:cNvSpPr/>
          <p:nvPr/>
        </p:nvSpPr>
        <p:spPr>
          <a:xfrm>
            <a:off x="393896" y="1268990"/>
            <a:ext cx="4135901"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a:t>
            </a:r>
            <a:r>
              <a:rPr lang="en-US" b="1" dirty="0"/>
              <a:t>.</a:t>
            </a:r>
            <a:r>
              <a:rPr lang="en-US" dirty="0"/>
              <a:t>Creating Risk Analysis document </a:t>
            </a:r>
          </a:p>
          <a:p>
            <a:r>
              <a:rPr lang="en-US" dirty="0"/>
              <a:t>2.Select Appropriate Project</a:t>
            </a:r>
          </a:p>
          <a:p>
            <a:r>
              <a:rPr lang="en-US" dirty="0"/>
              <a:t>3.</a:t>
            </a:r>
            <a:r>
              <a:rPr lang="en-US" b="1" dirty="0"/>
              <a:t>Editing data in Item view</a:t>
            </a:r>
          </a:p>
          <a:p>
            <a:r>
              <a:rPr lang="en-US" dirty="0"/>
              <a:t>4.Applying changes in created  document</a:t>
            </a:r>
          </a:p>
          <a:p>
            <a:r>
              <a:rPr lang="en-US" dirty="0"/>
              <a:t>5.Document view</a:t>
            </a:r>
          </a:p>
          <a:p>
            <a:r>
              <a:rPr lang="en-US" dirty="0"/>
              <a:t>6.Creating/Editing contents </a:t>
            </a:r>
          </a:p>
          <a:p>
            <a:endParaRPr lang="en-US" dirty="0"/>
          </a:p>
          <a:p>
            <a:endParaRPr lang="en-US" dirty="0"/>
          </a:p>
          <a:p>
            <a:endParaRPr lang="en-US" dirty="0"/>
          </a:p>
        </p:txBody>
      </p:sp>
      <p:pic>
        <p:nvPicPr>
          <p:cNvPr id="4" name="Picture 3"/>
          <p:cNvPicPr>
            <a:picLocks noChangeAspect="1"/>
          </p:cNvPicPr>
          <p:nvPr/>
        </p:nvPicPr>
        <p:blipFill>
          <a:blip r:embed="rId2"/>
          <a:stretch>
            <a:fillRect/>
          </a:stretch>
        </p:blipFill>
        <p:spPr>
          <a:xfrm>
            <a:off x="4870353" y="1676602"/>
            <a:ext cx="5715000" cy="3514725"/>
          </a:xfrm>
          <a:prstGeom prst="rect">
            <a:avLst/>
          </a:prstGeom>
        </p:spPr>
      </p:pic>
      <p:sp>
        <p:nvSpPr>
          <p:cNvPr id="5" name="TextBox 4"/>
          <p:cNvSpPr txBox="1"/>
          <p:nvPr/>
        </p:nvSpPr>
        <p:spPr>
          <a:xfrm>
            <a:off x="4870353" y="5598941"/>
            <a:ext cx="6890238" cy="923330"/>
          </a:xfrm>
          <a:prstGeom prst="rect">
            <a:avLst/>
          </a:prstGeom>
          <a:noFill/>
        </p:spPr>
        <p:txBody>
          <a:bodyPr wrap="square" rtlCol="0">
            <a:spAutoFit/>
          </a:bodyPr>
          <a:lstStyle/>
          <a:p>
            <a:endParaRPr lang="en-US" dirty="0"/>
          </a:p>
          <a:p>
            <a:r>
              <a:rPr lang="en-US" dirty="0"/>
              <a:t>Field marked red are mandatory fields and must be filled.</a:t>
            </a:r>
          </a:p>
          <a:p>
            <a:endParaRPr lang="en-US" dirty="0"/>
          </a:p>
        </p:txBody>
      </p:sp>
    </p:spTree>
    <p:extLst>
      <p:ext uri="{BB962C8B-B14F-4D97-AF65-F5344CB8AC3E}">
        <p14:creationId xmlns:p14="http://schemas.microsoft.com/office/powerpoint/2010/main" val="9084195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a:t>
            </a:r>
          </a:p>
        </p:txBody>
      </p:sp>
      <p:sp>
        <p:nvSpPr>
          <p:cNvPr id="7" name="Rectangle 6"/>
          <p:cNvSpPr/>
          <p:nvPr/>
        </p:nvSpPr>
        <p:spPr>
          <a:xfrm>
            <a:off x="4664765" y="734019"/>
            <a:ext cx="6997038" cy="4524315"/>
          </a:xfrm>
          <a:prstGeom prst="rect">
            <a:avLst/>
          </a:prstGeom>
        </p:spPr>
        <p:txBody>
          <a:bodyPr wrap="square">
            <a:spAutoFit/>
          </a:bodyPr>
          <a:lstStyle/>
          <a:p>
            <a:endParaRPr lang="en-US" dirty="0"/>
          </a:p>
          <a:p>
            <a:endParaRPr lang="en-US" dirty="0"/>
          </a:p>
          <a:p>
            <a:endParaRPr lang="en-US" dirty="0"/>
          </a:p>
          <a:p>
            <a:endParaRPr lang="en-US" dirty="0"/>
          </a:p>
          <a:p>
            <a:endParaRPr lang="en-US" dirty="0"/>
          </a:p>
          <a:p>
            <a:pPr marL="285750" indent="-285750">
              <a:buFont typeface="Arial" panose="020B0604020202020204" pitchFamily="34" charset="0"/>
              <a:buChar char="•"/>
            </a:pPr>
            <a:r>
              <a:rPr lang="en-US" dirty="0"/>
              <a:t>All other fields visible in the Document Item view must be filled.</a:t>
            </a:r>
          </a:p>
          <a:p>
            <a:pPr marL="285750" indent="-285750">
              <a:buFont typeface="Arial" panose="020B0604020202020204" pitchFamily="34" charset="0"/>
              <a:buChar char="•"/>
            </a:pPr>
            <a:r>
              <a:rPr lang="en-US" dirty="0"/>
              <a:t>Fields that are not editable will be editable depending on the state of the document it is in. </a:t>
            </a:r>
          </a:p>
          <a:p>
            <a:pPr marL="285750" indent="-285750">
              <a:buFont typeface="Arial" panose="020B0604020202020204" pitchFamily="34" charset="0"/>
              <a:buChar char="•"/>
            </a:pPr>
            <a:r>
              <a:rPr lang="en-US" dirty="0"/>
              <a:t>Clicking on “Apply” will keep the user on the same screen while clicking on “OK” will open the document view window.</a:t>
            </a:r>
          </a:p>
          <a:p>
            <a:pPr marL="285750" indent="-285750">
              <a:buFont typeface="Arial" panose="020B0604020202020204" pitchFamily="34" charset="0"/>
              <a:buChar char="•"/>
            </a:pPr>
            <a:r>
              <a:rPr lang="en-US" dirty="0"/>
              <a:t>Clicking “Apply” will save the document. Alternately “Ctrl + S” can also be used. </a:t>
            </a:r>
          </a:p>
          <a:p>
            <a:pPr marL="285750" indent="-285750">
              <a:buFont typeface="Arial" panose="020B0604020202020204" pitchFamily="34" charset="0"/>
              <a:buChar char="•"/>
            </a:pPr>
            <a:r>
              <a:rPr lang="en-US" dirty="0"/>
              <a:t>After all fields are filled, Click “OK” button to create the document.</a:t>
            </a:r>
          </a:p>
          <a:p>
            <a:r>
              <a:rPr lang="en-US" dirty="0"/>
              <a:t> </a:t>
            </a:r>
          </a:p>
          <a:p>
            <a:endParaRPr lang="en-US" dirty="0"/>
          </a:p>
          <a:p>
            <a:endParaRPr lang="en-US" dirty="0"/>
          </a:p>
        </p:txBody>
      </p:sp>
      <p:sp>
        <p:nvSpPr>
          <p:cNvPr id="9" name="Rectangle 8"/>
          <p:cNvSpPr/>
          <p:nvPr/>
        </p:nvSpPr>
        <p:spPr>
          <a:xfrm>
            <a:off x="393896" y="1268990"/>
            <a:ext cx="4135901"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a:t>
            </a:r>
            <a:r>
              <a:rPr lang="en-US" b="1" dirty="0"/>
              <a:t>.</a:t>
            </a:r>
            <a:r>
              <a:rPr lang="en-US" dirty="0"/>
              <a:t>Creating Risk Analysis document </a:t>
            </a:r>
          </a:p>
          <a:p>
            <a:r>
              <a:rPr lang="en-US" dirty="0"/>
              <a:t>2.Select Appropriate Project</a:t>
            </a:r>
          </a:p>
          <a:p>
            <a:r>
              <a:rPr lang="en-US" dirty="0"/>
              <a:t>3.Editing data in Item view</a:t>
            </a:r>
          </a:p>
          <a:p>
            <a:r>
              <a:rPr lang="en-US" dirty="0"/>
              <a:t>4.</a:t>
            </a:r>
            <a:r>
              <a:rPr lang="en-US" b="1" dirty="0"/>
              <a:t>Applying changes in created  document</a:t>
            </a:r>
          </a:p>
          <a:p>
            <a:r>
              <a:rPr lang="en-US" dirty="0"/>
              <a:t>5.Document view</a:t>
            </a:r>
          </a:p>
          <a:p>
            <a:r>
              <a:rPr lang="en-US" dirty="0"/>
              <a:t>6.Creating/Editing contents </a:t>
            </a:r>
          </a:p>
          <a:p>
            <a:endParaRPr lang="en-US" dirty="0"/>
          </a:p>
          <a:p>
            <a:endParaRPr lang="en-US" dirty="0"/>
          </a:p>
          <a:p>
            <a:endParaRPr lang="en-US" dirty="0"/>
          </a:p>
        </p:txBody>
      </p:sp>
    </p:spTree>
    <p:extLst>
      <p:ext uri="{BB962C8B-B14F-4D97-AF65-F5344CB8AC3E}">
        <p14:creationId xmlns:p14="http://schemas.microsoft.com/office/powerpoint/2010/main" val="14483234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a:t>
            </a:r>
          </a:p>
        </p:txBody>
      </p:sp>
      <p:sp>
        <p:nvSpPr>
          <p:cNvPr id="7" name="Rectangle 6"/>
          <p:cNvSpPr/>
          <p:nvPr/>
        </p:nvSpPr>
        <p:spPr>
          <a:xfrm>
            <a:off x="4664765" y="734019"/>
            <a:ext cx="6997038" cy="2031325"/>
          </a:xfrm>
          <a:prstGeom prst="rect">
            <a:avLst/>
          </a:prstGeom>
        </p:spPr>
        <p:txBody>
          <a:bodyPr wrap="square">
            <a:spAutoFit/>
          </a:bodyPr>
          <a:lstStyle/>
          <a:p>
            <a:endParaRPr lang="en-US" dirty="0"/>
          </a:p>
          <a:p>
            <a:endParaRPr lang="en-US" dirty="0"/>
          </a:p>
          <a:p>
            <a:pPr marL="285750" indent="-285750">
              <a:buFont typeface="Arial" panose="020B0604020202020204" pitchFamily="34" charset="0"/>
              <a:buChar char="•"/>
            </a:pPr>
            <a:r>
              <a:rPr lang="en-US" dirty="0"/>
              <a:t>As soon as you click “OK” in item view, you will be navigated to “Document View Window”.</a:t>
            </a:r>
          </a:p>
          <a:p>
            <a:r>
              <a:rPr lang="en-US" dirty="0"/>
              <a:t> </a:t>
            </a:r>
          </a:p>
          <a:p>
            <a:endParaRPr lang="en-US" dirty="0"/>
          </a:p>
          <a:p>
            <a:endParaRPr lang="en-US" dirty="0"/>
          </a:p>
        </p:txBody>
      </p:sp>
      <p:sp>
        <p:nvSpPr>
          <p:cNvPr id="9" name="Rectangle 8"/>
          <p:cNvSpPr/>
          <p:nvPr/>
        </p:nvSpPr>
        <p:spPr>
          <a:xfrm>
            <a:off x="393896" y="1268990"/>
            <a:ext cx="4135901"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a:t>
            </a:r>
            <a:r>
              <a:rPr lang="en-US" b="1" dirty="0"/>
              <a:t>.</a:t>
            </a:r>
            <a:r>
              <a:rPr lang="en-US" dirty="0"/>
              <a:t>Creating Risk Analysis document </a:t>
            </a:r>
          </a:p>
          <a:p>
            <a:r>
              <a:rPr lang="en-US" dirty="0"/>
              <a:t>2.Select Appropriate Project</a:t>
            </a:r>
          </a:p>
          <a:p>
            <a:r>
              <a:rPr lang="en-US" dirty="0"/>
              <a:t>3.Editing data in Item view</a:t>
            </a:r>
            <a:endParaRPr lang="en-US" b="1" dirty="0"/>
          </a:p>
          <a:p>
            <a:r>
              <a:rPr lang="en-US" dirty="0"/>
              <a:t>4.Applying changes in created  document</a:t>
            </a:r>
          </a:p>
          <a:p>
            <a:r>
              <a:rPr lang="en-US" dirty="0"/>
              <a:t>5.</a:t>
            </a:r>
            <a:r>
              <a:rPr lang="en-US" b="1" dirty="0"/>
              <a:t>Document view</a:t>
            </a:r>
          </a:p>
          <a:p>
            <a:r>
              <a:rPr lang="en-US" dirty="0"/>
              <a:t>6.Creating/Editing contents </a:t>
            </a:r>
          </a:p>
          <a:p>
            <a:endParaRPr lang="en-US" dirty="0"/>
          </a:p>
          <a:p>
            <a:endParaRPr lang="en-US" dirty="0"/>
          </a:p>
          <a:p>
            <a:endParaRPr lang="en-US" dirty="0"/>
          </a:p>
        </p:txBody>
      </p:sp>
      <p:pic>
        <p:nvPicPr>
          <p:cNvPr id="3" name="Picture 2"/>
          <p:cNvPicPr>
            <a:picLocks noChangeAspect="1"/>
          </p:cNvPicPr>
          <p:nvPr/>
        </p:nvPicPr>
        <p:blipFill>
          <a:blip r:embed="rId2"/>
          <a:stretch>
            <a:fillRect/>
          </a:stretch>
        </p:blipFill>
        <p:spPr>
          <a:xfrm>
            <a:off x="4886684" y="2090940"/>
            <a:ext cx="6553200" cy="2686050"/>
          </a:xfrm>
          <a:prstGeom prst="rect">
            <a:avLst/>
          </a:prstGeom>
        </p:spPr>
      </p:pic>
      <p:sp>
        <p:nvSpPr>
          <p:cNvPr id="4" name="TextBox 3"/>
          <p:cNvSpPr txBox="1"/>
          <p:nvPr/>
        </p:nvSpPr>
        <p:spPr>
          <a:xfrm>
            <a:off x="4664765" y="5472332"/>
            <a:ext cx="7326467" cy="1200329"/>
          </a:xfrm>
          <a:prstGeom prst="rect">
            <a:avLst/>
          </a:prstGeom>
          <a:noFill/>
        </p:spPr>
        <p:txBody>
          <a:bodyPr wrap="square" rtlCol="0">
            <a:spAutoFit/>
          </a:bodyPr>
          <a:lstStyle/>
          <a:p>
            <a:endParaRPr lang="en-US" dirty="0"/>
          </a:p>
          <a:p>
            <a:pPr marL="285750" indent="-285750">
              <a:buFont typeface="Arial" panose="020B0604020202020204" pitchFamily="34" charset="0"/>
              <a:buChar char="•"/>
            </a:pPr>
            <a:r>
              <a:rPr lang="en-US" dirty="0"/>
              <a:t>If the document is newly created, the user must populate it with content in the line items provided.</a:t>
            </a:r>
          </a:p>
          <a:p>
            <a:endParaRPr lang="en-US" dirty="0"/>
          </a:p>
        </p:txBody>
      </p:sp>
    </p:spTree>
    <p:extLst>
      <p:ext uri="{BB962C8B-B14F-4D97-AF65-F5344CB8AC3E}">
        <p14:creationId xmlns:p14="http://schemas.microsoft.com/office/powerpoint/2010/main" val="1958694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Documents</a:t>
            </a:r>
          </a:p>
        </p:txBody>
      </p:sp>
      <p:sp>
        <p:nvSpPr>
          <p:cNvPr id="7" name="Rectangle 6"/>
          <p:cNvSpPr/>
          <p:nvPr/>
        </p:nvSpPr>
        <p:spPr>
          <a:xfrm>
            <a:off x="4664765" y="734019"/>
            <a:ext cx="6997038" cy="2308324"/>
          </a:xfrm>
          <a:prstGeom prst="rect">
            <a:avLst/>
          </a:prstGeom>
        </p:spPr>
        <p:txBody>
          <a:bodyPr wrap="square">
            <a:spAutoFit/>
          </a:bodyPr>
          <a:lstStyle/>
          <a:p>
            <a:endParaRPr lang="en-US" dirty="0"/>
          </a:p>
          <a:p>
            <a:endParaRPr lang="en-US" dirty="0"/>
          </a:p>
          <a:p>
            <a:r>
              <a:rPr lang="en-US" dirty="0"/>
              <a:t>User can create content by clicking on the line item and type the title in the text and then right click on it and select “Edit Item”. Fill required details. Click on “OK”.</a:t>
            </a:r>
          </a:p>
          <a:p>
            <a:r>
              <a:rPr lang="en-US" dirty="0"/>
              <a:t> </a:t>
            </a:r>
          </a:p>
          <a:p>
            <a:endParaRPr lang="en-US" dirty="0"/>
          </a:p>
          <a:p>
            <a:endParaRPr lang="en-US" dirty="0"/>
          </a:p>
        </p:txBody>
      </p:sp>
      <p:sp>
        <p:nvSpPr>
          <p:cNvPr id="9" name="Rectangle 8"/>
          <p:cNvSpPr/>
          <p:nvPr/>
        </p:nvSpPr>
        <p:spPr>
          <a:xfrm>
            <a:off x="393896" y="1268990"/>
            <a:ext cx="4135901" cy="43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Steps:</a:t>
            </a:r>
          </a:p>
          <a:p>
            <a:endParaRPr lang="en-US" dirty="0"/>
          </a:p>
          <a:p>
            <a:r>
              <a:rPr lang="en-US" dirty="0"/>
              <a:t>1</a:t>
            </a:r>
            <a:r>
              <a:rPr lang="en-US" b="1" dirty="0"/>
              <a:t>.</a:t>
            </a:r>
            <a:r>
              <a:rPr lang="en-US" dirty="0"/>
              <a:t>Creating Risk Analysis document </a:t>
            </a:r>
          </a:p>
          <a:p>
            <a:r>
              <a:rPr lang="en-US" dirty="0"/>
              <a:t>2.Select Appropriate Project</a:t>
            </a:r>
          </a:p>
          <a:p>
            <a:r>
              <a:rPr lang="en-US" dirty="0"/>
              <a:t>3.Editing data in Item view</a:t>
            </a:r>
          </a:p>
          <a:p>
            <a:r>
              <a:rPr lang="en-US" dirty="0"/>
              <a:t>4.Applying changes in created  document</a:t>
            </a:r>
          </a:p>
          <a:p>
            <a:r>
              <a:rPr lang="en-US" dirty="0"/>
              <a:t>5.Document view</a:t>
            </a:r>
          </a:p>
          <a:p>
            <a:r>
              <a:rPr lang="en-US" dirty="0"/>
              <a:t>6.</a:t>
            </a:r>
            <a:r>
              <a:rPr lang="en-US" b="1" dirty="0"/>
              <a:t>Creating/Editing contents </a:t>
            </a:r>
          </a:p>
          <a:p>
            <a:endParaRPr lang="en-US" dirty="0"/>
          </a:p>
          <a:p>
            <a:endParaRPr lang="en-US" dirty="0"/>
          </a:p>
          <a:p>
            <a:endParaRPr lang="en-US" dirty="0"/>
          </a:p>
        </p:txBody>
      </p:sp>
      <p:pic>
        <p:nvPicPr>
          <p:cNvPr id="3" name="Picture 2"/>
          <p:cNvPicPr>
            <a:picLocks noChangeAspect="1"/>
          </p:cNvPicPr>
          <p:nvPr/>
        </p:nvPicPr>
        <p:blipFill>
          <a:blip r:embed="rId2"/>
          <a:stretch>
            <a:fillRect/>
          </a:stretch>
        </p:blipFill>
        <p:spPr>
          <a:xfrm>
            <a:off x="4824471" y="2756828"/>
            <a:ext cx="6972300" cy="3257550"/>
          </a:xfrm>
          <a:prstGeom prst="rect">
            <a:avLst/>
          </a:prstGeom>
        </p:spPr>
      </p:pic>
    </p:spTree>
    <p:extLst>
      <p:ext uri="{BB962C8B-B14F-4D97-AF65-F5344CB8AC3E}">
        <p14:creationId xmlns:p14="http://schemas.microsoft.com/office/powerpoint/2010/main" val="41663884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Risk Analysis Document –Details Tab </a:t>
            </a:r>
          </a:p>
        </p:txBody>
      </p:sp>
      <p:sp>
        <p:nvSpPr>
          <p:cNvPr id="7" name="Rectangle 6"/>
          <p:cNvSpPr/>
          <p:nvPr/>
        </p:nvSpPr>
        <p:spPr>
          <a:xfrm>
            <a:off x="612032" y="734019"/>
            <a:ext cx="11049771" cy="3416320"/>
          </a:xfrm>
          <a:prstGeom prst="rect">
            <a:avLst/>
          </a:prstGeom>
        </p:spPr>
        <p:txBody>
          <a:bodyPr wrap="square">
            <a:spAutoFit/>
          </a:bodyPr>
          <a:lstStyle/>
          <a:p>
            <a:endParaRPr lang="en-US" dirty="0"/>
          </a:p>
          <a:p>
            <a:r>
              <a:rPr lang="en-US" dirty="0"/>
              <a:t>The Details tab contains the following Sections:</a:t>
            </a:r>
          </a:p>
          <a:p>
            <a:endParaRPr lang="en-US" dirty="0"/>
          </a:p>
          <a:p>
            <a:pPr marL="285750" indent="-285750">
              <a:buFont typeface="Arial" panose="020B0604020202020204" pitchFamily="34" charset="0"/>
              <a:buChar char="•"/>
            </a:pPr>
            <a:r>
              <a:rPr lang="en-US" dirty="0"/>
              <a:t>General Section:</a:t>
            </a:r>
          </a:p>
          <a:p>
            <a:pPr marL="742950" lvl="1" indent="-285750">
              <a:buFont typeface="Arial" panose="020B0604020202020204" pitchFamily="34" charset="0"/>
              <a:buChar char="•"/>
            </a:pPr>
            <a:r>
              <a:rPr lang="en-US" b="1" dirty="0"/>
              <a:t>Short Title</a:t>
            </a:r>
            <a:r>
              <a:rPr lang="en-US" dirty="0"/>
              <a:t>: Short Title for Risk Analysis Document </a:t>
            </a:r>
          </a:p>
          <a:p>
            <a:pPr marL="285750" indent="-285750">
              <a:buFont typeface="Arial" panose="020B0604020202020204" pitchFamily="34" charset="0"/>
              <a:buChar char="•"/>
            </a:pPr>
            <a:r>
              <a:rPr lang="en-US" dirty="0"/>
              <a:t>Details Section:</a:t>
            </a:r>
          </a:p>
          <a:p>
            <a:pPr marL="742950" lvl="1" indent="-285750">
              <a:buFont typeface="Arial" panose="020B0604020202020204" pitchFamily="34" charset="0"/>
              <a:buChar char="•"/>
            </a:pPr>
            <a:r>
              <a:rPr lang="en-US" b="1" dirty="0"/>
              <a:t>Project</a:t>
            </a:r>
            <a:r>
              <a:rPr lang="en-US" dirty="0"/>
              <a:t>: Project for which the Product Release Plan will take place</a:t>
            </a:r>
          </a:p>
          <a:p>
            <a:pPr marL="742950" lvl="1" indent="-285750">
              <a:buFont typeface="Arial" panose="020B0604020202020204" pitchFamily="34" charset="0"/>
              <a:buChar char="•"/>
            </a:pPr>
            <a:r>
              <a:rPr lang="en-US" b="1" dirty="0"/>
              <a:t>Document Author</a:t>
            </a:r>
            <a:r>
              <a:rPr lang="en-US" dirty="0"/>
              <a:t>: User responsible for the Risk</a:t>
            </a:r>
          </a:p>
          <a:p>
            <a:pPr marL="742950" lvl="1" indent="-285750">
              <a:buFont typeface="Arial" panose="020B0604020202020204" pitchFamily="34" charset="0"/>
              <a:buChar char="•"/>
            </a:pPr>
            <a:r>
              <a:rPr lang="en-US" b="1" dirty="0"/>
              <a:t>Assigned Reviewer</a:t>
            </a:r>
            <a:r>
              <a:rPr lang="en-US" dirty="0"/>
              <a:t>: User responsible to monitor and examine the Risk Document</a:t>
            </a:r>
          </a:p>
          <a:p>
            <a:pPr marL="742950" lvl="1" indent="-285750">
              <a:buFont typeface="Arial" panose="020B0604020202020204" pitchFamily="34" charset="0"/>
              <a:buChar char="•"/>
            </a:pPr>
            <a:r>
              <a:rPr lang="en-US" b="1" dirty="0"/>
              <a:t>State</a:t>
            </a:r>
            <a:r>
              <a:rPr lang="en-US" dirty="0"/>
              <a:t>: State of the item based on workflow. (Default state selected will be “Open”)</a:t>
            </a:r>
          </a:p>
          <a:p>
            <a:pPr marL="742950" lvl="1" indent="-285750">
              <a:buFont typeface="Arial" panose="020B0604020202020204" pitchFamily="34" charset="0"/>
              <a:buChar char="•"/>
            </a:pPr>
            <a:r>
              <a:rPr lang="en-US" b="1" dirty="0"/>
              <a:t>Comments</a:t>
            </a:r>
            <a:r>
              <a:rPr lang="en-US" dirty="0"/>
              <a:t>: Reviewer must enter comments in this field before closing the document.</a:t>
            </a:r>
          </a:p>
          <a:p>
            <a:endParaRPr lang="en-US" dirty="0"/>
          </a:p>
        </p:txBody>
      </p:sp>
    </p:spTree>
    <p:extLst>
      <p:ext uri="{BB962C8B-B14F-4D97-AF65-F5344CB8AC3E}">
        <p14:creationId xmlns:p14="http://schemas.microsoft.com/office/powerpoint/2010/main" val="28984631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Risk Analysis Document –Relationships Tab </a:t>
            </a:r>
          </a:p>
        </p:txBody>
      </p:sp>
      <p:sp>
        <p:nvSpPr>
          <p:cNvPr id="7" name="Rectangle 6"/>
          <p:cNvSpPr/>
          <p:nvPr/>
        </p:nvSpPr>
        <p:spPr>
          <a:xfrm>
            <a:off x="436098" y="734019"/>
            <a:ext cx="11225705" cy="2031325"/>
          </a:xfrm>
          <a:prstGeom prst="rect">
            <a:avLst/>
          </a:prstGeom>
        </p:spPr>
        <p:txBody>
          <a:bodyPr wrap="square">
            <a:spAutoFit/>
          </a:bodyPr>
          <a:lstStyle/>
          <a:p>
            <a:endParaRPr lang="en-US" dirty="0"/>
          </a:p>
          <a:p>
            <a:r>
              <a:rPr lang="en-US" dirty="0"/>
              <a:t>Relationship tab contains the following relations of Risk Analysis Document:</a:t>
            </a:r>
          </a:p>
          <a:p>
            <a:endParaRPr lang="en-US" dirty="0"/>
          </a:p>
          <a:p>
            <a:r>
              <a:rPr lang="en-US" dirty="0"/>
              <a:t>₋</a:t>
            </a:r>
            <a:r>
              <a:rPr lang="en-US" b="1" dirty="0"/>
              <a:t>Documents</a:t>
            </a:r>
            <a:r>
              <a:rPr lang="en-US" dirty="0"/>
              <a:t>–Contains Name of Project</a:t>
            </a:r>
          </a:p>
          <a:p>
            <a:r>
              <a:rPr lang="en-US" dirty="0"/>
              <a:t>₋</a:t>
            </a:r>
            <a:r>
              <a:rPr lang="en-US" b="1" dirty="0"/>
              <a:t>Discussions</a:t>
            </a:r>
            <a:r>
              <a:rPr lang="en-US" dirty="0"/>
              <a:t>–Related Discussion items are attached here</a:t>
            </a:r>
          </a:p>
          <a:p>
            <a:r>
              <a:rPr lang="en-US" dirty="0"/>
              <a:t>₋</a:t>
            </a:r>
            <a:r>
              <a:rPr lang="en-US" b="1" dirty="0"/>
              <a:t>Risk Analysis for</a:t>
            </a:r>
            <a:r>
              <a:rPr lang="en-US" dirty="0"/>
              <a:t> –User can attach related object which is project for which the Risk Analysis is carried out.</a:t>
            </a:r>
          </a:p>
          <a:p>
            <a:endParaRPr lang="en-US" dirty="0"/>
          </a:p>
        </p:txBody>
      </p:sp>
      <p:pic>
        <p:nvPicPr>
          <p:cNvPr id="3" name="Picture 2"/>
          <p:cNvPicPr>
            <a:picLocks noChangeAspect="1"/>
          </p:cNvPicPr>
          <p:nvPr/>
        </p:nvPicPr>
        <p:blipFill>
          <a:blip r:embed="rId2"/>
          <a:stretch>
            <a:fillRect/>
          </a:stretch>
        </p:blipFill>
        <p:spPr>
          <a:xfrm>
            <a:off x="612032" y="3171605"/>
            <a:ext cx="7534275" cy="2371725"/>
          </a:xfrm>
          <a:prstGeom prst="rect">
            <a:avLst/>
          </a:prstGeom>
        </p:spPr>
      </p:pic>
    </p:spTree>
    <p:extLst>
      <p:ext uri="{BB962C8B-B14F-4D97-AF65-F5344CB8AC3E}">
        <p14:creationId xmlns:p14="http://schemas.microsoft.com/office/powerpoint/2010/main" val="25143245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Risk Analysis Document–Attachments Tab </a:t>
            </a:r>
          </a:p>
        </p:txBody>
      </p:sp>
      <p:sp>
        <p:nvSpPr>
          <p:cNvPr id="7" name="Rectangle 6"/>
          <p:cNvSpPr/>
          <p:nvPr/>
        </p:nvSpPr>
        <p:spPr>
          <a:xfrm>
            <a:off x="612032" y="734019"/>
            <a:ext cx="11049771" cy="1477328"/>
          </a:xfrm>
          <a:prstGeom prst="rect">
            <a:avLst/>
          </a:prstGeom>
        </p:spPr>
        <p:txBody>
          <a:bodyPr wrap="square">
            <a:spAutoFit/>
          </a:bodyPr>
          <a:lstStyle/>
          <a:p>
            <a:endParaRPr lang="en-US" dirty="0"/>
          </a:p>
          <a:p>
            <a:endParaRPr lang="en-US" dirty="0"/>
          </a:p>
          <a:p>
            <a:r>
              <a:rPr lang="en-US" dirty="0"/>
              <a:t>Attachment tab avails users to add project/document related files to the Risk Analysis Document:</a:t>
            </a:r>
          </a:p>
          <a:p>
            <a:endParaRPr lang="en-US" dirty="0"/>
          </a:p>
          <a:p>
            <a:r>
              <a:rPr lang="en-US" dirty="0"/>
              <a:t>Note: Attachments can be of any file format. It should not exceed the size of 5MB. </a:t>
            </a:r>
          </a:p>
        </p:txBody>
      </p:sp>
      <p:pic>
        <p:nvPicPr>
          <p:cNvPr id="3" name="Picture 2"/>
          <p:cNvPicPr>
            <a:picLocks noChangeAspect="1"/>
          </p:cNvPicPr>
          <p:nvPr/>
        </p:nvPicPr>
        <p:blipFill>
          <a:blip r:embed="rId2"/>
          <a:stretch>
            <a:fillRect/>
          </a:stretch>
        </p:blipFill>
        <p:spPr>
          <a:xfrm>
            <a:off x="828601" y="2807530"/>
            <a:ext cx="6824224" cy="2762250"/>
          </a:xfrm>
          <a:prstGeom prst="rect">
            <a:avLst/>
          </a:prstGeom>
        </p:spPr>
      </p:pic>
    </p:spTree>
    <p:extLst>
      <p:ext uri="{BB962C8B-B14F-4D97-AF65-F5344CB8AC3E}">
        <p14:creationId xmlns:p14="http://schemas.microsoft.com/office/powerpoint/2010/main" val="23893289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Risk Analysis Document–Advanced Tab </a:t>
            </a:r>
          </a:p>
        </p:txBody>
      </p:sp>
      <p:sp>
        <p:nvSpPr>
          <p:cNvPr id="7" name="Rectangle 6"/>
          <p:cNvSpPr/>
          <p:nvPr/>
        </p:nvSpPr>
        <p:spPr>
          <a:xfrm>
            <a:off x="612032" y="734019"/>
            <a:ext cx="11049771" cy="2308324"/>
          </a:xfrm>
          <a:prstGeom prst="rect">
            <a:avLst/>
          </a:prstGeom>
        </p:spPr>
        <p:txBody>
          <a:bodyPr wrap="square">
            <a:spAutoFit/>
          </a:bodyPr>
          <a:lstStyle/>
          <a:p>
            <a:endParaRPr lang="en-US" dirty="0"/>
          </a:p>
          <a:p>
            <a:r>
              <a:rPr lang="en-US" dirty="0"/>
              <a:t>Advanced tab contains Document Metrics that describes the Requirement Document:</a:t>
            </a:r>
          </a:p>
          <a:p>
            <a:endParaRPr lang="en-US" dirty="0"/>
          </a:p>
          <a:p>
            <a:r>
              <a:rPr lang="en-US" dirty="0"/>
              <a:t>₋Document Metrics</a:t>
            </a:r>
          </a:p>
          <a:p>
            <a:endParaRPr lang="en-US" dirty="0"/>
          </a:p>
          <a:p>
            <a:r>
              <a:rPr lang="en-US" dirty="0"/>
              <a:t>•All Content Count-The number of content items in this segment.</a:t>
            </a:r>
          </a:p>
          <a:p>
            <a:r>
              <a:rPr lang="en-US" dirty="0"/>
              <a:t>•Meaningful Content Count -The number of meaningful items in this segment.</a:t>
            </a:r>
          </a:p>
          <a:p>
            <a:endParaRPr lang="en-US" dirty="0"/>
          </a:p>
        </p:txBody>
      </p:sp>
      <p:pic>
        <p:nvPicPr>
          <p:cNvPr id="3" name="Picture 2"/>
          <p:cNvPicPr>
            <a:picLocks noChangeAspect="1"/>
          </p:cNvPicPr>
          <p:nvPr/>
        </p:nvPicPr>
        <p:blipFill>
          <a:blip r:embed="rId2"/>
          <a:stretch>
            <a:fillRect/>
          </a:stretch>
        </p:blipFill>
        <p:spPr>
          <a:xfrm>
            <a:off x="1034562" y="3042343"/>
            <a:ext cx="6324600" cy="2990850"/>
          </a:xfrm>
          <a:prstGeom prst="rect">
            <a:avLst/>
          </a:prstGeom>
        </p:spPr>
      </p:pic>
    </p:spTree>
    <p:extLst>
      <p:ext uri="{BB962C8B-B14F-4D97-AF65-F5344CB8AC3E}">
        <p14:creationId xmlns:p14="http://schemas.microsoft.com/office/powerpoint/2010/main" val="17786529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AE2331-9E5D-4002-95F6-18F5524470BF}"/>
              </a:ext>
            </a:extLst>
          </p:cNvPr>
          <p:cNvSpPr/>
          <p:nvPr/>
        </p:nvSpPr>
        <p:spPr>
          <a:xfrm>
            <a:off x="0" y="13251"/>
            <a:ext cx="12192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endParaRPr lang="en-US" sz="1351" dirty="0">
              <a:solidFill>
                <a:srgbClr val="FFFFFF"/>
              </a:solidFill>
              <a:latin typeface="Calibri"/>
            </a:endParaRPr>
          </a:p>
        </p:txBody>
      </p:sp>
      <p:sp>
        <p:nvSpPr>
          <p:cNvPr id="33" name="Rectangle 32"/>
          <p:cNvSpPr/>
          <p:nvPr/>
        </p:nvSpPr>
        <p:spPr>
          <a:xfrm>
            <a:off x="0" y="13251"/>
            <a:ext cx="12192000" cy="6858000"/>
          </a:xfrm>
          <a:prstGeom prst="rect">
            <a:avLst/>
          </a:prstGeom>
          <a:solidFill>
            <a:schemeClr val="tx1">
              <a:lumMod val="95000"/>
              <a:lumOff val="5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2">
              <a:defRPr/>
            </a:pPr>
            <a:endParaRPr lang="en-US" sz="1351" dirty="0">
              <a:solidFill>
                <a:srgbClr val="FFFFFF"/>
              </a:solidFill>
              <a:latin typeface="Calibri"/>
            </a:endParaRPr>
          </a:p>
        </p:txBody>
      </p:sp>
      <p:sp>
        <p:nvSpPr>
          <p:cNvPr id="20" name="Text Placeholder 4">
            <a:extLst>
              <a:ext uri="{FF2B5EF4-FFF2-40B4-BE49-F238E27FC236}">
                <a16:creationId xmlns:a16="http://schemas.microsoft.com/office/drawing/2014/main" id="{28C5F6E7-2567-4C4E-8288-40A604867A15}"/>
              </a:ext>
            </a:extLst>
          </p:cNvPr>
          <p:cNvSpPr txBox="1">
            <a:spLocks/>
          </p:cNvSpPr>
          <p:nvPr/>
        </p:nvSpPr>
        <p:spPr>
          <a:xfrm>
            <a:off x="1948732" y="2160104"/>
            <a:ext cx="8785530" cy="993914"/>
          </a:xfrm>
          <a:prstGeom prst="parallelogram">
            <a:avLst/>
          </a:prstGeom>
          <a:solidFill>
            <a:srgbClr val="1F1A17">
              <a:alpha val="69804"/>
            </a:srgbClr>
          </a:solidFill>
        </p:spPr>
        <p:txBody>
          <a:bodyPr vert="horz" lIns="48000" tIns="96000" rIns="48000" bIns="48000" rtlCol="0" anchor="ctr">
            <a:noAutofit/>
          </a:bodyPr>
          <a:lstStyle>
            <a:defPPr>
              <a:defRPr lang="en-US"/>
            </a:defPPr>
            <a:lvl1pPr marR="0" lvl="0" indent="0" defTabSz="1625358" fontAlgn="auto">
              <a:lnSpc>
                <a:spcPct val="90000"/>
              </a:lnSpc>
              <a:spcBef>
                <a:spcPts val="1777"/>
              </a:spcBef>
              <a:spcAft>
                <a:spcPts val="0"/>
              </a:spcAft>
              <a:buClrTx/>
              <a:buSzTx/>
              <a:buFontTx/>
              <a:buNone/>
              <a:tabLst>
                <a:tab pos="428927" algn="l"/>
              </a:tabLst>
              <a:defRPr kumimoji="0" sz="1867" b="1" i="0" u="none" strike="noStrike" cap="none" spc="0" normalizeH="0" baseline="0">
                <a:ln>
                  <a:noFill/>
                </a:ln>
                <a:solidFill>
                  <a:srgbClr val="FFCC29"/>
                </a:solidFill>
                <a:effectLst/>
                <a:uLnTx/>
                <a:uFillTx/>
                <a:latin typeface="Calibri"/>
              </a:defRPr>
            </a:lvl1pPr>
            <a:lvl2pPr marL="685750" marR="0" indent="-228584" defTabSz="914332" fontAlgn="auto">
              <a:lnSpc>
                <a:spcPct val="90000"/>
              </a:lnSpc>
              <a:spcBef>
                <a:spcPts val="500"/>
              </a:spcBef>
              <a:spcAft>
                <a:spcPts val="0"/>
              </a:spcAft>
              <a:buClrTx/>
              <a:buSzTx/>
              <a:buFontTx/>
              <a:buBlip>
                <a:blip r:embed="rId3"/>
              </a:buBlip>
              <a:tabLst>
                <a:tab pos="241289" algn="l"/>
              </a:tabLst>
              <a:defRPr sz="2400">
                <a:solidFill>
                  <a:schemeClr val="tx1">
                    <a:lumMod val="75000"/>
                    <a:lumOff val="25000"/>
                  </a:schemeClr>
                </a:solidFill>
              </a:defRPr>
            </a:lvl2pPr>
            <a:lvl3pPr marL="1142914" marR="0" indent="-228584" defTabSz="914332" fontAlgn="auto">
              <a:lnSpc>
                <a:spcPct val="90000"/>
              </a:lnSpc>
              <a:spcBef>
                <a:spcPts val="500"/>
              </a:spcBef>
              <a:spcAft>
                <a:spcPts val="0"/>
              </a:spcAft>
              <a:buClrTx/>
              <a:buSzTx/>
              <a:buFontTx/>
              <a:buBlip>
                <a:blip r:embed="rId3"/>
              </a:buBlip>
              <a:tabLst>
                <a:tab pos="241289" algn="l"/>
              </a:tabLst>
              <a:defRPr sz="2000">
                <a:solidFill>
                  <a:schemeClr val="tx1">
                    <a:lumMod val="75000"/>
                    <a:lumOff val="25000"/>
                  </a:schemeClr>
                </a:solidFill>
              </a:defRPr>
            </a:lvl3pPr>
            <a:lvl4pPr marL="1600080"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4pPr>
            <a:lvl5pPr marL="2057247"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5pPr>
            <a:lvl6pPr marL="2514412" indent="-228584" defTabSz="914332">
              <a:lnSpc>
                <a:spcPct val="90000"/>
              </a:lnSpc>
              <a:spcBef>
                <a:spcPts val="500"/>
              </a:spcBef>
              <a:buFont typeface="Arial"/>
              <a:buChar char="•"/>
              <a:defRPr sz="1867"/>
            </a:lvl6pPr>
            <a:lvl7pPr marL="2971578" indent="-228584" defTabSz="914332">
              <a:lnSpc>
                <a:spcPct val="90000"/>
              </a:lnSpc>
              <a:spcBef>
                <a:spcPts val="500"/>
              </a:spcBef>
              <a:buFont typeface="Arial"/>
              <a:buChar char="•"/>
              <a:defRPr sz="1867"/>
            </a:lvl7pPr>
            <a:lvl8pPr marL="3428744" indent="-228584" defTabSz="914332">
              <a:lnSpc>
                <a:spcPct val="90000"/>
              </a:lnSpc>
              <a:spcBef>
                <a:spcPts val="500"/>
              </a:spcBef>
              <a:buFont typeface="Arial"/>
              <a:buChar char="•"/>
              <a:defRPr sz="1867"/>
            </a:lvl8pPr>
            <a:lvl9pPr marL="3885910" indent="-228584" defTabSz="914332">
              <a:lnSpc>
                <a:spcPct val="90000"/>
              </a:lnSpc>
              <a:spcBef>
                <a:spcPts val="500"/>
              </a:spcBef>
              <a:buFont typeface="Arial"/>
              <a:buChar char="•"/>
              <a:defRPr sz="1867"/>
            </a:lvl9pPr>
          </a:lstStyle>
          <a:p>
            <a:r>
              <a:rPr lang="en-US" sz="2400" dirty="0"/>
              <a:t>Integration with Microsoft Project 		</a:t>
            </a:r>
          </a:p>
        </p:txBody>
      </p:sp>
      <p:sp>
        <p:nvSpPr>
          <p:cNvPr id="24" name="Text Placeholder 6">
            <a:extLst>
              <a:ext uri="{FF2B5EF4-FFF2-40B4-BE49-F238E27FC236}">
                <a16:creationId xmlns:a16="http://schemas.microsoft.com/office/drawing/2014/main" id="{999EE348-DCFE-48B2-824C-148A5F3249BB}"/>
              </a:ext>
            </a:extLst>
          </p:cNvPr>
          <p:cNvSpPr txBox="1">
            <a:spLocks/>
          </p:cNvSpPr>
          <p:nvPr/>
        </p:nvSpPr>
        <p:spPr>
          <a:xfrm>
            <a:off x="231775" y="174172"/>
            <a:ext cx="4760913" cy="784225"/>
          </a:xfrm>
          <a:prstGeom prst="rect">
            <a:avLst/>
          </a:prstGeom>
        </p:spPr>
        <p:txBody>
          <a:bodyPr/>
          <a:lstStyle>
            <a:lvl1pPr marL="228589" marR="0" indent="-228589" algn="l" defTabSz="914354" rtl="0" eaLnBrk="1" fontAlgn="auto" latinLnBrk="0" hangingPunct="1">
              <a:lnSpc>
                <a:spcPct val="90000"/>
              </a:lnSpc>
              <a:spcBef>
                <a:spcPts val="1000"/>
              </a:spcBef>
              <a:spcAft>
                <a:spcPts val="0"/>
              </a:spcAft>
              <a:buClrTx/>
              <a:buSzTx/>
              <a:buFontTx/>
              <a:buBlip>
                <a:blip r:embed="rId3"/>
              </a:buBlip>
              <a:tabLst>
                <a:tab pos="241294" algn="l"/>
              </a:tabLst>
              <a:defRPr lang="en-US" sz="2800" kern="1200" smtClean="0">
                <a:solidFill>
                  <a:schemeClr val="tx1">
                    <a:lumMod val="75000"/>
                    <a:lumOff val="25000"/>
                  </a:schemeClr>
                </a:solidFill>
                <a:latin typeface="+mn-lt"/>
                <a:ea typeface="+mn-ea"/>
                <a:cs typeface="+mn-cs"/>
              </a:defRPr>
            </a:lvl1pPr>
            <a:lvl2pPr marL="685766"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400" kern="1200" smtClean="0">
                <a:solidFill>
                  <a:schemeClr val="tx1">
                    <a:lumMod val="75000"/>
                    <a:lumOff val="25000"/>
                  </a:schemeClr>
                </a:solidFill>
                <a:latin typeface="+mn-lt"/>
                <a:ea typeface="+mn-ea"/>
                <a:cs typeface="+mn-cs"/>
              </a:defRPr>
            </a:lvl2pPr>
            <a:lvl3pPr marL="1142942"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000" kern="1200" smtClean="0">
                <a:solidFill>
                  <a:schemeClr val="tx1">
                    <a:lumMod val="75000"/>
                    <a:lumOff val="25000"/>
                  </a:schemeClr>
                </a:solidFill>
                <a:latin typeface="+mn-lt"/>
                <a:ea typeface="+mn-ea"/>
                <a:cs typeface="+mn-cs"/>
              </a:defRPr>
            </a:lvl3pPr>
            <a:lvl4pPr marL="1600120"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smtClean="0">
                <a:solidFill>
                  <a:schemeClr val="tx1">
                    <a:lumMod val="75000"/>
                    <a:lumOff val="25000"/>
                  </a:schemeClr>
                </a:solidFill>
                <a:latin typeface="+mn-lt"/>
                <a:ea typeface="+mn-ea"/>
                <a:cs typeface="+mn-cs"/>
              </a:defRPr>
            </a:lvl4pPr>
            <a:lvl5pPr marL="2057298"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a:solidFill>
                  <a:schemeClr val="tx1">
                    <a:lumMod val="75000"/>
                    <a:lumOff val="25000"/>
                  </a:schemeClr>
                </a:solidFill>
                <a:latin typeface="+mn-lt"/>
                <a:ea typeface="+mn-ea"/>
                <a:cs typeface="+mn-cs"/>
              </a:defRPr>
            </a:lvl5pPr>
            <a:lvl6pPr marL="2514474"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9pPr>
          </a:lstStyle>
          <a:p>
            <a:pPr marL="0" indent="0">
              <a:buNone/>
            </a:pPr>
            <a:endParaRPr lang="en-US" sz="3200" dirty="0">
              <a:solidFill>
                <a:schemeClr val="bg1"/>
              </a:solidFill>
            </a:endParaRPr>
          </a:p>
        </p:txBody>
      </p:sp>
    </p:spTree>
    <p:extLst>
      <p:ext uri="{BB962C8B-B14F-4D97-AF65-F5344CB8AC3E}">
        <p14:creationId xmlns:p14="http://schemas.microsoft.com/office/powerpoint/2010/main" val="38902277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Microsoft Project Plan</a:t>
            </a:r>
          </a:p>
        </p:txBody>
      </p:sp>
      <p:sp>
        <p:nvSpPr>
          <p:cNvPr id="7" name="Rectangle 6"/>
          <p:cNvSpPr/>
          <p:nvPr/>
        </p:nvSpPr>
        <p:spPr>
          <a:xfrm>
            <a:off x="337625" y="734019"/>
            <a:ext cx="11324178" cy="369332"/>
          </a:xfrm>
          <a:prstGeom prst="rect">
            <a:avLst/>
          </a:prstGeom>
        </p:spPr>
        <p:txBody>
          <a:bodyPr wrap="square">
            <a:spAutoFit/>
          </a:bodyPr>
          <a:lstStyle/>
          <a:p>
            <a:endParaRPr lang="en-US" dirty="0"/>
          </a:p>
        </p:txBody>
      </p:sp>
      <p:sp>
        <p:nvSpPr>
          <p:cNvPr id="3" name="Rectangle 2"/>
          <p:cNvSpPr/>
          <p:nvPr/>
        </p:nvSpPr>
        <p:spPr>
          <a:xfrm>
            <a:off x="612033" y="659011"/>
            <a:ext cx="8531968" cy="3508653"/>
          </a:xfrm>
          <a:prstGeom prst="rect">
            <a:avLst/>
          </a:prstGeom>
        </p:spPr>
        <p:txBody>
          <a:bodyPr wrap="square">
            <a:spAutoFit/>
          </a:bodyPr>
          <a:lstStyle/>
          <a:p>
            <a:endParaRPr lang="en-US" sz="1200" dirty="0">
              <a:solidFill>
                <a:srgbClr val="000000"/>
              </a:solidFill>
              <a:latin typeface="Wingdings" panose="05000000000000000000" pitchFamily="2" charset="2"/>
            </a:endParaRPr>
          </a:p>
          <a:p>
            <a:endParaRPr lang="en-US" sz="1200" dirty="0">
              <a:solidFill>
                <a:srgbClr val="000000"/>
              </a:solidFill>
              <a:latin typeface="Wingdings" panose="05000000000000000000" pitchFamily="2" charset="2"/>
            </a:endParaRPr>
          </a:p>
          <a:p>
            <a:endParaRPr lang="en-US" sz="1200" dirty="0">
              <a:solidFill>
                <a:srgbClr val="000000"/>
              </a:solidFill>
              <a:latin typeface="Wingdings" panose="05000000000000000000" pitchFamily="2" charset="2"/>
            </a:endParaRPr>
          </a:p>
          <a:p>
            <a:endParaRPr lang="en-US" sz="1200" dirty="0">
              <a:solidFill>
                <a:srgbClr val="000000"/>
              </a:solidFill>
              <a:latin typeface="Wingdings" panose="05000000000000000000" pitchFamily="2" charset="2"/>
            </a:endParaRPr>
          </a:p>
          <a:p>
            <a:pPr algn="just"/>
            <a:endParaRPr lang="en-US" sz="1200" dirty="0">
              <a:solidFill>
                <a:srgbClr val="000000"/>
              </a:solidFill>
              <a:latin typeface="Wingdings" panose="05000000000000000000" pitchFamily="2" charset="2"/>
            </a:endParaRPr>
          </a:p>
          <a:p>
            <a:pPr marL="285750" indent="-285750" algn="just">
              <a:buFont typeface="Arial" panose="020B0604020202020204" pitchFamily="34" charset="0"/>
              <a:buChar char="•"/>
            </a:pPr>
            <a:r>
              <a:rPr lang="en-US" dirty="0">
                <a:solidFill>
                  <a:srgbClr val="000000"/>
                </a:solidFill>
                <a:latin typeface="Calibri" panose="020F0502020204030204" pitchFamily="34" charset="0"/>
              </a:rPr>
              <a:t>In order to increase work efficiency and manage all activities related to project better, Managers make use of Microsoft Project to make plans and assign activities to resources conforming to the dates of the projects and other deadlines.</a:t>
            </a:r>
          </a:p>
          <a:p>
            <a:pPr algn="just"/>
            <a:endParaRPr lang="en-US" dirty="0">
              <a:solidFill>
                <a:srgbClr val="000000"/>
              </a:solidFill>
              <a:latin typeface="Calibri" panose="020F0502020204030204" pitchFamily="34" charset="0"/>
            </a:endParaRPr>
          </a:p>
          <a:p>
            <a:pPr marL="285750" indent="-285750" algn="just">
              <a:buFont typeface="Arial" panose="020B0604020202020204" pitchFamily="34" charset="0"/>
              <a:buChar char="•"/>
            </a:pPr>
            <a:r>
              <a:rPr lang="en-US" dirty="0">
                <a:solidFill>
                  <a:srgbClr val="000000"/>
                </a:solidFill>
                <a:latin typeface="Calibri" panose="020F0502020204030204" pitchFamily="34" charset="0"/>
              </a:rPr>
              <a:t>Similar activities are also created in Integrity known as “Work Items”.</a:t>
            </a:r>
          </a:p>
          <a:p>
            <a:pPr marL="285750" indent="-285750" algn="just">
              <a:buFont typeface="Arial" panose="020B0604020202020204" pitchFamily="34" charset="0"/>
              <a:buChar char="•"/>
            </a:pPr>
            <a:endParaRPr lang="en-US" dirty="0">
              <a:solidFill>
                <a:srgbClr val="000000"/>
              </a:solidFill>
              <a:latin typeface="Calibri" panose="020F0502020204030204" pitchFamily="34" charset="0"/>
            </a:endParaRPr>
          </a:p>
          <a:p>
            <a:pPr marL="285750" indent="-285750" algn="just">
              <a:buFont typeface="Arial" panose="020B0604020202020204" pitchFamily="34" charset="0"/>
              <a:buChar char="•"/>
            </a:pPr>
            <a:r>
              <a:rPr lang="en-US" dirty="0">
                <a:solidFill>
                  <a:srgbClr val="000000"/>
                </a:solidFill>
                <a:latin typeface="Calibri" panose="020F0502020204030204" pitchFamily="34" charset="0"/>
              </a:rPr>
              <a:t>In order to save time of creating these </a:t>
            </a:r>
            <a:r>
              <a:rPr lang="en-US" dirty="0"/>
              <a:t>activities</a:t>
            </a:r>
            <a:r>
              <a:rPr lang="en-US" dirty="0">
                <a:solidFill>
                  <a:srgbClr val="000000"/>
                </a:solidFill>
                <a:latin typeface="Calibri" panose="020F0502020204030204" pitchFamily="34" charset="0"/>
              </a:rPr>
              <a:t> again in Integrity, the magic of integration has been introduced to Project Management Project.</a:t>
            </a:r>
          </a:p>
          <a:p>
            <a:endParaRPr lang="en-US" dirty="0">
              <a:solidFill>
                <a:srgbClr val="000000"/>
              </a:solidFill>
              <a:latin typeface="Wingdings" panose="05000000000000000000" pitchFamily="2" charset="2"/>
            </a:endParaRPr>
          </a:p>
        </p:txBody>
      </p:sp>
    </p:spTree>
    <p:extLst>
      <p:ext uri="{BB962C8B-B14F-4D97-AF65-F5344CB8AC3E}">
        <p14:creationId xmlns:p14="http://schemas.microsoft.com/office/powerpoint/2010/main" val="36397992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Microsoft Project Plan</a:t>
            </a:r>
          </a:p>
        </p:txBody>
      </p:sp>
      <p:sp>
        <p:nvSpPr>
          <p:cNvPr id="7" name="Rectangle 6"/>
          <p:cNvSpPr/>
          <p:nvPr/>
        </p:nvSpPr>
        <p:spPr>
          <a:xfrm>
            <a:off x="612032" y="734019"/>
            <a:ext cx="11049771" cy="5078313"/>
          </a:xfrm>
          <a:prstGeom prst="rect">
            <a:avLst/>
          </a:prstGeom>
        </p:spPr>
        <p:txBody>
          <a:bodyPr wrap="square">
            <a:spAutoFit/>
          </a:bodyPr>
          <a:lstStyle/>
          <a:p>
            <a:endParaRPr lang="en-US" dirty="0"/>
          </a:p>
          <a:p>
            <a:endParaRPr lang="en-US" dirty="0"/>
          </a:p>
          <a:p>
            <a:pPr marL="285750" indent="-285750">
              <a:buFont typeface="Arial" panose="020B0604020202020204" pitchFamily="34" charset="0"/>
              <a:buChar char="•"/>
            </a:pPr>
            <a:r>
              <a:rPr lang="en-US" dirty="0"/>
              <a:t>Given below is the Microsoft Project Plan Template where the plan needs to be made.</a:t>
            </a:r>
          </a:p>
          <a:p>
            <a:pPr marL="285750" indent="-285750">
              <a:buFont typeface="Arial" panose="020B0604020202020204" pitchFamily="34" charset="0"/>
              <a:buChar char="•"/>
            </a:pPr>
            <a:r>
              <a:rPr lang="en-US" dirty="0"/>
              <a:t>Task Name: Name of Activity</a:t>
            </a:r>
          </a:p>
          <a:p>
            <a:pPr marL="285750" indent="-285750">
              <a:buFont typeface="Arial" panose="020B0604020202020204" pitchFamily="34" charset="0"/>
              <a:buChar char="•"/>
            </a:pPr>
            <a:r>
              <a:rPr lang="en-US" dirty="0"/>
              <a:t>Start: Project Start Date</a:t>
            </a:r>
          </a:p>
          <a:p>
            <a:pPr marL="285750" indent="-285750">
              <a:buFont typeface="Arial" panose="020B0604020202020204" pitchFamily="34" charset="0"/>
              <a:buChar char="•"/>
            </a:pPr>
            <a:r>
              <a:rPr lang="en-US" dirty="0"/>
              <a:t>Finish: Project End Date</a:t>
            </a:r>
          </a:p>
          <a:p>
            <a:pPr marL="285750" indent="-285750">
              <a:buFont typeface="Arial" panose="020B0604020202020204" pitchFamily="34" charset="0"/>
              <a:buChar char="•"/>
            </a:pPr>
            <a:r>
              <a:rPr lang="en-US" dirty="0"/>
              <a:t>MKS Risk: Project Risk </a:t>
            </a:r>
          </a:p>
          <a:p>
            <a:r>
              <a:rPr lang="en-US" dirty="0"/>
              <a:t>      [Low, Medium, High, Critical]</a:t>
            </a:r>
          </a:p>
          <a:p>
            <a:pPr marL="285750" indent="-285750">
              <a:buFont typeface="Arial" panose="020B0604020202020204" pitchFamily="34" charset="0"/>
              <a:buChar char="•"/>
            </a:pPr>
            <a:r>
              <a:rPr lang="en-US" dirty="0"/>
              <a:t>MKS State: Activity state based on workflow</a:t>
            </a:r>
          </a:p>
          <a:p>
            <a:pPr marL="285750" indent="-285750">
              <a:buFont typeface="Arial" panose="020B0604020202020204" pitchFamily="34" charset="0"/>
              <a:buChar char="•"/>
            </a:pPr>
            <a:r>
              <a:rPr lang="en-US" dirty="0"/>
              <a:t>Resource Name: Activity assigned to</a:t>
            </a:r>
          </a:p>
          <a:p>
            <a:pPr marL="285750" indent="-285750">
              <a:buFont typeface="Arial" panose="020B0604020202020204" pitchFamily="34" charset="0"/>
              <a:buChar char="•"/>
            </a:pPr>
            <a:r>
              <a:rPr lang="en-US" dirty="0"/>
              <a:t>MKS Issue Type: Always keep Work Item</a:t>
            </a:r>
          </a:p>
          <a:p>
            <a:pPr marL="285750" indent="-285750">
              <a:buFont typeface="Arial" panose="020B0604020202020204" pitchFamily="34" charset="0"/>
              <a:buChar char="•"/>
            </a:pPr>
            <a:r>
              <a:rPr lang="en-US" dirty="0"/>
              <a:t>MKS Issue: Generated Unique ID in Integrity</a:t>
            </a:r>
          </a:p>
          <a:p>
            <a:pPr marL="285750" indent="-285750">
              <a:buFont typeface="Arial" panose="020B0604020202020204" pitchFamily="34" charset="0"/>
              <a:buChar char="•"/>
            </a:pPr>
            <a:r>
              <a:rPr lang="en-US" dirty="0"/>
              <a:t>Integrity Project: Project Name in Integrity</a:t>
            </a:r>
          </a:p>
          <a:p>
            <a:pPr marL="285750" indent="-285750">
              <a:buFont typeface="Arial" panose="020B0604020202020204" pitchFamily="34" charset="0"/>
              <a:buChar char="•"/>
            </a:pPr>
            <a:r>
              <a:rPr lang="en-US" dirty="0"/>
              <a:t>Actual Completion Date:</a:t>
            </a:r>
          </a:p>
          <a:p>
            <a:r>
              <a:rPr lang="en-US" dirty="0"/>
              <a:t>     Date when Activity is completed in Integrity</a:t>
            </a:r>
          </a:p>
          <a:p>
            <a:pPr marL="285750" indent="-285750">
              <a:buFont typeface="Arial" panose="020B0604020202020204" pitchFamily="34" charset="0"/>
              <a:buChar char="•"/>
            </a:pPr>
            <a:r>
              <a:rPr lang="en-US" dirty="0"/>
              <a:t>Note: Fields marked in Red are mandatory fields. Activities will not sync if these fields are not entered or filled incorrectly. </a:t>
            </a:r>
          </a:p>
          <a:p>
            <a:r>
              <a:rPr lang="en-US" dirty="0"/>
              <a:t>.</a:t>
            </a:r>
          </a:p>
        </p:txBody>
      </p:sp>
      <p:pic>
        <p:nvPicPr>
          <p:cNvPr id="3" name="Picture 2"/>
          <p:cNvPicPr>
            <a:picLocks noChangeAspect="1"/>
          </p:cNvPicPr>
          <p:nvPr/>
        </p:nvPicPr>
        <p:blipFill>
          <a:blip r:embed="rId2"/>
          <a:stretch>
            <a:fillRect/>
          </a:stretch>
        </p:blipFill>
        <p:spPr>
          <a:xfrm>
            <a:off x="5432180" y="1934747"/>
            <a:ext cx="6559052" cy="2228850"/>
          </a:xfrm>
          <a:prstGeom prst="rect">
            <a:avLst/>
          </a:prstGeom>
        </p:spPr>
      </p:pic>
    </p:spTree>
    <p:extLst>
      <p:ext uri="{BB962C8B-B14F-4D97-AF65-F5344CB8AC3E}">
        <p14:creationId xmlns:p14="http://schemas.microsoft.com/office/powerpoint/2010/main" val="33609650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Microsoft Project Plan</a:t>
            </a:r>
          </a:p>
        </p:txBody>
      </p:sp>
      <p:sp>
        <p:nvSpPr>
          <p:cNvPr id="7" name="Rectangle 6"/>
          <p:cNvSpPr/>
          <p:nvPr/>
        </p:nvSpPr>
        <p:spPr>
          <a:xfrm>
            <a:off x="612032" y="734019"/>
            <a:ext cx="11049771" cy="1754326"/>
          </a:xfrm>
          <a:prstGeom prst="rect">
            <a:avLst/>
          </a:prstGeom>
        </p:spPr>
        <p:txBody>
          <a:bodyPr wrap="square">
            <a:spAutoFit/>
          </a:bodyPr>
          <a:lstStyle/>
          <a:p>
            <a:endParaRPr lang="en-US" dirty="0"/>
          </a:p>
          <a:p>
            <a:r>
              <a:rPr lang="en-US" dirty="0"/>
              <a:t>Based on the descriptions of the columns, populate the Project template to make a project plan.</a:t>
            </a:r>
          </a:p>
          <a:p>
            <a:endParaRPr lang="en-US" dirty="0"/>
          </a:p>
          <a:p>
            <a:r>
              <a:rPr lang="en-US" dirty="0"/>
              <a:t>The window will be as follows:</a:t>
            </a:r>
          </a:p>
          <a:p>
            <a:pPr marL="285750" indent="-285750">
              <a:buFont typeface="Arial" panose="020B0604020202020204" pitchFamily="34" charset="0"/>
              <a:buChar char="•"/>
            </a:pPr>
            <a:r>
              <a:rPr lang="en-US" dirty="0"/>
              <a:t>MKS Risk column will have a drop down to select from.</a:t>
            </a:r>
          </a:p>
          <a:p>
            <a:pPr marL="285750" indent="-285750">
              <a:buFont typeface="Arial" panose="020B0604020202020204" pitchFamily="34" charset="0"/>
              <a:buChar char="•"/>
            </a:pPr>
            <a:r>
              <a:rPr lang="en-US" dirty="0"/>
              <a:t>Name of the project will have a “/” at the  Beginning of the Project name (</a:t>
            </a:r>
            <a:r>
              <a:rPr lang="en-US" i="1" dirty="0"/>
              <a:t>This is a</a:t>
            </a:r>
            <a:r>
              <a:rPr lang="en-US" dirty="0"/>
              <a:t> </a:t>
            </a:r>
            <a:r>
              <a:rPr lang="en-US" i="1" dirty="0"/>
              <a:t>mandatory step). </a:t>
            </a:r>
            <a:endParaRPr lang="en-US" dirty="0"/>
          </a:p>
        </p:txBody>
      </p:sp>
      <p:pic>
        <p:nvPicPr>
          <p:cNvPr id="4" name="Picture 3"/>
          <p:cNvPicPr>
            <a:picLocks noChangeAspect="1"/>
          </p:cNvPicPr>
          <p:nvPr/>
        </p:nvPicPr>
        <p:blipFill>
          <a:blip r:embed="rId2"/>
          <a:stretch>
            <a:fillRect/>
          </a:stretch>
        </p:blipFill>
        <p:spPr>
          <a:xfrm>
            <a:off x="2668098" y="3119364"/>
            <a:ext cx="4886325" cy="3067050"/>
          </a:xfrm>
          <a:prstGeom prst="rect">
            <a:avLst/>
          </a:prstGeom>
        </p:spPr>
      </p:pic>
    </p:spTree>
    <p:extLst>
      <p:ext uri="{BB962C8B-B14F-4D97-AF65-F5344CB8AC3E}">
        <p14:creationId xmlns:p14="http://schemas.microsoft.com/office/powerpoint/2010/main" val="29790791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Synchronizing Microsoft Project Plan Resources</a:t>
            </a:r>
          </a:p>
        </p:txBody>
      </p:sp>
      <p:sp>
        <p:nvSpPr>
          <p:cNvPr id="7" name="Rectangle 6"/>
          <p:cNvSpPr/>
          <p:nvPr/>
        </p:nvSpPr>
        <p:spPr>
          <a:xfrm>
            <a:off x="612032" y="734019"/>
            <a:ext cx="11049771" cy="3416320"/>
          </a:xfrm>
          <a:prstGeom prst="rect">
            <a:avLst/>
          </a:prstGeom>
        </p:spPr>
        <p:txBody>
          <a:bodyPr wrap="square">
            <a:spAutoFit/>
          </a:bodyPr>
          <a:lstStyle/>
          <a:p>
            <a:endParaRPr lang="en-US" dirty="0"/>
          </a:p>
          <a:p>
            <a:endParaRPr lang="en-US" dirty="0"/>
          </a:p>
          <a:p>
            <a:r>
              <a:rPr lang="en-US" dirty="0"/>
              <a:t>Project Integration has the ability to sync resources with PTC integrity in order to assign resources for the task in MS Project itself.</a:t>
            </a:r>
          </a:p>
          <a:p>
            <a:pPr marL="285750" indent="-285750">
              <a:buFont typeface="Arial" panose="020B0604020202020204" pitchFamily="34" charset="0"/>
              <a:buChar char="•"/>
            </a:pPr>
            <a:r>
              <a:rPr lang="en-US" dirty="0"/>
              <a:t>In order to sync resources follow the below steps:</a:t>
            </a:r>
          </a:p>
          <a:p>
            <a:pPr marL="742950" lvl="1" indent="-285750">
              <a:buFont typeface="Arial" panose="020B0604020202020204" pitchFamily="34" charset="0"/>
              <a:buChar char="•"/>
            </a:pPr>
            <a:r>
              <a:rPr lang="en-US" dirty="0"/>
              <a:t>Go to Add-ins. </a:t>
            </a:r>
          </a:p>
          <a:p>
            <a:pPr marL="742950" lvl="1" indent="-285750">
              <a:buFont typeface="Arial" panose="020B0604020202020204" pitchFamily="34" charset="0"/>
              <a:buChar char="•"/>
            </a:pPr>
            <a:r>
              <a:rPr lang="en-US" dirty="0"/>
              <a:t>Click on PTC integrity Menu.</a:t>
            </a:r>
          </a:p>
          <a:p>
            <a:pPr marL="742950" lvl="1" indent="-285750">
              <a:buFont typeface="Arial" panose="020B0604020202020204" pitchFamily="34" charset="0"/>
              <a:buChar char="•"/>
            </a:pPr>
            <a:r>
              <a:rPr lang="en-US" dirty="0"/>
              <a:t>Click on “Synchronize Resources”.</a:t>
            </a:r>
          </a:p>
          <a:p>
            <a:pPr marL="742950" lvl="1" indent="-285750">
              <a:buFont typeface="Arial" panose="020B0604020202020204" pitchFamily="34" charset="0"/>
              <a:buChar char="•"/>
            </a:pPr>
            <a:r>
              <a:rPr lang="en-US" dirty="0"/>
              <a:t>An authentication window will appear wherein the user must enter his/her </a:t>
            </a:r>
          </a:p>
          <a:p>
            <a:pPr lvl="1"/>
            <a:r>
              <a:rPr lang="en-US" dirty="0"/>
              <a:t>      credentials and validate himself/herself as a valid user.</a:t>
            </a:r>
          </a:p>
          <a:p>
            <a:pPr marL="742950" lvl="1" indent="-285750">
              <a:buFont typeface="Arial" panose="020B0604020202020204" pitchFamily="34" charset="0"/>
              <a:buChar char="•"/>
            </a:pPr>
            <a:r>
              <a:rPr lang="en-US" dirty="0"/>
              <a:t>Enter username and password. Enter appropriate Hostname(Test Server IP) and Port. </a:t>
            </a:r>
          </a:p>
          <a:p>
            <a:pPr marL="742950" lvl="1" indent="-285750">
              <a:buFont typeface="Arial" panose="020B0604020202020204" pitchFamily="34" charset="0"/>
              <a:buChar char="•"/>
            </a:pPr>
            <a:r>
              <a:rPr lang="en-US" dirty="0"/>
              <a:t>Click on “OK”.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10280" y="2679097"/>
            <a:ext cx="2580952" cy="3638095"/>
          </a:xfrm>
          <a:prstGeom prst="rect">
            <a:avLst/>
          </a:prstGeom>
        </p:spPr>
      </p:pic>
    </p:spTree>
    <p:extLst>
      <p:ext uri="{BB962C8B-B14F-4D97-AF65-F5344CB8AC3E}">
        <p14:creationId xmlns:p14="http://schemas.microsoft.com/office/powerpoint/2010/main" val="16116266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Synchronizing Microsoft Project Plan Resources</a:t>
            </a:r>
          </a:p>
        </p:txBody>
      </p:sp>
      <p:sp>
        <p:nvSpPr>
          <p:cNvPr id="7" name="Rectangle 6"/>
          <p:cNvSpPr/>
          <p:nvPr/>
        </p:nvSpPr>
        <p:spPr>
          <a:xfrm>
            <a:off x="612032" y="734019"/>
            <a:ext cx="11049771" cy="2031325"/>
          </a:xfrm>
          <a:prstGeom prst="rect">
            <a:avLst/>
          </a:prstGeom>
        </p:spPr>
        <p:txBody>
          <a:bodyPr wrap="square">
            <a:spAutoFit/>
          </a:bodyPr>
          <a:lstStyle/>
          <a:p>
            <a:endParaRPr lang="en-US" dirty="0"/>
          </a:p>
          <a:p>
            <a:r>
              <a:rPr lang="en-US" dirty="0"/>
              <a:t>Click on Resource Names column to check all synced resources.</a:t>
            </a:r>
          </a:p>
          <a:p>
            <a:endParaRPr lang="en-US" dirty="0"/>
          </a:p>
          <a:p>
            <a:pPr marL="285750" indent="-285750">
              <a:buFont typeface="Arial" panose="020B0604020202020204" pitchFamily="34" charset="0"/>
              <a:buChar char="•"/>
            </a:pPr>
            <a:r>
              <a:rPr lang="en-US" dirty="0"/>
              <a:t>Assign resources to the activities based current role in the project.</a:t>
            </a:r>
          </a:p>
          <a:p>
            <a:pPr marL="285750" indent="-285750">
              <a:buFont typeface="Arial" panose="020B0604020202020204" pitchFamily="34" charset="0"/>
              <a:buChar char="•"/>
            </a:pPr>
            <a:r>
              <a:rPr lang="en-US" dirty="0"/>
              <a:t>Resource that is assigned to the activity must be a part of the Project entered in the field “Integrity Project”.</a:t>
            </a:r>
          </a:p>
          <a:p>
            <a:r>
              <a:rPr lang="en-US" dirty="0"/>
              <a:t> </a:t>
            </a:r>
          </a:p>
          <a:p>
            <a:r>
              <a:rPr lang="en-US" dirty="0"/>
              <a:t>      (Resource entered must be a part of Team in Project created in Integrity) </a:t>
            </a:r>
          </a:p>
        </p:txBody>
      </p:sp>
      <p:pic>
        <p:nvPicPr>
          <p:cNvPr id="3" name="Picture 2"/>
          <p:cNvPicPr>
            <a:picLocks noChangeAspect="1"/>
          </p:cNvPicPr>
          <p:nvPr/>
        </p:nvPicPr>
        <p:blipFill>
          <a:blip r:embed="rId2"/>
          <a:stretch>
            <a:fillRect/>
          </a:stretch>
        </p:blipFill>
        <p:spPr>
          <a:xfrm>
            <a:off x="3173877" y="3245167"/>
            <a:ext cx="4972050" cy="2562225"/>
          </a:xfrm>
          <a:prstGeom prst="rect">
            <a:avLst/>
          </a:prstGeom>
        </p:spPr>
      </p:pic>
    </p:spTree>
    <p:extLst>
      <p:ext uri="{BB962C8B-B14F-4D97-AF65-F5344CB8AC3E}">
        <p14:creationId xmlns:p14="http://schemas.microsoft.com/office/powerpoint/2010/main" val="16185011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Synchronizing Microsoft Project Plan Resources</a:t>
            </a:r>
          </a:p>
        </p:txBody>
      </p:sp>
      <p:sp>
        <p:nvSpPr>
          <p:cNvPr id="4" name="Rectangle 3"/>
          <p:cNvSpPr/>
          <p:nvPr/>
        </p:nvSpPr>
        <p:spPr>
          <a:xfrm>
            <a:off x="516835" y="1258957"/>
            <a:ext cx="11281010" cy="4047262"/>
          </a:xfrm>
          <a:prstGeom prst="rect">
            <a:avLst/>
          </a:prstGeom>
        </p:spPr>
        <p:txBody>
          <a:bodyPr wrap="square">
            <a:spAutoFit/>
          </a:bodyPr>
          <a:lstStyle/>
          <a:p>
            <a:endParaRPr lang="en-US" dirty="0"/>
          </a:p>
          <a:p>
            <a:r>
              <a:rPr lang="en-US" dirty="0"/>
              <a:t>Once all fields are entered and the plan is ready, the user is ready to push all activities(Work Items) into PTC Integrity.</a:t>
            </a:r>
          </a:p>
          <a:p>
            <a:pPr marL="285750" indent="-285750">
              <a:buFont typeface="Arial" panose="020B0604020202020204" pitchFamily="34" charset="0"/>
              <a:buChar char="•"/>
            </a:pPr>
            <a:r>
              <a:rPr lang="en-US" dirty="0"/>
              <a:t>This activity involves selecting all or particular tasks and syncing the tasks.</a:t>
            </a:r>
          </a:p>
          <a:p>
            <a:pPr marL="285750" indent="-285750">
              <a:buFont typeface="Arial" panose="020B0604020202020204" pitchFamily="34" charset="0"/>
              <a:buChar char="•"/>
            </a:pPr>
            <a:r>
              <a:rPr lang="en-US" dirty="0"/>
              <a:t>To push or automatically make work items in Integrity, follow the procedure given below:</a:t>
            </a:r>
          </a:p>
          <a:p>
            <a:pPr marL="742950" lvl="1" indent="-285750">
              <a:buFont typeface="Arial" panose="020B0604020202020204" pitchFamily="34" charset="0"/>
              <a:buChar char="•"/>
            </a:pPr>
            <a:r>
              <a:rPr lang="en-US" dirty="0"/>
              <a:t>Select the activities that are to be pushed to Integrity.</a:t>
            </a:r>
          </a:p>
          <a:p>
            <a:pPr marL="742950" lvl="1" indent="-285750">
              <a:buFont typeface="Arial" panose="020B0604020202020204" pitchFamily="34" charset="0"/>
              <a:buChar char="•"/>
            </a:pPr>
            <a:r>
              <a:rPr lang="en-US" dirty="0"/>
              <a:t>Go to Add-ins. </a:t>
            </a:r>
          </a:p>
          <a:p>
            <a:pPr marL="742950" lvl="1" indent="-285750">
              <a:buFont typeface="Arial" panose="020B0604020202020204" pitchFamily="34" charset="0"/>
              <a:buChar char="•"/>
            </a:pPr>
            <a:r>
              <a:rPr lang="en-US" dirty="0"/>
              <a:t>Click on PTC integrity Menu.</a:t>
            </a:r>
          </a:p>
          <a:p>
            <a:pPr marL="742950" lvl="1" indent="-285750">
              <a:buFont typeface="Arial" panose="020B0604020202020204" pitchFamily="34" charset="0"/>
              <a:buChar char="•"/>
            </a:pPr>
            <a:r>
              <a:rPr lang="en-US" dirty="0"/>
              <a:t>Click on “Synchronize Selected Tasks”.</a:t>
            </a:r>
          </a:p>
          <a:p>
            <a:pPr marL="742950" lvl="1" indent="-285750">
              <a:buFont typeface="Arial" panose="020B0604020202020204" pitchFamily="34" charset="0"/>
              <a:buChar char="•"/>
            </a:pPr>
            <a:r>
              <a:rPr lang="en-US" dirty="0"/>
              <a:t>An authentication window will appear wherein the user must enter his/her credentials</a:t>
            </a:r>
          </a:p>
          <a:p>
            <a:pPr lvl="1"/>
            <a:r>
              <a:rPr lang="en-US" dirty="0"/>
              <a:t>      and validate himself/herself as a valid user.</a:t>
            </a:r>
          </a:p>
          <a:p>
            <a:pPr marL="742950" lvl="1" indent="-285750">
              <a:buFont typeface="Arial" panose="020B0604020202020204" pitchFamily="34" charset="0"/>
              <a:buChar char="•"/>
            </a:pPr>
            <a:r>
              <a:rPr lang="en-US" dirty="0"/>
              <a:t>Enter username and password. Enter appropriate Hostname(Test Server IP) </a:t>
            </a:r>
          </a:p>
          <a:p>
            <a:pPr lvl="1"/>
            <a:r>
              <a:rPr lang="en-US" dirty="0"/>
              <a:t>     and Port. </a:t>
            </a:r>
          </a:p>
          <a:p>
            <a:pPr marL="742950" lvl="1" indent="-285750">
              <a:buFont typeface="Arial" panose="020B0604020202020204" pitchFamily="34" charset="0"/>
              <a:buChar char="•"/>
            </a:pPr>
            <a:r>
              <a:rPr lang="en-US" dirty="0"/>
              <a:t>Click on “OK”. </a:t>
            </a:r>
          </a:p>
          <a:p>
            <a:pPr marL="285750" indent="-285750">
              <a:spcBef>
                <a:spcPts val="600"/>
              </a:spcBef>
              <a:spcAft>
                <a:spcPts val="600"/>
              </a:spcAft>
              <a:buFont typeface="Arial" panose="020B0604020202020204" pitchFamily="34" charset="0"/>
              <a:buChar char="•"/>
            </a:pP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1048" y="2502094"/>
            <a:ext cx="2580952" cy="3638095"/>
          </a:xfrm>
          <a:prstGeom prst="rect">
            <a:avLst/>
          </a:prstGeom>
        </p:spPr>
      </p:pic>
    </p:spTree>
    <p:extLst>
      <p:ext uri="{BB962C8B-B14F-4D97-AF65-F5344CB8AC3E}">
        <p14:creationId xmlns:p14="http://schemas.microsoft.com/office/powerpoint/2010/main" val="26031645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Synchronizing Microsoft Project Plan Resources</a:t>
            </a:r>
          </a:p>
        </p:txBody>
      </p:sp>
      <p:sp>
        <p:nvSpPr>
          <p:cNvPr id="4" name="Rectangle 3"/>
          <p:cNvSpPr/>
          <p:nvPr/>
        </p:nvSpPr>
        <p:spPr>
          <a:xfrm>
            <a:off x="516835" y="1258957"/>
            <a:ext cx="11281010" cy="2385268"/>
          </a:xfrm>
          <a:prstGeom prst="rect">
            <a:avLst/>
          </a:prstGeom>
        </p:spPr>
        <p:txBody>
          <a:bodyPr wrap="square">
            <a:spAutoFit/>
          </a:bodyPr>
          <a:lstStyle/>
          <a:p>
            <a:endParaRPr lang="en-US" dirty="0"/>
          </a:p>
          <a:p>
            <a:endParaRPr lang="en-US" dirty="0"/>
          </a:p>
          <a:p>
            <a:pPr marL="285750" indent="-285750">
              <a:buFont typeface="Arial" panose="020B0604020202020204" pitchFamily="34" charset="0"/>
              <a:buChar char="•"/>
            </a:pPr>
            <a:r>
              <a:rPr lang="en-US" dirty="0"/>
              <a:t>After clicking on “OK”, all or selected work items will start synchronizing to PTC Integrity.</a:t>
            </a:r>
          </a:p>
          <a:p>
            <a:pPr marL="285750" indent="-285750">
              <a:buFont typeface="Arial" panose="020B0604020202020204" pitchFamily="34" charset="0"/>
              <a:buChar char="•"/>
            </a:pPr>
            <a:r>
              <a:rPr lang="en-US" dirty="0"/>
              <a:t>After the sync is successful, a symbol          will appear besides the activities that are synchronized. </a:t>
            </a:r>
          </a:p>
          <a:p>
            <a:endParaRPr lang="en-US" dirty="0"/>
          </a:p>
          <a:p>
            <a:pPr marL="285750" indent="-285750">
              <a:buFont typeface="Arial" panose="020B0604020202020204" pitchFamily="34" charset="0"/>
              <a:buChar char="•"/>
            </a:pPr>
            <a:r>
              <a:rPr lang="en-US" dirty="0"/>
              <a:t>It indicates that the work items corresponding to the activities in MS Project have been successfully created in Integrity. </a:t>
            </a:r>
          </a:p>
          <a:p>
            <a:pPr>
              <a:spcBef>
                <a:spcPts val="600"/>
              </a:spcBef>
              <a:spcAft>
                <a:spcPts val="600"/>
              </a:spcAft>
            </a:pPr>
            <a:endParaRPr lang="en-US" dirty="0"/>
          </a:p>
        </p:txBody>
      </p:sp>
      <p:pic>
        <p:nvPicPr>
          <p:cNvPr id="3" name="Picture 2"/>
          <p:cNvPicPr>
            <a:picLocks noChangeAspect="1"/>
          </p:cNvPicPr>
          <p:nvPr/>
        </p:nvPicPr>
        <p:blipFill>
          <a:blip r:embed="rId2"/>
          <a:stretch>
            <a:fillRect/>
          </a:stretch>
        </p:blipFill>
        <p:spPr>
          <a:xfrm>
            <a:off x="3147196" y="3367226"/>
            <a:ext cx="4196139" cy="2667814"/>
          </a:xfrm>
          <a:prstGeom prst="rect">
            <a:avLst/>
          </a:prstGeom>
        </p:spPr>
      </p:pic>
      <p:pic>
        <p:nvPicPr>
          <p:cNvPr id="6" name="Picture 5"/>
          <p:cNvPicPr>
            <a:picLocks noChangeAspect="1"/>
          </p:cNvPicPr>
          <p:nvPr/>
        </p:nvPicPr>
        <p:blipFill>
          <a:blip r:embed="rId3"/>
          <a:stretch>
            <a:fillRect/>
          </a:stretch>
        </p:blipFill>
        <p:spPr>
          <a:xfrm>
            <a:off x="4236344" y="2097203"/>
            <a:ext cx="480655" cy="431775"/>
          </a:xfrm>
          <a:prstGeom prst="rect">
            <a:avLst/>
          </a:prstGeom>
        </p:spPr>
      </p:pic>
    </p:spTree>
    <p:extLst>
      <p:ext uri="{BB962C8B-B14F-4D97-AF65-F5344CB8AC3E}">
        <p14:creationId xmlns:p14="http://schemas.microsoft.com/office/powerpoint/2010/main" val="8868767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Looking for created Work items in Integrity</a:t>
            </a:r>
          </a:p>
        </p:txBody>
      </p:sp>
      <p:sp>
        <p:nvSpPr>
          <p:cNvPr id="4" name="Rectangle 3"/>
          <p:cNvSpPr/>
          <p:nvPr/>
        </p:nvSpPr>
        <p:spPr>
          <a:xfrm>
            <a:off x="516835" y="1258957"/>
            <a:ext cx="11281010" cy="2385268"/>
          </a:xfrm>
          <a:prstGeom prst="rect">
            <a:avLst/>
          </a:prstGeom>
        </p:spPr>
        <p:txBody>
          <a:bodyPr wrap="square">
            <a:spAutoFit/>
          </a:bodyPr>
          <a:lstStyle/>
          <a:p>
            <a:endParaRPr lang="en-US" dirty="0"/>
          </a:p>
          <a:p>
            <a:pPr marL="285750" indent="-285750">
              <a:buFont typeface="Arial" panose="020B0604020202020204" pitchFamily="34" charset="0"/>
              <a:buChar char="•"/>
            </a:pPr>
            <a:r>
              <a:rPr lang="en-US" dirty="0"/>
              <a:t>To view the work items created for the project through MS Project, the user may login to PTC Integrity.</a:t>
            </a:r>
          </a:p>
          <a:p>
            <a:pPr marL="285750" indent="-285750">
              <a:buFont typeface="Arial" panose="020B0604020202020204" pitchFamily="34" charset="0"/>
              <a:buChar char="•"/>
            </a:pPr>
            <a:r>
              <a:rPr lang="en-US" dirty="0"/>
              <a:t>Steps to view work items in Integrity:</a:t>
            </a:r>
          </a:p>
          <a:p>
            <a:pPr marL="742950" lvl="1" indent="-285750">
              <a:buFont typeface="Arial" panose="020B0604020202020204" pitchFamily="34" charset="0"/>
              <a:buChar char="•"/>
            </a:pPr>
            <a:r>
              <a:rPr lang="en-US" dirty="0"/>
              <a:t>Login to PTC Integrity.</a:t>
            </a:r>
          </a:p>
          <a:p>
            <a:pPr marL="742950" lvl="1" indent="-285750">
              <a:buFont typeface="Arial" panose="020B0604020202020204" pitchFamily="34" charset="0"/>
              <a:buChar char="•"/>
            </a:pPr>
            <a:r>
              <a:rPr lang="en-US" dirty="0"/>
              <a:t>Go to “Query” menu.</a:t>
            </a:r>
          </a:p>
          <a:p>
            <a:pPr marL="742950" lvl="1" indent="-285750">
              <a:buFont typeface="Arial" panose="020B0604020202020204" pitchFamily="34" charset="0"/>
              <a:buChar char="•"/>
            </a:pPr>
            <a:r>
              <a:rPr lang="en-US" dirty="0"/>
              <a:t>Select “Manage Queries”.</a:t>
            </a:r>
          </a:p>
          <a:p>
            <a:pPr marL="742950" lvl="1" indent="-285750">
              <a:buFont typeface="Arial" panose="020B0604020202020204" pitchFamily="34" charset="0"/>
              <a:buChar char="•"/>
            </a:pPr>
            <a:r>
              <a:rPr lang="en-US" dirty="0"/>
              <a:t>In the search bar, type “All Work Items”. Double click on it to open. </a:t>
            </a:r>
          </a:p>
          <a:p>
            <a:pPr marL="285750" indent="-285750">
              <a:spcBef>
                <a:spcPts val="600"/>
              </a:spcBef>
              <a:spcAft>
                <a:spcPts val="600"/>
              </a:spcAft>
              <a:buFont typeface="Arial" panose="020B0604020202020204" pitchFamily="34" charset="0"/>
              <a:buChar char="•"/>
            </a:pPr>
            <a:endParaRPr lang="en-US" dirty="0"/>
          </a:p>
        </p:txBody>
      </p:sp>
      <p:pic>
        <p:nvPicPr>
          <p:cNvPr id="6" name="Picture 5"/>
          <p:cNvPicPr>
            <a:picLocks noChangeAspect="1"/>
          </p:cNvPicPr>
          <p:nvPr/>
        </p:nvPicPr>
        <p:blipFill>
          <a:blip r:embed="rId2"/>
          <a:stretch>
            <a:fillRect/>
          </a:stretch>
        </p:blipFill>
        <p:spPr>
          <a:xfrm>
            <a:off x="2325436" y="3658984"/>
            <a:ext cx="6171450" cy="2460461"/>
          </a:xfrm>
          <a:prstGeom prst="rect">
            <a:avLst/>
          </a:prstGeom>
        </p:spPr>
      </p:pic>
    </p:spTree>
    <p:extLst>
      <p:ext uri="{BB962C8B-B14F-4D97-AF65-F5344CB8AC3E}">
        <p14:creationId xmlns:p14="http://schemas.microsoft.com/office/powerpoint/2010/main" val="5631063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Looking for created Work items in Integrity</a:t>
            </a:r>
          </a:p>
        </p:txBody>
      </p:sp>
      <p:sp>
        <p:nvSpPr>
          <p:cNvPr id="7" name="Rectangle 6"/>
          <p:cNvSpPr/>
          <p:nvPr/>
        </p:nvSpPr>
        <p:spPr>
          <a:xfrm>
            <a:off x="612032" y="734019"/>
            <a:ext cx="11049771" cy="3693319"/>
          </a:xfrm>
          <a:prstGeom prst="rect">
            <a:avLst/>
          </a:prstGeom>
        </p:spPr>
        <p:txBody>
          <a:bodyPr wrap="square">
            <a:spAutoFit/>
          </a:bodyPr>
          <a:lstStyle/>
          <a:p>
            <a:endParaRPr lang="en-US" dirty="0"/>
          </a:p>
          <a:p>
            <a:endParaRPr lang="en-US" dirty="0"/>
          </a:p>
          <a:p>
            <a:pPr marL="285750" indent="-285750">
              <a:buFont typeface="Arial" panose="020B0604020202020204" pitchFamily="34" charset="0"/>
              <a:buChar char="•"/>
            </a:pPr>
            <a:r>
              <a:rPr lang="en-US" dirty="0"/>
              <a:t>After you click on “All Work Items”, a list of work items will be</a:t>
            </a:r>
          </a:p>
          <a:p>
            <a:r>
              <a:rPr lang="en-US" dirty="0"/>
              <a:t>      displayed.</a:t>
            </a:r>
          </a:p>
          <a:p>
            <a:pPr marL="285750" indent="-285750">
              <a:buFont typeface="Arial" panose="020B0604020202020204" pitchFamily="34" charset="0"/>
              <a:buChar char="•"/>
            </a:pPr>
            <a:r>
              <a:rPr lang="en-US" dirty="0"/>
              <a:t>In order to sort the work items based on a particular project:</a:t>
            </a:r>
          </a:p>
          <a:p>
            <a:pPr marL="285750" indent="-285750">
              <a:buFont typeface="Arial" panose="020B0604020202020204" pitchFamily="34" charset="0"/>
              <a:buChar char="•"/>
            </a:pPr>
            <a:r>
              <a:rPr lang="en-US" dirty="0"/>
              <a:t>Click on “where” filter. Located below Query bar.</a:t>
            </a:r>
          </a:p>
          <a:p>
            <a:pPr marL="285750" indent="-285750">
              <a:buFont typeface="Arial" panose="020B0604020202020204" pitchFamily="34" charset="0"/>
              <a:buChar char="•"/>
            </a:pPr>
            <a:r>
              <a:rPr lang="en-US" dirty="0"/>
              <a:t>From the list of options select “Project” as shown.</a:t>
            </a:r>
          </a:p>
          <a:p>
            <a:pPr marL="285750" indent="-285750">
              <a:buFont typeface="Arial" panose="020B0604020202020204" pitchFamily="34" charset="0"/>
              <a:buChar char="•"/>
            </a:pPr>
            <a:r>
              <a:rPr lang="en-US" dirty="0"/>
              <a:t>A window will appear. Click on the dropdown button.</a:t>
            </a:r>
          </a:p>
          <a:p>
            <a:pPr marL="285750" indent="-285750">
              <a:buFont typeface="Arial" panose="020B0604020202020204" pitchFamily="34" charset="0"/>
              <a:buChar char="•"/>
            </a:pPr>
            <a:r>
              <a:rPr lang="en-US" dirty="0"/>
              <a:t>From the list of all project search and select required </a:t>
            </a:r>
          </a:p>
          <a:p>
            <a:r>
              <a:rPr lang="en-US" dirty="0"/>
              <a:t>      Project by double clicking.</a:t>
            </a:r>
          </a:p>
          <a:p>
            <a:pPr marL="285750" indent="-285750">
              <a:buFont typeface="Arial" panose="020B0604020202020204" pitchFamily="34" charset="0"/>
              <a:buChar char="•"/>
            </a:pPr>
            <a:r>
              <a:rPr lang="en-US" dirty="0"/>
              <a:t>Click on “OK”.</a:t>
            </a:r>
          </a:p>
          <a:p>
            <a:pPr marL="285750" indent="-285750">
              <a:buFont typeface="Arial" panose="020B0604020202020204" pitchFamily="34" charset="0"/>
              <a:buChar char="•"/>
            </a:pPr>
            <a:r>
              <a:rPr lang="en-US" dirty="0"/>
              <a:t>List of Work Items will appear that are related to the</a:t>
            </a:r>
          </a:p>
          <a:p>
            <a:r>
              <a:rPr lang="en-US" dirty="0"/>
              <a:t>      selected project as shown below. </a:t>
            </a:r>
          </a:p>
        </p:txBody>
      </p:sp>
      <p:pic>
        <p:nvPicPr>
          <p:cNvPr id="4" name="Picture 3"/>
          <p:cNvPicPr>
            <a:picLocks noChangeAspect="1"/>
          </p:cNvPicPr>
          <p:nvPr/>
        </p:nvPicPr>
        <p:blipFill>
          <a:blip r:embed="rId2"/>
          <a:stretch>
            <a:fillRect/>
          </a:stretch>
        </p:blipFill>
        <p:spPr>
          <a:xfrm>
            <a:off x="7279371" y="3503588"/>
            <a:ext cx="4048125" cy="2495550"/>
          </a:xfrm>
          <a:prstGeom prst="rect">
            <a:avLst/>
          </a:prstGeom>
        </p:spPr>
      </p:pic>
      <p:pic>
        <p:nvPicPr>
          <p:cNvPr id="5" name="Picture 4"/>
          <p:cNvPicPr>
            <a:picLocks noChangeAspect="1"/>
          </p:cNvPicPr>
          <p:nvPr/>
        </p:nvPicPr>
        <p:blipFill>
          <a:blip r:embed="rId3"/>
          <a:stretch>
            <a:fillRect/>
          </a:stretch>
        </p:blipFill>
        <p:spPr>
          <a:xfrm>
            <a:off x="6933457" y="701986"/>
            <a:ext cx="5057775" cy="2771775"/>
          </a:xfrm>
          <a:prstGeom prst="rect">
            <a:avLst/>
          </a:prstGeom>
        </p:spPr>
      </p:pic>
    </p:spTree>
    <p:extLst>
      <p:ext uri="{BB962C8B-B14F-4D97-AF65-F5344CB8AC3E}">
        <p14:creationId xmlns:p14="http://schemas.microsoft.com/office/powerpoint/2010/main" val="40251454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AE2331-9E5D-4002-95F6-18F5524470BF}"/>
              </a:ext>
            </a:extLst>
          </p:cNvPr>
          <p:cNvSpPr/>
          <p:nvPr/>
        </p:nvSpPr>
        <p:spPr>
          <a:xfrm>
            <a:off x="0" y="13251"/>
            <a:ext cx="12192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endParaRPr lang="en-US" sz="1351" dirty="0">
              <a:solidFill>
                <a:srgbClr val="FFFFFF"/>
              </a:solidFill>
              <a:latin typeface="Calibri"/>
            </a:endParaRPr>
          </a:p>
        </p:txBody>
      </p:sp>
      <p:sp>
        <p:nvSpPr>
          <p:cNvPr id="33" name="Rectangle 32"/>
          <p:cNvSpPr/>
          <p:nvPr/>
        </p:nvSpPr>
        <p:spPr>
          <a:xfrm>
            <a:off x="0" y="13251"/>
            <a:ext cx="12192000" cy="6858000"/>
          </a:xfrm>
          <a:prstGeom prst="rect">
            <a:avLst/>
          </a:prstGeom>
          <a:solidFill>
            <a:schemeClr val="tx1">
              <a:lumMod val="95000"/>
              <a:lumOff val="5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2">
              <a:defRPr/>
            </a:pPr>
            <a:endParaRPr lang="en-US" sz="1351" dirty="0">
              <a:solidFill>
                <a:srgbClr val="FFFFFF"/>
              </a:solidFill>
              <a:latin typeface="Calibri"/>
            </a:endParaRPr>
          </a:p>
        </p:txBody>
      </p:sp>
      <p:sp>
        <p:nvSpPr>
          <p:cNvPr id="20" name="Text Placeholder 4">
            <a:extLst>
              <a:ext uri="{FF2B5EF4-FFF2-40B4-BE49-F238E27FC236}">
                <a16:creationId xmlns:a16="http://schemas.microsoft.com/office/drawing/2014/main" id="{28C5F6E7-2567-4C4E-8288-40A604867A15}"/>
              </a:ext>
            </a:extLst>
          </p:cNvPr>
          <p:cNvSpPr txBox="1">
            <a:spLocks/>
          </p:cNvSpPr>
          <p:nvPr/>
        </p:nvSpPr>
        <p:spPr>
          <a:xfrm>
            <a:off x="1179443" y="2160104"/>
            <a:ext cx="9554819" cy="993914"/>
          </a:xfrm>
          <a:prstGeom prst="parallelogram">
            <a:avLst/>
          </a:prstGeom>
          <a:solidFill>
            <a:srgbClr val="1F1A17">
              <a:alpha val="69804"/>
            </a:srgbClr>
          </a:solidFill>
        </p:spPr>
        <p:txBody>
          <a:bodyPr vert="horz" lIns="48000" tIns="96000" rIns="48000" bIns="48000" rtlCol="0" anchor="ctr">
            <a:noAutofit/>
          </a:bodyPr>
          <a:lstStyle>
            <a:defPPr>
              <a:defRPr lang="en-US"/>
            </a:defPPr>
            <a:lvl1pPr marR="0" lvl="0" indent="0" defTabSz="1625358" fontAlgn="auto">
              <a:lnSpc>
                <a:spcPct val="90000"/>
              </a:lnSpc>
              <a:spcBef>
                <a:spcPts val="1777"/>
              </a:spcBef>
              <a:spcAft>
                <a:spcPts val="0"/>
              </a:spcAft>
              <a:buClrTx/>
              <a:buSzTx/>
              <a:buFontTx/>
              <a:buNone/>
              <a:tabLst>
                <a:tab pos="428927" algn="l"/>
              </a:tabLst>
              <a:defRPr kumimoji="0" sz="1867" b="1" i="0" u="none" strike="noStrike" cap="none" spc="0" normalizeH="0" baseline="0">
                <a:ln>
                  <a:noFill/>
                </a:ln>
                <a:solidFill>
                  <a:srgbClr val="FFCC29"/>
                </a:solidFill>
                <a:effectLst/>
                <a:uLnTx/>
                <a:uFillTx/>
                <a:latin typeface="Calibri"/>
              </a:defRPr>
            </a:lvl1pPr>
            <a:lvl2pPr marL="685750" marR="0" indent="-228584" defTabSz="914332" fontAlgn="auto">
              <a:lnSpc>
                <a:spcPct val="90000"/>
              </a:lnSpc>
              <a:spcBef>
                <a:spcPts val="500"/>
              </a:spcBef>
              <a:spcAft>
                <a:spcPts val="0"/>
              </a:spcAft>
              <a:buClrTx/>
              <a:buSzTx/>
              <a:buFontTx/>
              <a:buBlip>
                <a:blip r:embed="rId3"/>
              </a:buBlip>
              <a:tabLst>
                <a:tab pos="241289" algn="l"/>
              </a:tabLst>
              <a:defRPr sz="2400">
                <a:solidFill>
                  <a:schemeClr val="tx1">
                    <a:lumMod val="75000"/>
                    <a:lumOff val="25000"/>
                  </a:schemeClr>
                </a:solidFill>
              </a:defRPr>
            </a:lvl2pPr>
            <a:lvl3pPr marL="1142914" marR="0" indent="-228584" defTabSz="914332" fontAlgn="auto">
              <a:lnSpc>
                <a:spcPct val="90000"/>
              </a:lnSpc>
              <a:spcBef>
                <a:spcPts val="500"/>
              </a:spcBef>
              <a:spcAft>
                <a:spcPts val="0"/>
              </a:spcAft>
              <a:buClrTx/>
              <a:buSzTx/>
              <a:buFontTx/>
              <a:buBlip>
                <a:blip r:embed="rId3"/>
              </a:buBlip>
              <a:tabLst>
                <a:tab pos="241289" algn="l"/>
              </a:tabLst>
              <a:defRPr sz="2000">
                <a:solidFill>
                  <a:schemeClr val="tx1">
                    <a:lumMod val="75000"/>
                    <a:lumOff val="25000"/>
                  </a:schemeClr>
                </a:solidFill>
              </a:defRPr>
            </a:lvl3pPr>
            <a:lvl4pPr marL="1600080"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4pPr>
            <a:lvl5pPr marL="2057247"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5pPr>
            <a:lvl6pPr marL="2514412" indent="-228584" defTabSz="914332">
              <a:lnSpc>
                <a:spcPct val="90000"/>
              </a:lnSpc>
              <a:spcBef>
                <a:spcPts val="500"/>
              </a:spcBef>
              <a:buFont typeface="Arial"/>
              <a:buChar char="•"/>
              <a:defRPr sz="1867"/>
            </a:lvl6pPr>
            <a:lvl7pPr marL="2971578" indent="-228584" defTabSz="914332">
              <a:lnSpc>
                <a:spcPct val="90000"/>
              </a:lnSpc>
              <a:spcBef>
                <a:spcPts val="500"/>
              </a:spcBef>
              <a:buFont typeface="Arial"/>
              <a:buChar char="•"/>
              <a:defRPr sz="1867"/>
            </a:lvl7pPr>
            <a:lvl8pPr marL="3428744" indent="-228584" defTabSz="914332">
              <a:lnSpc>
                <a:spcPct val="90000"/>
              </a:lnSpc>
              <a:spcBef>
                <a:spcPts val="500"/>
              </a:spcBef>
              <a:buFont typeface="Arial"/>
              <a:buChar char="•"/>
              <a:defRPr sz="1867"/>
            </a:lvl8pPr>
            <a:lvl9pPr marL="3885910" indent="-228584" defTabSz="914332">
              <a:lnSpc>
                <a:spcPct val="90000"/>
              </a:lnSpc>
              <a:spcBef>
                <a:spcPts val="500"/>
              </a:spcBef>
              <a:buFont typeface="Arial"/>
              <a:buChar char="•"/>
              <a:defRPr sz="1867"/>
            </a:lvl9pPr>
          </a:lstStyle>
          <a:p>
            <a:r>
              <a:rPr lang="en-US" sz="2400" dirty="0"/>
              <a:t>Monitoring Activities in Project</a:t>
            </a:r>
            <a:r>
              <a:rPr lang="en-US" dirty="0"/>
              <a:t> </a:t>
            </a:r>
            <a:endParaRPr lang="en-US" sz="2400" dirty="0"/>
          </a:p>
        </p:txBody>
      </p:sp>
      <p:sp>
        <p:nvSpPr>
          <p:cNvPr id="24" name="Text Placeholder 6">
            <a:extLst>
              <a:ext uri="{FF2B5EF4-FFF2-40B4-BE49-F238E27FC236}">
                <a16:creationId xmlns:a16="http://schemas.microsoft.com/office/drawing/2014/main" id="{999EE348-DCFE-48B2-824C-148A5F3249BB}"/>
              </a:ext>
            </a:extLst>
          </p:cNvPr>
          <p:cNvSpPr txBox="1">
            <a:spLocks/>
          </p:cNvSpPr>
          <p:nvPr/>
        </p:nvSpPr>
        <p:spPr>
          <a:xfrm>
            <a:off x="231775" y="174172"/>
            <a:ext cx="4760913" cy="784225"/>
          </a:xfrm>
          <a:prstGeom prst="rect">
            <a:avLst/>
          </a:prstGeom>
        </p:spPr>
        <p:txBody>
          <a:bodyPr/>
          <a:lstStyle>
            <a:lvl1pPr marL="228589" marR="0" indent="-228589" algn="l" defTabSz="914354" rtl="0" eaLnBrk="1" fontAlgn="auto" latinLnBrk="0" hangingPunct="1">
              <a:lnSpc>
                <a:spcPct val="90000"/>
              </a:lnSpc>
              <a:spcBef>
                <a:spcPts val="1000"/>
              </a:spcBef>
              <a:spcAft>
                <a:spcPts val="0"/>
              </a:spcAft>
              <a:buClrTx/>
              <a:buSzTx/>
              <a:buFontTx/>
              <a:buBlip>
                <a:blip r:embed="rId3"/>
              </a:buBlip>
              <a:tabLst>
                <a:tab pos="241294" algn="l"/>
              </a:tabLst>
              <a:defRPr lang="en-US" sz="2800" kern="1200" smtClean="0">
                <a:solidFill>
                  <a:schemeClr val="tx1">
                    <a:lumMod val="75000"/>
                    <a:lumOff val="25000"/>
                  </a:schemeClr>
                </a:solidFill>
                <a:latin typeface="+mn-lt"/>
                <a:ea typeface="+mn-ea"/>
                <a:cs typeface="+mn-cs"/>
              </a:defRPr>
            </a:lvl1pPr>
            <a:lvl2pPr marL="685766"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400" kern="1200" smtClean="0">
                <a:solidFill>
                  <a:schemeClr val="tx1">
                    <a:lumMod val="75000"/>
                    <a:lumOff val="25000"/>
                  </a:schemeClr>
                </a:solidFill>
                <a:latin typeface="+mn-lt"/>
                <a:ea typeface="+mn-ea"/>
                <a:cs typeface="+mn-cs"/>
              </a:defRPr>
            </a:lvl2pPr>
            <a:lvl3pPr marL="1142942"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000" kern="1200" smtClean="0">
                <a:solidFill>
                  <a:schemeClr val="tx1">
                    <a:lumMod val="75000"/>
                    <a:lumOff val="25000"/>
                  </a:schemeClr>
                </a:solidFill>
                <a:latin typeface="+mn-lt"/>
                <a:ea typeface="+mn-ea"/>
                <a:cs typeface="+mn-cs"/>
              </a:defRPr>
            </a:lvl3pPr>
            <a:lvl4pPr marL="1600120"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smtClean="0">
                <a:solidFill>
                  <a:schemeClr val="tx1">
                    <a:lumMod val="75000"/>
                    <a:lumOff val="25000"/>
                  </a:schemeClr>
                </a:solidFill>
                <a:latin typeface="+mn-lt"/>
                <a:ea typeface="+mn-ea"/>
                <a:cs typeface="+mn-cs"/>
              </a:defRPr>
            </a:lvl4pPr>
            <a:lvl5pPr marL="2057298"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a:solidFill>
                  <a:schemeClr val="tx1">
                    <a:lumMod val="75000"/>
                    <a:lumOff val="25000"/>
                  </a:schemeClr>
                </a:solidFill>
                <a:latin typeface="+mn-lt"/>
                <a:ea typeface="+mn-ea"/>
                <a:cs typeface="+mn-cs"/>
              </a:defRPr>
            </a:lvl5pPr>
            <a:lvl6pPr marL="2514474"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9pPr>
          </a:lstStyle>
          <a:p>
            <a:pPr marL="0" indent="0">
              <a:buNone/>
            </a:pPr>
            <a:endParaRPr lang="en-US" sz="3200" dirty="0">
              <a:solidFill>
                <a:schemeClr val="bg1"/>
              </a:solidFill>
            </a:endParaRPr>
          </a:p>
        </p:txBody>
      </p:sp>
    </p:spTree>
    <p:extLst>
      <p:ext uri="{BB962C8B-B14F-4D97-AF65-F5344CB8AC3E}">
        <p14:creationId xmlns:p14="http://schemas.microsoft.com/office/powerpoint/2010/main" val="216303686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Synchronizing Microsoft Project Plan Resources</a:t>
            </a:r>
          </a:p>
        </p:txBody>
      </p:sp>
      <p:sp>
        <p:nvSpPr>
          <p:cNvPr id="7" name="Rectangle 6"/>
          <p:cNvSpPr/>
          <p:nvPr/>
        </p:nvSpPr>
        <p:spPr>
          <a:xfrm>
            <a:off x="612033" y="734019"/>
            <a:ext cx="11049770" cy="3693319"/>
          </a:xfrm>
          <a:prstGeom prst="rect">
            <a:avLst/>
          </a:prstGeom>
        </p:spPr>
        <p:txBody>
          <a:bodyPr wrap="square">
            <a:spAutoFit/>
          </a:bodyPr>
          <a:lstStyle/>
          <a:p>
            <a:pPr marL="285750" indent="-285750">
              <a:buFont typeface="Arial" panose="020B0604020202020204" pitchFamily="34" charset="0"/>
              <a:buChar char="•"/>
            </a:pPr>
            <a:endParaRPr lang="en-US" dirty="0"/>
          </a:p>
          <a:p>
            <a:endParaRPr lang="en-US" dirty="0"/>
          </a:p>
          <a:p>
            <a:pPr marL="285750" indent="-285750" algn="just">
              <a:buFont typeface="Arial" panose="020B0604020202020204" pitchFamily="34" charset="0"/>
              <a:buChar char="•"/>
            </a:pPr>
            <a:r>
              <a:rPr lang="en-US" dirty="0"/>
              <a:t>After the initial task of pushing work items in Integrity,</a:t>
            </a:r>
          </a:p>
          <a:p>
            <a:pPr algn="just"/>
            <a:r>
              <a:rPr lang="en-US" dirty="0"/>
              <a:t>     the following task on Managers is to closely monitor the project.</a:t>
            </a:r>
          </a:p>
          <a:p>
            <a:pPr marL="285750" indent="-285750" algn="just">
              <a:buFont typeface="Arial" panose="020B0604020202020204" pitchFamily="34" charset="0"/>
              <a:buChar char="•"/>
            </a:pPr>
            <a:r>
              <a:rPr lang="en-US" dirty="0"/>
              <a:t>This can be done by monitoring all the work items in  Project itself.</a:t>
            </a:r>
          </a:p>
          <a:p>
            <a:pPr marL="742950" lvl="1" indent="-285750" algn="just">
              <a:buFont typeface="Arial" panose="020B0604020202020204" pitchFamily="34" charset="0"/>
              <a:buChar char="•"/>
            </a:pPr>
            <a:r>
              <a:rPr lang="en-US" dirty="0"/>
              <a:t>To monitor the work items, do the following steps:</a:t>
            </a:r>
          </a:p>
          <a:p>
            <a:pPr marL="742950" lvl="1" indent="-285750" algn="just">
              <a:buFont typeface="Arial" panose="020B0604020202020204" pitchFamily="34" charset="0"/>
              <a:buChar char="•"/>
            </a:pPr>
            <a:r>
              <a:rPr lang="en-US" dirty="0"/>
              <a:t>Select the work items whose status (State) needs  to be </a:t>
            </a:r>
          </a:p>
          <a:p>
            <a:pPr lvl="1" algn="just"/>
            <a:r>
              <a:rPr lang="en-US" dirty="0"/>
              <a:t>      monitored.</a:t>
            </a:r>
          </a:p>
          <a:p>
            <a:pPr marL="742950" lvl="1" indent="-285750" algn="just">
              <a:buFont typeface="Arial" panose="020B0604020202020204" pitchFamily="34" charset="0"/>
              <a:buChar char="•"/>
            </a:pPr>
            <a:r>
              <a:rPr lang="en-US" dirty="0"/>
              <a:t>Go to Add-ins. </a:t>
            </a:r>
          </a:p>
          <a:p>
            <a:pPr marL="742950" lvl="1" indent="-285750" algn="just">
              <a:buFont typeface="Arial" panose="020B0604020202020204" pitchFamily="34" charset="0"/>
              <a:buChar char="•"/>
            </a:pPr>
            <a:r>
              <a:rPr lang="en-US" dirty="0"/>
              <a:t>Click on PTC integrity Menu.</a:t>
            </a:r>
          </a:p>
          <a:p>
            <a:pPr marL="742950" lvl="1" indent="-285750" algn="just">
              <a:buFont typeface="Arial" panose="020B0604020202020204" pitchFamily="34" charset="0"/>
              <a:buChar char="•"/>
            </a:pPr>
            <a:r>
              <a:rPr lang="en-US" dirty="0"/>
              <a:t>Click on “Synchronize Selected Tasks”.</a:t>
            </a:r>
          </a:p>
          <a:p>
            <a:pPr marL="285750" indent="-285750" algn="just">
              <a:buFont typeface="Arial" panose="020B0604020202020204" pitchFamily="34" charset="0"/>
              <a:buChar char="•"/>
            </a:pPr>
            <a:r>
              <a:rPr lang="en-US" dirty="0"/>
              <a:t>Notice the change of states in the work items selected. </a:t>
            </a:r>
          </a:p>
          <a:p>
            <a:endParaRPr lang="en-US" dirty="0"/>
          </a:p>
        </p:txBody>
      </p:sp>
      <p:pic>
        <p:nvPicPr>
          <p:cNvPr id="3" name="Picture 2"/>
          <p:cNvPicPr>
            <a:picLocks noChangeAspect="1"/>
          </p:cNvPicPr>
          <p:nvPr/>
        </p:nvPicPr>
        <p:blipFill>
          <a:blip r:embed="rId2"/>
          <a:stretch>
            <a:fillRect/>
          </a:stretch>
        </p:blipFill>
        <p:spPr>
          <a:xfrm>
            <a:off x="612032" y="4832627"/>
            <a:ext cx="9251000" cy="1272375"/>
          </a:xfrm>
          <a:prstGeom prst="rect">
            <a:avLst/>
          </a:prstGeom>
        </p:spPr>
      </p:pic>
      <p:pic>
        <p:nvPicPr>
          <p:cNvPr id="10" name="Picture 9"/>
          <p:cNvPicPr>
            <a:picLocks noChangeAspect="1"/>
          </p:cNvPicPr>
          <p:nvPr/>
        </p:nvPicPr>
        <p:blipFill>
          <a:blip r:embed="rId3"/>
          <a:stretch>
            <a:fillRect/>
          </a:stretch>
        </p:blipFill>
        <p:spPr>
          <a:xfrm>
            <a:off x="7463454" y="1384274"/>
            <a:ext cx="4527778" cy="2242969"/>
          </a:xfrm>
          <a:prstGeom prst="rect">
            <a:avLst/>
          </a:prstGeom>
        </p:spPr>
      </p:pic>
    </p:spTree>
    <p:extLst>
      <p:ext uri="{BB962C8B-B14F-4D97-AF65-F5344CB8AC3E}">
        <p14:creationId xmlns:p14="http://schemas.microsoft.com/office/powerpoint/2010/main" val="32123873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AE2331-9E5D-4002-95F6-18F5524470BF}"/>
              </a:ext>
            </a:extLst>
          </p:cNvPr>
          <p:cNvSpPr/>
          <p:nvPr/>
        </p:nvSpPr>
        <p:spPr>
          <a:xfrm>
            <a:off x="0" y="13251"/>
            <a:ext cx="12192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endParaRPr lang="en-US" sz="1351" dirty="0">
              <a:solidFill>
                <a:srgbClr val="FFFFFF"/>
              </a:solidFill>
              <a:latin typeface="Calibri"/>
            </a:endParaRPr>
          </a:p>
        </p:txBody>
      </p:sp>
      <p:sp>
        <p:nvSpPr>
          <p:cNvPr id="33" name="Rectangle 32"/>
          <p:cNvSpPr/>
          <p:nvPr/>
        </p:nvSpPr>
        <p:spPr>
          <a:xfrm>
            <a:off x="0" y="13251"/>
            <a:ext cx="12192000" cy="6858000"/>
          </a:xfrm>
          <a:prstGeom prst="rect">
            <a:avLst/>
          </a:prstGeom>
          <a:solidFill>
            <a:schemeClr val="tx1">
              <a:lumMod val="95000"/>
              <a:lumOff val="5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2">
              <a:defRPr/>
            </a:pPr>
            <a:endParaRPr lang="en-US" sz="1351" dirty="0">
              <a:solidFill>
                <a:srgbClr val="FFFFFF"/>
              </a:solidFill>
              <a:latin typeface="Calibri"/>
            </a:endParaRPr>
          </a:p>
        </p:txBody>
      </p:sp>
      <p:sp>
        <p:nvSpPr>
          <p:cNvPr id="20" name="Text Placeholder 4">
            <a:extLst>
              <a:ext uri="{FF2B5EF4-FFF2-40B4-BE49-F238E27FC236}">
                <a16:creationId xmlns:a16="http://schemas.microsoft.com/office/drawing/2014/main" id="{28C5F6E7-2567-4C4E-8288-40A604867A15}"/>
              </a:ext>
            </a:extLst>
          </p:cNvPr>
          <p:cNvSpPr txBox="1">
            <a:spLocks/>
          </p:cNvSpPr>
          <p:nvPr/>
        </p:nvSpPr>
        <p:spPr>
          <a:xfrm>
            <a:off x="1179443" y="2160104"/>
            <a:ext cx="9554819" cy="993914"/>
          </a:xfrm>
          <a:prstGeom prst="parallelogram">
            <a:avLst/>
          </a:prstGeom>
          <a:solidFill>
            <a:srgbClr val="1F1A17">
              <a:alpha val="69804"/>
            </a:srgbClr>
          </a:solidFill>
        </p:spPr>
        <p:txBody>
          <a:bodyPr vert="horz" lIns="48000" tIns="96000" rIns="48000" bIns="48000" rtlCol="0" anchor="ctr">
            <a:noAutofit/>
          </a:bodyPr>
          <a:lstStyle>
            <a:defPPr>
              <a:defRPr lang="en-US"/>
            </a:defPPr>
            <a:lvl1pPr marR="0" lvl="0" indent="0" defTabSz="1625358" fontAlgn="auto">
              <a:lnSpc>
                <a:spcPct val="90000"/>
              </a:lnSpc>
              <a:spcBef>
                <a:spcPts val="1777"/>
              </a:spcBef>
              <a:spcAft>
                <a:spcPts val="0"/>
              </a:spcAft>
              <a:buClrTx/>
              <a:buSzTx/>
              <a:buFontTx/>
              <a:buNone/>
              <a:tabLst>
                <a:tab pos="428927" algn="l"/>
              </a:tabLst>
              <a:defRPr kumimoji="0" sz="1867" b="1" i="0" u="none" strike="noStrike" cap="none" spc="0" normalizeH="0" baseline="0">
                <a:ln>
                  <a:noFill/>
                </a:ln>
                <a:solidFill>
                  <a:srgbClr val="FFCC29"/>
                </a:solidFill>
                <a:effectLst/>
                <a:uLnTx/>
                <a:uFillTx/>
                <a:latin typeface="Calibri"/>
              </a:defRPr>
            </a:lvl1pPr>
            <a:lvl2pPr marL="685750" marR="0" indent="-228584" defTabSz="914332" fontAlgn="auto">
              <a:lnSpc>
                <a:spcPct val="90000"/>
              </a:lnSpc>
              <a:spcBef>
                <a:spcPts val="500"/>
              </a:spcBef>
              <a:spcAft>
                <a:spcPts val="0"/>
              </a:spcAft>
              <a:buClrTx/>
              <a:buSzTx/>
              <a:buFontTx/>
              <a:buBlip>
                <a:blip r:embed="rId3"/>
              </a:buBlip>
              <a:tabLst>
                <a:tab pos="241289" algn="l"/>
              </a:tabLst>
              <a:defRPr sz="2400">
                <a:solidFill>
                  <a:schemeClr val="tx1">
                    <a:lumMod val="75000"/>
                    <a:lumOff val="25000"/>
                  </a:schemeClr>
                </a:solidFill>
              </a:defRPr>
            </a:lvl2pPr>
            <a:lvl3pPr marL="1142914" marR="0" indent="-228584" defTabSz="914332" fontAlgn="auto">
              <a:lnSpc>
                <a:spcPct val="90000"/>
              </a:lnSpc>
              <a:spcBef>
                <a:spcPts val="500"/>
              </a:spcBef>
              <a:spcAft>
                <a:spcPts val="0"/>
              </a:spcAft>
              <a:buClrTx/>
              <a:buSzTx/>
              <a:buFontTx/>
              <a:buBlip>
                <a:blip r:embed="rId3"/>
              </a:buBlip>
              <a:tabLst>
                <a:tab pos="241289" algn="l"/>
              </a:tabLst>
              <a:defRPr sz="2000">
                <a:solidFill>
                  <a:schemeClr val="tx1">
                    <a:lumMod val="75000"/>
                    <a:lumOff val="25000"/>
                  </a:schemeClr>
                </a:solidFill>
              </a:defRPr>
            </a:lvl3pPr>
            <a:lvl4pPr marL="1600080"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4pPr>
            <a:lvl5pPr marL="2057247"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5pPr>
            <a:lvl6pPr marL="2514412" indent="-228584" defTabSz="914332">
              <a:lnSpc>
                <a:spcPct val="90000"/>
              </a:lnSpc>
              <a:spcBef>
                <a:spcPts val="500"/>
              </a:spcBef>
              <a:buFont typeface="Arial"/>
              <a:buChar char="•"/>
              <a:defRPr sz="1867"/>
            </a:lvl6pPr>
            <a:lvl7pPr marL="2971578" indent="-228584" defTabSz="914332">
              <a:lnSpc>
                <a:spcPct val="90000"/>
              </a:lnSpc>
              <a:spcBef>
                <a:spcPts val="500"/>
              </a:spcBef>
              <a:buFont typeface="Arial"/>
              <a:buChar char="•"/>
              <a:defRPr sz="1867"/>
            </a:lvl7pPr>
            <a:lvl8pPr marL="3428744" indent="-228584" defTabSz="914332">
              <a:lnSpc>
                <a:spcPct val="90000"/>
              </a:lnSpc>
              <a:spcBef>
                <a:spcPts val="500"/>
              </a:spcBef>
              <a:buFont typeface="Arial"/>
              <a:buChar char="•"/>
              <a:defRPr sz="1867"/>
            </a:lvl8pPr>
            <a:lvl9pPr marL="3885910" indent="-228584" defTabSz="914332">
              <a:lnSpc>
                <a:spcPct val="90000"/>
              </a:lnSpc>
              <a:spcBef>
                <a:spcPts val="500"/>
              </a:spcBef>
              <a:buFont typeface="Arial"/>
              <a:buChar char="•"/>
              <a:defRPr sz="1867"/>
            </a:lvl9pPr>
          </a:lstStyle>
          <a:p>
            <a:r>
              <a:rPr lang="en-US" sz="2400" dirty="0"/>
              <a:t>Creating a Work Item(Create an Item in Integrity)</a:t>
            </a:r>
            <a:r>
              <a:rPr lang="en-US" dirty="0"/>
              <a:t> </a:t>
            </a:r>
            <a:endParaRPr lang="en-US" sz="2400" dirty="0"/>
          </a:p>
        </p:txBody>
      </p:sp>
      <p:sp>
        <p:nvSpPr>
          <p:cNvPr id="24" name="Text Placeholder 6">
            <a:extLst>
              <a:ext uri="{FF2B5EF4-FFF2-40B4-BE49-F238E27FC236}">
                <a16:creationId xmlns:a16="http://schemas.microsoft.com/office/drawing/2014/main" id="{999EE348-DCFE-48B2-824C-148A5F3249BB}"/>
              </a:ext>
            </a:extLst>
          </p:cNvPr>
          <p:cNvSpPr txBox="1">
            <a:spLocks/>
          </p:cNvSpPr>
          <p:nvPr/>
        </p:nvSpPr>
        <p:spPr>
          <a:xfrm>
            <a:off x="231775" y="174172"/>
            <a:ext cx="4760913" cy="784225"/>
          </a:xfrm>
          <a:prstGeom prst="rect">
            <a:avLst/>
          </a:prstGeom>
        </p:spPr>
        <p:txBody>
          <a:bodyPr/>
          <a:lstStyle>
            <a:lvl1pPr marL="228589" marR="0" indent="-228589" algn="l" defTabSz="914354" rtl="0" eaLnBrk="1" fontAlgn="auto" latinLnBrk="0" hangingPunct="1">
              <a:lnSpc>
                <a:spcPct val="90000"/>
              </a:lnSpc>
              <a:spcBef>
                <a:spcPts val="1000"/>
              </a:spcBef>
              <a:spcAft>
                <a:spcPts val="0"/>
              </a:spcAft>
              <a:buClrTx/>
              <a:buSzTx/>
              <a:buFontTx/>
              <a:buBlip>
                <a:blip r:embed="rId3"/>
              </a:buBlip>
              <a:tabLst>
                <a:tab pos="241294" algn="l"/>
              </a:tabLst>
              <a:defRPr lang="en-US" sz="2800" kern="1200" smtClean="0">
                <a:solidFill>
                  <a:schemeClr val="tx1">
                    <a:lumMod val="75000"/>
                    <a:lumOff val="25000"/>
                  </a:schemeClr>
                </a:solidFill>
                <a:latin typeface="+mn-lt"/>
                <a:ea typeface="+mn-ea"/>
                <a:cs typeface="+mn-cs"/>
              </a:defRPr>
            </a:lvl1pPr>
            <a:lvl2pPr marL="685766"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400" kern="1200" smtClean="0">
                <a:solidFill>
                  <a:schemeClr val="tx1">
                    <a:lumMod val="75000"/>
                    <a:lumOff val="25000"/>
                  </a:schemeClr>
                </a:solidFill>
                <a:latin typeface="+mn-lt"/>
                <a:ea typeface="+mn-ea"/>
                <a:cs typeface="+mn-cs"/>
              </a:defRPr>
            </a:lvl2pPr>
            <a:lvl3pPr marL="1142942"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000" kern="1200" smtClean="0">
                <a:solidFill>
                  <a:schemeClr val="tx1">
                    <a:lumMod val="75000"/>
                    <a:lumOff val="25000"/>
                  </a:schemeClr>
                </a:solidFill>
                <a:latin typeface="+mn-lt"/>
                <a:ea typeface="+mn-ea"/>
                <a:cs typeface="+mn-cs"/>
              </a:defRPr>
            </a:lvl3pPr>
            <a:lvl4pPr marL="1600120"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smtClean="0">
                <a:solidFill>
                  <a:schemeClr val="tx1">
                    <a:lumMod val="75000"/>
                    <a:lumOff val="25000"/>
                  </a:schemeClr>
                </a:solidFill>
                <a:latin typeface="+mn-lt"/>
                <a:ea typeface="+mn-ea"/>
                <a:cs typeface="+mn-cs"/>
              </a:defRPr>
            </a:lvl4pPr>
            <a:lvl5pPr marL="2057298"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a:solidFill>
                  <a:schemeClr val="tx1">
                    <a:lumMod val="75000"/>
                    <a:lumOff val="25000"/>
                  </a:schemeClr>
                </a:solidFill>
                <a:latin typeface="+mn-lt"/>
                <a:ea typeface="+mn-ea"/>
                <a:cs typeface="+mn-cs"/>
              </a:defRPr>
            </a:lvl5pPr>
            <a:lvl6pPr marL="2514474"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9pPr>
          </a:lstStyle>
          <a:p>
            <a:pPr marL="0" indent="0">
              <a:buNone/>
            </a:pPr>
            <a:endParaRPr lang="en-US" sz="3200" dirty="0">
              <a:solidFill>
                <a:schemeClr val="bg1"/>
              </a:solidFill>
            </a:endParaRPr>
          </a:p>
        </p:txBody>
      </p:sp>
    </p:spTree>
    <p:extLst>
      <p:ext uri="{BB962C8B-B14F-4D97-AF65-F5344CB8AC3E}">
        <p14:creationId xmlns:p14="http://schemas.microsoft.com/office/powerpoint/2010/main" val="83344514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Roles &amp; Responsibility </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342891" marR="0" lvl="1" indent="0" algn="l" defTabSz="685783" rtl="0" eaLnBrk="1" fontAlgn="auto" latinLnBrk="0" hangingPunct="1">
              <a:lnSpc>
                <a:spcPct val="90000"/>
              </a:lnSpc>
              <a:spcBef>
                <a:spcPts val="375"/>
              </a:spcBef>
              <a:spcAft>
                <a:spcPts val="0"/>
              </a:spcAft>
              <a:buClrTx/>
              <a:buSzTx/>
              <a:buFont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a:p>
            <a:pPr marL="342891" marR="0" lvl="1" indent="0" algn="l" defTabSz="685783" rtl="0" eaLnBrk="1" fontAlgn="auto" latinLnBrk="0" hangingPunct="1">
              <a:lnSpc>
                <a:spcPct val="90000"/>
              </a:lnSpc>
              <a:spcBef>
                <a:spcPts val="375"/>
              </a:spcBef>
              <a:spcAft>
                <a:spcPts val="0"/>
              </a:spcAft>
              <a:buClrTx/>
              <a:buSzTx/>
              <a:buFont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graphicFrame>
        <p:nvGraphicFramePr>
          <p:cNvPr id="4" name="Table 5">
            <a:extLst>
              <a:ext uri="{FF2B5EF4-FFF2-40B4-BE49-F238E27FC236}">
                <a16:creationId xmlns:a16="http://schemas.microsoft.com/office/drawing/2014/main" id="{1D65E984-49B9-440F-87B8-73A71C19F1C3}"/>
              </a:ext>
            </a:extLst>
          </p:cNvPr>
          <p:cNvGraphicFramePr>
            <a:graphicFrameLocks noGrp="1"/>
          </p:cNvGraphicFramePr>
          <p:nvPr>
            <p:extLst>
              <p:ext uri="{D42A27DB-BD31-4B8C-83A1-F6EECF244321}">
                <p14:modId xmlns:p14="http://schemas.microsoft.com/office/powerpoint/2010/main" val="4078630566"/>
              </p:ext>
            </p:extLst>
          </p:nvPr>
        </p:nvGraphicFramePr>
        <p:xfrm>
          <a:off x="513278" y="1577009"/>
          <a:ext cx="9213818" cy="2904026"/>
        </p:xfrm>
        <a:graphic>
          <a:graphicData uri="http://schemas.openxmlformats.org/drawingml/2006/table">
            <a:tbl>
              <a:tblPr firstRow="1" bandRow="1">
                <a:tableStyleId>{72833802-FEF1-4C79-8D5D-14CF1EAF98D9}</a:tableStyleId>
              </a:tblPr>
              <a:tblGrid>
                <a:gridCol w="1951626">
                  <a:extLst>
                    <a:ext uri="{9D8B030D-6E8A-4147-A177-3AD203B41FA5}">
                      <a16:colId xmlns:a16="http://schemas.microsoft.com/office/drawing/2014/main" val="1924955592"/>
                    </a:ext>
                  </a:extLst>
                </a:gridCol>
                <a:gridCol w="7262192">
                  <a:extLst>
                    <a:ext uri="{9D8B030D-6E8A-4147-A177-3AD203B41FA5}">
                      <a16:colId xmlns:a16="http://schemas.microsoft.com/office/drawing/2014/main" val="2858474719"/>
                    </a:ext>
                  </a:extLst>
                </a:gridCol>
              </a:tblGrid>
              <a:tr h="569843">
                <a:tc>
                  <a:txBody>
                    <a:bodyPr/>
                    <a:lstStyle/>
                    <a:p>
                      <a:r>
                        <a:rPr lang="en-US" sz="1867" b="0" i="0" u="none" strike="noStrike" kern="1200" baseline="0" dirty="0">
                          <a:solidFill>
                            <a:schemeClr val="bg1"/>
                          </a:solidFill>
                          <a:latin typeface="+mn-lt"/>
                          <a:ea typeface="+mn-ea"/>
                          <a:cs typeface="+mn-cs"/>
                        </a:rPr>
                        <a:t>ROLES	</a:t>
                      </a:r>
                    </a:p>
                  </a:txBody>
                  <a:tcPr/>
                </a:tc>
                <a:tc>
                  <a:txBody>
                    <a:bodyPr/>
                    <a:lstStyle/>
                    <a:p>
                      <a:pPr algn="ctr"/>
                      <a:r>
                        <a:rPr lang="en-US" sz="1867" b="0" i="0" u="none" strike="noStrike" kern="1200" baseline="0" dirty="0">
                          <a:solidFill>
                            <a:schemeClr val="bg1"/>
                          </a:solidFill>
                          <a:latin typeface="+mn-lt"/>
                          <a:ea typeface="+mn-ea"/>
                          <a:cs typeface="+mn-cs"/>
                        </a:rPr>
                        <a:t>RESPONSIBILITIES	</a:t>
                      </a:r>
                    </a:p>
                  </a:txBody>
                  <a:tcPr/>
                </a:tc>
                <a:extLst>
                  <a:ext uri="{0D108BD9-81ED-4DB2-BD59-A6C34878D82A}">
                    <a16:rowId xmlns:a16="http://schemas.microsoft.com/office/drawing/2014/main" val="135878623"/>
                  </a:ext>
                </a:extLst>
              </a:tr>
              <a:tr h="516835">
                <a:tc>
                  <a:txBody>
                    <a:bodyPr/>
                    <a:lstStyle/>
                    <a:p>
                      <a:r>
                        <a:rPr lang="en-US" sz="1867" b="0" i="0" u="none" strike="noStrike" kern="1200" baseline="0" dirty="0">
                          <a:solidFill>
                            <a:schemeClr val="tx1"/>
                          </a:solidFill>
                          <a:latin typeface="+mn-lt"/>
                          <a:ea typeface="+mn-ea"/>
                          <a:cs typeface="+mn-cs"/>
                        </a:rPr>
                        <a:t>Created By	</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867" b="0" i="0" u="none" strike="noStrike" kern="1200" baseline="0" dirty="0">
                          <a:solidFill>
                            <a:schemeClr val="tx1"/>
                          </a:solidFill>
                          <a:latin typeface="+mn-lt"/>
                          <a:ea typeface="+mn-ea"/>
                          <a:cs typeface="+mn-cs"/>
                        </a:rPr>
                        <a:t>Created by is the user who creates the Action Item in system. Anybody can create the Action Item	</a:t>
                      </a:r>
                    </a:p>
                    <a:p>
                      <a:endParaRPr lang="en-US" sz="1800" dirty="0"/>
                    </a:p>
                  </a:txBody>
                  <a:tcPr/>
                </a:tc>
                <a:extLst>
                  <a:ext uri="{0D108BD9-81ED-4DB2-BD59-A6C34878D82A}">
                    <a16:rowId xmlns:a16="http://schemas.microsoft.com/office/drawing/2014/main" val="1031953701"/>
                  </a:ext>
                </a:extLst>
              </a:tr>
              <a:tr h="453887">
                <a:tc>
                  <a:txBody>
                    <a:bodyPr/>
                    <a:lstStyle/>
                    <a:p>
                      <a:r>
                        <a:rPr lang="en-US" sz="1867" b="0" i="0" u="none" strike="noStrike" kern="1200" baseline="0" dirty="0">
                          <a:solidFill>
                            <a:schemeClr val="tx1"/>
                          </a:solidFill>
                          <a:latin typeface="+mn-lt"/>
                          <a:ea typeface="+mn-ea"/>
                          <a:cs typeface="+mn-cs"/>
                        </a:rPr>
                        <a:t>Assigned User	</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867" b="0" i="0" u="none" strike="noStrike" kern="1200" baseline="0" dirty="0">
                          <a:solidFill>
                            <a:schemeClr val="tx1"/>
                          </a:solidFill>
                          <a:latin typeface="+mn-lt"/>
                          <a:ea typeface="+mn-ea"/>
                          <a:cs typeface="+mn-cs"/>
                        </a:rPr>
                        <a:t>Assigned user is the person who works on the given action item.	</a:t>
                      </a:r>
                    </a:p>
                    <a:p>
                      <a:endParaRPr lang="en-US" sz="1800" dirty="0"/>
                    </a:p>
                  </a:txBody>
                  <a:tcPr/>
                </a:tc>
                <a:extLst>
                  <a:ext uri="{0D108BD9-81ED-4DB2-BD59-A6C34878D82A}">
                    <a16:rowId xmlns:a16="http://schemas.microsoft.com/office/drawing/2014/main" val="1963118354"/>
                  </a:ext>
                </a:extLst>
              </a:tr>
              <a:tr h="738809">
                <a:tc>
                  <a:txBody>
                    <a:bodyPr/>
                    <a:lstStyle/>
                    <a:p>
                      <a:r>
                        <a:rPr lang="en-US" sz="1867" b="0" i="0" u="none" strike="noStrike" kern="1200" baseline="0" dirty="0">
                          <a:solidFill>
                            <a:schemeClr val="tx1"/>
                          </a:solidFill>
                          <a:latin typeface="+mn-lt"/>
                          <a:ea typeface="+mn-ea"/>
                          <a:cs typeface="+mn-cs"/>
                        </a:rPr>
                        <a:t>Assigned Reviewer	</a:t>
                      </a:r>
                    </a:p>
                  </a:txBody>
                  <a:tcPr/>
                </a:tc>
                <a:tc>
                  <a:txBody>
                    <a:bodyPr/>
                    <a:lstStyle/>
                    <a:p>
                      <a:r>
                        <a:rPr lang="en-US" sz="1867" b="0" i="0" u="none" strike="noStrike" kern="1200" baseline="0" dirty="0">
                          <a:solidFill>
                            <a:schemeClr val="tx1"/>
                          </a:solidFill>
                          <a:latin typeface="+mn-lt"/>
                          <a:ea typeface="+mn-ea"/>
                          <a:cs typeface="+mn-cs"/>
                        </a:rPr>
                        <a:t>Assigned Reviewer is the person who reviews the given action item.	</a:t>
                      </a:r>
                    </a:p>
                  </a:txBody>
                  <a:tcPr/>
                </a:tc>
                <a:extLst>
                  <a:ext uri="{0D108BD9-81ED-4DB2-BD59-A6C34878D82A}">
                    <a16:rowId xmlns:a16="http://schemas.microsoft.com/office/drawing/2014/main" val="2931372868"/>
                  </a:ext>
                </a:extLst>
              </a:tr>
            </a:tbl>
          </a:graphicData>
        </a:graphic>
      </p:graphicFrame>
    </p:spTree>
    <p:extLst>
      <p:ext uri="{BB962C8B-B14F-4D97-AF65-F5344CB8AC3E}">
        <p14:creationId xmlns:p14="http://schemas.microsoft.com/office/powerpoint/2010/main" val="289036373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Action Item</a:t>
            </a:r>
          </a:p>
        </p:txBody>
      </p:sp>
      <p:sp>
        <p:nvSpPr>
          <p:cNvPr id="7" name="Rectangle 6"/>
          <p:cNvSpPr/>
          <p:nvPr/>
        </p:nvSpPr>
        <p:spPr>
          <a:xfrm>
            <a:off x="4651513" y="734019"/>
            <a:ext cx="7010289" cy="1477328"/>
          </a:xfrm>
          <a:prstGeom prst="rect">
            <a:avLst/>
          </a:prstGeom>
        </p:spPr>
        <p:txBody>
          <a:bodyPr wrap="square">
            <a:spAutoFit/>
          </a:bodyPr>
          <a:lstStyle/>
          <a:p>
            <a:pPr marL="285750" indent="-285750">
              <a:buFont typeface="Arial" panose="020B0604020202020204" pitchFamily="34" charset="0"/>
              <a:buChar char="•"/>
            </a:pPr>
            <a:endParaRPr lang="en-US" dirty="0"/>
          </a:p>
          <a:p>
            <a:endParaRPr lang="en-US" dirty="0"/>
          </a:p>
          <a:p>
            <a:r>
              <a:rPr lang="en-US" dirty="0"/>
              <a:t> </a:t>
            </a:r>
          </a:p>
          <a:p>
            <a:pPr marL="285750" indent="-285750">
              <a:buFont typeface="Arial" panose="020B0604020202020204" pitchFamily="34" charset="0"/>
              <a:buChar char="•"/>
            </a:pPr>
            <a:r>
              <a:rPr lang="en-US" dirty="0"/>
              <a:t>Select Create Item menu to create a new item in Integrity. </a:t>
            </a:r>
          </a:p>
          <a:p>
            <a:pPr marL="285750" indent="-285750">
              <a:buFont typeface="Arial" panose="020B0604020202020204" pitchFamily="34" charset="0"/>
              <a:buChar char="•"/>
            </a:pPr>
            <a:r>
              <a:rPr lang="en-US" dirty="0"/>
              <a:t>From Create item, select Work Item.</a:t>
            </a:r>
          </a:p>
        </p:txBody>
      </p:sp>
      <p:sp>
        <p:nvSpPr>
          <p:cNvPr id="9" name="Rectangle 8"/>
          <p:cNvSpPr/>
          <p:nvPr/>
        </p:nvSpPr>
        <p:spPr>
          <a:xfrm>
            <a:off x="612033" y="1360052"/>
            <a:ext cx="3204594" cy="413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endParaRPr lang="en-US" dirty="0"/>
          </a:p>
          <a:p>
            <a:endParaRPr lang="en-US" dirty="0"/>
          </a:p>
          <a:p>
            <a:r>
              <a:rPr lang="en-US" dirty="0"/>
              <a:t>Steps:</a:t>
            </a:r>
          </a:p>
          <a:p>
            <a:endParaRPr lang="en-US" dirty="0"/>
          </a:p>
          <a:p>
            <a:r>
              <a:rPr lang="en-US" dirty="0"/>
              <a:t>1.</a:t>
            </a:r>
            <a:r>
              <a:rPr lang="en-US" b="1" dirty="0"/>
              <a:t>Creating Work Item</a:t>
            </a:r>
          </a:p>
          <a:p>
            <a:endParaRPr lang="en-US" dirty="0"/>
          </a:p>
          <a:p>
            <a:r>
              <a:rPr lang="en-US" dirty="0"/>
              <a:t>2.Editing data in Item view</a:t>
            </a:r>
          </a:p>
          <a:p>
            <a:endParaRPr lang="en-US" dirty="0"/>
          </a:p>
          <a:p>
            <a:r>
              <a:rPr lang="en-US" dirty="0"/>
              <a:t>3.Applying changes in created  	document</a:t>
            </a:r>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US" b="1" dirty="0"/>
          </a:p>
          <a:p>
            <a:endParaRPr lang="en-US" b="1" dirty="0"/>
          </a:p>
          <a:p>
            <a:endParaRPr lang="en-US" b="1" dirty="0"/>
          </a:p>
        </p:txBody>
      </p:sp>
      <p:pic>
        <p:nvPicPr>
          <p:cNvPr id="5" name="Picture 4"/>
          <p:cNvPicPr>
            <a:picLocks noChangeAspect="1"/>
          </p:cNvPicPr>
          <p:nvPr/>
        </p:nvPicPr>
        <p:blipFill>
          <a:blip r:embed="rId2"/>
          <a:stretch>
            <a:fillRect/>
          </a:stretch>
        </p:blipFill>
        <p:spPr>
          <a:xfrm>
            <a:off x="4935195" y="2481702"/>
            <a:ext cx="4600575" cy="3667125"/>
          </a:xfrm>
          <a:prstGeom prst="rect">
            <a:avLst/>
          </a:prstGeom>
        </p:spPr>
      </p:pic>
    </p:spTree>
    <p:extLst>
      <p:ext uri="{BB962C8B-B14F-4D97-AF65-F5344CB8AC3E}">
        <p14:creationId xmlns:p14="http://schemas.microsoft.com/office/powerpoint/2010/main" val="91947046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Action Item</a:t>
            </a:r>
          </a:p>
        </p:txBody>
      </p:sp>
      <p:sp>
        <p:nvSpPr>
          <p:cNvPr id="7" name="Rectangle 6"/>
          <p:cNvSpPr/>
          <p:nvPr/>
        </p:nvSpPr>
        <p:spPr>
          <a:xfrm>
            <a:off x="4651513" y="734019"/>
            <a:ext cx="7010289" cy="2862322"/>
          </a:xfrm>
          <a:prstGeom prst="rect">
            <a:avLst/>
          </a:prstGeom>
        </p:spPr>
        <p:txBody>
          <a:bodyPr wrap="square">
            <a:spAutoFit/>
          </a:bodyPr>
          <a:lstStyle/>
          <a:p>
            <a:pPr marL="285750" indent="-285750">
              <a:buFont typeface="Arial" panose="020B0604020202020204" pitchFamily="34" charset="0"/>
              <a:buChar char="•"/>
            </a:pPr>
            <a:endParaRPr lang="en-US" dirty="0"/>
          </a:p>
          <a:p>
            <a:endParaRPr lang="en-US" dirty="0"/>
          </a:p>
          <a:p>
            <a:r>
              <a:rPr lang="en-US" dirty="0"/>
              <a:t> </a:t>
            </a:r>
          </a:p>
          <a:p>
            <a:pPr marL="285750" indent="-285750">
              <a:buFont typeface="Arial" panose="020B0604020202020204" pitchFamily="34" charset="0"/>
              <a:buChar char="•"/>
            </a:pPr>
            <a:r>
              <a:rPr lang="en-US" dirty="0"/>
              <a:t>After selecting Work Item , item detail view will open up.</a:t>
            </a:r>
          </a:p>
          <a:p>
            <a:pPr marL="285750" indent="-285750">
              <a:buFont typeface="Arial" panose="020B0604020202020204" pitchFamily="34" charset="0"/>
              <a:buChar char="•"/>
            </a:pPr>
            <a:r>
              <a:rPr lang="en-US" dirty="0"/>
              <a:t>Enter or select correct values for the fields present.</a:t>
            </a:r>
          </a:p>
          <a:p>
            <a:pPr marL="285750" indent="-285750">
              <a:buFont typeface="Arial" panose="020B0604020202020204" pitchFamily="34" charset="0"/>
              <a:buChar char="•"/>
            </a:pPr>
            <a:r>
              <a:rPr lang="en-US" dirty="0"/>
              <a:t>Fields like Summary, Project and Assigned User marked red are mandatory fields and must be filled during creation.</a:t>
            </a:r>
          </a:p>
          <a:p>
            <a:pPr marL="285750" indent="-285750">
              <a:buFont typeface="Arial" panose="020B0604020202020204" pitchFamily="34" charset="0"/>
              <a:buChar char="•"/>
            </a:pPr>
            <a:r>
              <a:rPr lang="en-US" dirty="0"/>
              <a:t>Select appropriate field values (one or multiple) for multi-select fields (if any).</a:t>
            </a:r>
          </a:p>
          <a:p>
            <a:pPr marL="285750" indent="-285750">
              <a:buFont typeface="Arial" panose="020B0604020202020204" pitchFamily="34" charset="0"/>
              <a:buChar char="•"/>
            </a:pPr>
            <a:endParaRPr lang="en-US" dirty="0"/>
          </a:p>
        </p:txBody>
      </p:sp>
      <p:sp>
        <p:nvSpPr>
          <p:cNvPr id="9" name="Rectangle 8"/>
          <p:cNvSpPr/>
          <p:nvPr/>
        </p:nvSpPr>
        <p:spPr>
          <a:xfrm>
            <a:off x="612033" y="1360052"/>
            <a:ext cx="3204594" cy="413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endParaRPr lang="en-US" dirty="0"/>
          </a:p>
          <a:p>
            <a:endParaRPr lang="en-US" dirty="0"/>
          </a:p>
          <a:p>
            <a:r>
              <a:rPr lang="en-US" dirty="0"/>
              <a:t>Steps:</a:t>
            </a:r>
          </a:p>
          <a:p>
            <a:endParaRPr lang="en-US" dirty="0"/>
          </a:p>
          <a:p>
            <a:r>
              <a:rPr lang="en-US" dirty="0"/>
              <a:t>1.Creating Work Item</a:t>
            </a:r>
          </a:p>
          <a:p>
            <a:endParaRPr lang="en-US" dirty="0"/>
          </a:p>
          <a:p>
            <a:r>
              <a:rPr lang="en-US" dirty="0"/>
              <a:t>2.</a:t>
            </a:r>
            <a:r>
              <a:rPr lang="en-US" b="1" dirty="0"/>
              <a:t>Editing data in Item view</a:t>
            </a:r>
          </a:p>
          <a:p>
            <a:endParaRPr lang="en-US" dirty="0"/>
          </a:p>
          <a:p>
            <a:r>
              <a:rPr lang="en-US" dirty="0"/>
              <a:t>3.Applying changes in created  	document</a:t>
            </a:r>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US" b="1" dirty="0"/>
          </a:p>
          <a:p>
            <a:endParaRPr lang="en-US" b="1" dirty="0"/>
          </a:p>
          <a:p>
            <a:endParaRPr lang="en-US" b="1" dirty="0"/>
          </a:p>
        </p:txBody>
      </p:sp>
      <p:pic>
        <p:nvPicPr>
          <p:cNvPr id="3" name="Picture 2"/>
          <p:cNvPicPr>
            <a:picLocks noChangeAspect="1"/>
          </p:cNvPicPr>
          <p:nvPr/>
        </p:nvPicPr>
        <p:blipFill>
          <a:blip r:embed="rId2"/>
          <a:stretch>
            <a:fillRect/>
          </a:stretch>
        </p:blipFill>
        <p:spPr>
          <a:xfrm>
            <a:off x="5803927" y="3010485"/>
            <a:ext cx="5857875" cy="3221502"/>
          </a:xfrm>
          <a:prstGeom prst="rect">
            <a:avLst/>
          </a:prstGeom>
        </p:spPr>
      </p:pic>
    </p:spTree>
    <p:extLst>
      <p:ext uri="{BB962C8B-B14F-4D97-AF65-F5344CB8AC3E}">
        <p14:creationId xmlns:p14="http://schemas.microsoft.com/office/powerpoint/2010/main" val="34888782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Creating and Managing Action Item</a:t>
            </a:r>
          </a:p>
        </p:txBody>
      </p:sp>
      <p:sp>
        <p:nvSpPr>
          <p:cNvPr id="7" name="Rectangle 6"/>
          <p:cNvSpPr/>
          <p:nvPr/>
        </p:nvSpPr>
        <p:spPr>
          <a:xfrm>
            <a:off x="4651513" y="734019"/>
            <a:ext cx="7010289" cy="3693319"/>
          </a:xfrm>
          <a:prstGeom prst="rect">
            <a:avLst/>
          </a:prstGeom>
        </p:spPr>
        <p:txBody>
          <a:bodyPr wrap="square">
            <a:spAutoFit/>
          </a:bodyPr>
          <a:lstStyle/>
          <a:p>
            <a:pPr marL="285750" indent="-285750">
              <a:buFont typeface="Arial" panose="020B0604020202020204" pitchFamily="34" charset="0"/>
              <a:buChar char="•"/>
            </a:pPr>
            <a:endParaRPr lang="en-US" dirty="0"/>
          </a:p>
          <a:p>
            <a:endParaRPr lang="en-US" dirty="0"/>
          </a:p>
          <a:p>
            <a:r>
              <a:rPr lang="en-US" dirty="0"/>
              <a:t> </a:t>
            </a:r>
          </a:p>
          <a:p>
            <a:endParaRPr lang="en-US" dirty="0"/>
          </a:p>
          <a:p>
            <a:pPr marL="285750" indent="-285750">
              <a:buFont typeface="Arial" panose="020B0604020202020204" pitchFamily="34" charset="0"/>
              <a:buChar char="•"/>
            </a:pPr>
            <a:r>
              <a:rPr lang="en-US" dirty="0"/>
              <a:t>All other fields visible in the Item view must be filled.</a:t>
            </a:r>
          </a:p>
          <a:p>
            <a:pPr marL="285750" indent="-285750">
              <a:buFont typeface="Arial" panose="020B0604020202020204" pitchFamily="34" charset="0"/>
              <a:buChar char="•"/>
            </a:pPr>
            <a:r>
              <a:rPr lang="en-US" dirty="0"/>
              <a:t>Field edit ability depends upon Action Item workflow LC state, depending on the state of the item it is in. Fields become editable or non editable</a:t>
            </a:r>
          </a:p>
          <a:p>
            <a:pPr marL="285750" indent="-285750">
              <a:buFont typeface="Arial" panose="020B0604020202020204" pitchFamily="34" charset="0"/>
              <a:buChar char="•"/>
            </a:pPr>
            <a:r>
              <a:rPr lang="en-US" dirty="0"/>
              <a:t>Clicking on “Apply” will keep the user on item edit view (user can still update fields) while clicking on “OK” will open item non-editable view (user can not update item fields)</a:t>
            </a:r>
          </a:p>
          <a:p>
            <a:pPr marL="285750" indent="-285750">
              <a:buFont typeface="Arial" panose="020B0604020202020204" pitchFamily="34" charset="0"/>
              <a:buChar char="•"/>
            </a:pPr>
            <a:r>
              <a:rPr lang="en-US" dirty="0"/>
              <a:t>Clicking “Apply” will save the Item. Alternately “Ctrl + S” can also be used.</a:t>
            </a:r>
          </a:p>
        </p:txBody>
      </p:sp>
      <p:sp>
        <p:nvSpPr>
          <p:cNvPr id="9" name="Rectangle 8"/>
          <p:cNvSpPr/>
          <p:nvPr/>
        </p:nvSpPr>
        <p:spPr>
          <a:xfrm>
            <a:off x="612033" y="1360052"/>
            <a:ext cx="3204594" cy="413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endParaRPr lang="en-US" dirty="0"/>
          </a:p>
          <a:p>
            <a:endParaRPr lang="en-US" dirty="0"/>
          </a:p>
          <a:p>
            <a:r>
              <a:rPr lang="en-US" dirty="0"/>
              <a:t>Steps:</a:t>
            </a:r>
          </a:p>
          <a:p>
            <a:endParaRPr lang="en-US" dirty="0"/>
          </a:p>
          <a:p>
            <a:r>
              <a:rPr lang="en-US" dirty="0"/>
              <a:t>1.Creating Work Item</a:t>
            </a:r>
          </a:p>
          <a:p>
            <a:endParaRPr lang="en-US" dirty="0"/>
          </a:p>
          <a:p>
            <a:r>
              <a:rPr lang="en-US" dirty="0"/>
              <a:t>2.Editing data in Item view</a:t>
            </a:r>
          </a:p>
          <a:p>
            <a:endParaRPr lang="en-US" dirty="0"/>
          </a:p>
          <a:p>
            <a:r>
              <a:rPr lang="en-US" dirty="0"/>
              <a:t>3.</a:t>
            </a:r>
            <a:r>
              <a:rPr lang="en-US" b="1" dirty="0"/>
              <a:t>Applying changes in created  	document</a:t>
            </a:r>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US" b="1" dirty="0"/>
          </a:p>
          <a:p>
            <a:endParaRPr lang="en-US" b="1" dirty="0"/>
          </a:p>
          <a:p>
            <a:endParaRPr lang="en-US" b="1" dirty="0"/>
          </a:p>
        </p:txBody>
      </p:sp>
    </p:spTree>
    <p:extLst>
      <p:ext uri="{BB962C8B-B14F-4D97-AF65-F5344CB8AC3E}">
        <p14:creationId xmlns:p14="http://schemas.microsoft.com/office/powerpoint/2010/main" val="27463762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Work Item Workflow </a:t>
            </a:r>
          </a:p>
        </p:txBody>
      </p:sp>
      <p:sp>
        <p:nvSpPr>
          <p:cNvPr id="7" name="Rectangle 6"/>
          <p:cNvSpPr/>
          <p:nvPr/>
        </p:nvSpPr>
        <p:spPr>
          <a:xfrm>
            <a:off x="612033" y="734019"/>
            <a:ext cx="11049770" cy="2031325"/>
          </a:xfrm>
          <a:prstGeom prst="rect">
            <a:avLst/>
          </a:prstGeom>
        </p:spPr>
        <p:txBody>
          <a:bodyPr wrap="square">
            <a:spAutoFit/>
          </a:bodyPr>
          <a:lstStyle/>
          <a:p>
            <a:endParaRPr lang="en-US" dirty="0"/>
          </a:p>
          <a:p>
            <a:endParaRPr lang="en-US" dirty="0"/>
          </a:p>
          <a:p>
            <a:endParaRPr lang="en-US" dirty="0"/>
          </a:p>
          <a:p>
            <a:pPr marL="285750" indent="-285750">
              <a:buFont typeface="Arial" panose="020B0604020202020204" pitchFamily="34" charset="0"/>
              <a:buChar char="•"/>
            </a:pPr>
            <a:r>
              <a:rPr lang="en-US" dirty="0"/>
              <a:t>Work Item Workflow describes its state transition from one state to next state based on completion of activities as per system designed.</a:t>
            </a:r>
          </a:p>
          <a:p>
            <a:pPr marL="285750" indent="-285750">
              <a:buFont typeface="Arial" panose="020B0604020202020204" pitchFamily="34" charset="0"/>
              <a:buChar char="•"/>
            </a:pPr>
            <a:r>
              <a:rPr lang="en-US" dirty="0"/>
              <a:t>Refer below workflow diagram for working in Work Item in PTC Integrity system.</a:t>
            </a:r>
          </a:p>
          <a:p>
            <a:pPr marL="285750" indent="-285750">
              <a:buFont typeface="Arial" panose="020B0604020202020204" pitchFamily="34" charset="0"/>
              <a:buChar char="•"/>
            </a:pPr>
            <a:endParaRPr lang="en-US" dirty="0"/>
          </a:p>
        </p:txBody>
      </p:sp>
      <p:pic>
        <p:nvPicPr>
          <p:cNvPr id="3" name="Picture 2"/>
          <p:cNvPicPr>
            <a:picLocks noChangeAspect="1"/>
          </p:cNvPicPr>
          <p:nvPr/>
        </p:nvPicPr>
        <p:blipFill>
          <a:blip r:embed="rId2"/>
          <a:stretch>
            <a:fillRect/>
          </a:stretch>
        </p:blipFill>
        <p:spPr>
          <a:xfrm>
            <a:off x="3493037" y="3059796"/>
            <a:ext cx="3714750" cy="3495675"/>
          </a:xfrm>
          <a:prstGeom prst="rect">
            <a:avLst/>
          </a:prstGeom>
        </p:spPr>
      </p:pic>
    </p:spTree>
    <p:extLst>
      <p:ext uri="{BB962C8B-B14F-4D97-AF65-F5344CB8AC3E}">
        <p14:creationId xmlns:p14="http://schemas.microsoft.com/office/powerpoint/2010/main" val="128003866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606-09D6-4F02-8742-ACDF0DE781B1}"/>
              </a:ext>
            </a:extLst>
          </p:cNvPr>
          <p:cNvSpPr>
            <a:spLocks noGrp="1"/>
          </p:cNvSpPr>
          <p:nvPr>
            <p:ph type="title"/>
          </p:nvPr>
        </p:nvSpPr>
        <p:spPr/>
        <p:txBody>
          <a:bodyPr/>
          <a:lstStyle/>
          <a:p>
            <a:r>
              <a:rPr lang="en-US" dirty="0"/>
              <a:t>Different Tabs in Work Item </a:t>
            </a:r>
          </a:p>
        </p:txBody>
      </p:sp>
      <p:sp>
        <p:nvSpPr>
          <p:cNvPr id="5" name="Content Placeholder 2">
            <a:extLst>
              <a:ext uri="{FF2B5EF4-FFF2-40B4-BE49-F238E27FC236}">
                <a16:creationId xmlns:a16="http://schemas.microsoft.com/office/drawing/2014/main" id="{2C2FFF5A-7F09-4087-A944-773C27F2F3AF}"/>
              </a:ext>
            </a:extLst>
          </p:cNvPr>
          <p:cNvSpPr txBox="1">
            <a:spLocks/>
          </p:cNvSpPr>
          <p:nvPr/>
        </p:nvSpPr>
        <p:spPr bwMode="gray">
          <a:xfrm>
            <a:off x="420914" y="1132763"/>
            <a:ext cx="11227747" cy="5082507"/>
          </a:xfrm>
          <a:prstGeom prst="rect">
            <a:avLst/>
          </a:prstGeom>
        </p:spPr>
        <p:txBody>
          <a:bodyPr vert="horz" lIns="91439" tIns="45719" rIns="91439" bIns="45719" rtlCol="0">
            <a:noAutofit/>
          </a:bodyPr>
          <a:lstStyle>
            <a:lvl1pPr marL="171446" marR="0" indent="-171446" algn="l" defTabSz="685783" rtl="0" eaLnBrk="1" fontAlgn="auto" latinLnBrk="0" hangingPunct="1">
              <a:lnSpc>
                <a:spcPct val="90000"/>
              </a:lnSpc>
              <a:spcBef>
                <a:spcPts val="750"/>
              </a:spcBef>
              <a:spcAft>
                <a:spcPts val="0"/>
              </a:spcAft>
              <a:buClrTx/>
              <a:buSzTx/>
              <a:buFontTx/>
              <a:buBlip>
                <a:blip r:embed="rId2"/>
              </a:buBlip>
              <a:tabLst>
                <a:tab pos="180975" algn="l"/>
              </a:tabLst>
              <a:defRPr lang="en-US" sz="1800" kern="1200" smtClean="0">
                <a:solidFill>
                  <a:schemeClr val="tx1">
                    <a:lumMod val="75000"/>
                    <a:lumOff val="25000"/>
                  </a:schemeClr>
                </a:solidFill>
                <a:latin typeface="+mn-lt"/>
                <a:ea typeface="+mn-ea"/>
                <a:cs typeface="+mn-cs"/>
              </a:defRPr>
            </a:lvl1pPr>
            <a:lvl2pPr marL="514337"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600" kern="1200" smtClean="0">
                <a:solidFill>
                  <a:schemeClr val="tx1">
                    <a:lumMod val="75000"/>
                    <a:lumOff val="25000"/>
                  </a:schemeClr>
                </a:solidFill>
                <a:latin typeface="+mn-lt"/>
                <a:ea typeface="+mn-ea"/>
                <a:cs typeface="+mn-cs"/>
              </a:defRPr>
            </a:lvl2pPr>
            <a:lvl3pPr marL="857228"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400" kern="1200" smtClean="0">
                <a:solidFill>
                  <a:schemeClr val="tx1">
                    <a:lumMod val="75000"/>
                    <a:lumOff val="25000"/>
                  </a:schemeClr>
                </a:solidFill>
                <a:latin typeface="+mn-lt"/>
                <a:ea typeface="+mn-ea"/>
                <a:cs typeface="+mn-cs"/>
              </a:defRPr>
            </a:lvl3pPr>
            <a:lvl4pPr marL="1200120"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200" kern="1200" smtClean="0">
                <a:solidFill>
                  <a:schemeClr val="tx1">
                    <a:lumMod val="75000"/>
                    <a:lumOff val="25000"/>
                  </a:schemeClr>
                </a:solidFill>
                <a:latin typeface="+mn-lt"/>
                <a:ea typeface="+mn-ea"/>
                <a:cs typeface="+mn-cs"/>
              </a:defRPr>
            </a:lvl4pPr>
            <a:lvl5pPr marL="1543012" marR="0" indent="-171446" algn="l" defTabSz="685783" rtl="0" eaLnBrk="1" fontAlgn="auto" latinLnBrk="0" hangingPunct="1">
              <a:lnSpc>
                <a:spcPct val="90000"/>
              </a:lnSpc>
              <a:spcBef>
                <a:spcPts val="375"/>
              </a:spcBef>
              <a:spcAft>
                <a:spcPts val="0"/>
              </a:spcAft>
              <a:buClrTx/>
              <a:buSzTx/>
              <a:buFontTx/>
              <a:buBlip>
                <a:blip r:embed="rId2"/>
              </a:buBlip>
              <a:tabLst>
                <a:tab pos="180975" algn="l"/>
              </a:tabLst>
              <a:defRPr lang="en-US" sz="1100" kern="1200" dirty="0">
                <a:solidFill>
                  <a:schemeClr val="tx1">
                    <a:lumMod val="75000"/>
                    <a:lumOff val="25000"/>
                  </a:schemeClr>
                </a:solidFill>
                <a:latin typeface="+mn-lt"/>
                <a:ea typeface="+mn-ea"/>
                <a:cs typeface="+mn-cs"/>
              </a:defRPr>
            </a:lvl5pPr>
            <a:lvl6pPr marL="1885903"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a:buChar char="•"/>
              <a:defRPr sz="1400" kern="1200">
                <a:solidFill>
                  <a:schemeClr val="tx1"/>
                </a:solidFill>
                <a:latin typeface="+mn-lt"/>
                <a:ea typeface="+mn-ea"/>
                <a:cs typeface="+mn-cs"/>
              </a:defRPr>
            </a:lvl9pPr>
          </a:lstStyle>
          <a:p>
            <a:pPr marL="342891" marR="0" lvl="1" indent="0" algn="l" defTabSz="685783" rtl="0" eaLnBrk="1" fontAlgn="auto" latinLnBrk="0" hangingPunct="1">
              <a:lnSpc>
                <a:spcPct val="90000"/>
              </a:lnSpc>
              <a:spcBef>
                <a:spcPts val="375"/>
              </a:spcBef>
              <a:spcAft>
                <a:spcPts val="0"/>
              </a:spcAft>
              <a:buClrTx/>
              <a:buSzTx/>
              <a:buFont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a:p>
            <a:pPr marL="342891" marR="0" lvl="1" indent="0" algn="l" defTabSz="685783" rtl="0" eaLnBrk="1" fontAlgn="auto" latinLnBrk="0" hangingPunct="1">
              <a:lnSpc>
                <a:spcPct val="90000"/>
              </a:lnSpc>
              <a:spcBef>
                <a:spcPts val="375"/>
              </a:spcBef>
              <a:spcAft>
                <a:spcPts val="0"/>
              </a:spcAft>
              <a:buClrTx/>
              <a:buSzTx/>
              <a:buFontTx/>
              <a:buNone/>
              <a:tabLst>
                <a:tab pos="180975" algn="l"/>
              </a:tabLst>
              <a:defRPr/>
            </a:pPr>
            <a:endParaRPr kumimoji="0" lang="en-US" sz="1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81A7517E-2545-4255-9A18-D90E081DBD1C}"/>
              </a:ext>
            </a:extLst>
          </p:cNvPr>
          <p:cNvSpPr/>
          <p:nvPr/>
        </p:nvSpPr>
        <p:spPr>
          <a:xfrm>
            <a:off x="420914" y="4846122"/>
            <a:ext cx="184731" cy="6771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p:graphicFrame>
        <p:nvGraphicFramePr>
          <p:cNvPr id="4" name="Table 5">
            <a:extLst>
              <a:ext uri="{FF2B5EF4-FFF2-40B4-BE49-F238E27FC236}">
                <a16:creationId xmlns:a16="http://schemas.microsoft.com/office/drawing/2014/main" id="{1D65E984-49B9-440F-87B8-73A71C19F1C3}"/>
              </a:ext>
            </a:extLst>
          </p:cNvPr>
          <p:cNvGraphicFramePr>
            <a:graphicFrameLocks noGrp="1"/>
          </p:cNvGraphicFramePr>
          <p:nvPr>
            <p:extLst>
              <p:ext uri="{D42A27DB-BD31-4B8C-83A1-F6EECF244321}">
                <p14:modId xmlns:p14="http://schemas.microsoft.com/office/powerpoint/2010/main" val="4156520065"/>
              </p:ext>
            </p:extLst>
          </p:nvPr>
        </p:nvGraphicFramePr>
        <p:xfrm>
          <a:off x="513278" y="1577009"/>
          <a:ext cx="9213818" cy="4688814"/>
        </p:xfrm>
        <a:graphic>
          <a:graphicData uri="http://schemas.openxmlformats.org/drawingml/2006/table">
            <a:tbl>
              <a:tblPr firstRow="1" bandRow="1">
                <a:tableStyleId>{72833802-FEF1-4C79-8D5D-14CF1EAF98D9}</a:tableStyleId>
              </a:tblPr>
              <a:tblGrid>
                <a:gridCol w="1951626">
                  <a:extLst>
                    <a:ext uri="{9D8B030D-6E8A-4147-A177-3AD203B41FA5}">
                      <a16:colId xmlns:a16="http://schemas.microsoft.com/office/drawing/2014/main" val="1924955592"/>
                    </a:ext>
                  </a:extLst>
                </a:gridCol>
                <a:gridCol w="7262192">
                  <a:extLst>
                    <a:ext uri="{9D8B030D-6E8A-4147-A177-3AD203B41FA5}">
                      <a16:colId xmlns:a16="http://schemas.microsoft.com/office/drawing/2014/main" val="2858474719"/>
                    </a:ext>
                  </a:extLst>
                </a:gridCol>
              </a:tblGrid>
              <a:tr h="569843">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867" b="0" i="0" u="none" strike="noStrike" kern="1200" baseline="0" dirty="0">
                          <a:solidFill>
                            <a:schemeClr val="bg1"/>
                          </a:solidFill>
                          <a:latin typeface="+mn-lt"/>
                          <a:ea typeface="+mn-ea"/>
                          <a:cs typeface="+mn-cs"/>
                        </a:rPr>
                        <a:t>TAB NAME	</a:t>
                      </a:r>
                    </a:p>
                    <a:p>
                      <a:r>
                        <a:rPr lang="en-US" sz="1867" b="0" i="0" u="none" strike="noStrike" kern="1200" baseline="0" dirty="0">
                          <a:solidFill>
                            <a:schemeClr val="bg1"/>
                          </a:solidFill>
                          <a:latin typeface="+mn-lt"/>
                          <a:ea typeface="+mn-ea"/>
                          <a:cs typeface="+mn-cs"/>
                        </a:rPr>
                        <a:t>	</a:t>
                      </a:r>
                    </a:p>
                  </a:txBody>
                  <a:tcP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en-US" sz="1867" b="0" i="0" u="none" strike="noStrike" kern="1200" baseline="0" dirty="0">
                          <a:solidFill>
                            <a:schemeClr val="bg1"/>
                          </a:solidFill>
                          <a:latin typeface="+mn-lt"/>
                          <a:ea typeface="+mn-ea"/>
                          <a:cs typeface="+mn-cs"/>
                        </a:rPr>
                        <a:t>TAB USED FOR	</a:t>
                      </a:r>
                    </a:p>
                    <a:p>
                      <a:pPr algn="ctr"/>
                      <a:endParaRPr lang="en-US" sz="1867" b="0" i="0" u="none" strike="noStrike" kern="1200" baseline="0" dirty="0">
                        <a:solidFill>
                          <a:schemeClr val="bg1"/>
                        </a:solidFill>
                        <a:latin typeface="+mn-lt"/>
                        <a:ea typeface="+mn-ea"/>
                        <a:cs typeface="+mn-cs"/>
                      </a:endParaRPr>
                    </a:p>
                  </a:txBody>
                  <a:tcPr/>
                </a:tc>
                <a:extLst>
                  <a:ext uri="{0D108BD9-81ED-4DB2-BD59-A6C34878D82A}">
                    <a16:rowId xmlns:a16="http://schemas.microsoft.com/office/drawing/2014/main" val="135878623"/>
                  </a:ext>
                </a:extLst>
              </a:tr>
              <a:tr h="516835">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867" b="0" i="0" u="none" strike="noStrike" kern="1200" baseline="0" dirty="0">
                          <a:solidFill>
                            <a:schemeClr val="tx1"/>
                          </a:solidFill>
                          <a:latin typeface="+mn-lt"/>
                          <a:ea typeface="+mn-ea"/>
                          <a:cs typeface="+mn-cs"/>
                        </a:rPr>
                        <a:t>Details</a:t>
                      </a:r>
                    </a:p>
                  </a:txBody>
                  <a:tcPr/>
                </a:tc>
                <a:tc>
                  <a:txBody>
                    <a:bodyPr/>
                    <a:lstStyle/>
                    <a:p>
                      <a:r>
                        <a:rPr lang="en-US" sz="1867" b="0" i="0" u="none" strike="noStrike" kern="1200" baseline="0" dirty="0">
                          <a:solidFill>
                            <a:schemeClr val="tx1"/>
                          </a:solidFill>
                          <a:latin typeface="+mn-lt"/>
                          <a:ea typeface="+mn-ea"/>
                          <a:cs typeface="+mn-cs"/>
                        </a:rPr>
                        <a:t>Details contain all the necessary information, which need to be filled by different users on different stage to work on a action item.	</a:t>
                      </a:r>
                    </a:p>
                  </a:txBody>
                  <a:tcPr/>
                </a:tc>
                <a:extLst>
                  <a:ext uri="{0D108BD9-81ED-4DB2-BD59-A6C34878D82A}">
                    <a16:rowId xmlns:a16="http://schemas.microsoft.com/office/drawing/2014/main" val="1031953701"/>
                  </a:ext>
                </a:extLst>
              </a:tr>
              <a:tr h="453887">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867" b="0" i="0" u="none" strike="noStrike" kern="1200" baseline="0" dirty="0">
                          <a:solidFill>
                            <a:schemeClr val="tx1"/>
                          </a:solidFill>
                          <a:latin typeface="+mn-lt"/>
                          <a:ea typeface="+mn-ea"/>
                          <a:cs typeface="+mn-cs"/>
                        </a:rPr>
                        <a:t>Relationships	</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867" b="0" i="0" u="none" strike="noStrike" kern="1200" baseline="0" dirty="0">
                          <a:solidFill>
                            <a:schemeClr val="tx1"/>
                          </a:solidFill>
                          <a:latin typeface="+mn-lt"/>
                          <a:ea typeface="+mn-ea"/>
                          <a:cs typeface="+mn-cs"/>
                        </a:rPr>
                        <a:t>Relationship Tab contains all the related item/documents of action item.</a:t>
                      </a:r>
                    </a:p>
                    <a:p>
                      <a:endParaRPr lang="en-US" sz="1800" dirty="0"/>
                    </a:p>
                  </a:txBody>
                  <a:tcPr/>
                </a:tc>
                <a:extLst>
                  <a:ext uri="{0D108BD9-81ED-4DB2-BD59-A6C34878D82A}">
                    <a16:rowId xmlns:a16="http://schemas.microsoft.com/office/drawing/2014/main" val="1963118354"/>
                  </a:ext>
                </a:extLst>
              </a:tr>
              <a:tr h="738809">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867" b="0" i="0" u="none" strike="noStrike" kern="1200" baseline="0" dirty="0">
                          <a:solidFill>
                            <a:schemeClr val="tx1"/>
                          </a:solidFill>
                          <a:latin typeface="+mn-lt"/>
                          <a:ea typeface="+mn-ea"/>
                          <a:cs typeface="+mn-cs"/>
                        </a:rPr>
                        <a:t>Attachment	</a:t>
                      </a:r>
                    </a:p>
                  </a:txBody>
                  <a:tcPr/>
                </a:tc>
                <a:tc>
                  <a:txBody>
                    <a:bodyPr/>
                    <a:lstStyle/>
                    <a:p>
                      <a:r>
                        <a:rPr lang="en-US" sz="1867" b="0" i="0" u="none" strike="noStrike" kern="1200" baseline="0" dirty="0">
                          <a:solidFill>
                            <a:schemeClr val="tx1"/>
                          </a:solidFill>
                          <a:latin typeface="+mn-lt"/>
                          <a:ea typeface="+mn-ea"/>
                          <a:cs typeface="+mn-cs"/>
                        </a:rPr>
                        <a:t>In attachment tab, user can attach external document like word/pdf/excel etc.	</a:t>
                      </a:r>
                    </a:p>
                  </a:txBody>
                  <a:tcPr/>
                </a:tc>
                <a:extLst>
                  <a:ext uri="{0D108BD9-81ED-4DB2-BD59-A6C34878D82A}">
                    <a16:rowId xmlns:a16="http://schemas.microsoft.com/office/drawing/2014/main" val="2931372868"/>
                  </a:ext>
                </a:extLst>
              </a:tr>
              <a:tr h="738809">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867" b="0" i="0" u="none" strike="noStrike" kern="1200" baseline="0" dirty="0">
                          <a:solidFill>
                            <a:schemeClr val="tx1"/>
                          </a:solidFill>
                          <a:latin typeface="+mn-lt"/>
                          <a:ea typeface="+mn-ea"/>
                          <a:cs typeface="+mn-cs"/>
                        </a:rPr>
                        <a:t>Workflow	</a:t>
                      </a: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867" b="0" i="0" u="none" strike="noStrike" kern="1200" baseline="0" dirty="0">
                          <a:solidFill>
                            <a:schemeClr val="tx1"/>
                          </a:solidFill>
                          <a:latin typeface="+mn-lt"/>
                          <a:ea typeface="+mn-ea"/>
                          <a:cs typeface="+mn-cs"/>
                        </a:rPr>
                        <a:t>Workflow tab contains action item workflow.	</a:t>
                      </a:r>
                    </a:p>
                    <a:p>
                      <a:endParaRPr lang="en-US" sz="1867" b="0" i="0" u="none" strike="noStrike" kern="1200" baseline="0" dirty="0">
                        <a:solidFill>
                          <a:schemeClr val="tx1"/>
                        </a:solidFill>
                        <a:latin typeface="+mn-lt"/>
                        <a:ea typeface="+mn-ea"/>
                        <a:cs typeface="+mn-cs"/>
                      </a:endParaRPr>
                    </a:p>
                  </a:txBody>
                  <a:tcPr/>
                </a:tc>
                <a:extLst>
                  <a:ext uri="{0D108BD9-81ED-4DB2-BD59-A6C34878D82A}">
                    <a16:rowId xmlns:a16="http://schemas.microsoft.com/office/drawing/2014/main" val="693816537"/>
                  </a:ext>
                </a:extLst>
              </a:tr>
              <a:tr h="738809">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867" b="0" i="0" u="none" strike="noStrike" kern="1200" baseline="0" dirty="0">
                          <a:solidFill>
                            <a:schemeClr val="tx1"/>
                          </a:solidFill>
                          <a:latin typeface="+mn-lt"/>
                          <a:ea typeface="+mn-ea"/>
                          <a:cs typeface="+mn-cs"/>
                        </a:rPr>
                        <a:t>History	</a:t>
                      </a:r>
                    </a:p>
                    <a:p>
                      <a:pPr marL="0" marR="0" lvl="0" indent="0" algn="l" defTabSz="914354" rtl="0" eaLnBrk="1" fontAlgn="auto" latinLnBrk="0" hangingPunct="1">
                        <a:lnSpc>
                          <a:spcPct val="100000"/>
                        </a:lnSpc>
                        <a:spcBef>
                          <a:spcPts val="0"/>
                        </a:spcBef>
                        <a:spcAft>
                          <a:spcPts val="0"/>
                        </a:spcAft>
                        <a:buClrTx/>
                        <a:buSzTx/>
                        <a:buFontTx/>
                        <a:buNone/>
                        <a:tabLst/>
                        <a:defRPr/>
                      </a:pPr>
                      <a:endParaRPr lang="en-US" sz="1867" b="0" i="0" u="none" strike="noStrike" kern="1200" baseline="0" dirty="0">
                        <a:solidFill>
                          <a:schemeClr val="tx1"/>
                        </a:solidFill>
                        <a:latin typeface="+mn-lt"/>
                        <a:ea typeface="+mn-ea"/>
                        <a:cs typeface="+mn-cs"/>
                      </a:endParaRPr>
                    </a:p>
                  </a:txBody>
                  <a:tcPr/>
                </a:tc>
                <a:tc>
                  <a: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867" b="0" i="0" u="none" strike="noStrike" kern="1200" baseline="0" dirty="0">
                          <a:solidFill>
                            <a:schemeClr val="tx1"/>
                          </a:solidFill>
                          <a:latin typeface="+mn-lt"/>
                          <a:ea typeface="+mn-ea"/>
                          <a:cs typeface="+mn-cs"/>
                        </a:rPr>
                        <a:t>History tab records all changes done by any user anywhere in action item.	</a:t>
                      </a:r>
                    </a:p>
                    <a:p>
                      <a:endParaRPr lang="en-US" sz="1867" b="0" i="0" u="none" strike="noStrike" kern="1200" baseline="0" dirty="0">
                        <a:solidFill>
                          <a:schemeClr val="tx1"/>
                        </a:solidFill>
                        <a:latin typeface="+mn-lt"/>
                        <a:ea typeface="+mn-ea"/>
                        <a:cs typeface="+mn-cs"/>
                      </a:endParaRPr>
                    </a:p>
                  </a:txBody>
                  <a:tcPr/>
                </a:tc>
                <a:extLst>
                  <a:ext uri="{0D108BD9-81ED-4DB2-BD59-A6C34878D82A}">
                    <a16:rowId xmlns:a16="http://schemas.microsoft.com/office/drawing/2014/main" val="3142385294"/>
                  </a:ext>
                </a:extLst>
              </a:tr>
            </a:tbl>
          </a:graphicData>
        </a:graphic>
      </p:graphicFrame>
    </p:spTree>
    <p:extLst>
      <p:ext uri="{BB962C8B-B14F-4D97-AF65-F5344CB8AC3E}">
        <p14:creationId xmlns:p14="http://schemas.microsoft.com/office/powerpoint/2010/main" val="180260362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Details Tab Explained: General (Section 1)</a:t>
            </a:r>
          </a:p>
        </p:txBody>
      </p:sp>
      <p:sp>
        <p:nvSpPr>
          <p:cNvPr id="7" name="Rectangle 6"/>
          <p:cNvSpPr/>
          <p:nvPr/>
        </p:nvSpPr>
        <p:spPr>
          <a:xfrm>
            <a:off x="612033" y="734019"/>
            <a:ext cx="11049770" cy="1754326"/>
          </a:xfrm>
          <a:prstGeom prst="rect">
            <a:avLst/>
          </a:prstGeom>
        </p:spPr>
        <p:txBody>
          <a:bodyPr wrap="square">
            <a:spAutoFit/>
          </a:bodyPr>
          <a:lstStyle/>
          <a:p>
            <a:endParaRPr lang="en-US" dirty="0"/>
          </a:p>
          <a:p>
            <a:endParaRPr lang="en-US" dirty="0"/>
          </a:p>
          <a:p>
            <a:pPr marL="285750" indent="-285750">
              <a:buFont typeface="Arial" panose="020B0604020202020204" pitchFamily="34" charset="0"/>
              <a:buChar char="•"/>
            </a:pPr>
            <a:r>
              <a:rPr lang="en-US" dirty="0"/>
              <a:t>In Details tab, Summary section contain the basic information of Work Item.</a:t>
            </a:r>
          </a:p>
          <a:p>
            <a:pPr marL="285750" indent="-285750">
              <a:buFont typeface="Arial" panose="020B0604020202020204" pitchFamily="34" charset="0"/>
              <a:buChar char="•"/>
            </a:pPr>
            <a:r>
              <a:rPr lang="en-US" dirty="0"/>
              <a:t>General section contain fields like </a:t>
            </a:r>
            <a:r>
              <a:rPr lang="en-US" i="1" dirty="0"/>
              <a:t>Summary, State, Project, Requestor Department, Receiver Department, Risk, Planned Start Date, Planned End Date. </a:t>
            </a:r>
            <a:endParaRPr lang="en-US" dirty="0"/>
          </a:p>
          <a:p>
            <a:pPr marL="285750" indent="-285750">
              <a:buFont typeface="Arial" panose="020B0604020202020204" pitchFamily="34" charset="0"/>
              <a:buChar char="•"/>
            </a:pPr>
            <a:endParaRPr lang="en-US" dirty="0"/>
          </a:p>
        </p:txBody>
      </p:sp>
      <p:pic>
        <p:nvPicPr>
          <p:cNvPr id="4" name="Picture 3"/>
          <p:cNvPicPr>
            <a:picLocks noChangeAspect="1"/>
          </p:cNvPicPr>
          <p:nvPr/>
        </p:nvPicPr>
        <p:blipFill>
          <a:blip r:embed="rId2"/>
          <a:stretch>
            <a:fillRect/>
          </a:stretch>
        </p:blipFill>
        <p:spPr>
          <a:xfrm>
            <a:off x="1649877" y="2366157"/>
            <a:ext cx="6191250" cy="3448050"/>
          </a:xfrm>
          <a:prstGeom prst="rect">
            <a:avLst/>
          </a:prstGeom>
        </p:spPr>
      </p:pic>
    </p:spTree>
    <p:extLst>
      <p:ext uri="{BB962C8B-B14F-4D97-AF65-F5344CB8AC3E}">
        <p14:creationId xmlns:p14="http://schemas.microsoft.com/office/powerpoint/2010/main" val="10899502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Other Sections in Properties Tab</a:t>
            </a:r>
          </a:p>
        </p:txBody>
      </p:sp>
      <p:sp>
        <p:nvSpPr>
          <p:cNvPr id="7" name="Rectangle 6"/>
          <p:cNvSpPr/>
          <p:nvPr/>
        </p:nvSpPr>
        <p:spPr>
          <a:xfrm>
            <a:off x="612033" y="734019"/>
            <a:ext cx="11049770" cy="2308324"/>
          </a:xfrm>
          <a:prstGeom prst="rect">
            <a:avLst/>
          </a:prstGeom>
        </p:spPr>
        <p:txBody>
          <a:bodyPr wrap="square">
            <a:spAutoFit/>
          </a:bodyPr>
          <a:lstStyle/>
          <a:p>
            <a:endParaRPr lang="en-US" dirty="0"/>
          </a:p>
          <a:p>
            <a:endParaRPr lang="en-US" dirty="0"/>
          </a:p>
          <a:p>
            <a:pPr marL="285750" indent="-285750">
              <a:buFont typeface="Arial" panose="020B0604020202020204" pitchFamily="34" charset="0"/>
              <a:buChar char="•"/>
            </a:pPr>
            <a:r>
              <a:rPr lang="en-US" dirty="0"/>
              <a:t>Work Items has other sections like Effort, Budget and Metrics.</a:t>
            </a:r>
          </a:p>
          <a:p>
            <a:pPr marL="285750" indent="-285750">
              <a:buFont typeface="Arial" panose="020B0604020202020204" pitchFamily="34" charset="0"/>
              <a:buChar char="•"/>
            </a:pPr>
            <a:r>
              <a:rPr lang="en-US" dirty="0"/>
              <a:t>Effort Section contains Estimated Effort (In Days) field where user has to enter a value in number.</a:t>
            </a:r>
          </a:p>
          <a:p>
            <a:pPr marL="285750" indent="-285750">
              <a:buFont typeface="Arial" panose="020B0604020202020204" pitchFamily="34" charset="0"/>
              <a:buChar char="•"/>
            </a:pPr>
            <a:r>
              <a:rPr lang="en-US" dirty="0"/>
              <a:t>Budget Section contains Estimated Budget and Actual Budget in Rupees that are to be filled by user.</a:t>
            </a:r>
          </a:p>
          <a:p>
            <a:pPr marL="285750" indent="-285750">
              <a:buFont typeface="Arial" panose="020B0604020202020204" pitchFamily="34" charset="0"/>
              <a:buChar char="•"/>
            </a:pPr>
            <a:r>
              <a:rPr lang="en-US" dirty="0"/>
              <a:t>Other all the fields are automatically calculated and populated based on system use and visibility.</a:t>
            </a:r>
          </a:p>
          <a:p>
            <a:pPr marL="285750" indent="-285750">
              <a:buFont typeface="Arial" panose="020B0604020202020204" pitchFamily="34" charset="0"/>
              <a:buChar char="•"/>
            </a:pPr>
            <a:r>
              <a:rPr lang="en-US" dirty="0"/>
              <a:t>Metrics Tab will also be auto populated based on other tasks and Change.</a:t>
            </a:r>
          </a:p>
          <a:p>
            <a:pPr marL="285750" indent="-285750">
              <a:buFont typeface="Arial" panose="020B0604020202020204" pitchFamily="34" charset="0"/>
              <a:buChar char="•"/>
            </a:pPr>
            <a:r>
              <a:rPr lang="en-US" dirty="0"/>
              <a:t>Comments field will be mandatory before the Work Item is either “Completed” or “Cancelled”. </a:t>
            </a:r>
          </a:p>
        </p:txBody>
      </p:sp>
      <p:pic>
        <p:nvPicPr>
          <p:cNvPr id="3" name="Picture 2"/>
          <p:cNvPicPr>
            <a:picLocks noChangeAspect="1"/>
          </p:cNvPicPr>
          <p:nvPr/>
        </p:nvPicPr>
        <p:blipFill>
          <a:blip r:embed="rId2"/>
          <a:stretch>
            <a:fillRect/>
          </a:stretch>
        </p:blipFill>
        <p:spPr>
          <a:xfrm>
            <a:off x="1150181" y="3074376"/>
            <a:ext cx="7753350" cy="2390775"/>
          </a:xfrm>
          <a:prstGeom prst="rect">
            <a:avLst/>
          </a:prstGeom>
        </p:spPr>
      </p:pic>
    </p:spTree>
    <p:extLst>
      <p:ext uri="{BB962C8B-B14F-4D97-AF65-F5344CB8AC3E}">
        <p14:creationId xmlns:p14="http://schemas.microsoft.com/office/powerpoint/2010/main" val="141632249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Relationships Tab</a:t>
            </a:r>
          </a:p>
        </p:txBody>
      </p:sp>
      <p:sp>
        <p:nvSpPr>
          <p:cNvPr id="7" name="Rectangle 6"/>
          <p:cNvSpPr/>
          <p:nvPr/>
        </p:nvSpPr>
        <p:spPr>
          <a:xfrm>
            <a:off x="612033" y="734019"/>
            <a:ext cx="11049770" cy="2031325"/>
          </a:xfrm>
          <a:prstGeom prst="rect">
            <a:avLst/>
          </a:prstGeom>
        </p:spPr>
        <p:txBody>
          <a:bodyPr wrap="square">
            <a:spAutoFit/>
          </a:bodyPr>
          <a:lstStyle/>
          <a:p>
            <a:endParaRPr lang="en-US" dirty="0"/>
          </a:p>
          <a:p>
            <a:endParaRPr lang="en-US" dirty="0"/>
          </a:p>
          <a:p>
            <a:endParaRPr lang="en-US" dirty="0"/>
          </a:p>
          <a:p>
            <a:pPr marL="285750" indent="-285750">
              <a:buFont typeface="Arial" panose="020B0604020202020204" pitchFamily="34" charset="0"/>
              <a:buChar char="•"/>
            </a:pPr>
            <a:r>
              <a:rPr lang="en-US" dirty="0"/>
              <a:t>The item for which the Work Item is created should be attached in “Work Item For” relationship field.</a:t>
            </a:r>
          </a:p>
          <a:p>
            <a:pPr marL="285750" indent="-285750">
              <a:buFont typeface="Arial" panose="020B0604020202020204" pitchFamily="34" charset="0"/>
              <a:buChar char="•"/>
            </a:pPr>
            <a:r>
              <a:rPr lang="en-US" dirty="0"/>
              <a:t>Related items that can be attached to this field are: Project, Defect and Work Item</a:t>
            </a:r>
          </a:p>
          <a:p>
            <a:pPr marL="285750" indent="-285750">
              <a:buFont typeface="Arial" panose="020B0604020202020204" pitchFamily="34" charset="0"/>
              <a:buChar char="•"/>
            </a:pPr>
            <a:r>
              <a:rPr lang="en-US" dirty="0"/>
              <a:t>Example shown below: </a:t>
            </a:r>
          </a:p>
          <a:p>
            <a:pPr marL="285750" indent="-285750">
              <a:buFont typeface="Arial" panose="020B0604020202020204" pitchFamily="34" charset="0"/>
              <a:buChar char="•"/>
            </a:pPr>
            <a:endParaRPr lang="en-US" dirty="0"/>
          </a:p>
        </p:txBody>
      </p:sp>
      <p:pic>
        <p:nvPicPr>
          <p:cNvPr id="4" name="Picture 3"/>
          <p:cNvPicPr>
            <a:picLocks noChangeAspect="1"/>
          </p:cNvPicPr>
          <p:nvPr/>
        </p:nvPicPr>
        <p:blipFill>
          <a:blip r:embed="rId2"/>
          <a:stretch>
            <a:fillRect/>
          </a:stretch>
        </p:blipFill>
        <p:spPr>
          <a:xfrm>
            <a:off x="966568" y="2966232"/>
            <a:ext cx="8458200" cy="2247900"/>
          </a:xfrm>
          <a:prstGeom prst="rect">
            <a:avLst/>
          </a:prstGeom>
        </p:spPr>
      </p:pic>
    </p:spTree>
    <p:extLst>
      <p:ext uri="{BB962C8B-B14F-4D97-AF65-F5344CB8AC3E}">
        <p14:creationId xmlns:p14="http://schemas.microsoft.com/office/powerpoint/2010/main" val="66043425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Work Item –Attachments Tab </a:t>
            </a:r>
          </a:p>
        </p:txBody>
      </p:sp>
      <p:sp>
        <p:nvSpPr>
          <p:cNvPr id="7" name="Rectangle 6"/>
          <p:cNvSpPr/>
          <p:nvPr/>
        </p:nvSpPr>
        <p:spPr>
          <a:xfrm>
            <a:off x="612033" y="734019"/>
            <a:ext cx="11049770" cy="4524315"/>
          </a:xfrm>
          <a:prstGeom prst="rect">
            <a:avLst/>
          </a:prstGeom>
        </p:spPr>
        <p:txBody>
          <a:bodyPr wrap="square">
            <a:spAutoFit/>
          </a:bodyPr>
          <a:lstStyle/>
          <a:p>
            <a:endParaRPr lang="en-US" dirty="0"/>
          </a:p>
          <a:p>
            <a:pPr marL="285750" indent="-285750">
              <a:buFont typeface="Arial" panose="020B0604020202020204" pitchFamily="34" charset="0"/>
              <a:buChar char="•"/>
            </a:pPr>
            <a:r>
              <a:rPr lang="en-US" dirty="0"/>
              <a:t>Attachment tab avails users to add project/document related files to the Work Item:</a:t>
            </a:r>
          </a:p>
          <a:p>
            <a:r>
              <a:rPr lang="en-US" dirty="0"/>
              <a:t>	₋Internal Attachments –Company related attachments </a:t>
            </a:r>
          </a:p>
          <a:p>
            <a:r>
              <a:rPr lang="en-US" dirty="0"/>
              <a:t>	₋Customer Attachments –Related documents given by customers</a:t>
            </a:r>
          </a:p>
          <a:p>
            <a:r>
              <a:rPr lang="en-US" dirty="0"/>
              <a:t>     Note: Attachments can be of any file format. It should not exceed the size of 5MB.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3" name="Picture 2"/>
          <p:cNvPicPr>
            <a:picLocks noChangeAspect="1"/>
          </p:cNvPicPr>
          <p:nvPr/>
        </p:nvPicPr>
        <p:blipFill>
          <a:blip r:embed="rId2"/>
          <a:stretch>
            <a:fillRect/>
          </a:stretch>
        </p:blipFill>
        <p:spPr>
          <a:xfrm>
            <a:off x="5628468" y="2335237"/>
            <a:ext cx="5915025" cy="4159787"/>
          </a:xfrm>
          <a:prstGeom prst="rect">
            <a:avLst/>
          </a:prstGeom>
        </p:spPr>
      </p:pic>
    </p:spTree>
    <p:extLst>
      <p:ext uri="{BB962C8B-B14F-4D97-AF65-F5344CB8AC3E}">
        <p14:creationId xmlns:p14="http://schemas.microsoft.com/office/powerpoint/2010/main" val="348804964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AE2331-9E5D-4002-95F6-18F5524470BF}"/>
              </a:ext>
            </a:extLst>
          </p:cNvPr>
          <p:cNvSpPr/>
          <p:nvPr/>
        </p:nvSpPr>
        <p:spPr>
          <a:xfrm>
            <a:off x="0" y="13251"/>
            <a:ext cx="12192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endParaRPr lang="en-US" sz="1351" dirty="0">
              <a:solidFill>
                <a:srgbClr val="FFFFFF"/>
              </a:solidFill>
              <a:latin typeface="Calibri"/>
            </a:endParaRPr>
          </a:p>
        </p:txBody>
      </p:sp>
      <p:sp>
        <p:nvSpPr>
          <p:cNvPr id="33" name="Rectangle 32"/>
          <p:cNvSpPr/>
          <p:nvPr/>
        </p:nvSpPr>
        <p:spPr>
          <a:xfrm>
            <a:off x="0" y="13251"/>
            <a:ext cx="12192000" cy="6858000"/>
          </a:xfrm>
          <a:prstGeom prst="rect">
            <a:avLst/>
          </a:prstGeom>
          <a:solidFill>
            <a:schemeClr val="tx1">
              <a:lumMod val="95000"/>
              <a:lumOff val="5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2">
              <a:defRPr/>
            </a:pPr>
            <a:endParaRPr lang="en-US" sz="1351" dirty="0">
              <a:solidFill>
                <a:srgbClr val="FFFFFF"/>
              </a:solidFill>
              <a:latin typeface="Calibri"/>
            </a:endParaRPr>
          </a:p>
        </p:txBody>
      </p:sp>
      <p:sp>
        <p:nvSpPr>
          <p:cNvPr id="20" name="Text Placeholder 4">
            <a:extLst>
              <a:ext uri="{FF2B5EF4-FFF2-40B4-BE49-F238E27FC236}">
                <a16:creationId xmlns:a16="http://schemas.microsoft.com/office/drawing/2014/main" id="{28C5F6E7-2567-4C4E-8288-40A604867A15}"/>
              </a:ext>
            </a:extLst>
          </p:cNvPr>
          <p:cNvSpPr txBox="1">
            <a:spLocks/>
          </p:cNvSpPr>
          <p:nvPr/>
        </p:nvSpPr>
        <p:spPr>
          <a:xfrm>
            <a:off x="1179443" y="2160104"/>
            <a:ext cx="9554819" cy="993914"/>
          </a:xfrm>
          <a:prstGeom prst="parallelogram">
            <a:avLst/>
          </a:prstGeom>
          <a:solidFill>
            <a:srgbClr val="1F1A17">
              <a:alpha val="69804"/>
            </a:srgbClr>
          </a:solidFill>
        </p:spPr>
        <p:txBody>
          <a:bodyPr vert="horz" lIns="48000" tIns="96000" rIns="48000" bIns="48000" rtlCol="0" anchor="ctr">
            <a:noAutofit/>
          </a:bodyPr>
          <a:lstStyle>
            <a:defPPr>
              <a:defRPr lang="en-US"/>
            </a:defPPr>
            <a:lvl1pPr marR="0" lvl="0" indent="0" defTabSz="1625358" fontAlgn="auto">
              <a:lnSpc>
                <a:spcPct val="90000"/>
              </a:lnSpc>
              <a:spcBef>
                <a:spcPts val="1777"/>
              </a:spcBef>
              <a:spcAft>
                <a:spcPts val="0"/>
              </a:spcAft>
              <a:buClrTx/>
              <a:buSzTx/>
              <a:buFontTx/>
              <a:buNone/>
              <a:tabLst>
                <a:tab pos="428927" algn="l"/>
              </a:tabLst>
              <a:defRPr kumimoji="0" sz="1867" b="1" i="0" u="none" strike="noStrike" cap="none" spc="0" normalizeH="0" baseline="0">
                <a:ln>
                  <a:noFill/>
                </a:ln>
                <a:solidFill>
                  <a:srgbClr val="FFCC29"/>
                </a:solidFill>
                <a:effectLst/>
                <a:uLnTx/>
                <a:uFillTx/>
                <a:latin typeface="Calibri"/>
              </a:defRPr>
            </a:lvl1pPr>
            <a:lvl2pPr marL="685750" marR="0" indent="-228584" defTabSz="914332" fontAlgn="auto">
              <a:lnSpc>
                <a:spcPct val="90000"/>
              </a:lnSpc>
              <a:spcBef>
                <a:spcPts val="500"/>
              </a:spcBef>
              <a:spcAft>
                <a:spcPts val="0"/>
              </a:spcAft>
              <a:buClrTx/>
              <a:buSzTx/>
              <a:buFontTx/>
              <a:buBlip>
                <a:blip r:embed="rId3"/>
              </a:buBlip>
              <a:tabLst>
                <a:tab pos="241289" algn="l"/>
              </a:tabLst>
              <a:defRPr sz="2400">
                <a:solidFill>
                  <a:schemeClr val="tx1">
                    <a:lumMod val="75000"/>
                    <a:lumOff val="25000"/>
                  </a:schemeClr>
                </a:solidFill>
              </a:defRPr>
            </a:lvl2pPr>
            <a:lvl3pPr marL="1142914" marR="0" indent="-228584" defTabSz="914332" fontAlgn="auto">
              <a:lnSpc>
                <a:spcPct val="90000"/>
              </a:lnSpc>
              <a:spcBef>
                <a:spcPts val="500"/>
              </a:spcBef>
              <a:spcAft>
                <a:spcPts val="0"/>
              </a:spcAft>
              <a:buClrTx/>
              <a:buSzTx/>
              <a:buFontTx/>
              <a:buBlip>
                <a:blip r:embed="rId3"/>
              </a:buBlip>
              <a:tabLst>
                <a:tab pos="241289" algn="l"/>
              </a:tabLst>
              <a:defRPr sz="2000">
                <a:solidFill>
                  <a:schemeClr val="tx1">
                    <a:lumMod val="75000"/>
                    <a:lumOff val="25000"/>
                  </a:schemeClr>
                </a:solidFill>
              </a:defRPr>
            </a:lvl3pPr>
            <a:lvl4pPr marL="1600080"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4pPr>
            <a:lvl5pPr marL="2057247"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5pPr>
            <a:lvl6pPr marL="2514412" indent="-228584" defTabSz="914332">
              <a:lnSpc>
                <a:spcPct val="90000"/>
              </a:lnSpc>
              <a:spcBef>
                <a:spcPts val="500"/>
              </a:spcBef>
              <a:buFont typeface="Arial"/>
              <a:buChar char="•"/>
              <a:defRPr sz="1867"/>
            </a:lvl6pPr>
            <a:lvl7pPr marL="2971578" indent="-228584" defTabSz="914332">
              <a:lnSpc>
                <a:spcPct val="90000"/>
              </a:lnSpc>
              <a:spcBef>
                <a:spcPts val="500"/>
              </a:spcBef>
              <a:buFont typeface="Arial"/>
              <a:buChar char="•"/>
              <a:defRPr sz="1867"/>
            </a:lvl7pPr>
            <a:lvl8pPr marL="3428744" indent="-228584" defTabSz="914332">
              <a:lnSpc>
                <a:spcPct val="90000"/>
              </a:lnSpc>
              <a:spcBef>
                <a:spcPts val="500"/>
              </a:spcBef>
              <a:buFont typeface="Arial"/>
              <a:buChar char="•"/>
              <a:defRPr sz="1867"/>
            </a:lvl8pPr>
            <a:lvl9pPr marL="3885910" indent="-228584" defTabSz="914332">
              <a:lnSpc>
                <a:spcPct val="90000"/>
              </a:lnSpc>
              <a:spcBef>
                <a:spcPts val="500"/>
              </a:spcBef>
              <a:buFont typeface="Arial"/>
              <a:buChar char="•"/>
              <a:defRPr sz="1867"/>
            </a:lvl9pPr>
          </a:lstStyle>
          <a:p>
            <a:r>
              <a:rPr lang="en-US" sz="2400" dirty="0"/>
              <a:t>Workflow and Managing Work Item</a:t>
            </a:r>
            <a:r>
              <a:rPr lang="en-US" dirty="0"/>
              <a:t> </a:t>
            </a:r>
            <a:endParaRPr lang="en-US" sz="2400" dirty="0"/>
          </a:p>
        </p:txBody>
      </p:sp>
      <p:sp>
        <p:nvSpPr>
          <p:cNvPr id="24" name="Text Placeholder 6">
            <a:extLst>
              <a:ext uri="{FF2B5EF4-FFF2-40B4-BE49-F238E27FC236}">
                <a16:creationId xmlns:a16="http://schemas.microsoft.com/office/drawing/2014/main" id="{999EE348-DCFE-48B2-824C-148A5F3249BB}"/>
              </a:ext>
            </a:extLst>
          </p:cNvPr>
          <p:cNvSpPr txBox="1">
            <a:spLocks/>
          </p:cNvSpPr>
          <p:nvPr/>
        </p:nvSpPr>
        <p:spPr>
          <a:xfrm>
            <a:off x="231775" y="174172"/>
            <a:ext cx="4760913" cy="784225"/>
          </a:xfrm>
          <a:prstGeom prst="rect">
            <a:avLst/>
          </a:prstGeom>
        </p:spPr>
        <p:txBody>
          <a:bodyPr/>
          <a:lstStyle>
            <a:lvl1pPr marL="228589" marR="0" indent="-228589" algn="l" defTabSz="914354" rtl="0" eaLnBrk="1" fontAlgn="auto" latinLnBrk="0" hangingPunct="1">
              <a:lnSpc>
                <a:spcPct val="90000"/>
              </a:lnSpc>
              <a:spcBef>
                <a:spcPts val="1000"/>
              </a:spcBef>
              <a:spcAft>
                <a:spcPts val="0"/>
              </a:spcAft>
              <a:buClrTx/>
              <a:buSzTx/>
              <a:buFontTx/>
              <a:buBlip>
                <a:blip r:embed="rId3"/>
              </a:buBlip>
              <a:tabLst>
                <a:tab pos="241294" algn="l"/>
              </a:tabLst>
              <a:defRPr lang="en-US" sz="2800" kern="1200" smtClean="0">
                <a:solidFill>
                  <a:schemeClr val="tx1">
                    <a:lumMod val="75000"/>
                    <a:lumOff val="25000"/>
                  </a:schemeClr>
                </a:solidFill>
                <a:latin typeface="+mn-lt"/>
                <a:ea typeface="+mn-ea"/>
                <a:cs typeface="+mn-cs"/>
              </a:defRPr>
            </a:lvl1pPr>
            <a:lvl2pPr marL="685766"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400" kern="1200" smtClean="0">
                <a:solidFill>
                  <a:schemeClr val="tx1">
                    <a:lumMod val="75000"/>
                    <a:lumOff val="25000"/>
                  </a:schemeClr>
                </a:solidFill>
                <a:latin typeface="+mn-lt"/>
                <a:ea typeface="+mn-ea"/>
                <a:cs typeface="+mn-cs"/>
              </a:defRPr>
            </a:lvl2pPr>
            <a:lvl3pPr marL="1142942"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000" kern="1200" smtClean="0">
                <a:solidFill>
                  <a:schemeClr val="tx1">
                    <a:lumMod val="75000"/>
                    <a:lumOff val="25000"/>
                  </a:schemeClr>
                </a:solidFill>
                <a:latin typeface="+mn-lt"/>
                <a:ea typeface="+mn-ea"/>
                <a:cs typeface="+mn-cs"/>
              </a:defRPr>
            </a:lvl3pPr>
            <a:lvl4pPr marL="1600120"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smtClean="0">
                <a:solidFill>
                  <a:schemeClr val="tx1">
                    <a:lumMod val="75000"/>
                    <a:lumOff val="25000"/>
                  </a:schemeClr>
                </a:solidFill>
                <a:latin typeface="+mn-lt"/>
                <a:ea typeface="+mn-ea"/>
                <a:cs typeface="+mn-cs"/>
              </a:defRPr>
            </a:lvl4pPr>
            <a:lvl5pPr marL="2057298"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a:solidFill>
                  <a:schemeClr val="tx1">
                    <a:lumMod val="75000"/>
                    <a:lumOff val="25000"/>
                  </a:schemeClr>
                </a:solidFill>
                <a:latin typeface="+mn-lt"/>
                <a:ea typeface="+mn-ea"/>
                <a:cs typeface="+mn-cs"/>
              </a:defRPr>
            </a:lvl5pPr>
            <a:lvl6pPr marL="2514474"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9pPr>
          </a:lstStyle>
          <a:p>
            <a:pPr marL="0" indent="0">
              <a:buNone/>
            </a:pPr>
            <a:endParaRPr lang="en-US" sz="3200" dirty="0">
              <a:solidFill>
                <a:schemeClr val="bg1"/>
              </a:solidFill>
            </a:endParaRPr>
          </a:p>
        </p:txBody>
      </p:sp>
    </p:spTree>
    <p:extLst>
      <p:ext uri="{BB962C8B-B14F-4D97-AF65-F5344CB8AC3E}">
        <p14:creationId xmlns:p14="http://schemas.microsoft.com/office/powerpoint/2010/main" val="206468905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Work Item Workflow Transition</a:t>
            </a:r>
          </a:p>
        </p:txBody>
      </p:sp>
      <p:sp>
        <p:nvSpPr>
          <p:cNvPr id="7" name="Rectangle 6"/>
          <p:cNvSpPr/>
          <p:nvPr/>
        </p:nvSpPr>
        <p:spPr>
          <a:xfrm>
            <a:off x="4651513" y="734019"/>
            <a:ext cx="7010289" cy="7294305"/>
          </a:xfrm>
          <a:prstGeom prst="rect">
            <a:avLst/>
          </a:prstGeom>
        </p:spPr>
        <p:txBody>
          <a:bodyPr wrap="square">
            <a:spAutoFit/>
          </a:bodyPr>
          <a:lstStyle/>
          <a:p>
            <a:endParaRPr lang="en-US" dirty="0"/>
          </a:p>
          <a:p>
            <a:endParaRPr lang="en-US" dirty="0"/>
          </a:p>
          <a:p>
            <a:endParaRPr lang="en-US" dirty="0"/>
          </a:p>
          <a:p>
            <a:endParaRPr lang="en-US" dirty="0"/>
          </a:p>
          <a:p>
            <a:endParaRPr lang="en-US" dirty="0"/>
          </a:p>
          <a:p>
            <a:pPr marL="285750" indent="-285750">
              <a:buFont typeface="Arial" panose="020B0604020202020204" pitchFamily="34" charset="0"/>
              <a:buChar char="•"/>
            </a:pPr>
            <a:r>
              <a:rPr lang="en-US" dirty="0"/>
              <a:t>When creator creates a new Work Item, by default it will be in “Assigned” state.</a:t>
            </a:r>
          </a:p>
          <a:p>
            <a:pPr marL="285750" indent="-285750">
              <a:buFont typeface="Arial" panose="020B0604020202020204" pitchFamily="34" charset="0"/>
              <a:buChar char="•"/>
            </a:pPr>
            <a:r>
              <a:rPr lang="en-US" dirty="0"/>
              <a:t>Only creator can transit the workflow from “Assigned” to “Under Execution” state.</a:t>
            </a:r>
          </a:p>
          <a:p>
            <a:pPr marL="285750" indent="-285750">
              <a:buFont typeface="Arial" panose="020B0604020202020204" pitchFamily="34" charset="0"/>
              <a:buChar char="•"/>
            </a:pPr>
            <a:r>
              <a:rPr lang="en-US" dirty="0"/>
              <a:t>For Under Execution state, Summary, Project, Requestor Department, Receiver Department, Assigned User fields are mandatory which are marked by Red.</a:t>
            </a:r>
          </a:p>
          <a:p>
            <a:pPr marL="285750" indent="-285750">
              <a:buFont typeface="Arial" panose="020B0604020202020204" pitchFamily="34" charset="0"/>
              <a:buChar char="•"/>
            </a:pPr>
            <a:r>
              <a:rPr lang="en-US" dirty="0"/>
              <a:t>If the work item is not workable or activity in the work item gets cancelled by any chance, the work item can be Rejected.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9" name="Rectangle 8"/>
          <p:cNvSpPr/>
          <p:nvPr/>
        </p:nvSpPr>
        <p:spPr>
          <a:xfrm>
            <a:off x="436098" y="858129"/>
            <a:ext cx="3380529" cy="54582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Primary Actor: Work Item Creator</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US" b="1" dirty="0"/>
          </a:p>
          <a:p>
            <a:endParaRPr lang="en-US" b="1" dirty="0"/>
          </a:p>
          <a:p>
            <a:endParaRPr lang="en-US" b="1" dirty="0"/>
          </a:p>
        </p:txBody>
      </p:sp>
      <p:pic>
        <p:nvPicPr>
          <p:cNvPr id="4" name="Picture 3"/>
          <p:cNvPicPr>
            <a:picLocks noChangeAspect="1"/>
          </p:cNvPicPr>
          <p:nvPr/>
        </p:nvPicPr>
        <p:blipFill>
          <a:blip r:embed="rId2"/>
          <a:stretch>
            <a:fillRect/>
          </a:stretch>
        </p:blipFill>
        <p:spPr>
          <a:xfrm>
            <a:off x="612033" y="2580689"/>
            <a:ext cx="3045568" cy="3735705"/>
          </a:xfrm>
          <a:prstGeom prst="rect">
            <a:avLst/>
          </a:prstGeom>
        </p:spPr>
      </p:pic>
      <p:sp>
        <p:nvSpPr>
          <p:cNvPr id="8" name="Arrow: Right 7"/>
          <p:cNvSpPr/>
          <p:nvPr/>
        </p:nvSpPr>
        <p:spPr>
          <a:xfrm>
            <a:off x="1730326" y="3516923"/>
            <a:ext cx="548640" cy="984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Tree>
    <p:extLst>
      <p:ext uri="{BB962C8B-B14F-4D97-AF65-F5344CB8AC3E}">
        <p14:creationId xmlns:p14="http://schemas.microsoft.com/office/powerpoint/2010/main" val="39136771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Work Item Workflow Transition</a:t>
            </a:r>
          </a:p>
        </p:txBody>
      </p:sp>
      <p:sp>
        <p:nvSpPr>
          <p:cNvPr id="7" name="Rectangle 6"/>
          <p:cNvSpPr/>
          <p:nvPr/>
        </p:nvSpPr>
        <p:spPr>
          <a:xfrm>
            <a:off x="4651513" y="734019"/>
            <a:ext cx="7010289" cy="7017306"/>
          </a:xfrm>
          <a:prstGeom prst="rect">
            <a:avLst/>
          </a:prstGeom>
        </p:spPr>
        <p:txBody>
          <a:bodyPr wrap="square">
            <a:spAutoFit/>
          </a:bodyPr>
          <a:lstStyle/>
          <a:p>
            <a:endParaRPr lang="en-US" dirty="0"/>
          </a:p>
          <a:p>
            <a:endParaRPr lang="en-US" dirty="0"/>
          </a:p>
          <a:p>
            <a:endParaRPr lang="en-US" dirty="0"/>
          </a:p>
          <a:p>
            <a:endParaRPr lang="en-US" dirty="0"/>
          </a:p>
          <a:p>
            <a:endParaRPr lang="en-US" dirty="0"/>
          </a:p>
          <a:p>
            <a:endParaRPr lang="en-US" dirty="0"/>
          </a:p>
          <a:p>
            <a:endParaRPr lang="en-US" dirty="0"/>
          </a:p>
          <a:p>
            <a:pPr marL="285750" indent="-285750">
              <a:buFont typeface="Arial" panose="020B0604020202020204" pitchFamily="34" charset="0"/>
              <a:buChar char="•"/>
            </a:pPr>
            <a:r>
              <a:rPr lang="en-US" dirty="0"/>
              <a:t>After “Assigned” state, next is “Under Execution” state.</a:t>
            </a:r>
          </a:p>
          <a:p>
            <a:pPr marL="285750" indent="-285750">
              <a:buFont typeface="Arial" panose="020B0604020202020204" pitchFamily="34" charset="0"/>
              <a:buChar char="•"/>
            </a:pPr>
            <a:r>
              <a:rPr lang="en-US" dirty="0"/>
              <a:t>In “Under Execution” state, the assigned user will work on the Work Item taking necessary actions.</a:t>
            </a:r>
          </a:p>
          <a:p>
            <a:pPr marL="285750" indent="-285750">
              <a:buFont typeface="Arial" panose="020B0604020202020204" pitchFamily="34" charset="0"/>
              <a:buChar char="•"/>
            </a:pPr>
            <a:r>
              <a:rPr lang="en-US" dirty="0"/>
              <a:t>Once the task mentioned is done, user must change the state to “Under Review”.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9" name="Rectangle 8"/>
          <p:cNvSpPr/>
          <p:nvPr/>
        </p:nvSpPr>
        <p:spPr>
          <a:xfrm>
            <a:off x="436098" y="858129"/>
            <a:ext cx="3380529" cy="54582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Primary Actor: Work Item Creator</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US" b="1" dirty="0"/>
          </a:p>
          <a:p>
            <a:endParaRPr lang="en-US" b="1" dirty="0"/>
          </a:p>
          <a:p>
            <a:endParaRPr lang="en-US" b="1" dirty="0"/>
          </a:p>
        </p:txBody>
      </p:sp>
      <p:pic>
        <p:nvPicPr>
          <p:cNvPr id="4" name="Picture 3"/>
          <p:cNvPicPr>
            <a:picLocks noChangeAspect="1"/>
          </p:cNvPicPr>
          <p:nvPr/>
        </p:nvPicPr>
        <p:blipFill>
          <a:blip r:embed="rId2"/>
          <a:stretch>
            <a:fillRect/>
          </a:stretch>
        </p:blipFill>
        <p:spPr>
          <a:xfrm>
            <a:off x="603578" y="2580689"/>
            <a:ext cx="3045568" cy="3735705"/>
          </a:xfrm>
          <a:prstGeom prst="rect">
            <a:avLst/>
          </a:prstGeom>
        </p:spPr>
      </p:pic>
      <p:sp>
        <p:nvSpPr>
          <p:cNvPr id="8" name="Arrow: Right 7"/>
          <p:cNvSpPr/>
          <p:nvPr/>
        </p:nvSpPr>
        <p:spPr>
          <a:xfrm>
            <a:off x="436097" y="4051494"/>
            <a:ext cx="548640" cy="2250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Tree>
    <p:extLst>
      <p:ext uri="{BB962C8B-B14F-4D97-AF65-F5344CB8AC3E}">
        <p14:creationId xmlns:p14="http://schemas.microsoft.com/office/powerpoint/2010/main" val="44710464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Work Item Workflow Transition</a:t>
            </a:r>
          </a:p>
        </p:txBody>
      </p:sp>
      <p:sp>
        <p:nvSpPr>
          <p:cNvPr id="7" name="Rectangle 6"/>
          <p:cNvSpPr/>
          <p:nvPr/>
        </p:nvSpPr>
        <p:spPr>
          <a:xfrm>
            <a:off x="4651513" y="734019"/>
            <a:ext cx="7010289" cy="7294305"/>
          </a:xfrm>
          <a:prstGeom prst="rect">
            <a:avLst/>
          </a:prstGeom>
        </p:spPr>
        <p:txBody>
          <a:bodyPr wrap="square">
            <a:spAutoFit/>
          </a:bodyPr>
          <a:lstStyle/>
          <a:p>
            <a:endParaRPr lang="en-US" dirty="0"/>
          </a:p>
          <a:p>
            <a:endParaRPr lang="en-US" dirty="0"/>
          </a:p>
          <a:p>
            <a:endParaRPr lang="en-US" dirty="0"/>
          </a:p>
          <a:p>
            <a:pPr marL="285750" indent="-285750">
              <a:buFont typeface="Arial" panose="020B0604020202020204" pitchFamily="34" charset="0"/>
              <a:buChar char="•"/>
            </a:pPr>
            <a:r>
              <a:rPr lang="en-US" dirty="0"/>
              <a:t>After “Under Execution” state, next transition is “Under Review” state.</a:t>
            </a:r>
          </a:p>
          <a:p>
            <a:pPr marL="285750" indent="-285750">
              <a:buFont typeface="Arial" panose="020B0604020202020204" pitchFamily="34" charset="0"/>
              <a:buChar char="•"/>
            </a:pPr>
            <a:r>
              <a:rPr lang="en-US" dirty="0"/>
              <a:t>In Under Review state, assigned user accepts the work item for review.</a:t>
            </a:r>
          </a:p>
          <a:p>
            <a:pPr marL="285750" indent="-285750">
              <a:buFont typeface="Arial" panose="020B0604020202020204" pitchFamily="34" charset="0"/>
              <a:buChar char="•"/>
            </a:pPr>
            <a:r>
              <a:rPr lang="en-US" dirty="0"/>
              <a:t>In Under Review state, Comments fields becomes mandatory.</a:t>
            </a:r>
          </a:p>
          <a:p>
            <a:pPr marL="285750" indent="-285750">
              <a:buFont typeface="Arial" panose="020B0604020202020204" pitchFamily="34" charset="0"/>
              <a:buChar char="•"/>
            </a:pPr>
            <a:r>
              <a:rPr lang="en-US" dirty="0"/>
              <a:t>Only Assigned Reviewer can transit the workflow from </a:t>
            </a:r>
          </a:p>
          <a:p>
            <a:r>
              <a:rPr lang="en-US" dirty="0"/>
              <a:t>     “Under Review ”to “Completed” state.</a:t>
            </a:r>
          </a:p>
          <a:p>
            <a:pPr marL="285750" indent="-285750">
              <a:buFont typeface="Arial" panose="020B0604020202020204" pitchFamily="34" charset="0"/>
              <a:buChar char="•"/>
            </a:pPr>
            <a:r>
              <a:rPr lang="en-US" dirty="0"/>
              <a:t>Reviewer also has the authority change the state to “Cancelled” if required.</a:t>
            </a:r>
          </a:p>
          <a:p>
            <a:pPr marL="285750" indent="-285750">
              <a:buFont typeface="Arial" panose="020B0604020202020204" pitchFamily="34" charset="0"/>
              <a:buChar char="•"/>
            </a:pPr>
            <a:r>
              <a:rPr lang="en-US" dirty="0"/>
              <a:t>If any changes are required, Assigned Reviewer can change back the state from “Under Review” to “Under Execution”.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9" name="Rectangle 8"/>
          <p:cNvSpPr/>
          <p:nvPr/>
        </p:nvSpPr>
        <p:spPr>
          <a:xfrm>
            <a:off x="436098" y="858129"/>
            <a:ext cx="3380529" cy="54582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Primary Actor: Work Item Creator</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US" b="1" dirty="0"/>
          </a:p>
          <a:p>
            <a:endParaRPr lang="en-US" b="1" dirty="0"/>
          </a:p>
          <a:p>
            <a:endParaRPr lang="en-US" b="1" dirty="0"/>
          </a:p>
        </p:txBody>
      </p:sp>
      <p:pic>
        <p:nvPicPr>
          <p:cNvPr id="4" name="Picture 3"/>
          <p:cNvPicPr>
            <a:picLocks noChangeAspect="1"/>
          </p:cNvPicPr>
          <p:nvPr/>
        </p:nvPicPr>
        <p:blipFill>
          <a:blip r:embed="rId2"/>
          <a:stretch>
            <a:fillRect/>
          </a:stretch>
        </p:blipFill>
        <p:spPr>
          <a:xfrm>
            <a:off x="612033" y="2580689"/>
            <a:ext cx="3045568" cy="3735705"/>
          </a:xfrm>
          <a:prstGeom prst="rect">
            <a:avLst/>
          </a:prstGeom>
        </p:spPr>
      </p:pic>
      <p:sp>
        <p:nvSpPr>
          <p:cNvPr id="8" name="Arrow: Right 7"/>
          <p:cNvSpPr/>
          <p:nvPr/>
        </p:nvSpPr>
        <p:spPr>
          <a:xfrm>
            <a:off x="612032" y="5416062"/>
            <a:ext cx="256059" cy="984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Tree>
    <p:extLst>
      <p:ext uri="{BB962C8B-B14F-4D97-AF65-F5344CB8AC3E}">
        <p14:creationId xmlns:p14="http://schemas.microsoft.com/office/powerpoint/2010/main" val="254058074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Work Item Workflow Transition</a:t>
            </a:r>
          </a:p>
        </p:txBody>
      </p:sp>
      <p:sp>
        <p:nvSpPr>
          <p:cNvPr id="7" name="Rectangle 6"/>
          <p:cNvSpPr/>
          <p:nvPr/>
        </p:nvSpPr>
        <p:spPr>
          <a:xfrm>
            <a:off x="4651513" y="734019"/>
            <a:ext cx="7010289" cy="5909310"/>
          </a:xfrm>
          <a:prstGeom prst="rect">
            <a:avLst/>
          </a:prstGeom>
        </p:spPr>
        <p:txBody>
          <a:bodyPr wrap="square">
            <a:spAutoFit/>
          </a:bodyPr>
          <a:lstStyle/>
          <a:p>
            <a:endParaRPr lang="en-US" dirty="0"/>
          </a:p>
          <a:p>
            <a:endParaRPr lang="en-US" dirty="0"/>
          </a:p>
          <a:p>
            <a:endParaRPr lang="en-US" dirty="0"/>
          </a:p>
          <a:p>
            <a:endParaRPr lang="en-US" dirty="0"/>
          </a:p>
          <a:p>
            <a:endParaRPr lang="en-US" dirty="0"/>
          </a:p>
          <a:p>
            <a:endParaRPr lang="en-US" dirty="0"/>
          </a:p>
          <a:p>
            <a:r>
              <a:rPr lang="en-US" dirty="0"/>
              <a:t>Once the Work Item is completed, Actual Completion Date will be populated with the time and date when the user changes and saves the state to “Completed”.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9" name="Rectangle 8"/>
          <p:cNvSpPr/>
          <p:nvPr/>
        </p:nvSpPr>
        <p:spPr>
          <a:xfrm>
            <a:off x="436098" y="858129"/>
            <a:ext cx="3380529" cy="54582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Primary Actor: Work Item Creator</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US" b="1" dirty="0"/>
          </a:p>
          <a:p>
            <a:endParaRPr lang="en-US" b="1" dirty="0"/>
          </a:p>
          <a:p>
            <a:endParaRPr lang="en-US" b="1" dirty="0"/>
          </a:p>
        </p:txBody>
      </p:sp>
      <p:pic>
        <p:nvPicPr>
          <p:cNvPr id="4" name="Picture 3"/>
          <p:cNvPicPr>
            <a:picLocks noChangeAspect="1"/>
          </p:cNvPicPr>
          <p:nvPr/>
        </p:nvPicPr>
        <p:blipFill>
          <a:blip r:embed="rId2"/>
          <a:stretch>
            <a:fillRect/>
          </a:stretch>
        </p:blipFill>
        <p:spPr>
          <a:xfrm>
            <a:off x="612033" y="2580689"/>
            <a:ext cx="3045568" cy="3735705"/>
          </a:xfrm>
          <a:prstGeom prst="rect">
            <a:avLst/>
          </a:prstGeom>
        </p:spPr>
      </p:pic>
      <p:sp>
        <p:nvSpPr>
          <p:cNvPr id="8" name="Arrow: Right 7"/>
          <p:cNvSpPr/>
          <p:nvPr/>
        </p:nvSpPr>
        <p:spPr>
          <a:xfrm>
            <a:off x="612032" y="5978769"/>
            <a:ext cx="186354" cy="844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Tree>
    <p:extLst>
      <p:ext uri="{BB962C8B-B14F-4D97-AF65-F5344CB8AC3E}">
        <p14:creationId xmlns:p14="http://schemas.microsoft.com/office/powerpoint/2010/main" val="117551596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AE2331-9E5D-4002-95F6-18F5524470BF}"/>
              </a:ext>
            </a:extLst>
          </p:cNvPr>
          <p:cNvSpPr/>
          <p:nvPr/>
        </p:nvSpPr>
        <p:spPr>
          <a:xfrm>
            <a:off x="0" y="13251"/>
            <a:ext cx="12192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endParaRPr lang="en-US" sz="1351" dirty="0">
              <a:solidFill>
                <a:srgbClr val="FFFFFF"/>
              </a:solidFill>
              <a:latin typeface="Calibri"/>
            </a:endParaRPr>
          </a:p>
        </p:txBody>
      </p:sp>
      <p:sp>
        <p:nvSpPr>
          <p:cNvPr id="33" name="Rectangle 32"/>
          <p:cNvSpPr/>
          <p:nvPr/>
        </p:nvSpPr>
        <p:spPr>
          <a:xfrm>
            <a:off x="0" y="13251"/>
            <a:ext cx="12192000" cy="6858000"/>
          </a:xfrm>
          <a:prstGeom prst="rect">
            <a:avLst/>
          </a:prstGeom>
          <a:solidFill>
            <a:schemeClr val="tx1">
              <a:lumMod val="95000"/>
              <a:lumOff val="5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2">
              <a:defRPr/>
            </a:pPr>
            <a:endParaRPr lang="en-US" sz="1351" dirty="0">
              <a:solidFill>
                <a:srgbClr val="FFFFFF"/>
              </a:solidFill>
              <a:latin typeface="Calibri"/>
            </a:endParaRPr>
          </a:p>
        </p:txBody>
      </p:sp>
      <p:sp>
        <p:nvSpPr>
          <p:cNvPr id="20" name="Text Placeholder 4">
            <a:extLst>
              <a:ext uri="{FF2B5EF4-FFF2-40B4-BE49-F238E27FC236}">
                <a16:creationId xmlns:a16="http://schemas.microsoft.com/office/drawing/2014/main" id="{28C5F6E7-2567-4C4E-8288-40A604867A15}"/>
              </a:ext>
            </a:extLst>
          </p:cNvPr>
          <p:cNvSpPr txBox="1">
            <a:spLocks/>
          </p:cNvSpPr>
          <p:nvPr/>
        </p:nvSpPr>
        <p:spPr>
          <a:xfrm>
            <a:off x="1179443" y="2230443"/>
            <a:ext cx="9554819" cy="993914"/>
          </a:xfrm>
          <a:prstGeom prst="parallelogram">
            <a:avLst/>
          </a:prstGeom>
          <a:solidFill>
            <a:srgbClr val="1F1A17">
              <a:alpha val="69804"/>
            </a:srgbClr>
          </a:solidFill>
        </p:spPr>
        <p:txBody>
          <a:bodyPr vert="horz" lIns="48000" tIns="96000" rIns="48000" bIns="48000" rtlCol="0" anchor="ctr">
            <a:noAutofit/>
          </a:bodyPr>
          <a:lstStyle>
            <a:defPPr>
              <a:defRPr lang="en-US"/>
            </a:defPPr>
            <a:lvl1pPr marR="0" lvl="0" indent="0" defTabSz="1625358" fontAlgn="auto">
              <a:lnSpc>
                <a:spcPct val="90000"/>
              </a:lnSpc>
              <a:spcBef>
                <a:spcPts val="1777"/>
              </a:spcBef>
              <a:spcAft>
                <a:spcPts val="0"/>
              </a:spcAft>
              <a:buClrTx/>
              <a:buSzTx/>
              <a:buFontTx/>
              <a:buNone/>
              <a:tabLst>
                <a:tab pos="428927" algn="l"/>
              </a:tabLst>
              <a:defRPr kumimoji="0" sz="1867" b="1" i="0" u="none" strike="noStrike" cap="none" spc="0" normalizeH="0" baseline="0">
                <a:ln>
                  <a:noFill/>
                </a:ln>
                <a:solidFill>
                  <a:srgbClr val="FFCC29"/>
                </a:solidFill>
                <a:effectLst/>
                <a:uLnTx/>
                <a:uFillTx/>
                <a:latin typeface="Calibri"/>
              </a:defRPr>
            </a:lvl1pPr>
            <a:lvl2pPr marL="685750" marR="0" indent="-228584" defTabSz="914332" fontAlgn="auto">
              <a:lnSpc>
                <a:spcPct val="90000"/>
              </a:lnSpc>
              <a:spcBef>
                <a:spcPts val="500"/>
              </a:spcBef>
              <a:spcAft>
                <a:spcPts val="0"/>
              </a:spcAft>
              <a:buClrTx/>
              <a:buSzTx/>
              <a:buFontTx/>
              <a:buBlip>
                <a:blip r:embed="rId3"/>
              </a:buBlip>
              <a:tabLst>
                <a:tab pos="241289" algn="l"/>
              </a:tabLst>
              <a:defRPr sz="2400">
                <a:solidFill>
                  <a:schemeClr val="tx1">
                    <a:lumMod val="75000"/>
                    <a:lumOff val="25000"/>
                  </a:schemeClr>
                </a:solidFill>
              </a:defRPr>
            </a:lvl2pPr>
            <a:lvl3pPr marL="1142914" marR="0" indent="-228584" defTabSz="914332" fontAlgn="auto">
              <a:lnSpc>
                <a:spcPct val="90000"/>
              </a:lnSpc>
              <a:spcBef>
                <a:spcPts val="500"/>
              </a:spcBef>
              <a:spcAft>
                <a:spcPts val="0"/>
              </a:spcAft>
              <a:buClrTx/>
              <a:buSzTx/>
              <a:buFontTx/>
              <a:buBlip>
                <a:blip r:embed="rId3"/>
              </a:buBlip>
              <a:tabLst>
                <a:tab pos="241289" algn="l"/>
              </a:tabLst>
              <a:defRPr sz="2000">
                <a:solidFill>
                  <a:schemeClr val="tx1">
                    <a:lumMod val="75000"/>
                    <a:lumOff val="25000"/>
                  </a:schemeClr>
                </a:solidFill>
              </a:defRPr>
            </a:lvl3pPr>
            <a:lvl4pPr marL="1600080"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4pPr>
            <a:lvl5pPr marL="2057247" marR="0" indent="-228584" defTabSz="914332" fontAlgn="auto">
              <a:lnSpc>
                <a:spcPct val="90000"/>
              </a:lnSpc>
              <a:spcBef>
                <a:spcPts val="500"/>
              </a:spcBef>
              <a:spcAft>
                <a:spcPts val="0"/>
              </a:spcAft>
              <a:buClrTx/>
              <a:buSzTx/>
              <a:buFontTx/>
              <a:buBlip>
                <a:blip r:embed="rId3"/>
              </a:buBlip>
              <a:tabLst>
                <a:tab pos="241289" algn="l"/>
              </a:tabLst>
              <a:defRPr sz="1867">
                <a:solidFill>
                  <a:schemeClr val="tx1">
                    <a:lumMod val="75000"/>
                    <a:lumOff val="25000"/>
                  </a:schemeClr>
                </a:solidFill>
              </a:defRPr>
            </a:lvl5pPr>
            <a:lvl6pPr marL="2514412" indent="-228584" defTabSz="914332">
              <a:lnSpc>
                <a:spcPct val="90000"/>
              </a:lnSpc>
              <a:spcBef>
                <a:spcPts val="500"/>
              </a:spcBef>
              <a:buFont typeface="Arial"/>
              <a:buChar char="•"/>
              <a:defRPr sz="1867"/>
            </a:lvl6pPr>
            <a:lvl7pPr marL="2971578" indent="-228584" defTabSz="914332">
              <a:lnSpc>
                <a:spcPct val="90000"/>
              </a:lnSpc>
              <a:spcBef>
                <a:spcPts val="500"/>
              </a:spcBef>
              <a:buFont typeface="Arial"/>
              <a:buChar char="•"/>
              <a:defRPr sz="1867"/>
            </a:lvl7pPr>
            <a:lvl8pPr marL="3428744" indent="-228584" defTabSz="914332">
              <a:lnSpc>
                <a:spcPct val="90000"/>
              </a:lnSpc>
              <a:spcBef>
                <a:spcPts val="500"/>
              </a:spcBef>
              <a:buFont typeface="Arial"/>
              <a:buChar char="•"/>
              <a:defRPr sz="1867"/>
            </a:lvl8pPr>
            <a:lvl9pPr marL="3885910" indent="-228584" defTabSz="914332">
              <a:lnSpc>
                <a:spcPct val="90000"/>
              </a:lnSpc>
              <a:spcBef>
                <a:spcPts val="500"/>
              </a:spcBef>
              <a:buFont typeface="Arial"/>
              <a:buChar char="•"/>
              <a:defRPr sz="1867"/>
            </a:lvl9pPr>
          </a:lstStyle>
          <a:p>
            <a:r>
              <a:rPr lang="en-US" sz="2400" dirty="0"/>
              <a:t>My Assigned Task Query Explanation</a:t>
            </a:r>
          </a:p>
        </p:txBody>
      </p:sp>
      <p:sp>
        <p:nvSpPr>
          <p:cNvPr id="24" name="Text Placeholder 6">
            <a:extLst>
              <a:ext uri="{FF2B5EF4-FFF2-40B4-BE49-F238E27FC236}">
                <a16:creationId xmlns:a16="http://schemas.microsoft.com/office/drawing/2014/main" id="{999EE348-DCFE-48B2-824C-148A5F3249BB}"/>
              </a:ext>
            </a:extLst>
          </p:cNvPr>
          <p:cNvSpPr txBox="1">
            <a:spLocks/>
          </p:cNvSpPr>
          <p:nvPr/>
        </p:nvSpPr>
        <p:spPr>
          <a:xfrm>
            <a:off x="231775" y="174172"/>
            <a:ext cx="4760913" cy="784225"/>
          </a:xfrm>
          <a:prstGeom prst="rect">
            <a:avLst/>
          </a:prstGeom>
        </p:spPr>
        <p:txBody>
          <a:bodyPr/>
          <a:lstStyle>
            <a:lvl1pPr marL="228589" marR="0" indent="-228589" algn="l" defTabSz="914354" rtl="0" eaLnBrk="1" fontAlgn="auto" latinLnBrk="0" hangingPunct="1">
              <a:lnSpc>
                <a:spcPct val="90000"/>
              </a:lnSpc>
              <a:spcBef>
                <a:spcPts val="1000"/>
              </a:spcBef>
              <a:spcAft>
                <a:spcPts val="0"/>
              </a:spcAft>
              <a:buClrTx/>
              <a:buSzTx/>
              <a:buFontTx/>
              <a:buBlip>
                <a:blip r:embed="rId3"/>
              </a:buBlip>
              <a:tabLst>
                <a:tab pos="241294" algn="l"/>
              </a:tabLst>
              <a:defRPr lang="en-US" sz="2800" kern="1200" smtClean="0">
                <a:solidFill>
                  <a:schemeClr val="tx1">
                    <a:lumMod val="75000"/>
                    <a:lumOff val="25000"/>
                  </a:schemeClr>
                </a:solidFill>
                <a:latin typeface="+mn-lt"/>
                <a:ea typeface="+mn-ea"/>
                <a:cs typeface="+mn-cs"/>
              </a:defRPr>
            </a:lvl1pPr>
            <a:lvl2pPr marL="685766"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400" kern="1200" smtClean="0">
                <a:solidFill>
                  <a:schemeClr val="tx1">
                    <a:lumMod val="75000"/>
                    <a:lumOff val="25000"/>
                  </a:schemeClr>
                </a:solidFill>
                <a:latin typeface="+mn-lt"/>
                <a:ea typeface="+mn-ea"/>
                <a:cs typeface="+mn-cs"/>
              </a:defRPr>
            </a:lvl2pPr>
            <a:lvl3pPr marL="1142942"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2000" kern="1200" smtClean="0">
                <a:solidFill>
                  <a:schemeClr val="tx1">
                    <a:lumMod val="75000"/>
                    <a:lumOff val="25000"/>
                  </a:schemeClr>
                </a:solidFill>
                <a:latin typeface="+mn-lt"/>
                <a:ea typeface="+mn-ea"/>
                <a:cs typeface="+mn-cs"/>
              </a:defRPr>
            </a:lvl3pPr>
            <a:lvl4pPr marL="1600120"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smtClean="0">
                <a:solidFill>
                  <a:schemeClr val="tx1">
                    <a:lumMod val="75000"/>
                    <a:lumOff val="25000"/>
                  </a:schemeClr>
                </a:solidFill>
                <a:latin typeface="+mn-lt"/>
                <a:ea typeface="+mn-ea"/>
                <a:cs typeface="+mn-cs"/>
              </a:defRPr>
            </a:lvl4pPr>
            <a:lvl5pPr marL="2057298" marR="0" indent="-228589" algn="l" defTabSz="914354" rtl="0" eaLnBrk="1" fontAlgn="auto" latinLnBrk="0" hangingPunct="1">
              <a:lnSpc>
                <a:spcPct val="90000"/>
              </a:lnSpc>
              <a:spcBef>
                <a:spcPts val="500"/>
              </a:spcBef>
              <a:spcAft>
                <a:spcPts val="0"/>
              </a:spcAft>
              <a:buClrTx/>
              <a:buSzTx/>
              <a:buFontTx/>
              <a:buBlip>
                <a:blip r:embed="rId3"/>
              </a:buBlip>
              <a:tabLst>
                <a:tab pos="241294" algn="l"/>
              </a:tabLst>
              <a:defRPr lang="en-US" sz="1867" kern="1200">
                <a:solidFill>
                  <a:schemeClr val="tx1">
                    <a:lumMod val="75000"/>
                    <a:lumOff val="25000"/>
                  </a:schemeClr>
                </a:solidFill>
                <a:latin typeface="+mn-lt"/>
                <a:ea typeface="+mn-ea"/>
                <a:cs typeface="+mn-cs"/>
              </a:defRPr>
            </a:lvl5pPr>
            <a:lvl6pPr marL="2514474"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a:buChar char="•"/>
              <a:defRPr sz="1867" kern="1200">
                <a:solidFill>
                  <a:schemeClr val="tx1"/>
                </a:solidFill>
                <a:latin typeface="+mn-lt"/>
                <a:ea typeface="+mn-ea"/>
                <a:cs typeface="+mn-cs"/>
              </a:defRPr>
            </a:lvl9pPr>
          </a:lstStyle>
          <a:p>
            <a:pPr marL="0" indent="0">
              <a:buNone/>
            </a:pPr>
            <a:endParaRPr lang="en-US" sz="3200" dirty="0">
              <a:solidFill>
                <a:schemeClr val="bg1"/>
              </a:solidFill>
            </a:endParaRPr>
          </a:p>
        </p:txBody>
      </p:sp>
    </p:spTree>
    <p:extLst>
      <p:ext uri="{BB962C8B-B14F-4D97-AF65-F5344CB8AC3E}">
        <p14:creationId xmlns:p14="http://schemas.microsoft.com/office/powerpoint/2010/main" val="428749938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My Assigned Task Query Explanation</a:t>
            </a:r>
          </a:p>
        </p:txBody>
      </p:sp>
      <p:sp>
        <p:nvSpPr>
          <p:cNvPr id="4" name="Rectangle 3"/>
          <p:cNvSpPr/>
          <p:nvPr/>
        </p:nvSpPr>
        <p:spPr>
          <a:xfrm>
            <a:off x="455495" y="979557"/>
            <a:ext cx="11281010" cy="1831271"/>
          </a:xfrm>
          <a:prstGeom prst="rect">
            <a:avLst/>
          </a:prstGeom>
        </p:spPr>
        <p:txBody>
          <a:bodyPr wrap="square">
            <a:spAutoFit/>
          </a:bodyPr>
          <a:lstStyle/>
          <a:p>
            <a:endParaRPr lang="en-US" dirty="0"/>
          </a:p>
          <a:p>
            <a:pPr marL="285750" indent="-285750">
              <a:buFont typeface="Arial" panose="020B0604020202020204" pitchFamily="34" charset="0"/>
              <a:buChar char="•"/>
            </a:pPr>
            <a:r>
              <a:rPr lang="en-US" dirty="0"/>
              <a:t>All action item assigned to some user.</a:t>
            </a:r>
          </a:p>
          <a:p>
            <a:pPr marL="285750" indent="-285750">
              <a:buFont typeface="Arial" panose="020B0604020202020204" pitchFamily="34" charset="0"/>
              <a:buChar char="•"/>
            </a:pPr>
            <a:r>
              <a:rPr lang="en-US" dirty="0"/>
              <a:t>Assigned user can search for his/her assigned action item through “My Assigned Task Query”.</a:t>
            </a:r>
          </a:p>
          <a:p>
            <a:pPr marL="285750" indent="-285750">
              <a:buFont typeface="Arial" panose="020B0604020202020204" pitchFamily="34" charset="0"/>
              <a:buChar char="•"/>
            </a:pPr>
            <a:r>
              <a:rPr lang="en-US" dirty="0"/>
              <a:t>My Assigned Task Query contains all the assigned task of user but here we search for Work Item.</a:t>
            </a:r>
          </a:p>
          <a:p>
            <a:pPr marL="285750" indent="-285750">
              <a:buFont typeface="Arial" panose="020B0604020202020204" pitchFamily="34" charset="0"/>
              <a:buChar char="•"/>
            </a:pPr>
            <a:r>
              <a:rPr lang="en-US" dirty="0"/>
              <a:t>Go to Query -&gt; Manage Query -&gt; Search My Assigned Task -&gt; Where Filter -&gt; Select Work Item </a:t>
            </a:r>
          </a:p>
          <a:p>
            <a:pPr marL="742950" lvl="1" indent="-285750">
              <a:spcBef>
                <a:spcPts val="600"/>
              </a:spcBef>
              <a:spcAft>
                <a:spcPts val="600"/>
              </a:spcAft>
              <a:buFont typeface="Arial" panose="020B0604020202020204" pitchFamily="34" charset="0"/>
              <a:buChar char="•"/>
            </a:pPr>
            <a:endParaRPr lang="en-US" dirty="0"/>
          </a:p>
        </p:txBody>
      </p:sp>
      <p:pic>
        <p:nvPicPr>
          <p:cNvPr id="3" name="Picture 2"/>
          <p:cNvPicPr>
            <a:picLocks noChangeAspect="1"/>
          </p:cNvPicPr>
          <p:nvPr/>
        </p:nvPicPr>
        <p:blipFill>
          <a:blip r:embed="rId2"/>
          <a:stretch>
            <a:fillRect/>
          </a:stretch>
        </p:blipFill>
        <p:spPr>
          <a:xfrm>
            <a:off x="848971" y="3215593"/>
            <a:ext cx="3713430" cy="2283750"/>
          </a:xfrm>
          <a:prstGeom prst="rect">
            <a:avLst/>
          </a:prstGeom>
        </p:spPr>
      </p:pic>
      <p:sp>
        <p:nvSpPr>
          <p:cNvPr id="6" name="Arrow: Right 5"/>
          <p:cNvSpPr/>
          <p:nvPr/>
        </p:nvSpPr>
        <p:spPr>
          <a:xfrm>
            <a:off x="5064369" y="3938954"/>
            <a:ext cx="886265" cy="2813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a:stretch>
            <a:fillRect/>
          </a:stretch>
        </p:blipFill>
        <p:spPr>
          <a:xfrm>
            <a:off x="6202460" y="2872520"/>
            <a:ext cx="3838575" cy="2695575"/>
          </a:xfrm>
          <a:prstGeom prst="rect">
            <a:avLst/>
          </a:prstGeom>
        </p:spPr>
      </p:pic>
    </p:spTree>
    <p:extLst>
      <p:ext uri="{BB962C8B-B14F-4D97-AF65-F5344CB8AC3E}">
        <p14:creationId xmlns:p14="http://schemas.microsoft.com/office/powerpoint/2010/main" val="289229586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A291-E94B-4287-B90E-558795168DB8}"/>
              </a:ext>
            </a:extLst>
          </p:cNvPr>
          <p:cNvSpPr>
            <a:spLocks noGrp="1"/>
          </p:cNvSpPr>
          <p:nvPr>
            <p:ph type="title"/>
          </p:nvPr>
        </p:nvSpPr>
        <p:spPr>
          <a:xfrm>
            <a:off x="612032" y="28166"/>
            <a:ext cx="11379200" cy="673820"/>
          </a:xfrm>
        </p:spPr>
        <p:txBody>
          <a:bodyPr>
            <a:normAutofit/>
          </a:bodyPr>
          <a:lstStyle/>
          <a:p>
            <a:r>
              <a:rPr lang="en-US" dirty="0"/>
              <a:t>My Assigned Task Query Explanation </a:t>
            </a:r>
          </a:p>
        </p:txBody>
      </p:sp>
      <p:sp>
        <p:nvSpPr>
          <p:cNvPr id="4" name="Rectangle 3"/>
          <p:cNvSpPr/>
          <p:nvPr/>
        </p:nvSpPr>
        <p:spPr>
          <a:xfrm>
            <a:off x="455495" y="979557"/>
            <a:ext cx="11281010" cy="1277273"/>
          </a:xfrm>
          <a:prstGeom prst="rect">
            <a:avLst/>
          </a:prstGeom>
        </p:spPr>
        <p:txBody>
          <a:bodyPr wrap="square">
            <a:spAutoFit/>
          </a:bodyPr>
          <a:lstStyle/>
          <a:p>
            <a:endParaRPr lang="en-US" dirty="0"/>
          </a:p>
          <a:p>
            <a:pPr marL="285750" indent="-285750">
              <a:buFont typeface="Arial" panose="020B0604020202020204" pitchFamily="34" charset="0"/>
              <a:buChar char="•"/>
            </a:pPr>
            <a:r>
              <a:rPr lang="en-US" dirty="0"/>
              <a:t>In My Assigned Task, all the object assigned to user will be present.</a:t>
            </a:r>
          </a:p>
          <a:p>
            <a:pPr marL="285750" indent="-285750">
              <a:buFont typeface="Arial" panose="020B0604020202020204" pitchFamily="34" charset="0"/>
              <a:buChar char="•"/>
            </a:pPr>
            <a:r>
              <a:rPr lang="en-US" dirty="0"/>
              <a:t>User can filter task based on types/states/etc. as per user requirement.</a:t>
            </a:r>
          </a:p>
          <a:p>
            <a:pPr marL="285750" indent="-285750">
              <a:spcBef>
                <a:spcPts val="600"/>
              </a:spcBef>
              <a:spcAft>
                <a:spcPts val="600"/>
              </a:spcAft>
              <a:buFont typeface="Arial" panose="020B0604020202020204" pitchFamily="34" charset="0"/>
              <a:buChar char="•"/>
            </a:pPr>
            <a:endParaRPr lang="en-US" dirty="0"/>
          </a:p>
        </p:txBody>
      </p:sp>
      <p:pic>
        <p:nvPicPr>
          <p:cNvPr id="5" name="Picture 4"/>
          <p:cNvPicPr>
            <a:picLocks noChangeAspect="1"/>
          </p:cNvPicPr>
          <p:nvPr/>
        </p:nvPicPr>
        <p:blipFill>
          <a:blip r:embed="rId2"/>
          <a:stretch>
            <a:fillRect/>
          </a:stretch>
        </p:blipFill>
        <p:spPr>
          <a:xfrm>
            <a:off x="2154409" y="2256830"/>
            <a:ext cx="5829300" cy="3771900"/>
          </a:xfrm>
          <a:prstGeom prst="rect">
            <a:avLst/>
          </a:prstGeom>
        </p:spPr>
      </p:pic>
    </p:spTree>
    <p:extLst>
      <p:ext uri="{BB962C8B-B14F-4D97-AF65-F5344CB8AC3E}">
        <p14:creationId xmlns:p14="http://schemas.microsoft.com/office/powerpoint/2010/main" val="334374052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1685A-8515-466A-B411-3766D43083C7}"/>
              </a:ext>
            </a:extLst>
          </p:cNvPr>
          <p:cNvSpPr>
            <a:spLocks noGrp="1"/>
          </p:cNvSpPr>
          <p:nvPr>
            <p:ph type="title"/>
          </p:nvPr>
        </p:nvSpPr>
        <p:spPr/>
        <p:txBody>
          <a:bodyPr/>
          <a:lstStyle/>
          <a:p>
            <a:r>
              <a:rPr lang="en-IN" dirty="0"/>
              <a:t>Thank you</a:t>
            </a:r>
          </a:p>
        </p:txBody>
      </p:sp>
      <p:sp>
        <p:nvSpPr>
          <p:cNvPr id="3" name="Text Placeholder 2">
            <a:extLst>
              <a:ext uri="{FF2B5EF4-FFF2-40B4-BE49-F238E27FC236}">
                <a16:creationId xmlns:a16="http://schemas.microsoft.com/office/drawing/2014/main" id="{4E358C9A-1F65-4701-9665-08CCB015B579}"/>
              </a:ext>
            </a:extLst>
          </p:cNvPr>
          <p:cNvSpPr>
            <a:spLocks noGrp="1"/>
          </p:cNvSpPr>
          <p:nvPr>
            <p:ph type="body" sz="quarter" idx="10"/>
          </p:nvPr>
        </p:nvSpPr>
        <p:spPr/>
        <p:txBody>
          <a:bodyPr/>
          <a:lstStyle/>
          <a:p>
            <a:endParaRPr lang="en-IN" dirty="0"/>
          </a:p>
        </p:txBody>
      </p:sp>
      <p:sp>
        <p:nvSpPr>
          <p:cNvPr id="4" name="Text Placeholder 3">
            <a:extLst>
              <a:ext uri="{FF2B5EF4-FFF2-40B4-BE49-F238E27FC236}">
                <a16:creationId xmlns:a16="http://schemas.microsoft.com/office/drawing/2014/main" id="{591DA722-9BB7-405E-9443-38C408CEEFF1}"/>
              </a:ext>
            </a:extLst>
          </p:cNvPr>
          <p:cNvSpPr>
            <a:spLocks noGrp="1"/>
          </p:cNvSpPr>
          <p:nvPr>
            <p:ph type="body" sz="quarter" idx="11"/>
          </p:nvPr>
        </p:nvSpPr>
        <p:spPr/>
        <p:txBody>
          <a:bodyPr/>
          <a:lstStyle/>
          <a:p>
            <a:endParaRPr lang="en-IN" dirty="0"/>
          </a:p>
        </p:txBody>
      </p:sp>
      <p:pic>
        <p:nvPicPr>
          <p:cNvPr id="8" name="Picture 7" descr="A picture containing laying, indoor&#10;&#10;Description automatically generated">
            <a:extLst>
              <a:ext uri="{FF2B5EF4-FFF2-40B4-BE49-F238E27FC236}">
                <a16:creationId xmlns:a16="http://schemas.microsoft.com/office/drawing/2014/main" id="{8058615D-1AA3-4F92-83C7-14B1854F7D0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992" y="3352009"/>
            <a:ext cx="12222000" cy="3524713"/>
          </a:xfrm>
          <a:prstGeom prst="rect">
            <a:avLst/>
          </a:prstGeom>
        </p:spPr>
      </p:pic>
      <p:sp>
        <p:nvSpPr>
          <p:cNvPr id="11" name="Rectangle 10">
            <a:extLst>
              <a:ext uri="{FF2B5EF4-FFF2-40B4-BE49-F238E27FC236}">
                <a16:creationId xmlns:a16="http://schemas.microsoft.com/office/drawing/2014/main" id="{7AAA3AF9-1DDE-46E9-8E72-5C0F9A2713CC}"/>
              </a:ext>
            </a:extLst>
          </p:cNvPr>
          <p:cNvSpPr/>
          <p:nvPr/>
        </p:nvSpPr>
        <p:spPr>
          <a:xfrm>
            <a:off x="-14991" y="-19049"/>
            <a:ext cx="12218400" cy="3380399"/>
          </a:xfrm>
          <a:prstGeom prst="rect">
            <a:avLst/>
          </a:prstGeom>
          <a:gradFill>
            <a:gsLst>
              <a:gs pos="38000">
                <a:srgbClr val="07163D"/>
              </a:gs>
              <a:gs pos="81000">
                <a:srgbClr val="0D2552"/>
              </a:gs>
              <a:gs pos="100000">
                <a:srgbClr val="2D4A8B"/>
              </a:gs>
              <a:gs pos="15000">
                <a:srgbClr val="15294B"/>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endParaRPr lang="en-IN" sz="1351" dirty="0">
              <a:solidFill>
                <a:prstClr val="white"/>
              </a:solidFill>
              <a:latin typeface="Calibri"/>
            </a:endParaRPr>
          </a:p>
        </p:txBody>
      </p:sp>
      <p:sp>
        <p:nvSpPr>
          <p:cNvPr id="12" name="Title 1">
            <a:extLst>
              <a:ext uri="{FF2B5EF4-FFF2-40B4-BE49-F238E27FC236}">
                <a16:creationId xmlns:a16="http://schemas.microsoft.com/office/drawing/2014/main" id="{C083BD17-B80E-4631-AD2E-BF47623EF767}"/>
              </a:ext>
            </a:extLst>
          </p:cNvPr>
          <p:cNvSpPr txBox="1">
            <a:spLocks/>
          </p:cNvSpPr>
          <p:nvPr/>
        </p:nvSpPr>
        <p:spPr>
          <a:xfrm>
            <a:off x="1968477" y="1323941"/>
            <a:ext cx="3528087" cy="1325563"/>
          </a:xfrm>
          <a:prstGeom prst="rect">
            <a:avLst/>
          </a:prstGeom>
        </p:spPr>
        <p:txBody>
          <a:bodyPr vert="horz" lIns="91440" tIns="45720" rIns="91440" bIns="45720" rtlCol="0" anchor="ctr">
            <a:noAutofit/>
          </a:bodyPr>
          <a:lstStyle>
            <a:lvl1pPr algn="ctr" defTabSz="914354" rtl="0" eaLnBrk="1" latinLnBrk="0" hangingPunct="1">
              <a:lnSpc>
                <a:spcPct val="90000"/>
              </a:lnSpc>
              <a:spcBef>
                <a:spcPct val="0"/>
              </a:spcBef>
              <a:buNone/>
              <a:defRPr sz="4267" b="0" kern="1200">
                <a:solidFill>
                  <a:schemeClr val="tx1">
                    <a:lumMod val="75000"/>
                    <a:lumOff val="25000"/>
                  </a:schemeClr>
                </a:solidFill>
                <a:latin typeface="+mn-lt"/>
                <a:ea typeface="+mj-ea"/>
                <a:cs typeface="+mj-cs"/>
              </a:defRPr>
            </a:lvl1pPr>
          </a:lstStyle>
          <a:p>
            <a:pPr defTabSz="1219078">
              <a:defRPr/>
            </a:pPr>
            <a:r>
              <a:rPr lang="en-US" sz="4800" b="1" dirty="0">
                <a:solidFill>
                  <a:srgbClr val="FFFFFF"/>
                </a:solidFill>
                <a:latin typeface="Calibri"/>
              </a:rPr>
              <a:t>Thank you</a:t>
            </a:r>
            <a:endParaRPr lang="en-IN" sz="4800" b="1" dirty="0">
              <a:solidFill>
                <a:srgbClr val="FFFFFF"/>
              </a:solidFill>
              <a:latin typeface="Calibri"/>
            </a:endParaRPr>
          </a:p>
        </p:txBody>
      </p:sp>
      <p:grpSp>
        <p:nvGrpSpPr>
          <p:cNvPr id="13" name="Group 12">
            <a:extLst>
              <a:ext uri="{FF2B5EF4-FFF2-40B4-BE49-F238E27FC236}">
                <a16:creationId xmlns:a16="http://schemas.microsoft.com/office/drawing/2014/main" id="{1F5D1185-69F8-4C8E-9576-AC94C2F4B687}"/>
              </a:ext>
            </a:extLst>
          </p:cNvPr>
          <p:cNvGrpSpPr/>
          <p:nvPr/>
        </p:nvGrpSpPr>
        <p:grpSpPr>
          <a:xfrm>
            <a:off x="1259561" y="1037089"/>
            <a:ext cx="1065707" cy="1126383"/>
            <a:chOff x="-3330575" y="3005138"/>
            <a:chExt cx="1533526" cy="1620837"/>
          </a:xfrm>
          <a:solidFill>
            <a:srgbClr val="FFCB05"/>
          </a:solidFill>
        </p:grpSpPr>
        <p:sp>
          <p:nvSpPr>
            <p:cNvPr id="14" name="Freeform 6">
              <a:extLst>
                <a:ext uri="{FF2B5EF4-FFF2-40B4-BE49-F238E27FC236}">
                  <a16:creationId xmlns:a16="http://schemas.microsoft.com/office/drawing/2014/main" id="{6EBD3ABD-D628-4160-BDA4-DB9B5C054453}"/>
                </a:ext>
              </a:extLst>
            </p:cNvPr>
            <p:cNvSpPr>
              <a:spLocks/>
            </p:cNvSpPr>
            <p:nvPr/>
          </p:nvSpPr>
          <p:spPr bwMode="auto">
            <a:xfrm>
              <a:off x="-3330575" y="3005138"/>
              <a:ext cx="1233488" cy="1620837"/>
            </a:xfrm>
            <a:custGeom>
              <a:avLst/>
              <a:gdLst>
                <a:gd name="T0" fmla="*/ 621 w 777"/>
                <a:gd name="T1" fmla="*/ 0 h 1021"/>
                <a:gd name="T2" fmla="*/ 0 w 777"/>
                <a:gd name="T3" fmla="*/ 1021 h 1021"/>
                <a:gd name="T4" fmla="*/ 621 w 777"/>
                <a:gd name="T5" fmla="*/ 1021 h 1021"/>
                <a:gd name="T6" fmla="*/ 777 w 777"/>
                <a:gd name="T7" fmla="*/ 785 h 1021"/>
                <a:gd name="T8" fmla="*/ 231 w 777"/>
                <a:gd name="T9" fmla="*/ 785 h 1021"/>
                <a:gd name="T10" fmla="*/ 699 w 777"/>
                <a:gd name="T11" fmla="*/ 0 h 1021"/>
                <a:gd name="T12" fmla="*/ 621 w 777"/>
                <a:gd name="T13" fmla="*/ 0 h 1021"/>
              </a:gdLst>
              <a:ahLst/>
              <a:cxnLst>
                <a:cxn ang="0">
                  <a:pos x="T0" y="T1"/>
                </a:cxn>
                <a:cxn ang="0">
                  <a:pos x="T2" y="T3"/>
                </a:cxn>
                <a:cxn ang="0">
                  <a:pos x="T4" y="T5"/>
                </a:cxn>
                <a:cxn ang="0">
                  <a:pos x="T6" y="T7"/>
                </a:cxn>
                <a:cxn ang="0">
                  <a:pos x="T8" y="T9"/>
                </a:cxn>
                <a:cxn ang="0">
                  <a:pos x="T10" y="T11"/>
                </a:cxn>
                <a:cxn ang="0">
                  <a:pos x="T12" y="T13"/>
                </a:cxn>
              </a:cxnLst>
              <a:rect l="0" t="0" r="r" b="b"/>
              <a:pathLst>
                <a:path w="777" h="1021">
                  <a:moveTo>
                    <a:pt x="621" y="0"/>
                  </a:moveTo>
                  <a:lnTo>
                    <a:pt x="0" y="1021"/>
                  </a:lnTo>
                  <a:lnTo>
                    <a:pt x="621" y="1021"/>
                  </a:lnTo>
                  <a:lnTo>
                    <a:pt x="777" y="785"/>
                  </a:lnTo>
                  <a:lnTo>
                    <a:pt x="231" y="785"/>
                  </a:lnTo>
                  <a:lnTo>
                    <a:pt x="699" y="0"/>
                  </a:lnTo>
                  <a:lnTo>
                    <a:pt x="62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7" tIns="45673" rIns="91347" bIns="45673" numCol="1" anchor="t" anchorCtr="0" compatLnSpc="1">
              <a:prstTxWarp prst="textNoShape">
                <a:avLst/>
              </a:prstTxWarp>
            </a:bodyPr>
            <a:lstStyle/>
            <a:p>
              <a:pPr defTabSz="913348">
                <a:defRPr/>
              </a:pPr>
              <a:endParaRPr lang="en-IN" sz="1797" dirty="0">
                <a:solidFill>
                  <a:prstClr val="black"/>
                </a:solidFill>
                <a:latin typeface="Calibri"/>
              </a:endParaRPr>
            </a:p>
          </p:txBody>
        </p:sp>
        <p:sp>
          <p:nvSpPr>
            <p:cNvPr id="15" name="Freeform 7">
              <a:extLst>
                <a:ext uri="{FF2B5EF4-FFF2-40B4-BE49-F238E27FC236}">
                  <a16:creationId xmlns:a16="http://schemas.microsoft.com/office/drawing/2014/main" id="{AF97441F-769C-4DF4-BF6C-7951C6409C83}"/>
                </a:ext>
              </a:extLst>
            </p:cNvPr>
            <p:cNvSpPr>
              <a:spLocks/>
            </p:cNvSpPr>
            <p:nvPr/>
          </p:nvSpPr>
          <p:spPr bwMode="auto">
            <a:xfrm>
              <a:off x="-2611437" y="3005138"/>
              <a:ext cx="814388" cy="1136650"/>
            </a:xfrm>
            <a:custGeom>
              <a:avLst/>
              <a:gdLst>
                <a:gd name="T0" fmla="*/ 435 w 513"/>
                <a:gd name="T1" fmla="*/ 0 h 716"/>
                <a:gd name="T2" fmla="*/ 513 w 513"/>
                <a:gd name="T3" fmla="*/ 0 h 716"/>
                <a:gd name="T4" fmla="*/ 78 w 513"/>
                <a:gd name="T5" fmla="*/ 716 h 716"/>
                <a:gd name="T6" fmla="*/ 0 w 513"/>
                <a:gd name="T7" fmla="*/ 716 h 716"/>
                <a:gd name="T8" fmla="*/ 435 w 513"/>
                <a:gd name="T9" fmla="*/ 0 h 716"/>
              </a:gdLst>
              <a:ahLst/>
              <a:cxnLst>
                <a:cxn ang="0">
                  <a:pos x="T0" y="T1"/>
                </a:cxn>
                <a:cxn ang="0">
                  <a:pos x="T2" y="T3"/>
                </a:cxn>
                <a:cxn ang="0">
                  <a:pos x="T4" y="T5"/>
                </a:cxn>
                <a:cxn ang="0">
                  <a:pos x="T6" y="T7"/>
                </a:cxn>
                <a:cxn ang="0">
                  <a:pos x="T8" y="T9"/>
                </a:cxn>
              </a:cxnLst>
              <a:rect l="0" t="0" r="r" b="b"/>
              <a:pathLst>
                <a:path w="513" h="716">
                  <a:moveTo>
                    <a:pt x="435" y="0"/>
                  </a:moveTo>
                  <a:lnTo>
                    <a:pt x="513" y="0"/>
                  </a:lnTo>
                  <a:lnTo>
                    <a:pt x="78" y="716"/>
                  </a:lnTo>
                  <a:lnTo>
                    <a:pt x="0" y="716"/>
                  </a:lnTo>
                  <a:lnTo>
                    <a:pt x="4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7" tIns="45673" rIns="91347" bIns="45673" numCol="1" anchor="t" anchorCtr="0" compatLnSpc="1">
              <a:prstTxWarp prst="textNoShape">
                <a:avLst/>
              </a:prstTxWarp>
            </a:bodyPr>
            <a:lstStyle/>
            <a:p>
              <a:pPr defTabSz="913348">
                <a:defRPr/>
              </a:pPr>
              <a:endParaRPr lang="en-IN" sz="1797" dirty="0">
                <a:solidFill>
                  <a:prstClr val="black"/>
                </a:solidFill>
                <a:latin typeface="Calibri"/>
              </a:endParaRPr>
            </a:p>
          </p:txBody>
        </p:sp>
      </p:grpSp>
      <p:grpSp>
        <p:nvGrpSpPr>
          <p:cNvPr id="16" name="Group 15">
            <a:extLst>
              <a:ext uri="{FF2B5EF4-FFF2-40B4-BE49-F238E27FC236}">
                <a16:creationId xmlns:a16="http://schemas.microsoft.com/office/drawing/2014/main" id="{760A6320-A01D-4A6D-A334-E7B7DC190E1A}"/>
              </a:ext>
            </a:extLst>
          </p:cNvPr>
          <p:cNvGrpSpPr/>
          <p:nvPr/>
        </p:nvGrpSpPr>
        <p:grpSpPr>
          <a:xfrm>
            <a:off x="5172456" y="1899597"/>
            <a:ext cx="996725" cy="1078995"/>
            <a:chOff x="2301081" y="6662108"/>
            <a:chExt cx="1500188" cy="1624012"/>
          </a:xfrm>
          <a:solidFill>
            <a:srgbClr val="FFCB05"/>
          </a:solidFill>
        </p:grpSpPr>
        <p:sp>
          <p:nvSpPr>
            <p:cNvPr id="17" name="Freeform 8">
              <a:extLst>
                <a:ext uri="{FF2B5EF4-FFF2-40B4-BE49-F238E27FC236}">
                  <a16:creationId xmlns:a16="http://schemas.microsoft.com/office/drawing/2014/main" id="{B302BA02-C848-47DB-A8B1-A9C994D4F5FA}"/>
                </a:ext>
              </a:extLst>
            </p:cNvPr>
            <p:cNvSpPr>
              <a:spLocks/>
            </p:cNvSpPr>
            <p:nvPr/>
          </p:nvSpPr>
          <p:spPr bwMode="auto">
            <a:xfrm>
              <a:off x="2551906" y="6662108"/>
              <a:ext cx="1249363" cy="393700"/>
            </a:xfrm>
            <a:custGeom>
              <a:avLst/>
              <a:gdLst>
                <a:gd name="T0" fmla="*/ 402 w 787"/>
                <a:gd name="T1" fmla="*/ 248 h 248"/>
                <a:gd name="T2" fmla="*/ 633 w 787"/>
                <a:gd name="T3" fmla="*/ 248 h 248"/>
                <a:gd name="T4" fmla="*/ 787 w 787"/>
                <a:gd name="T5" fmla="*/ 0 h 248"/>
                <a:gd name="T6" fmla="*/ 151 w 787"/>
                <a:gd name="T7" fmla="*/ 0 h 248"/>
                <a:gd name="T8" fmla="*/ 0 w 787"/>
                <a:gd name="T9" fmla="*/ 246 h 248"/>
                <a:gd name="T10" fmla="*/ 402 w 787"/>
                <a:gd name="T11" fmla="*/ 248 h 248"/>
              </a:gdLst>
              <a:ahLst/>
              <a:cxnLst>
                <a:cxn ang="0">
                  <a:pos x="T0" y="T1"/>
                </a:cxn>
                <a:cxn ang="0">
                  <a:pos x="T2" y="T3"/>
                </a:cxn>
                <a:cxn ang="0">
                  <a:pos x="T4" y="T5"/>
                </a:cxn>
                <a:cxn ang="0">
                  <a:pos x="T6" y="T7"/>
                </a:cxn>
                <a:cxn ang="0">
                  <a:pos x="T8" y="T9"/>
                </a:cxn>
                <a:cxn ang="0">
                  <a:pos x="T10" y="T11"/>
                </a:cxn>
              </a:cxnLst>
              <a:rect l="0" t="0" r="r" b="b"/>
              <a:pathLst>
                <a:path w="787" h="248">
                  <a:moveTo>
                    <a:pt x="402" y="248"/>
                  </a:moveTo>
                  <a:lnTo>
                    <a:pt x="633" y="248"/>
                  </a:lnTo>
                  <a:lnTo>
                    <a:pt x="787" y="0"/>
                  </a:lnTo>
                  <a:lnTo>
                    <a:pt x="151" y="0"/>
                  </a:lnTo>
                  <a:lnTo>
                    <a:pt x="0" y="246"/>
                  </a:lnTo>
                  <a:lnTo>
                    <a:pt x="402"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7" tIns="45673" rIns="91347" bIns="45673" numCol="1" anchor="t" anchorCtr="0" compatLnSpc="1">
              <a:prstTxWarp prst="textNoShape">
                <a:avLst/>
              </a:prstTxWarp>
            </a:bodyPr>
            <a:lstStyle/>
            <a:p>
              <a:pPr defTabSz="913348">
                <a:defRPr/>
              </a:pPr>
              <a:endParaRPr lang="en-IN" sz="1797" dirty="0">
                <a:solidFill>
                  <a:prstClr val="black"/>
                </a:solidFill>
                <a:latin typeface="Calibri"/>
              </a:endParaRPr>
            </a:p>
          </p:txBody>
        </p:sp>
        <p:sp>
          <p:nvSpPr>
            <p:cNvPr id="18" name="Freeform 9">
              <a:extLst>
                <a:ext uri="{FF2B5EF4-FFF2-40B4-BE49-F238E27FC236}">
                  <a16:creationId xmlns:a16="http://schemas.microsoft.com/office/drawing/2014/main" id="{FCC6B40C-6B14-4DC8-BFCD-85C66CA65E96}"/>
                </a:ext>
              </a:extLst>
            </p:cNvPr>
            <p:cNvSpPr>
              <a:spLocks/>
            </p:cNvSpPr>
            <p:nvPr/>
          </p:nvSpPr>
          <p:spPr bwMode="auto">
            <a:xfrm>
              <a:off x="2683669" y="7162170"/>
              <a:ext cx="809625" cy="1123950"/>
            </a:xfrm>
            <a:custGeom>
              <a:avLst/>
              <a:gdLst>
                <a:gd name="T0" fmla="*/ 435 w 510"/>
                <a:gd name="T1" fmla="*/ 0 h 708"/>
                <a:gd name="T2" fmla="*/ 510 w 510"/>
                <a:gd name="T3" fmla="*/ 0 h 708"/>
                <a:gd name="T4" fmla="*/ 78 w 510"/>
                <a:gd name="T5" fmla="*/ 708 h 708"/>
                <a:gd name="T6" fmla="*/ 0 w 510"/>
                <a:gd name="T7" fmla="*/ 708 h 708"/>
                <a:gd name="T8" fmla="*/ 435 w 510"/>
                <a:gd name="T9" fmla="*/ 0 h 708"/>
              </a:gdLst>
              <a:ahLst/>
              <a:cxnLst>
                <a:cxn ang="0">
                  <a:pos x="T0" y="T1"/>
                </a:cxn>
                <a:cxn ang="0">
                  <a:pos x="T2" y="T3"/>
                </a:cxn>
                <a:cxn ang="0">
                  <a:pos x="T4" y="T5"/>
                </a:cxn>
                <a:cxn ang="0">
                  <a:pos x="T6" y="T7"/>
                </a:cxn>
                <a:cxn ang="0">
                  <a:pos x="T8" y="T9"/>
                </a:cxn>
              </a:cxnLst>
              <a:rect l="0" t="0" r="r" b="b"/>
              <a:pathLst>
                <a:path w="510" h="708">
                  <a:moveTo>
                    <a:pt x="435" y="0"/>
                  </a:moveTo>
                  <a:lnTo>
                    <a:pt x="510" y="0"/>
                  </a:lnTo>
                  <a:lnTo>
                    <a:pt x="78" y="708"/>
                  </a:lnTo>
                  <a:lnTo>
                    <a:pt x="0" y="708"/>
                  </a:lnTo>
                  <a:lnTo>
                    <a:pt x="4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7" tIns="45673" rIns="91347" bIns="45673" numCol="1" anchor="t" anchorCtr="0" compatLnSpc="1">
              <a:prstTxWarp prst="textNoShape">
                <a:avLst/>
              </a:prstTxWarp>
            </a:bodyPr>
            <a:lstStyle/>
            <a:p>
              <a:pPr defTabSz="913348">
                <a:defRPr/>
              </a:pPr>
              <a:endParaRPr lang="en-IN" sz="1797" dirty="0">
                <a:solidFill>
                  <a:prstClr val="black"/>
                </a:solidFill>
                <a:latin typeface="Calibri"/>
              </a:endParaRPr>
            </a:p>
          </p:txBody>
        </p:sp>
        <p:sp>
          <p:nvSpPr>
            <p:cNvPr id="19" name="Freeform 10">
              <a:extLst>
                <a:ext uri="{FF2B5EF4-FFF2-40B4-BE49-F238E27FC236}">
                  <a16:creationId xmlns:a16="http://schemas.microsoft.com/office/drawing/2014/main" id="{05321B3B-2840-4BAE-9B09-6A7525E3CF99}"/>
                </a:ext>
              </a:extLst>
            </p:cNvPr>
            <p:cNvSpPr>
              <a:spLocks/>
            </p:cNvSpPr>
            <p:nvPr/>
          </p:nvSpPr>
          <p:spPr bwMode="auto">
            <a:xfrm>
              <a:off x="2301081" y="7162170"/>
              <a:ext cx="803275" cy="1123950"/>
            </a:xfrm>
            <a:custGeom>
              <a:avLst/>
              <a:gdLst>
                <a:gd name="T0" fmla="*/ 430 w 506"/>
                <a:gd name="T1" fmla="*/ 0 h 708"/>
                <a:gd name="T2" fmla="*/ 506 w 506"/>
                <a:gd name="T3" fmla="*/ 0 h 708"/>
                <a:gd name="T4" fmla="*/ 76 w 506"/>
                <a:gd name="T5" fmla="*/ 708 h 708"/>
                <a:gd name="T6" fmla="*/ 0 w 506"/>
                <a:gd name="T7" fmla="*/ 708 h 708"/>
                <a:gd name="T8" fmla="*/ 430 w 506"/>
                <a:gd name="T9" fmla="*/ 0 h 708"/>
              </a:gdLst>
              <a:ahLst/>
              <a:cxnLst>
                <a:cxn ang="0">
                  <a:pos x="T0" y="T1"/>
                </a:cxn>
                <a:cxn ang="0">
                  <a:pos x="T2" y="T3"/>
                </a:cxn>
                <a:cxn ang="0">
                  <a:pos x="T4" y="T5"/>
                </a:cxn>
                <a:cxn ang="0">
                  <a:pos x="T6" y="T7"/>
                </a:cxn>
                <a:cxn ang="0">
                  <a:pos x="T8" y="T9"/>
                </a:cxn>
              </a:cxnLst>
              <a:rect l="0" t="0" r="r" b="b"/>
              <a:pathLst>
                <a:path w="506" h="708">
                  <a:moveTo>
                    <a:pt x="430" y="0"/>
                  </a:moveTo>
                  <a:lnTo>
                    <a:pt x="506" y="0"/>
                  </a:lnTo>
                  <a:lnTo>
                    <a:pt x="76" y="708"/>
                  </a:lnTo>
                  <a:lnTo>
                    <a:pt x="0" y="708"/>
                  </a:lnTo>
                  <a:lnTo>
                    <a:pt x="4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7" tIns="45673" rIns="91347" bIns="45673" numCol="1" anchor="t" anchorCtr="0" compatLnSpc="1">
              <a:prstTxWarp prst="textNoShape">
                <a:avLst/>
              </a:prstTxWarp>
            </a:bodyPr>
            <a:lstStyle/>
            <a:p>
              <a:pPr defTabSz="913348">
                <a:defRPr/>
              </a:pPr>
              <a:endParaRPr lang="en-IN" sz="1797" dirty="0">
                <a:solidFill>
                  <a:prstClr val="black"/>
                </a:solidFill>
                <a:latin typeface="Calibri"/>
              </a:endParaRPr>
            </a:p>
          </p:txBody>
        </p:sp>
      </p:grpSp>
    </p:spTree>
    <p:extLst>
      <p:ext uri="{BB962C8B-B14F-4D97-AF65-F5344CB8AC3E}">
        <p14:creationId xmlns:p14="http://schemas.microsoft.com/office/powerpoint/2010/main" val="2873861950"/>
      </p:ext>
    </p:extLst>
  </p:cSld>
  <p:clrMapOvr>
    <a:masterClrMapping/>
  </p:clrMapOvr>
</p:sld>
</file>

<file path=ppt/theme/theme1.xml><?xml version="1.0" encoding="utf-8"?>
<a:theme xmlns:a="http://schemas.openxmlformats.org/drawingml/2006/main" name="1_L&amp;T Theme 2">
  <a:themeElements>
    <a:clrScheme name="L&amp;T Colors">
      <a:dk1>
        <a:srgbClr val="000000"/>
      </a:dk1>
      <a:lt1>
        <a:srgbClr val="FFFFFF"/>
      </a:lt1>
      <a:dk2>
        <a:srgbClr val="00B0F0"/>
      </a:dk2>
      <a:lt2>
        <a:srgbClr val="004581"/>
      </a:lt2>
      <a:accent1>
        <a:srgbClr val="0556CD"/>
      </a:accent1>
      <a:accent2>
        <a:srgbClr val="058EFF"/>
      </a:accent2>
      <a:accent3>
        <a:srgbClr val="FFCC29"/>
      </a:accent3>
      <a:accent4>
        <a:srgbClr val="F7411D"/>
      </a:accent4>
      <a:accent5>
        <a:srgbClr val="1A9664"/>
      </a:accent5>
      <a:accent6>
        <a:srgbClr val="DA8200"/>
      </a:accent6>
      <a:hlink>
        <a:srgbClr val="7BD3F7"/>
      </a:hlink>
      <a:folHlink>
        <a:srgbClr val="0769F9"/>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1363</TotalTime>
  <Words>6527</Words>
  <Application>Microsoft Office PowerPoint</Application>
  <PresentationFormat>Widescreen</PresentationFormat>
  <Paragraphs>946</Paragraphs>
  <Slides>91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91</vt:i4>
      </vt:variant>
    </vt:vector>
  </HeadingPairs>
  <TitlesOfParts>
    <vt:vector size="97" baseType="lpstr">
      <vt:lpstr>Arial</vt:lpstr>
      <vt:lpstr>Calibri</vt:lpstr>
      <vt:lpstr>Calibri Light</vt:lpstr>
      <vt:lpstr>Open Sans</vt:lpstr>
      <vt:lpstr>Wingdings</vt:lpstr>
      <vt:lpstr>1_L&amp;T Theme 2</vt:lpstr>
      <vt:lpstr>PowerPoint Presentation</vt:lpstr>
      <vt:lpstr>Definitions/Acronyms: </vt:lpstr>
      <vt:lpstr>A-SPICE MODEL OF REQUIREMENT DOCUMENT</vt:lpstr>
      <vt:lpstr>What Are Items? </vt:lpstr>
      <vt:lpstr>Item Details view</vt:lpstr>
      <vt:lpstr>What Is a Document?</vt:lpstr>
      <vt:lpstr>Document View</vt:lpstr>
      <vt:lpstr>Document Structure</vt:lpstr>
      <vt:lpstr>PowerPoint Presentation</vt:lpstr>
      <vt:lpstr>Finding Documents or Items</vt:lpstr>
      <vt:lpstr>Finding Documents or Items</vt:lpstr>
      <vt:lpstr>Finding Documents or Items</vt:lpstr>
      <vt:lpstr>Baseline </vt:lpstr>
      <vt:lpstr>Baselining a Document</vt:lpstr>
      <vt:lpstr>Baselining a Document</vt:lpstr>
      <vt:lpstr>As Of options for Baselining a Document </vt:lpstr>
      <vt:lpstr>Baseline multiple documents</vt:lpstr>
      <vt:lpstr>Baseline multiple documents</vt:lpstr>
      <vt:lpstr>Removing Baselines From Documents</vt:lpstr>
      <vt:lpstr>To remove a baseline from a document</vt:lpstr>
      <vt:lpstr>To remove a baseline from all document </vt:lpstr>
      <vt:lpstr>Comparing Documents</vt:lpstr>
      <vt:lpstr>Key Considerations for Field Selections</vt:lpstr>
      <vt:lpstr>Selecting Documents to Compare</vt:lpstr>
      <vt:lpstr>Selecting Documents to Compare</vt:lpstr>
      <vt:lpstr>Types of Document Differences</vt:lpstr>
      <vt:lpstr>View Differences – Comparison Indicators </vt:lpstr>
      <vt:lpstr>Types of Document Differences</vt:lpstr>
      <vt:lpstr>View Differences – Comparison Indicators </vt:lpstr>
      <vt:lpstr>Types of Document Differences</vt:lpstr>
      <vt:lpstr>View Differences – Comparison Indicators </vt:lpstr>
      <vt:lpstr>Types of Document Differences</vt:lpstr>
      <vt:lpstr>View Differences – Comparison Indicators </vt:lpstr>
      <vt:lpstr>Navigating Document Difference</vt:lpstr>
      <vt:lpstr>Navigating the Document Pane</vt:lpstr>
      <vt:lpstr>PowerPoint Presentation</vt:lpstr>
      <vt:lpstr>Creating a new project</vt:lpstr>
      <vt:lpstr>Creating a new project</vt:lpstr>
      <vt:lpstr>Project Item</vt:lpstr>
      <vt:lpstr>Project Item – Details tab</vt:lpstr>
      <vt:lpstr>Project Item – Details tab</vt:lpstr>
      <vt:lpstr>Project Item – Details tab</vt:lpstr>
      <vt:lpstr>Project Item – Teams tab</vt:lpstr>
      <vt:lpstr>Saving Project Item and Creation</vt:lpstr>
      <vt:lpstr>Defining the Project </vt:lpstr>
      <vt:lpstr>Project Item –Milestone Tab</vt:lpstr>
      <vt:lpstr>Project Item –Relationships Tab</vt:lpstr>
      <vt:lpstr>Defining the Project</vt:lpstr>
      <vt:lpstr>PowerPoint Presentation</vt:lpstr>
      <vt:lpstr>Creating and Managing Documents</vt:lpstr>
      <vt:lpstr>Creating and Managing Documents</vt:lpstr>
      <vt:lpstr>Creating and Managing Documents</vt:lpstr>
      <vt:lpstr>Creating and Managing Documents</vt:lpstr>
      <vt:lpstr>Creating and Managing Documents</vt:lpstr>
      <vt:lpstr>Creating and Managing Documents</vt:lpstr>
      <vt:lpstr>Risk Analysis Document –Details Tab </vt:lpstr>
      <vt:lpstr>Risk Analysis Document –Relationships Tab </vt:lpstr>
      <vt:lpstr>Risk Analysis Document–Attachments Tab </vt:lpstr>
      <vt:lpstr>Risk Analysis Document–Advanced Tab </vt:lpstr>
      <vt:lpstr>PowerPoint Presentation</vt:lpstr>
      <vt:lpstr>Creating Microsoft Project Plan</vt:lpstr>
      <vt:lpstr>Creating Microsoft Project Plan</vt:lpstr>
      <vt:lpstr>Creating Microsoft Project Plan</vt:lpstr>
      <vt:lpstr>Synchronizing Microsoft Project Plan Resources</vt:lpstr>
      <vt:lpstr>Synchronizing Microsoft Project Plan Resources</vt:lpstr>
      <vt:lpstr>Synchronizing Microsoft Project Plan Resources</vt:lpstr>
      <vt:lpstr>Synchronizing Microsoft Project Plan Resources</vt:lpstr>
      <vt:lpstr>Looking for created Work items in Integrity</vt:lpstr>
      <vt:lpstr>Looking for created Work items in Integrity</vt:lpstr>
      <vt:lpstr>PowerPoint Presentation</vt:lpstr>
      <vt:lpstr>Synchronizing Microsoft Project Plan Resources</vt:lpstr>
      <vt:lpstr>PowerPoint Presentation</vt:lpstr>
      <vt:lpstr>Roles &amp; Responsibility </vt:lpstr>
      <vt:lpstr>Creating and Managing Action Item</vt:lpstr>
      <vt:lpstr>Creating and Managing Action Item</vt:lpstr>
      <vt:lpstr>Creating and Managing Action Item</vt:lpstr>
      <vt:lpstr>Work Item Workflow </vt:lpstr>
      <vt:lpstr>Different Tabs in Work Item </vt:lpstr>
      <vt:lpstr>Details Tab Explained: General (Section 1)</vt:lpstr>
      <vt:lpstr>Other Sections in Properties Tab</vt:lpstr>
      <vt:lpstr>Relationships Tab</vt:lpstr>
      <vt:lpstr>Work Item –Attachments Tab </vt:lpstr>
      <vt:lpstr>PowerPoint Presentation</vt:lpstr>
      <vt:lpstr>Work Item Workflow Transition</vt:lpstr>
      <vt:lpstr>Work Item Workflow Transition</vt:lpstr>
      <vt:lpstr>Work Item Workflow Transition</vt:lpstr>
      <vt:lpstr>Work Item Workflow Transition</vt:lpstr>
      <vt:lpstr>PowerPoint Presentation</vt:lpstr>
      <vt:lpstr>My Assigned Task Query Explanation</vt:lpstr>
      <vt:lpstr>My Assigned Task Query Explanation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Ganakumar G</dc:creator>
  <cp:lastModifiedBy>Ganakumar G</cp:lastModifiedBy>
  <cp:revision>241</cp:revision>
  <dcterms:created xsi:type="dcterms:W3CDTF">2020-07-21T02:35:22Z</dcterms:created>
  <dcterms:modified xsi:type="dcterms:W3CDTF">2020-07-29T15:00:39Z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b5591f2-6b23-403d-aa5f-b6d577f5e572_Enabled">
    <vt:lpwstr>true</vt:lpwstr>
  </property>
  <property fmtid="{D5CDD505-2E9C-101B-9397-08002B2CF9AE}" pid="3" name="MSIP_Label_4b5591f2-6b23-403d-aa5f-b6d577f5e572_SetDate">
    <vt:lpwstr>2020-07-29T05:15:02Z</vt:lpwstr>
  </property>
  <property fmtid="{D5CDD505-2E9C-101B-9397-08002B2CF9AE}" pid="4" name="MSIP_Label_4b5591f2-6b23-403d-aa5f-b6d577f5e572_Method">
    <vt:lpwstr>Standard</vt:lpwstr>
  </property>
  <property fmtid="{D5CDD505-2E9C-101B-9397-08002B2CF9AE}" pid="5" name="MSIP_Label_4b5591f2-6b23-403d-aa5f-b6d577f5e572_Name">
    <vt:lpwstr>4b5591f2-6b23-403d-aa5f-b6d577f5e572</vt:lpwstr>
  </property>
  <property fmtid="{D5CDD505-2E9C-101B-9397-08002B2CF9AE}" pid="6" name="MSIP_Label_4b5591f2-6b23-403d-aa5f-b6d577f5e572_SiteId">
    <vt:lpwstr>311b3378-8e8a-4b5e-a33f-e80a3d8ba60a</vt:lpwstr>
  </property>
  <property fmtid="{D5CDD505-2E9C-101B-9397-08002B2CF9AE}" pid="7" name="MSIP_Label_4b5591f2-6b23-403d-aa5f-b6d577f5e572_ActionId">
    <vt:lpwstr>61ef78e9-8e23-44ff-b17b-000055f79dc3</vt:lpwstr>
  </property>
  <property fmtid="{D5CDD505-2E9C-101B-9397-08002B2CF9AE}" pid="8" name="MSIP_Label_4b5591f2-6b23-403d-aa5f-b6d577f5e572_ContentBits">
    <vt:lpwstr>0</vt:lpwstr>
  </property>
</Properties>
</file>