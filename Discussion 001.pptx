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8" r:id="rId1"/>
  </p:sldMasterIdLst>
  <p:notesMasterIdLst>
    <p:notesMasterId r:id="rId16"/>
  </p:notesMasterIdLst>
  <p:handoutMasterIdLst>
    <p:handoutMasterId r:id="rId17"/>
  </p:handoutMasterIdLst>
  <p:sldIdLst>
    <p:sldId id="655" r:id="rId2"/>
    <p:sldId id="256395" r:id="rId3"/>
    <p:sldId id="256398" r:id="rId4"/>
    <p:sldId id="256377" r:id="rId5"/>
    <p:sldId id="256540" r:id="rId6"/>
    <p:sldId id="256541" r:id="rId7"/>
    <p:sldId id="256542" r:id="rId8"/>
    <p:sldId id="256543" r:id="rId9"/>
    <p:sldId id="256544" r:id="rId10"/>
    <p:sldId id="256533" r:id="rId11"/>
    <p:sldId id="256545" r:id="rId12"/>
    <p:sldId id="256546" r:id="rId13"/>
    <p:sldId id="256547" r:id="rId14"/>
    <p:sldId id="211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463E9-5E63-4073-870A-9514A832B032}">
          <p14:sldIdLst>
            <p14:sldId id="655"/>
            <p14:sldId id="256395"/>
            <p14:sldId id="256398"/>
            <p14:sldId id="256377"/>
            <p14:sldId id="256540"/>
            <p14:sldId id="256541"/>
            <p14:sldId id="256542"/>
            <p14:sldId id="256543"/>
            <p14:sldId id="256544"/>
            <p14:sldId id="256533"/>
            <p14:sldId id="256545"/>
            <p14:sldId id="256546"/>
            <p14:sldId id="256547"/>
            <p14:sldId id="21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rgess, Racheal" initials="BR" lastIdx="7" clrIdx="0">
    <p:extLst>
      <p:ext uri="{19B8F6BF-5375-455C-9EA6-DF929625EA0E}">
        <p15:presenceInfo xmlns:p15="http://schemas.microsoft.com/office/powerpoint/2012/main" userId="S::racheal.burgess@carrier.com::a40fa4f9-4a51-4e13-8913-963b9cf6da52" providerId="AD"/>
      </p:ext>
    </p:extLst>
  </p:cmAuthor>
  <p:cmAuthor id="2" name="Pillutla Kamala" initials="PK" lastIdx="2" clrIdx="1">
    <p:extLst>
      <p:ext uri="{19B8F6BF-5375-455C-9EA6-DF929625EA0E}">
        <p15:presenceInfo xmlns:p15="http://schemas.microsoft.com/office/powerpoint/2012/main" userId="S::Pillutla.Kamala@Ltts.com::0a24237b-08fd-45f8-b1b9-6fd2937f44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D2FF"/>
    <a:srgbClr val="8DEBC5"/>
    <a:srgbClr val="0077BD"/>
    <a:srgbClr val="404040"/>
    <a:srgbClr val="FFCC29"/>
    <a:srgbClr val="C9E5FE"/>
    <a:srgbClr val="A2D2FB"/>
    <a:srgbClr val="0556CD"/>
    <a:srgbClr val="9BBB59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5" autoAdjust="0"/>
    <p:restoredTop sz="93506" autoAdjust="0"/>
  </p:normalViewPr>
  <p:slideViewPr>
    <p:cSldViewPr snapToGrid="0">
      <p:cViewPr varScale="1">
        <p:scale>
          <a:sx n="65" d="100"/>
          <a:sy n="65" d="100"/>
        </p:scale>
        <p:origin x="25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5" d="100"/>
        <a:sy n="115" d="100"/>
      </p:scale>
      <p:origin x="0" y="0"/>
    </p:cViewPr>
  </p:notesTextViewPr>
  <p:sorterViewPr>
    <p:cViewPr>
      <p:scale>
        <a:sx n="100" d="100"/>
        <a:sy n="100" d="100"/>
      </p:scale>
      <p:origin x="0" y="-1086"/>
    </p:cViewPr>
  </p:sorterViewPr>
  <p:notesViewPr>
    <p:cSldViewPr snapToGrid="0">
      <p:cViewPr varScale="1">
        <p:scale>
          <a:sx n="52" d="100"/>
          <a:sy n="52" d="100"/>
        </p:scale>
        <p:origin x="28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A521-0E72-45B9-950F-A2764DD61E0E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7C5E9-34F9-417E-B562-B134DAF93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48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499C-BD3B-421D-BB06-A028370BE70B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77D60-B07B-46CA-B624-432B4D316F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2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277D60-B07B-46CA-B624-432B4D316F1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12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9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22621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8"/>
            <a:ext cx="11379200" cy="110373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  <a:br>
              <a:rPr lang="en-US" dirty="0"/>
            </a:br>
            <a:r>
              <a:rPr lang="en-US" dirty="0"/>
              <a:t>Line 2</a:t>
            </a:r>
          </a:p>
        </p:txBody>
      </p:sp>
      <p:sp>
        <p:nvSpPr>
          <p:cNvPr id="3" name="Rectangle: Rounded Corners 2"/>
          <p:cNvSpPr/>
          <p:nvPr userDrawn="1"/>
        </p:nvSpPr>
        <p:spPr>
          <a:xfrm>
            <a:off x="578564" y="92832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973680" y="6581003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150243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ar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94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Tabular Data Slide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385767" y="178988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1"/>
          </p:nvPr>
        </p:nvSpPr>
        <p:spPr bwMode="gray">
          <a:xfrm>
            <a:off x="385767" y="3432784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2"/>
          </p:nvPr>
        </p:nvSpPr>
        <p:spPr bwMode="gray">
          <a:xfrm>
            <a:off x="385767" y="507567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411708" y="864682"/>
            <a:ext cx="11368587" cy="458236"/>
          </a:xfrm>
          <a:prstGeom prst="parallelogram">
            <a:avLst/>
          </a:prstGeom>
          <a:solidFill>
            <a:srgbClr val="0077BD"/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 bwMode="gray">
          <a:xfrm>
            <a:off x="3762175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 bwMode="gray">
          <a:xfrm>
            <a:off x="7981816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814234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8016582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3814234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8016582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3814234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8016582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37513" y="2741039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37513" y="44098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37513" y="60354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0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D:\Abhinav\L&amp;T - PPT Design Guidelines\_Slides_Work\grid-01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55678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Rectangle 21"/>
          <p:cNvSpPr/>
          <p:nvPr userDrawn="1"/>
        </p:nvSpPr>
        <p:spPr>
          <a:xfrm>
            <a:off x="0" y="0"/>
            <a:ext cx="12192000" cy="65567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474" y="1323939"/>
            <a:ext cx="3528087" cy="1325563"/>
          </a:xfrm>
          <a:prstGeom prst="rect">
            <a:avLst/>
          </a:prstGeom>
        </p:spPr>
        <p:txBody>
          <a:bodyPr anchor="ctr"/>
          <a:lstStyle>
            <a:lvl1pPr algn="ctr">
              <a:defRPr sz="4267"/>
            </a:lvl1pPr>
          </a:lstStyle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auto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 dirty="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auto">
          <a:xfrm>
            <a:off x="150620" y="3719371"/>
            <a:ext cx="2592000" cy="389157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auto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auto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</p:grp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dirty="0"/>
            </a:lvl1pPr>
          </a:lstStyle>
          <a:p>
            <a:endParaRPr lang="en-IN" dirty="0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49700" y="1007106"/>
            <a:ext cx="1065707" cy="1126383"/>
            <a:chOff x="-3330575" y="3005138"/>
            <a:chExt cx="1533526" cy="1620837"/>
          </a:xfrm>
          <a:solidFill>
            <a:srgbClr val="002060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5412294" y="2199399"/>
            <a:ext cx="996725" cy="1078995"/>
            <a:chOff x="2301081" y="6662108"/>
            <a:chExt cx="1500188" cy="1624012"/>
          </a:xfrm>
          <a:solidFill>
            <a:srgbClr val="002060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810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th_Grid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83685"/>
            <a:ext cx="12192000" cy="274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6676" y="6581380"/>
            <a:ext cx="3228639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Confidential | L&amp;T Technology Services | ©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marL="0" marR="0" lvl="0" indent="0" algn="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D548E-8EA6-684F-9B89-4E9F5DC57B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7FD5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97FD5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50621" y="-40521"/>
            <a:ext cx="11379200" cy="673820"/>
          </a:xfrm>
        </p:spPr>
        <p:txBody>
          <a:bodyPr anchor="b">
            <a:normAutofit/>
          </a:bodyPr>
          <a:lstStyle>
            <a:lvl1pPr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5588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29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3974168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" name="Rectangle: Rounded Corners 15"/>
          <p:cNvSpPr/>
          <p:nvPr userDrawn="1"/>
        </p:nvSpPr>
        <p:spPr>
          <a:xfrm>
            <a:off x="578564" y="62807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42" r:id="rId2"/>
    <p:sldLayoutId id="2147484420" r:id="rId3"/>
    <p:sldLayoutId id="2147484421" r:id="rId4"/>
    <p:sldLayoutId id="2147484444" r:id="rId5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228589" marR="0" indent="-228589" algn="l" defTabSz="914354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8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766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4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2" name="Graphic 6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62269"/>
            <a:ext cx="4470400" cy="82446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 bwMode="gray">
          <a:xfrm>
            <a:off x="1518776" y="1874895"/>
            <a:ext cx="801059" cy="782333"/>
            <a:chOff x="-3330575" y="3005138"/>
            <a:chExt cx="1533526" cy="1620837"/>
          </a:xfrm>
          <a:solidFill>
            <a:srgbClr val="FFCC29"/>
          </a:solidFill>
        </p:grpSpPr>
        <p:sp>
          <p:nvSpPr>
            <p:cNvPr id="65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oup 66"/>
          <p:cNvGrpSpPr/>
          <p:nvPr/>
        </p:nvGrpSpPr>
        <p:grpSpPr bwMode="gray">
          <a:xfrm>
            <a:off x="9677117" y="4056795"/>
            <a:ext cx="804544" cy="783647"/>
            <a:chOff x="2301081" y="6662108"/>
            <a:chExt cx="1500188" cy="1624012"/>
          </a:xfrm>
          <a:solidFill>
            <a:srgbClr val="FFCC29"/>
          </a:solidFill>
        </p:grpSpPr>
        <p:sp>
          <p:nvSpPr>
            <p:cNvPr id="68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2022766" y="2076048"/>
            <a:ext cx="8085144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71412">
              <a:lnSpc>
                <a:spcPct val="150000"/>
              </a:lnSpc>
              <a:defRPr/>
            </a:pP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Discussions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1BFF4E5-9FC6-4651-A248-3D5393335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117" y="262872"/>
            <a:ext cx="2370236" cy="71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8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C606-09D6-4F02-8742-ACDF0DE7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Definitions/Acronyms: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FFF5A-7F09-4087-A944-773C27F2F3AF}"/>
              </a:ext>
            </a:extLst>
          </p:cNvPr>
          <p:cNvSpPr txBox="1">
            <a:spLocks/>
          </p:cNvSpPr>
          <p:nvPr/>
        </p:nvSpPr>
        <p:spPr bwMode="gray">
          <a:xfrm>
            <a:off x="420914" y="1132763"/>
            <a:ext cx="11227747" cy="5082507"/>
          </a:xfrm>
          <a:prstGeom prst="rect">
            <a:avLst/>
          </a:prstGeom>
        </p:spPr>
        <p:txBody>
          <a:bodyPr vert="horz" lIns="91439" tIns="45719" rIns="91439" bIns="45719" rtlCol="0">
            <a:noAutofit/>
          </a:bodyPr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7517E-2545-4255-9A18-D90E081DBD1C}"/>
              </a:ext>
            </a:extLst>
          </p:cNvPr>
          <p:cNvSpPr/>
          <p:nvPr/>
        </p:nvSpPr>
        <p:spPr>
          <a:xfrm>
            <a:off x="420914" y="4846122"/>
            <a:ext cx="184731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D65E984-49B9-440F-87B8-73A71C19F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63745"/>
              </p:ext>
            </p:extLst>
          </p:nvPr>
        </p:nvGraphicFramePr>
        <p:xfrm>
          <a:off x="513278" y="1577009"/>
          <a:ext cx="9213818" cy="366422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51626">
                  <a:extLst>
                    <a:ext uri="{9D8B030D-6E8A-4147-A177-3AD203B41FA5}">
                      <a16:colId xmlns:a16="http://schemas.microsoft.com/office/drawing/2014/main" val="1924955592"/>
                    </a:ext>
                  </a:extLst>
                </a:gridCol>
                <a:gridCol w="7262192">
                  <a:extLst>
                    <a:ext uri="{9D8B030D-6E8A-4147-A177-3AD203B41FA5}">
                      <a16:colId xmlns:a16="http://schemas.microsoft.com/office/drawing/2014/main" val="2858474719"/>
                    </a:ext>
                  </a:extLst>
                </a:gridCol>
              </a:tblGrid>
              <a:tr h="5698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Term/Acronym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78623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r>
                        <a:rPr lang="en-US" sz="1800" dirty="0"/>
                        <a:t>A-SPICE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Automotive Software Process Improvement and Capability Determination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953701"/>
                  </a:ext>
                </a:extLst>
              </a:tr>
              <a:tr h="453887">
                <a:tc>
                  <a:txBody>
                    <a:bodyPr/>
                    <a:lstStyle/>
                    <a:p>
                      <a:r>
                        <a:rPr lang="en-US" sz="1800" dirty="0"/>
                        <a:t>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System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118354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r>
                        <a:rPr lang="en-US" sz="1800" dirty="0"/>
                        <a:t>SWE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Software Engineering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31327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Workflow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Definition, execution and automation of business processes where tasks, information or documents are passed from one participant to another for action, according to a set of procedural rules.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72868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Trace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 between two meaningful contents in a document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92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59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41" y="61938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What Are Items?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AC35A9-528E-4930-9369-7923F4B5DC2B}"/>
              </a:ext>
            </a:extLst>
          </p:cNvPr>
          <p:cNvSpPr txBox="1"/>
          <p:nvPr/>
        </p:nvSpPr>
        <p:spPr>
          <a:xfrm>
            <a:off x="6202017" y="983087"/>
            <a:ext cx="5711325" cy="641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143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Items are the basic building blocks of the Integrity data model, and represent the information assets and process objects associated with software development.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For example, items can represent Work items, projects, requirements, test cases, change requests, and defects.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is configurable and contains metadata and history about that item.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type has its own enforceable workflow which describes how it moves from state to state, complete with definable rules, full audit trails, and security.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Escalations, conditional assignments, notifications, and external processes can all be defined and initiated as part of Integrity’s process automation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4F70D-255D-4762-85AF-B1231AF7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27" y="1558645"/>
            <a:ext cx="45910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Creating Discussion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5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Select Create in Item menu to create a new Discussion Item in Integrity.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</a:t>
            </a:r>
            <a:r>
              <a:rPr lang="en-US" b="1" dirty="0"/>
              <a:t>Creating Discussion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5.Discussion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763" y="2211347"/>
            <a:ext cx="50292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76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Item details view will open up. Enter or select correct values for the fields present. Enter values in all fields. Mandatory fields are marked Red.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Discussion</a:t>
            </a:r>
          </a:p>
          <a:p>
            <a:r>
              <a:rPr lang="en-US" dirty="0"/>
              <a:t>2.</a:t>
            </a:r>
            <a:r>
              <a:rPr lang="en-US" b="1" dirty="0"/>
              <a:t>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5.Discussion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65" y="2391508"/>
            <a:ext cx="5395400" cy="343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7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other fields visible in the Item Details view must be filled.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“Apply” will keep the user on the same screen while clicking on “OK” will show the user a non-editable form-like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“Apply” will save the document. Alternately “Ctrl + S” can also be used.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“OK” to finish creating.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Discussion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</a:t>
            </a:r>
            <a:r>
              <a:rPr lang="en-US" b="1" dirty="0"/>
              <a:t>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5.Discussion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11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Once user clicks on “Apply”, the Item Details view will appear as follows: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Discussion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</a:t>
            </a:r>
            <a:r>
              <a:rPr lang="en-US" b="1" dirty="0"/>
              <a:t>Item Details View</a:t>
            </a:r>
          </a:p>
          <a:p>
            <a:r>
              <a:rPr lang="en-US" dirty="0"/>
              <a:t>5.Discussion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65" y="1966381"/>
            <a:ext cx="6019800" cy="38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a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workflow will be as follows: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7" y="1268990"/>
            <a:ext cx="3643532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Discussion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</a:t>
            </a:r>
            <a:r>
              <a:rPr lang="en-US" b="1" dirty="0"/>
              <a:t>Discussion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857" y="2067951"/>
            <a:ext cx="1733550" cy="261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8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Discussion – Details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Details tab contains the following fields: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Summary</a:t>
            </a:r>
            <a:r>
              <a:rPr lang="en-US" dirty="0"/>
              <a:t>: Short Title for the 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Description</a:t>
            </a:r>
            <a:r>
              <a:rPr lang="en-US" dirty="0"/>
              <a:t>: Brief introduction of the Discussion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Project</a:t>
            </a:r>
            <a:r>
              <a:rPr lang="en-US" dirty="0"/>
              <a:t>: Project for which the Discussion will take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</a:t>
            </a:r>
            <a:r>
              <a:rPr lang="en-US" dirty="0"/>
              <a:t>: State of the item based on workflow. (Default state selected will be “Open”)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Agenda</a:t>
            </a:r>
            <a:r>
              <a:rPr lang="en-US" dirty="0"/>
              <a:t>: Points to be covered in the discussion with all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Participants</a:t>
            </a:r>
            <a:r>
              <a:rPr lang="en-US" dirty="0"/>
              <a:t>: Select participants (within Organization) for the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External Participants</a:t>
            </a:r>
            <a:r>
              <a:rPr lang="en-US" dirty="0"/>
              <a:t>: Enter E-mails of Participants other than Organization separated by ‘;’ (semi-colon)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Meeting </a:t>
            </a:r>
            <a:r>
              <a:rPr lang="en-US" dirty="0"/>
              <a:t>Schedule: Select date and time for Discussion from the Calendar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Duration</a:t>
            </a:r>
            <a:r>
              <a:rPr lang="en-US" dirty="0"/>
              <a:t>: Mention Duration of Discussions in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Location</a:t>
            </a:r>
            <a:r>
              <a:rPr lang="en-US" dirty="0"/>
              <a:t>: Mention Venue for 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Meeting URL</a:t>
            </a:r>
            <a:r>
              <a:rPr lang="en-US" dirty="0"/>
              <a:t>: Mention Meeting URL or link if the discussion is taking place online. (If Any)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Conference Numbers</a:t>
            </a:r>
            <a:r>
              <a:rPr lang="en-US" dirty="0"/>
              <a:t>: Type Conference call numbers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Meeting Organizer</a:t>
            </a:r>
            <a:r>
              <a:rPr lang="en-US" dirty="0"/>
              <a:t>: Select name of the person that has organized this meeting (it can be the user who creates the Discussion)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51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Discussion –Minutes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Attachment tab avails users to add item related files to the Discussions:</a:t>
            </a:r>
          </a:p>
          <a:p>
            <a:r>
              <a:rPr lang="en-US" dirty="0"/>
              <a:t>	₋Minutes–Attach MOMs </a:t>
            </a:r>
          </a:p>
          <a:p>
            <a:r>
              <a:rPr lang="en-US" dirty="0"/>
              <a:t>	₋Customer Attachments –Related files discussed during discussions or that are part of discussion</a:t>
            </a:r>
          </a:p>
          <a:p>
            <a:endParaRPr lang="en-US" dirty="0"/>
          </a:p>
          <a:p>
            <a:r>
              <a:rPr lang="en-US" dirty="0"/>
              <a:t>Note: Attachments can be of any file format. It should not exceed the size of 5MB.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53" y="2824870"/>
            <a:ext cx="7229475" cy="300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Discussion – Relationships 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Relationships tab include the following fields: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Discussion For: User can attach Related item to this field for which the discussion is carried out.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Also the user can create related item by clicking on       symbol.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Related items are Project, Test Plan, Defect and Product Release Plan.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Action Item: User can attach action items to this fields that are related to this discussion based on project.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807" y="2045576"/>
            <a:ext cx="247650" cy="266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344" y="3265878"/>
            <a:ext cx="4857521" cy="273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7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Closing the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-855772" y="348025"/>
            <a:ext cx="153458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032" y="886265"/>
            <a:ext cx="102341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discussion is over, the Meeting Organizer is responsible to change the state to Closed.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close the discussion: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required Discussion by right clicking and select “Edit Item”.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 the state of the discussion from Open to Close.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Changing the state to close will make the following fields mandatory before applying changes.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Discussion Summary (Last field in Details Tab)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Minutes(Attachment Tab)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mandatory fields and click on “Apply” button.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512" y="3512727"/>
            <a:ext cx="15621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1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685A-8515-466A-B411-3766D430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58C9A-1F65-4701-9665-08CCB015B5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A722-9BB7-405E-9443-38C408CEE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 descr="A picture containing laying, indoor&#10;&#10;Description automatically generated">
            <a:extLst>
              <a:ext uri="{FF2B5EF4-FFF2-40B4-BE49-F238E27FC236}">
                <a16:creationId xmlns:a16="http://schemas.microsoft.com/office/drawing/2014/main" id="{8058615D-1AA3-4F92-83C7-14B1854F7D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992" y="3352009"/>
            <a:ext cx="12222000" cy="35247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AA3AF9-1DDE-46E9-8E72-5C0F9A2713CC}"/>
              </a:ext>
            </a:extLst>
          </p:cNvPr>
          <p:cNvSpPr/>
          <p:nvPr/>
        </p:nvSpPr>
        <p:spPr>
          <a:xfrm>
            <a:off x="-14991" y="-19049"/>
            <a:ext cx="12218400" cy="3380399"/>
          </a:xfrm>
          <a:prstGeom prst="rect">
            <a:avLst/>
          </a:prstGeom>
          <a:gradFill>
            <a:gsLst>
              <a:gs pos="38000">
                <a:srgbClr val="07163D"/>
              </a:gs>
              <a:gs pos="81000">
                <a:srgbClr val="0D2552"/>
              </a:gs>
              <a:gs pos="100000">
                <a:srgbClr val="2D4A8B"/>
              </a:gs>
              <a:gs pos="15000">
                <a:srgbClr val="15294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IN" sz="135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83BD17-B80E-4631-AD2E-BF47623EF767}"/>
              </a:ext>
            </a:extLst>
          </p:cNvPr>
          <p:cNvSpPr txBox="1">
            <a:spLocks/>
          </p:cNvSpPr>
          <p:nvPr/>
        </p:nvSpPr>
        <p:spPr>
          <a:xfrm>
            <a:off x="1968477" y="1323941"/>
            <a:ext cx="3528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1219078">
              <a:defRPr/>
            </a:pPr>
            <a:r>
              <a:rPr lang="en-US" sz="4800" b="1" dirty="0">
                <a:solidFill>
                  <a:srgbClr val="FFFFFF"/>
                </a:solidFill>
                <a:latin typeface="Calibri"/>
              </a:rPr>
              <a:t>Thank you</a:t>
            </a:r>
            <a:endParaRPr lang="en-IN" sz="4800" b="1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5D1185-69F8-4C8E-9576-AC94C2F4B687}"/>
              </a:ext>
            </a:extLst>
          </p:cNvPr>
          <p:cNvGrpSpPr/>
          <p:nvPr/>
        </p:nvGrpSpPr>
        <p:grpSpPr>
          <a:xfrm>
            <a:off x="1259561" y="1037089"/>
            <a:ext cx="1065707" cy="1126383"/>
            <a:chOff x="-3330575" y="3005138"/>
            <a:chExt cx="1533526" cy="1620837"/>
          </a:xfrm>
          <a:solidFill>
            <a:srgbClr val="FFCB05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EBD3ABD-D628-4160-BDA4-DB9B5C054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F97441F-769C-4DF4-BF6C-7951C640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0A6320-A01D-4A6D-A334-E7B7DC190E1A}"/>
              </a:ext>
            </a:extLst>
          </p:cNvPr>
          <p:cNvGrpSpPr/>
          <p:nvPr/>
        </p:nvGrpSpPr>
        <p:grpSpPr>
          <a:xfrm>
            <a:off x="5172456" y="1899597"/>
            <a:ext cx="996725" cy="1078995"/>
            <a:chOff x="2301081" y="6662108"/>
            <a:chExt cx="1500188" cy="1624012"/>
          </a:xfrm>
          <a:solidFill>
            <a:srgbClr val="FFCB05"/>
          </a:solidFill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B302BA02-C848-47DB-A8B1-A9C994D4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FCC6B40C-6B14-4DC8-BFCD-85C66CA65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5321B3B-2840-4BAE-9B09-6A7525E3C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3861950"/>
      </p:ext>
    </p:extLst>
  </p:cSld>
  <p:clrMapOvr>
    <a:masterClrMapping/>
  </p:clrMapOvr>
</p:sld>
</file>

<file path=ppt/theme/theme1.xml><?xml version="1.0" encoding="utf-8"?>
<a:theme xmlns:a="http://schemas.openxmlformats.org/drawingml/2006/main" name="1_L&amp;T Theme 2">
  <a:themeElements>
    <a:clrScheme name="L&amp;T Colors">
      <a:dk1>
        <a:srgbClr val="000000"/>
      </a:dk1>
      <a:lt1>
        <a:srgbClr val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F7411D"/>
      </a:accent4>
      <a:accent5>
        <a:srgbClr val="1A9664"/>
      </a:accent5>
      <a:accent6>
        <a:srgbClr val="DA8200"/>
      </a:accent6>
      <a:hlink>
        <a:srgbClr val="7BD3F7"/>
      </a:hlink>
      <a:folHlink>
        <a:srgbClr val="0769F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1639</TotalTime>
  <Words>842</Words>
  <Application>Microsoft Office PowerPoint</Application>
  <PresentationFormat>Widescreen</PresentationFormat>
  <Paragraphs>165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1_L&amp;T Theme 2</vt:lpstr>
      <vt:lpstr>PowerPoint Presentation</vt:lpstr>
      <vt:lpstr>Definitions/Acronyms: </vt:lpstr>
      <vt:lpstr>What Are Items? </vt:lpstr>
      <vt:lpstr>PowerPoint Presentation</vt:lpstr>
      <vt:lpstr>Creating a Discussion</vt:lpstr>
      <vt:lpstr>Creating a Discussion</vt:lpstr>
      <vt:lpstr>Creating a Discussion</vt:lpstr>
      <vt:lpstr>Creating a Discussion</vt:lpstr>
      <vt:lpstr>Creating a Discussion</vt:lpstr>
      <vt:lpstr>Discussion – Details Tab </vt:lpstr>
      <vt:lpstr>Discussion –Minutes Tab</vt:lpstr>
      <vt:lpstr>Discussion – Relationships  Tab </vt:lpstr>
      <vt:lpstr>Closing the Discussion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Ganakumar G</dc:creator>
  <cp:lastModifiedBy>Ganakumar G</cp:lastModifiedBy>
  <cp:revision>337</cp:revision>
  <dcterms:created xsi:type="dcterms:W3CDTF">2020-07-21T02:35:22Z</dcterms:created>
  <dcterms:modified xsi:type="dcterms:W3CDTF">2020-07-30T14:41:59Z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2020-07-29T05:15:02Z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61ef78e9-8e23-44ff-b17b-000055f79dc3</vt:lpwstr>
  </property>
  <property fmtid="{D5CDD505-2E9C-101B-9397-08002B2CF9AE}" pid="8" name="MSIP_Label_4b5591f2-6b23-403d-aa5f-b6d577f5e572_ContentBits">
    <vt:lpwstr>0</vt:lpwstr>
  </property>
</Properties>
</file>