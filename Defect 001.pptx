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8" r:id="rId1"/>
  </p:sldMasterIdLst>
  <p:notesMasterIdLst>
    <p:notesMasterId r:id="rId40"/>
  </p:notesMasterIdLst>
  <p:handoutMasterIdLst>
    <p:handoutMasterId r:id="rId41"/>
  </p:handoutMasterIdLst>
  <p:sldIdLst>
    <p:sldId id="655" r:id="rId2"/>
    <p:sldId id="256377" r:id="rId3"/>
    <p:sldId id="256540" r:id="rId4"/>
    <p:sldId id="256395" r:id="rId5"/>
    <p:sldId id="256551" r:id="rId6"/>
    <p:sldId id="256554" r:id="rId7"/>
    <p:sldId id="256555" r:id="rId8"/>
    <p:sldId id="256533" r:id="rId9"/>
    <p:sldId id="256556" r:id="rId10"/>
    <p:sldId id="256557" r:id="rId11"/>
    <p:sldId id="256545" r:id="rId12"/>
    <p:sldId id="256546" r:id="rId13"/>
    <p:sldId id="256547" r:id="rId14"/>
    <p:sldId id="256552" r:id="rId15"/>
    <p:sldId id="256553" r:id="rId16"/>
    <p:sldId id="256558" r:id="rId17"/>
    <p:sldId id="256559" r:id="rId18"/>
    <p:sldId id="256560" r:id="rId19"/>
    <p:sldId id="256561" r:id="rId20"/>
    <p:sldId id="256562" r:id="rId21"/>
    <p:sldId id="256567" r:id="rId22"/>
    <p:sldId id="256563" r:id="rId23"/>
    <p:sldId id="256564" r:id="rId24"/>
    <p:sldId id="256565" r:id="rId25"/>
    <p:sldId id="256566" r:id="rId26"/>
    <p:sldId id="256568" r:id="rId27"/>
    <p:sldId id="256569" r:id="rId28"/>
    <p:sldId id="256570" r:id="rId29"/>
    <p:sldId id="256571" r:id="rId30"/>
    <p:sldId id="256572" r:id="rId31"/>
    <p:sldId id="256573" r:id="rId32"/>
    <p:sldId id="256574" r:id="rId33"/>
    <p:sldId id="256575" r:id="rId34"/>
    <p:sldId id="256576" r:id="rId35"/>
    <p:sldId id="256579" r:id="rId36"/>
    <p:sldId id="256580" r:id="rId37"/>
    <p:sldId id="256581" r:id="rId38"/>
    <p:sldId id="211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463E9-5E63-4073-870A-9514A832B032}">
          <p14:sldIdLst>
            <p14:sldId id="655"/>
            <p14:sldId id="256377"/>
            <p14:sldId id="256540"/>
            <p14:sldId id="256395"/>
            <p14:sldId id="256551"/>
            <p14:sldId id="256554"/>
            <p14:sldId id="256555"/>
            <p14:sldId id="256533"/>
            <p14:sldId id="256556"/>
            <p14:sldId id="256557"/>
            <p14:sldId id="256545"/>
            <p14:sldId id="256546"/>
            <p14:sldId id="256547"/>
            <p14:sldId id="256552"/>
            <p14:sldId id="256553"/>
            <p14:sldId id="256558"/>
            <p14:sldId id="256559"/>
            <p14:sldId id="256560"/>
            <p14:sldId id="256561"/>
            <p14:sldId id="256562"/>
            <p14:sldId id="256567"/>
            <p14:sldId id="256563"/>
            <p14:sldId id="256564"/>
            <p14:sldId id="256565"/>
            <p14:sldId id="256566"/>
            <p14:sldId id="256568"/>
            <p14:sldId id="256569"/>
            <p14:sldId id="256570"/>
            <p14:sldId id="256571"/>
            <p14:sldId id="256572"/>
            <p14:sldId id="256573"/>
            <p14:sldId id="256574"/>
            <p14:sldId id="256575"/>
            <p14:sldId id="256576"/>
            <p14:sldId id="256579"/>
            <p14:sldId id="256580"/>
            <p14:sldId id="256581"/>
            <p14:sldId id="21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rgess, Racheal" initials="BR" lastIdx="7" clrIdx="0">
    <p:extLst>
      <p:ext uri="{19B8F6BF-5375-455C-9EA6-DF929625EA0E}">
        <p15:presenceInfo xmlns:p15="http://schemas.microsoft.com/office/powerpoint/2012/main" userId="S::racheal.burgess@carrier.com::a40fa4f9-4a51-4e13-8913-963b9cf6da52" providerId="AD"/>
      </p:ext>
    </p:extLst>
  </p:cmAuthor>
  <p:cmAuthor id="2" name="Pillutla Kamala" initials="PK" lastIdx="2" clrIdx="1">
    <p:extLst>
      <p:ext uri="{19B8F6BF-5375-455C-9EA6-DF929625EA0E}">
        <p15:presenceInfo xmlns:p15="http://schemas.microsoft.com/office/powerpoint/2012/main" userId="S::Pillutla.Kamala@Ltts.com::0a24237b-08fd-45f8-b1b9-6fd2937f44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2FF"/>
    <a:srgbClr val="8DEBC5"/>
    <a:srgbClr val="0077BD"/>
    <a:srgbClr val="404040"/>
    <a:srgbClr val="FFCC29"/>
    <a:srgbClr val="C9E5FE"/>
    <a:srgbClr val="A2D2FB"/>
    <a:srgbClr val="0556CD"/>
    <a:srgbClr val="9BBB59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5" autoAdjust="0"/>
    <p:restoredTop sz="93506" autoAdjust="0"/>
  </p:normalViewPr>
  <p:slideViewPr>
    <p:cSldViewPr snapToGrid="0">
      <p:cViewPr varScale="1">
        <p:scale>
          <a:sx n="68" d="100"/>
          <a:sy n="68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A521-0E72-45B9-950F-A2764DD61E0E}" type="datetimeFigureOut">
              <a:rPr lang="en-US" smtClean="0"/>
              <a:t>2020-07-31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C5E9-34F9-417E-B562-B134DAF93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4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499C-BD3B-421D-BB06-A028370BE70B}" type="datetimeFigureOut">
              <a:rPr lang="en-US" smtClean="0"/>
              <a:t>2020-07-31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77D60-B07B-46CA-B624-432B4D316F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22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86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7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79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9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22621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8"/>
            <a:ext cx="11379200" cy="110373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  <a:br>
              <a:rPr lang="en-US" dirty="0"/>
            </a:br>
            <a:r>
              <a:rPr lang="en-US" dirty="0"/>
              <a:t>Line 2</a:t>
            </a:r>
          </a:p>
        </p:txBody>
      </p:sp>
      <p:sp>
        <p:nvSpPr>
          <p:cNvPr id="3" name="Rectangle: Rounded Corners 2"/>
          <p:cNvSpPr/>
          <p:nvPr userDrawn="1"/>
        </p:nvSpPr>
        <p:spPr>
          <a:xfrm>
            <a:off x="578564" y="92832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973680" y="6581003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5024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Tabular Data Slide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85767" y="178988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385767" y="3432784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385767" y="507567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411708" y="864682"/>
            <a:ext cx="11368587" cy="458236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3762175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7981816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814234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8016582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3814234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8016582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3814234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016582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7513" y="2741039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37513" y="44098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37513" y="60354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556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Rectangle 21"/>
          <p:cNvSpPr/>
          <p:nvPr userDrawn="1"/>
        </p:nvSpPr>
        <p:spPr>
          <a:xfrm>
            <a:off x="0" y="0"/>
            <a:ext cx="12192000" cy="65567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474" y="1323939"/>
            <a:ext cx="35280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267"/>
            </a:lvl1pPr>
          </a:lstStyle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auto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 dirty="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auto">
          <a:xfrm>
            <a:off x="150620" y="3719371"/>
            <a:ext cx="2592000" cy="389157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auto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</p:grp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dirty="0"/>
            </a:lvl1pPr>
          </a:lstStyle>
          <a:p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2060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2060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1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83685"/>
            <a:ext cx="12192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6676" y="6581380"/>
            <a:ext cx="3228639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Confidential | L&amp;T Technology Services | ©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0" marR="0" lvl="0" indent="0" algn="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D548E-8EA6-684F-9B89-4E9F5DC57B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7F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97FD5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621" y="-40521"/>
            <a:ext cx="11379200" cy="673820"/>
          </a:xfrm>
        </p:spPr>
        <p:txBody>
          <a:bodyPr anchor="b">
            <a:normAutofit/>
          </a:bodyPr>
          <a:lstStyle>
            <a:lvl1pPr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29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" name="Rectangle: Rounded Corners 15"/>
          <p:cNvSpPr/>
          <p:nvPr userDrawn="1"/>
        </p:nvSpPr>
        <p:spPr>
          <a:xfrm>
            <a:off x="578564" y="62807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42" r:id="rId2"/>
    <p:sldLayoutId id="2147484420" r:id="rId3"/>
    <p:sldLayoutId id="2147484421" r:id="rId4"/>
    <p:sldLayoutId id="2147484444" r:id="rId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589" marR="0" indent="-228589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766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Graphic 6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2269"/>
            <a:ext cx="4470400" cy="82446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 bwMode="gray">
          <a:xfrm>
            <a:off x="1518776" y="1874895"/>
            <a:ext cx="801059" cy="782333"/>
            <a:chOff x="-3330575" y="3005138"/>
            <a:chExt cx="1533526" cy="1620837"/>
          </a:xfrm>
          <a:solidFill>
            <a:srgbClr val="FFCC29"/>
          </a:solidFill>
        </p:grpSpPr>
        <p:sp>
          <p:nvSpPr>
            <p:cNvPr id="65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oup 66"/>
          <p:cNvGrpSpPr/>
          <p:nvPr/>
        </p:nvGrpSpPr>
        <p:grpSpPr bwMode="gray">
          <a:xfrm>
            <a:off x="9677117" y="4056795"/>
            <a:ext cx="804544" cy="783647"/>
            <a:chOff x="2301081" y="6662108"/>
            <a:chExt cx="1500188" cy="1624012"/>
          </a:xfrm>
          <a:solidFill>
            <a:srgbClr val="FFCC29"/>
          </a:solidFill>
        </p:grpSpPr>
        <p:sp>
          <p:nvSpPr>
            <p:cNvPr id="68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661182" y="2076048"/>
            <a:ext cx="9446728" cy="165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71412">
              <a:lnSpc>
                <a:spcPct val="150000"/>
              </a:lnSpc>
              <a:defRPr/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Resolution Management / </a:t>
            </a:r>
          </a:p>
          <a:p>
            <a:pPr lvl="0" algn="ctr" defTabSz="171412">
              <a:lnSpc>
                <a:spcPct val="150000"/>
              </a:lnSpc>
              <a:defRPr/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Defect Management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BFF4E5-9FC6-4651-A248-3D5393335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17" y="262872"/>
            <a:ext cx="2370236" cy="71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Creating a  Defect (Create an Item)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5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Prerequisite and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must have login access for Defect.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must have attended the “Basic Integrity Training”.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should have a idea of following Integrity Terms: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View-Sets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Document / Item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77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&amp; Responsibility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899956"/>
              </p:ext>
            </p:extLst>
          </p:nvPr>
        </p:nvGraphicFramePr>
        <p:xfrm>
          <a:off x="513278" y="1577009"/>
          <a:ext cx="9213818" cy="476785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34833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6378985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56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Created by is the user who create the Defect in system. Anybody can create the defect.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53887"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 Resolution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 Resolution Team consist person/users, which are defined as Defect Resolution Team in Project Team Tab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User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user is assigned by Defect Resolution Team, who works on defect to resolve.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Reviewer	</a:t>
                      </a:r>
                      <a:r>
                        <a:rPr lang="en-US" sz="1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Reviewer is assigned by assigned user for defect review.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Tester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Assigned Tester is assigned by assigned user for defect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Responsible Person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67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Responsible Person is the person, who look after defect if Immediate counter-measure if YES.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87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59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and Managing Defect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Create in Item menu to create a new item in Integrity. 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1382" y="1283058"/>
            <a:ext cx="4009291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</a:t>
            </a:r>
            <a:r>
              <a:rPr lang="en-US" b="1" dirty="0"/>
              <a:t>Creating Defect Item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document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5" y="2412609"/>
            <a:ext cx="52959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and Managing Defect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Item view will open up. Enter or select correct values for the fields present.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Fields like Summary, Description </a:t>
            </a:r>
            <a:r>
              <a:rPr lang="en-US" dirty="0" err="1"/>
              <a:t>etc</a:t>
            </a:r>
            <a:r>
              <a:rPr lang="en-US" dirty="0"/>
              <a:t> .marked red are mandatory fields and must be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appropriate field values (one or multiple) for multi-select fields.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1382" y="1283058"/>
            <a:ext cx="4009291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Defect Item</a:t>
            </a:r>
          </a:p>
          <a:p>
            <a:r>
              <a:rPr lang="en-US" dirty="0"/>
              <a:t>2.</a:t>
            </a:r>
            <a:r>
              <a:rPr lang="en-US" b="1" dirty="0"/>
              <a:t>Editing data in Item view</a:t>
            </a:r>
          </a:p>
          <a:p>
            <a:r>
              <a:rPr lang="en-US" dirty="0"/>
              <a:t>3.Applying changes in created document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996" y="3066976"/>
            <a:ext cx="76485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2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and Managing Defect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other fields visible in the Item view must be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Field edit ability depends upon Defect workflow LC state, depending on the state of the item it is in. Fields become editable or non editable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“Apply” will keep the user on item edit view (user can still update fields) while clicking on “OK” will open item non-editable view (user can not update item fields)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“Apply” will save the Item. Alternately “Ctrl + S” can also be used.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1382" y="1283058"/>
            <a:ext cx="4201467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Defect Item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</a:t>
            </a:r>
            <a:r>
              <a:rPr lang="en-US" b="1" dirty="0"/>
              <a:t>Applying changes in created document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61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Defect workflow with life-cycle (see diagram below).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Defect Workflow help Defect state transition from one “state” to next “state” based on completion of activities as per system designed.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52" y="2547872"/>
            <a:ext cx="9448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Explanation of Tabs and Sections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24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Tabs in Defect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195653"/>
              </p:ext>
            </p:extLst>
          </p:nvPr>
        </p:nvGraphicFramePr>
        <p:xfrm>
          <a:off x="513278" y="1062912"/>
          <a:ext cx="10923756" cy="53659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60933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7562823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22507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 NAME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 USED FOR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Properties Tab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Properties contain all the necessary information, which need to be filled by different users on different stage to resolve defect.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Metrics Tab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Metrics tab is used for discovery of defect and mainly used by analysis team assigned for defect.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Tab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Tab contains all the related item/documents of defect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Attachment Tab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attachment tab, user can attach external document like word/pdf/excel etc.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Test Result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Test Result tab contains Test cases through which defect was either passed or failed. This tab is mainly used by testing team.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 Entries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tab is used for timesheet entry.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877909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Change Package	</a:t>
                      </a:r>
                    </a:p>
                    <a:p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Change Package tab contains the information when defect used for change package creation.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68501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Workflow	</a:t>
                      </a:r>
                    </a:p>
                    <a:p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Workflow tab contains defect workflow.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02274"/>
                  </a:ext>
                </a:extLst>
              </a:tr>
              <a:tr h="537637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History	</a:t>
                      </a:r>
                    </a:p>
                    <a:p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History tab records all changes done by any user anywhere in defect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29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93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&amp; Sections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Properties tab contains sections, namely:</a:t>
            </a:r>
          </a:p>
          <a:p>
            <a:r>
              <a:rPr lang="en-US" dirty="0"/>
              <a:t>	₋Defect Details</a:t>
            </a:r>
          </a:p>
          <a:p>
            <a:r>
              <a:rPr lang="en-US" dirty="0"/>
              <a:t>	₋Defect Categorization</a:t>
            </a:r>
          </a:p>
          <a:p>
            <a:r>
              <a:rPr lang="en-US" dirty="0"/>
              <a:t>	₋Defect </a:t>
            </a:r>
            <a:r>
              <a:rPr lang="en-US" dirty="0" err="1"/>
              <a:t>Priotization</a:t>
            </a:r>
            <a:endParaRPr lang="en-US" dirty="0"/>
          </a:p>
          <a:p>
            <a:r>
              <a:rPr lang="en-US" dirty="0"/>
              <a:t>	₋Defect Containment Requirement</a:t>
            </a:r>
          </a:p>
          <a:p>
            <a:r>
              <a:rPr lang="en-US" dirty="0"/>
              <a:t>	₋Defect Analysis</a:t>
            </a:r>
          </a:p>
          <a:p>
            <a:r>
              <a:rPr lang="en-US" dirty="0"/>
              <a:t>	₋Proposed Defect Resolution Approach </a:t>
            </a:r>
          </a:p>
        </p:txBody>
      </p:sp>
    </p:spTree>
    <p:extLst>
      <p:ext uri="{BB962C8B-B14F-4D97-AF65-F5344CB8AC3E}">
        <p14:creationId xmlns:p14="http://schemas.microsoft.com/office/powerpoint/2010/main" val="232776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Explained: Defect Details (Section 1)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 Properties tab, Defect details section contain the information of occurred defect.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33" y="2699209"/>
            <a:ext cx="66198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7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Explained: Defect Categorization (Section 2)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 Properties tab, Defect categorization section categorize the defect occurred.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32" y="2699209"/>
            <a:ext cx="87344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1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: Defect </a:t>
            </a:r>
            <a:r>
              <a:rPr lang="en-US" dirty="0" err="1"/>
              <a:t>Priotization</a:t>
            </a:r>
            <a:r>
              <a:rPr lang="en-US" dirty="0"/>
              <a:t> (Section 3)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Properties tab, Defect </a:t>
            </a:r>
            <a:r>
              <a:rPr lang="en-US" dirty="0" err="1"/>
              <a:t>Priotization</a:t>
            </a:r>
            <a:r>
              <a:rPr lang="en-US" dirty="0"/>
              <a:t> section define the seriousness or urgency of defect on the basis of different attributes.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Recommended Priority is auto-calculated field, which measured on the basis of Defect Severity, Defect Impact, Defect Criticality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NOTE: If Recommended Priority not equal to Priority, Justification is mandatory</a:t>
            </a:r>
          </a:p>
          <a:p>
            <a:pPr lvl="1"/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46" y="3401924"/>
            <a:ext cx="89154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Explained: Defect Containment Requirement (Section 4)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Properties tab, Defect Containment Requirement section define whether to take any immediate Countermeasure or not?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below screenshot, there is Immediate Countermeasure field, which have two values : YES&amp;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user select YES all mandatory fields in below screenshot will appear and user need to fill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user select NO, not field will appear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17" y="2699209"/>
            <a:ext cx="102774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23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: Defect Analysis (Section 5)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Properties tab, Defect Analysis section assigned team analysis the reason of defect occurred.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Defect Analysis section calculate the cause, efforts, impact etc. could be happen because of defect.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36" y="1885643"/>
            <a:ext cx="93535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1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Properties Tab : Proposed Defect Resolution Approach(Section 6)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analysis team analyze the defect occurred, proposed defect resolution could be filled in this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not a mandatory field, so user can leave it also but it is recommended to fill every information.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62" y="2699209"/>
            <a:ext cx="94107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7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Metrics Tab &amp; Sections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The Properties tab contains sections, namely:</a:t>
            </a:r>
          </a:p>
          <a:p>
            <a:r>
              <a:rPr lang="en-US" dirty="0"/>
              <a:t>	-Discovery</a:t>
            </a:r>
          </a:p>
          <a:p>
            <a:r>
              <a:rPr lang="en-US" dirty="0"/>
              <a:t>	-Resolution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Discovery section </a:t>
            </a:r>
            <a:r>
              <a:rPr lang="en-US" dirty="0"/>
              <a:t>helps us to analyze the when defect introduced and when it is detected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in this section, we can mention test objective which was used at the time of testing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 resolution section</a:t>
            </a:r>
            <a:r>
              <a:rPr lang="en-US" dirty="0"/>
              <a:t>, we can know about Days in current state, Date completed, Turn around time (Time from first to last state).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all these fields are auto-calculated fields and values of these are automatically calculated at backend.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66" y="2944024"/>
            <a:ext cx="6324600" cy="241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10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Relationships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Relationship Tab of defects includes fields that are linked and inter-related to Defects itself.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item for which the Defect Item is created should be attached in “</a:t>
            </a:r>
            <a:r>
              <a:rPr lang="en-US" b="1" dirty="0"/>
              <a:t>Defect For</a:t>
            </a:r>
            <a:r>
              <a:rPr lang="en-US" dirty="0"/>
              <a:t>” relationship field.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Lessons learned which we want to attach with existing defect should be attached in “</a:t>
            </a:r>
            <a:r>
              <a:rPr lang="en-US" b="1" dirty="0"/>
              <a:t>Lessons Learned</a:t>
            </a:r>
            <a:r>
              <a:rPr lang="en-US" dirty="0"/>
              <a:t>” relationship field.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Discussion </a:t>
            </a:r>
            <a:r>
              <a:rPr lang="en-US" dirty="0"/>
              <a:t>which we want to attach with existing defect should be attached in “</a:t>
            </a:r>
            <a:r>
              <a:rPr lang="en-US" b="1" dirty="0"/>
              <a:t>Discussions</a:t>
            </a:r>
            <a:r>
              <a:rPr lang="en-US" dirty="0"/>
              <a:t>” relationship field.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Work Items which we want to attach with existing defect should be attached in “</a:t>
            </a:r>
            <a:r>
              <a:rPr lang="en-US" b="1" dirty="0"/>
              <a:t>Work Items</a:t>
            </a:r>
            <a:r>
              <a:rPr lang="en-US" dirty="0"/>
              <a:t>” relationship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2" y="3170903"/>
            <a:ext cx="8886057" cy="33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70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Attachments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name suggests, any kind of file that is related to the Defect Item can be attached in this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file could be a word document, pdf, jpeg, etc. that describes the Defect Item.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Maximum file size that can be attached is 5 MB.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11" y="2363593"/>
            <a:ext cx="79343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5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Explanation of workflow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231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 fontScale="90000"/>
          </a:bodyPr>
          <a:lstStyle/>
          <a:p>
            <a:br>
              <a:rPr lang="en-US" b="0" dirty="0"/>
            </a:br>
            <a:r>
              <a:rPr lang="en-US" dirty="0"/>
              <a:t>Defect Workflow Transition : Proposed State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creator create a new defect, initially it is in “Proposed”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creator can transit the workflow from “Proposed” state to “submitted”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Proposed state, Summary, Project and Description fields are mandatory which are marked by Red.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904" y="2870098"/>
            <a:ext cx="45624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07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Submitted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Proposed next state in Workflow is Submitted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Submitted state, Defect Resolution Team is Mandatory field, which is multi-valued field. Also, in attachment tab Defect Support Evidence attachment is mandatory.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Defect Resolution Team can transit the workflow from “Submitted” state to “Proposed and In Analysis state”.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156" y="3101869"/>
            <a:ext cx="37528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82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In Analysis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Submitted next state in Workflow is In Analysis state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new field is mandatory in this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state, analysis team analyze the defect and can transit workflow in desired state based on outcome of analysis.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241" y="2699209"/>
            <a:ext cx="51625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33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Duplicate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Duplicate state, Remarks in Properties tab and Defects in relationship tab are mandatory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should set the state to Duplicate state, when same defect already present in system.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47" y="2699209"/>
            <a:ext cx="32099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77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Deferred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Deferred state, Deferred Till &amp; Remarks in Properties tab is mandatory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 deferred state when we have to park an item or document for later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again go back to In Analysis state from Deferred state.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817" y="2699209"/>
            <a:ext cx="34194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5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Non-Reproducible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Non-Reproducible state, Remarks in Properties tab is mandatory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the Details of Non –Reproducible conditions and its causes in the Remarks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Defect goes in Non –Reproducible state, its state cannot transit again.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11" y="2547872"/>
            <a:ext cx="38100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14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Rejected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Rejected state, Remarks in Properties tab is mandatory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the Details for rejecting the defect in Remarks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Defect goes in Rejected, its state cannot transit again.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248" y="2699209"/>
            <a:ext cx="42481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07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Assigned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Assigned state, we analyses the defect and assign defect to assigned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Properties tab have various mandatory fields which need to be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assigned user can transit the workflow from Assigned state to Development state or In Analysis state.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626" y="2699209"/>
            <a:ext cx="33432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1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In Development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In Development state, defect has been assigned to assigned user and in development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development state, Defect resolution is mandatory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assigned user can transit the workflow from In development state to In Review or In testing state.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901" y="2547872"/>
            <a:ext cx="33147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52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In Review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In Review state, defect has been assigned to assigned reviewer for review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review state, Assigned Reviewer is mandatory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Assigned Reviewer can transit the workflow from In Review state to In Development or In Testing state.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075" y="2640591"/>
            <a:ext cx="41814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22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In Testing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Testing state, defect has been assigned to assigned tester for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Testing state, Mandatory field are Assigned Tester in properties tab, Introduced during, Detected during, Found by Test Objective in metrics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Assigned Tester can transit the workflow from In Testing state to In Development or Validated state.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1" y="2563629"/>
            <a:ext cx="64008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62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Validated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Validated state, defect has been validated by defect 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validated state, no new field is mandatory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Validated state, defect workflow can only transit in completed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Quality Assurance Engineer/ lead assigned for defect can transit the workflow from “Validated state ”to “ Completed state”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02" y="2563629"/>
            <a:ext cx="22193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33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Workflow Transition : Completed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Completed state, defect has been Analyzed, solved, tested, validated by every authorized person and finally moved to Completed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completed state, no new field is mandatory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Completed state, workflow of defect cant be transit in any other state.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636" y="2853686"/>
            <a:ext cx="19050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30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Defect Reports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645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Reports Explanation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Defect reports are used for Defect overview.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accessing reports, go to Varroc user view set -&gt; Reports -&gt; Manage Reports -&gt; Search Defect Reports in search bar -&gt; select defect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report opens in browser, through Item ID user can go to Defect in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 in system are available according to different Queries like:</a:t>
            </a:r>
          </a:p>
          <a:p>
            <a:pPr lvl="1"/>
            <a:r>
              <a:rPr lang="en-US" dirty="0"/>
              <a:t>-Defect in last 1 month</a:t>
            </a:r>
          </a:p>
          <a:p>
            <a:pPr lvl="1"/>
            <a:r>
              <a:rPr lang="en-US" dirty="0"/>
              <a:t>-Defect in last 3 months</a:t>
            </a:r>
          </a:p>
          <a:p>
            <a:pPr lvl="1"/>
            <a:r>
              <a:rPr lang="en-US" dirty="0"/>
              <a:t>-Defect in last 1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similar way, report can be available as per user need.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19" y="3875292"/>
            <a:ext cx="53816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89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Defect Reports Explanation …Continued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3" y="1021845"/>
            <a:ext cx="5724525" cy="3076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865" y="1631444"/>
            <a:ext cx="4772025" cy="1857375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6156068" y="2560131"/>
            <a:ext cx="1074726" cy="3418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54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85A-8515-466A-B411-3766D43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8C9A-1F65-4701-9665-08CCB015B5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A722-9BB7-405E-9443-38C408CEE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 descr="A picture containing laying, indoor&#10;&#10;Description automatically generated">
            <a:extLst>
              <a:ext uri="{FF2B5EF4-FFF2-40B4-BE49-F238E27FC236}">
                <a16:creationId xmlns:a16="http://schemas.microsoft.com/office/drawing/2014/main" id="{8058615D-1AA3-4F92-83C7-14B1854F7D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992" y="3352009"/>
            <a:ext cx="12222000" cy="35247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A3AF9-1DDE-46E9-8E72-5C0F9A2713CC}"/>
              </a:ext>
            </a:extLst>
          </p:cNvPr>
          <p:cNvSpPr/>
          <p:nvPr/>
        </p:nvSpPr>
        <p:spPr>
          <a:xfrm>
            <a:off x="-14991" y="-19049"/>
            <a:ext cx="12218400" cy="3380399"/>
          </a:xfrm>
          <a:prstGeom prst="rect">
            <a:avLst/>
          </a:prstGeom>
          <a:gradFill>
            <a:gsLst>
              <a:gs pos="38000">
                <a:srgbClr val="07163D"/>
              </a:gs>
              <a:gs pos="81000">
                <a:srgbClr val="0D2552"/>
              </a:gs>
              <a:gs pos="100000">
                <a:srgbClr val="2D4A8B"/>
              </a:gs>
              <a:gs pos="15000">
                <a:srgbClr val="1529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IN" sz="135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83BD17-B80E-4631-AD2E-BF47623EF767}"/>
              </a:ext>
            </a:extLst>
          </p:cNvPr>
          <p:cNvSpPr txBox="1">
            <a:spLocks/>
          </p:cNvSpPr>
          <p:nvPr/>
        </p:nvSpPr>
        <p:spPr>
          <a:xfrm>
            <a:off x="1968477" y="1323941"/>
            <a:ext cx="3528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078">
              <a:defRPr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Thank you</a:t>
            </a:r>
            <a:endParaRPr lang="en-IN" sz="48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5D1185-69F8-4C8E-9576-AC94C2F4B687}"/>
              </a:ext>
            </a:extLst>
          </p:cNvPr>
          <p:cNvGrpSpPr/>
          <p:nvPr/>
        </p:nvGrpSpPr>
        <p:grpSpPr>
          <a:xfrm>
            <a:off x="1259561" y="1037089"/>
            <a:ext cx="1065707" cy="1126383"/>
            <a:chOff x="-3330575" y="3005138"/>
            <a:chExt cx="1533526" cy="1620837"/>
          </a:xfrm>
          <a:solidFill>
            <a:srgbClr val="FFCB05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EBD3ABD-D628-4160-BDA4-DB9B5C05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F97441F-769C-4DF4-BF6C-7951C640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A6320-A01D-4A6D-A334-E7B7DC190E1A}"/>
              </a:ext>
            </a:extLst>
          </p:cNvPr>
          <p:cNvGrpSpPr/>
          <p:nvPr/>
        </p:nvGrpSpPr>
        <p:grpSpPr>
          <a:xfrm>
            <a:off x="5172456" y="1899597"/>
            <a:ext cx="996725" cy="1078995"/>
            <a:chOff x="2301081" y="6662108"/>
            <a:chExt cx="1500188" cy="1624012"/>
          </a:xfrm>
          <a:solidFill>
            <a:srgbClr val="FFCB05"/>
          </a:solidFill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302BA02-C848-47DB-A8B1-A9C994D4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FCC6B40C-6B14-4DC8-BFCD-85C66CA6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5321B3B-2840-4BAE-9B09-6A7525E3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861950"/>
      </p:ext>
    </p:extLst>
  </p:cSld>
  <p:clrMapOvr>
    <a:masterClrMapping/>
  </p:clrMapOvr>
</p:sld>
</file>

<file path=ppt/theme/theme1.xml><?xml version="1.0" encoding="utf-8"?>
<a:theme xmlns:a="http://schemas.openxmlformats.org/drawingml/2006/main" name="1_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1812</TotalTime>
  <Words>1851</Words>
  <Application>Microsoft Office PowerPoint</Application>
  <PresentationFormat>Widescreen</PresentationFormat>
  <Paragraphs>401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Open Sans</vt:lpstr>
      <vt:lpstr>1_L&amp;T Theme 2</vt:lpstr>
      <vt:lpstr>PowerPoint Presentation</vt:lpstr>
      <vt:lpstr>PowerPoint Presentation</vt:lpstr>
      <vt:lpstr>Prerequisite and References</vt:lpstr>
      <vt:lpstr>Roles &amp; Responsibility </vt:lpstr>
      <vt:lpstr>Creating and Managing Defect</vt:lpstr>
      <vt:lpstr>Creating and Managing Defect</vt:lpstr>
      <vt:lpstr>Creating and Managing Defect</vt:lpstr>
      <vt:lpstr>Defect Workflow </vt:lpstr>
      <vt:lpstr>PowerPoint Presentation</vt:lpstr>
      <vt:lpstr>Different Tabs in Defect </vt:lpstr>
      <vt:lpstr>Properties Tab &amp; Sections</vt:lpstr>
      <vt:lpstr>Properties Tab Explained: Defect Details (Section 1) </vt:lpstr>
      <vt:lpstr>Properties Tab Explained: Defect Categorization (Section 2) </vt:lpstr>
      <vt:lpstr>Properties Tab : Defect Priotization (Section 3) </vt:lpstr>
      <vt:lpstr>Properties Tab Explained: Defect Containment Requirement (Section 4) </vt:lpstr>
      <vt:lpstr>Properties Tab : Defect Analysis (Section 5) </vt:lpstr>
      <vt:lpstr>Properties Tab : Proposed Defect Resolution Approach(Section 6) </vt:lpstr>
      <vt:lpstr>Metrics Tab &amp; Sections</vt:lpstr>
      <vt:lpstr>Relationships Tab </vt:lpstr>
      <vt:lpstr>Attachments Tab</vt:lpstr>
      <vt:lpstr>PowerPoint Presentation</vt:lpstr>
      <vt:lpstr> Defect Workflow Transition : Proposed State </vt:lpstr>
      <vt:lpstr>Defect Workflow Transition : Submitted State</vt:lpstr>
      <vt:lpstr>Defect Workflow Transition : In Analysis State</vt:lpstr>
      <vt:lpstr>Defect Workflow Transition : Duplicate State</vt:lpstr>
      <vt:lpstr>Defect Workflow Transition : Deferred State</vt:lpstr>
      <vt:lpstr>Defect Workflow Transition : Non-Reproducible State</vt:lpstr>
      <vt:lpstr>Defect Workflow Transition : Rejected State</vt:lpstr>
      <vt:lpstr>Defect Workflow Transition : Assigned State</vt:lpstr>
      <vt:lpstr>Defect Workflow Transition : In Development State</vt:lpstr>
      <vt:lpstr>Defect Workflow Transition : In Review State</vt:lpstr>
      <vt:lpstr>Defect Workflow Transition : In Testing State</vt:lpstr>
      <vt:lpstr>Defect Workflow Transition : Validated State</vt:lpstr>
      <vt:lpstr>Defect Workflow Transition : Completed State</vt:lpstr>
      <vt:lpstr>PowerPoint Presentation</vt:lpstr>
      <vt:lpstr>Defect Reports Explanation </vt:lpstr>
      <vt:lpstr>Defect Reports Explanation …Continued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413</cp:revision>
  <dcterms:created xsi:type="dcterms:W3CDTF">2020-07-21T02:35:22Z</dcterms:created>
  <dcterms:modified xsi:type="dcterms:W3CDTF">2020-07-31T08:12:17Z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2020-07-29T05:15:02Z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61ef78e9-8e23-44ff-b17b-000055f79dc3</vt:lpwstr>
  </property>
  <property fmtid="{D5CDD505-2E9C-101B-9397-08002B2CF9AE}" pid="8" name="MSIP_Label_4b5591f2-6b23-403d-aa5f-b6d577f5e572_ContentBits">
    <vt:lpwstr>0</vt:lpwstr>
  </property>
</Properties>
</file>